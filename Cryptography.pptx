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81" r:id="rId4"/>
    <p:sldId id="282" r:id="rId5"/>
    <p:sldId id="290" r:id="rId6"/>
    <p:sldId id="291" r:id="rId7"/>
    <p:sldId id="292" r:id="rId8"/>
    <p:sldId id="258" r:id="rId9"/>
    <p:sldId id="283" r:id="rId10"/>
    <p:sldId id="259" r:id="rId11"/>
    <p:sldId id="260" r:id="rId12"/>
    <p:sldId id="261" r:id="rId13"/>
    <p:sldId id="262" r:id="rId14"/>
    <p:sldId id="263" r:id="rId15"/>
    <p:sldId id="264" r:id="rId16"/>
    <p:sldId id="284" r:id="rId17"/>
    <p:sldId id="265" r:id="rId18"/>
    <p:sldId id="266" r:id="rId19"/>
    <p:sldId id="267" r:id="rId20"/>
    <p:sldId id="268" r:id="rId21"/>
    <p:sldId id="269" r:id="rId22"/>
    <p:sldId id="270" r:id="rId23"/>
    <p:sldId id="280" r:id="rId24"/>
    <p:sldId id="271" r:id="rId25"/>
    <p:sldId id="285" r:id="rId26"/>
    <p:sldId id="272" r:id="rId27"/>
    <p:sldId id="273" r:id="rId28"/>
    <p:sldId id="274" r:id="rId29"/>
    <p:sldId id="275" r:id="rId30"/>
    <p:sldId id="276" r:id="rId31"/>
    <p:sldId id="286" r:id="rId32"/>
    <p:sldId id="287" r:id="rId33"/>
    <p:sldId id="277" r:id="rId34"/>
    <p:sldId id="278" r:id="rId35"/>
    <p:sldId id="288" r:id="rId36"/>
    <p:sldId id="279" r:id="rId37"/>
    <p:sldId id="289"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7" dt="2026-10-29T17:40:47.8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1F5F9"/>
                </a:solidFill>
                <a:latin typeface="Consolas"/>
              </a:defRPr>
            </a:pPr>
            <a:r>
              <a:rPr lang="en-US" sz="1400" b="0" i="0" u="none" strike="noStrike">
                <a:solidFill>
                  <a:srgbClr val="F1F5F9"/>
                </a:solidFill>
                <a:latin typeface="Consolas"/>
              </a:rPr>
              <a:t>Key size (bits) needed for equal security</a:t>
            </a:r>
          </a:p>
        </c:rich>
      </c:tx>
      <c:overlay val="0"/>
    </c:title>
    <c:autoTitleDeleted val="0"/>
    <c:plotArea>
      <c:layout/>
      <c:barChart>
        <c:barDir val="col"/>
        <c:grouping val="clustered"/>
        <c:varyColors val="0"/>
        <c:ser>
          <c:idx val="0"/>
          <c:order val="0"/>
          <c:tx>
            <c:strRef>
              <c:f>Sheet1!$B$1</c:f>
              <c:strCache>
                <c:ptCount val="1"/>
                <c:pt idx="0">
                  <c:v>RSA modulus</c:v>
                </c:pt>
              </c:strCache>
            </c:strRef>
          </c:tx>
          <c:spPr>
            <a:solidFill>
              <a:srgbClr val="FBBF24"/>
            </a:solidFill>
            <a:effectLst/>
          </c:spPr>
          <c:invertIfNegative val="0"/>
          <c:dLbls>
            <c:numFmt formatCode="#,##0" sourceLinked="0"/>
            <c:spPr>
              <a:noFill/>
              <a:ln>
                <a:noFill/>
              </a:ln>
              <a:effectLst/>
            </c:spPr>
            <c:txPr>
              <a:bodyPr/>
              <a:lstStyle/>
              <a:p>
                <a:pPr>
                  <a:defRPr sz="1100" b="0" i="0" u="none" strike="noStrike">
                    <a:solidFill>
                      <a:srgbClr val="F1F5F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112-bit</c:v>
                </c:pt>
                <c:pt idx="1">
                  <c:v>128-bit</c:v>
                </c:pt>
                <c:pt idx="2">
                  <c:v>192-bit</c:v>
                </c:pt>
                <c:pt idx="3">
                  <c:v>256-bit</c:v>
                </c:pt>
              </c:strCache>
            </c:strRef>
          </c:cat>
          <c:val>
            <c:numRef>
              <c:f>Sheet1!$B$2:$B$5</c:f>
              <c:numCache>
                <c:formatCode>General</c:formatCode>
                <c:ptCount val="4"/>
                <c:pt idx="0">
                  <c:v>2048</c:v>
                </c:pt>
                <c:pt idx="1">
                  <c:v>3072</c:v>
                </c:pt>
                <c:pt idx="2">
                  <c:v>7680</c:v>
                </c:pt>
                <c:pt idx="3">
                  <c:v>15360</c:v>
                </c:pt>
              </c:numCache>
            </c:numRef>
          </c:val>
          <c:extLst>
            <c:ext xmlns:c16="http://schemas.microsoft.com/office/drawing/2014/chart" uri="{C3380CC4-5D6E-409C-BE32-E72D297353CC}">
              <c16:uniqueId val="{00000000-1031-436A-BD9C-9DC2EEFE7FF8}"/>
            </c:ext>
          </c:extLst>
        </c:ser>
        <c:ser>
          <c:idx val="1"/>
          <c:order val="1"/>
          <c:tx>
            <c:strRef>
              <c:f>Sheet1!$C$1</c:f>
              <c:strCache>
                <c:ptCount val="1"/>
                <c:pt idx="0">
                  <c:v>ECC key</c:v>
                </c:pt>
              </c:strCache>
            </c:strRef>
          </c:tx>
          <c:spPr>
            <a:solidFill>
              <a:srgbClr val="22D3EE"/>
            </a:solidFill>
            <a:effectLst/>
          </c:spPr>
          <c:invertIfNegative val="0"/>
          <c:dLbls>
            <c:numFmt formatCode="#,##0" sourceLinked="0"/>
            <c:spPr>
              <a:noFill/>
              <a:ln>
                <a:noFill/>
              </a:ln>
              <a:effectLst/>
            </c:spPr>
            <c:txPr>
              <a:bodyPr/>
              <a:lstStyle/>
              <a:p>
                <a:pPr>
                  <a:defRPr sz="1100" b="0" i="0" u="none" strike="noStrike">
                    <a:solidFill>
                      <a:srgbClr val="F1F5F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112-bit</c:v>
                </c:pt>
                <c:pt idx="1">
                  <c:v>128-bit</c:v>
                </c:pt>
                <c:pt idx="2">
                  <c:v>192-bit</c:v>
                </c:pt>
                <c:pt idx="3">
                  <c:v>256-bit</c:v>
                </c:pt>
              </c:strCache>
            </c:strRef>
          </c:cat>
          <c:val>
            <c:numRef>
              <c:f>Sheet1!$C$2:$C$5</c:f>
              <c:numCache>
                <c:formatCode>General</c:formatCode>
                <c:ptCount val="4"/>
                <c:pt idx="0">
                  <c:v>224</c:v>
                </c:pt>
                <c:pt idx="1">
                  <c:v>256</c:v>
                </c:pt>
                <c:pt idx="2">
                  <c:v>384</c:v>
                </c:pt>
                <c:pt idx="3">
                  <c:v>521</c:v>
                </c:pt>
              </c:numCache>
            </c:numRef>
          </c:val>
          <c:extLst>
            <c:ext xmlns:c16="http://schemas.microsoft.com/office/drawing/2014/chart" uri="{C3380CC4-5D6E-409C-BE32-E72D297353CC}">
              <c16:uniqueId val="{00000001-1031-436A-BD9C-9DC2EEFE7FF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1F5F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3E6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FB0C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1F5F9"/>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07A80BE-222B-44A1-822C-285081942450}" type="datetimeFigureOut">
              <a:t>10/29/2026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AB36278-426C-434C-BDB6-AE5EEBC28ECD}" type="slidenum">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min. Welcome. This is a 2-hour teaching talk with a 5-minute discussion checkpoint after each part. Invite questions at any time. Point at the terminal: change one letter and the whole hash changes.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min. Walk through the five parts and their timings (25/20/35/25/15 = 120 min). Mention the checkpoints. Tell students they can interrupt.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min. Ask: which of these four goals does a banking app need? (All four.) Define each in plain words. Confidentiality = secrecy; integrity = unchanged; authentication = who; non-repudiation = can't deny.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min. Live demo idea: have students decrypt KHOOR by hand. Then ask how they would crack a long Caesar message (try all 25 shifts; count letters). Lesson: small key space and visible patterns are fatal.</a:t>
            </a:r>
            <a:r>
              <a:rPr lang="en-US"/>
              <a:t> Next: can we fix the letter-counting problem?</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 Work the first two letters aloud: A with L shifts 11, T with E shifts 4. Point out the four A's turning into four different letters, which defeats letter counting. Then explain the weakness: the key repeats, so patterns leak the key length. Ask: what if the key never repeated?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 Same shifting as Vigenère, but the key is random and as long as the message. Show that EQNVZ could decrypt to HELLO or LATER, so an attacker learns nothing. Stress the four rules, especially 'never reuse'. This returns later as XOR and as nonce reuse in AES modes.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 Story time. Walk the signal path: key press, plugboard, three rotors, reflector, back through the rotors, lamp. The rotors turn after every key, so pressing A five times gives B D Z G O. Ask: what does it mean that a letter can never become itself? (It leaks information, and codebreakers used it.) Link back to the one-time pad: Enigma was a very complicated Vigenere-style cipher with a repeating-but-huge key. Settings are the key, and they had to be shared in advance, which is the key-distribution problem again.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min. Key contrast: hashing is one-way with no key; encryption is reversible with a key. Don't dwell on the table; the checkpoint will test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min discussion. Let pairs talk 2 minutes, then take 2-3 answers. Q2 is the key one: hashing lets a site check a password without ever being able to recover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min. Four properties: deterministic, fixed size, avalanche, one-way. Show the block diagram: pad, split, mix each block into a running value.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min. Don't try to explain every round. Focus on 'abc' going in and a fixed 256-bit hash coming out. Ask: what happens if I change abc to abd?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min. Timeline of breaks. Key message: 'broken' means attackers can make collisions on purpose. Use SHA-256 or SHA-3 for new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min. Ask: why store the salt next to the hash? (It isn't secret; it just forces attackers to work per user.) Pepper is secret and kept outside the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min. Read the table left to right. Rule of thumb: Argon2id, otherwise bcrypt. Settings are tuned so one hash takes a fraction of a second.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min. Work through the cracking example: fast hash = minutes, tuned Argon2id = years. Numbers are illustrative, not measured.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min discussion. Let pairs talk, then share. Q1: identical hashes reveal identical passwords.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min. Walk through the XOR example on the board: P xor K = C, then C xor K = P. Kerckhoffs: the method is public, only the key is secret.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min. Ask: how do two people who have never met share a secret key? That tension motivates asymmetric encryption. Mention TLS uses both.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min. Think of AES as a recipe repeated 10-14 times: swap bytes, shift rows, blend columns, mix in the key. No need to memorise.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min. Follow one round with sample values. Show the avalanche: a 1-bit change spreads to the whole block.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min. AES only handles one 16-byte block; a mode says how to chain blocks. Default recommendation: GCM.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min. Four flaws: ECB patterns, CBC padding oracle, CTR nonce reuse, GCM nonce reuse. Fix in each case is on the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 This is the ECB demo. Ask students what they can still see in the ECB picture before revealing the explanation. CBC looks like noise.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min. Show how changing one bit makes the tag fail. Authenticated encryption = secrecy plus a tamper check.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min discussion. Q3 sets up the next part: key exchange.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min. RSA = factoring; ECC = curve math. Chart: ECC reaches the same strength with much smaller keys.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 min. Do the numbers live with a calculator if possible: 65 -&gt; 2790 -&gt; 65. Keep the focus on the idea: easy to compute forward, hard to reverse without the secret.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min. Textbook RSA is unsafe. Real systems use OAEP (encrypt) and PSS (sign), with 2048+ bit keys.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 min. Trace the toy curve points on the board: G, 2G, 3G... Forward is easy, backward needs guessing. Real curves are enormous.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min. Key exchange: Alice and Bob both reach (ab)G. Eavesdropper sees G, A, B only. Mention ECDSA nonce reuse (PS3).</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min. Connect back to hashing: sign the hash, not the whole message. Ask who can verify and who can create a signature.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min discussion. Q3 is the preview of the next two slides: the website walkthrough pulls it all together.</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min. Shor breaks RSA and ECC; Grover only halves symmetric strength. 'Harvest now, decrypt later' is why migration starts now.</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min. Keep it light: lattices and noisy equations. Noise turns an easy puzzle into a hard one.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min. Walk the five steps. Ask students to point out which earlier slide each step came from.</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min. Quick recap. Ask each table to name one takeaway they will remember.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extend if time allows. Open floor. Share the resource list for further learning.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3.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640080" y="1463040"/>
            <a:ext cx="5852160" cy="274320"/>
          </a:xfrm>
          <a:prstGeom prst="rect">
            <a:avLst/>
          </a:prstGeom>
          <a:noFill/>
          <a:ln/>
        </p:spPr>
        <p:txBody>
          <a:bodyPr wrap="square" lIns="0" tIns="0" rIns="0" bIns="0" rtlCol="0" anchor="ctr"/>
          <a:lstStyle/>
          <a:p>
            <a:pPr marL="0" indent="0">
              <a:buNone/>
            </a:pPr>
            <a:r>
              <a:rPr lang="en-US" sz="1300" kern="0" spc="200" dirty="0">
                <a:solidFill>
                  <a:srgbClr val="22D3EE"/>
                </a:solidFill>
                <a:latin typeface="Consolas" pitchFamily="34" charset="0"/>
                <a:ea typeface="Consolas" pitchFamily="34" charset="-122"/>
                <a:cs typeface="Consolas" pitchFamily="34" charset="-120"/>
              </a:rPr>
              <a:t>// A </a:t>
            </a:r>
            <a:r>
              <a:rPr lang="en-US" sz="1300" kern="0" spc="200">
                <a:solidFill>
                  <a:srgbClr val="22D3EE"/>
                </a:solidFill>
                <a:latin typeface="Consolas" pitchFamily="34" charset="0"/>
                <a:ea typeface="Consolas" pitchFamily="34" charset="-122"/>
                <a:cs typeface="Consolas" pitchFamily="34" charset="-120"/>
              </a:rPr>
              <a:t>BEGINNER'S GUIDE</a:t>
            </a:r>
            <a:endParaRPr lang="en-US" sz="1300" dirty="0"/>
          </a:p>
        </p:txBody>
      </p:sp>
      <p:sp>
        <p:nvSpPr>
          <p:cNvPr id="3" name="Text 1"/>
          <p:cNvSpPr/>
          <p:nvPr/>
        </p:nvSpPr>
        <p:spPr>
          <a:xfrm>
            <a:off x="640080" y="1828800"/>
            <a:ext cx="5852160" cy="2011680"/>
          </a:xfrm>
          <a:prstGeom prst="rect">
            <a:avLst/>
          </a:prstGeom>
          <a:noFill/>
          <a:ln/>
        </p:spPr>
        <p:txBody>
          <a:bodyPr wrap="square" lIns="0" tIns="0" rIns="0" bIns="0" rtlCol="0" anchor="t"/>
          <a:lstStyle/>
          <a:p>
            <a:pPr marL="0" indent="0">
              <a:buNone/>
            </a:pPr>
            <a:r>
              <a:rPr lang="en-US" sz="5200" b="1">
                <a:solidFill>
                  <a:srgbClr val="F1F5F9"/>
                </a:solidFill>
                <a:latin typeface="Consolas" pitchFamily="34" charset="0"/>
                <a:ea typeface="Consolas" pitchFamily="34" charset="-122"/>
                <a:cs typeface="Consolas" pitchFamily="34" charset="-120"/>
              </a:rPr>
              <a:t>Intro to</a:t>
            </a:r>
            <a:endParaRPr lang="en-US" sz="5200" dirty="0"/>
          </a:p>
          <a:p>
            <a:pPr marL="0" indent="0">
              <a:buNone/>
            </a:pPr>
            <a:r>
              <a:rPr lang="en-US" sz="5200" b="1">
                <a:solidFill>
                  <a:srgbClr val="F1F5F9"/>
                </a:solidFill>
                <a:latin typeface="Consolas" pitchFamily="34" charset="0"/>
                <a:ea typeface="Consolas" pitchFamily="34" charset="-122"/>
                <a:cs typeface="Consolas" pitchFamily="34" charset="-120"/>
              </a:rPr>
              <a:t>Cryptography</a:t>
            </a:r>
            <a:endParaRPr lang="en-US" sz="5200" dirty="0"/>
          </a:p>
        </p:txBody>
      </p:sp>
      <p:sp>
        <p:nvSpPr>
          <p:cNvPr id="4" name="Text 2"/>
          <p:cNvSpPr/>
          <p:nvPr/>
        </p:nvSpPr>
        <p:spPr>
          <a:xfrm>
            <a:off x="640080" y="4023360"/>
            <a:ext cx="5394960" cy="1005840"/>
          </a:xfrm>
          <a:prstGeom prst="rect">
            <a:avLst/>
          </a:prstGeom>
          <a:noFill/>
          <a:ln/>
        </p:spPr>
        <p:txBody>
          <a:bodyPr wrap="square" lIns="0" tIns="0" rIns="0" bIns="0" rtlCol="0" anchor="t"/>
          <a:lstStyle/>
          <a:p>
            <a:pPr marL="0" indent="0">
              <a:buNone/>
            </a:pPr>
            <a:r>
              <a:rPr lang="en-US" sz="1800" dirty="0">
                <a:solidFill>
                  <a:srgbClr val="9FB0CC"/>
                </a:solidFill>
                <a:latin typeface="Calibri" pitchFamily="34" charset="0"/>
                <a:ea typeface="Calibri" pitchFamily="34" charset="-122"/>
                <a:cs typeface="Calibri" pitchFamily="34" charset="-120"/>
              </a:rPr>
              <a:t>How </a:t>
            </a:r>
            <a:r>
              <a:rPr lang="en-US" sz="1800">
                <a:solidFill>
                  <a:srgbClr val="9FB0CC"/>
                </a:solidFill>
                <a:latin typeface="Calibri" pitchFamily="34" charset="0"/>
                <a:ea typeface="Calibri" pitchFamily="34" charset="-122"/>
                <a:cs typeface="Calibri" pitchFamily="34" charset="-120"/>
              </a:rPr>
              <a:t>we keep </a:t>
            </a:r>
            <a:r>
              <a:rPr lang="en-US" sz="1800" dirty="0">
                <a:solidFill>
                  <a:srgbClr val="9FB0CC"/>
                </a:solidFill>
                <a:latin typeface="Calibri" pitchFamily="34" charset="0"/>
                <a:ea typeface="Calibri" pitchFamily="34" charset="-122"/>
                <a:cs typeface="Calibri" pitchFamily="34" charset="-120"/>
              </a:rPr>
              <a:t>digital </a:t>
            </a:r>
            <a:r>
              <a:rPr lang="en-US" sz="1800">
                <a:solidFill>
                  <a:srgbClr val="9FB0CC"/>
                </a:solidFill>
                <a:latin typeface="Calibri" pitchFamily="34" charset="0"/>
                <a:ea typeface="Calibri" pitchFamily="34" charset="-122"/>
                <a:cs typeface="Calibri" pitchFamily="34" charset="-120"/>
              </a:rPr>
              <a:t>information private and trustworthy</a:t>
            </a:r>
            <a:r>
              <a:rPr lang="en-US" sz="1800" dirty="0">
                <a:solidFill>
                  <a:srgbClr val="9FB0CC"/>
                </a:solidFill>
                <a:latin typeface="Calibri" pitchFamily="34" charset="0"/>
                <a:ea typeface="Calibri" pitchFamily="34" charset="-122"/>
                <a:cs typeface="Calibri" pitchFamily="34" charset="-120"/>
              </a:rPr>
              <a:t>: </a:t>
            </a:r>
            <a:r>
              <a:rPr lang="en-US" sz="1800">
                <a:solidFill>
                  <a:srgbClr val="9FB0CC"/>
                </a:solidFill>
                <a:latin typeface="Calibri" pitchFamily="34" charset="0"/>
                <a:ea typeface="Calibri" pitchFamily="34" charset="-122"/>
                <a:cs typeface="Calibri" pitchFamily="34" charset="-120"/>
              </a:rPr>
              <a:t>hashing, encryption</a:t>
            </a:r>
            <a:r>
              <a:rPr lang="en-US" sz="1800" dirty="0">
                <a:solidFill>
                  <a:srgbClr val="9FB0CC"/>
                </a:solidFill>
                <a:latin typeface="Calibri" pitchFamily="34" charset="0"/>
                <a:ea typeface="Calibri" pitchFamily="34" charset="-122"/>
                <a:cs typeface="Calibri" pitchFamily="34" charset="-120"/>
              </a:rPr>
              <a:t>, </a:t>
            </a:r>
            <a:r>
              <a:rPr lang="en-US" sz="1800">
                <a:solidFill>
                  <a:srgbClr val="9FB0CC"/>
                </a:solidFill>
                <a:latin typeface="Calibri" pitchFamily="34" charset="0"/>
                <a:ea typeface="Calibri" pitchFamily="34" charset="-122"/>
                <a:cs typeface="Calibri" pitchFamily="34" charset="-120"/>
              </a:rPr>
              <a:t>signatures,</a:t>
            </a:r>
            <a:r>
              <a:rPr lang="en-US" sz="1800" dirty="0">
                <a:solidFill>
                  <a:srgbClr val="9FB0CC"/>
                </a:solidFill>
                <a:latin typeface="Calibri" pitchFamily="34" charset="0"/>
                <a:ea typeface="Calibri" pitchFamily="34" charset="-122"/>
                <a:cs typeface="Calibri" pitchFamily="34" charset="-120"/>
              </a:rPr>
              <a:t> and </a:t>
            </a:r>
            <a:r>
              <a:rPr lang="en-US" sz="1800">
                <a:solidFill>
                  <a:srgbClr val="9FB0CC"/>
                </a:solidFill>
                <a:latin typeface="Calibri" pitchFamily="34" charset="0"/>
                <a:ea typeface="Calibri" pitchFamily="34" charset="-122"/>
                <a:cs typeface="Calibri" pitchFamily="34" charset="-120"/>
              </a:rPr>
              <a:t>what quantum computers change</a:t>
            </a:r>
            <a:r>
              <a:rPr lang="en-US" sz="1800" dirty="0">
                <a:solidFill>
                  <a:srgbClr val="9FB0CC"/>
                </a:solidFill>
                <a:latin typeface="Calibri" pitchFamily="34" charset="0"/>
                <a:ea typeface="Calibri" pitchFamily="34" charset="-122"/>
                <a:cs typeface="Calibri" pitchFamily="34" charset="-120"/>
              </a:rPr>
              <a:t>.</a:t>
            </a:r>
            <a:endParaRPr lang="en-US" sz="1800" dirty="0"/>
          </a:p>
        </p:txBody>
      </p:sp>
      <p:sp>
        <p:nvSpPr>
          <p:cNvPr id="5" name="Text 3"/>
          <p:cNvSpPr/>
          <p:nvPr/>
        </p:nvSpPr>
        <p:spPr>
          <a:xfrm>
            <a:off x="640080" y="5760720"/>
            <a:ext cx="5486400" cy="274320"/>
          </a:xfrm>
          <a:prstGeom prst="rect">
            <a:avLst/>
          </a:prstGeom>
          <a:noFill/>
          <a:ln/>
        </p:spPr>
        <p:txBody>
          <a:bodyPr wrap="square" lIns="0" tIns="0" rIns="0" bIns="0" rtlCol="0" anchor="ctr"/>
          <a:lstStyle/>
          <a:p>
            <a:pPr marL="0" indent="0">
              <a:buNone/>
            </a:pPr>
            <a:r>
              <a:rPr lang="en-US" sz="1200" dirty="0">
                <a:solidFill>
                  <a:srgbClr val="4ADE80"/>
                </a:solidFill>
                <a:latin typeface="Consolas" pitchFamily="34" charset="0"/>
                <a:ea typeface="Consolas" pitchFamily="34" charset="-122"/>
                <a:cs typeface="Consolas" pitchFamily="34" charset="-120"/>
              </a:rPr>
              <a:t>No background needed</a:t>
            </a:r>
            <a:r>
              <a:rPr lang="en-US" sz="1200">
                <a:solidFill>
                  <a:srgbClr val="4ADE80"/>
                </a:solidFill>
                <a:latin typeface="Consolas" pitchFamily="34" charset="0"/>
                <a:ea typeface="Consolas" pitchFamily="34" charset="-122"/>
                <a:cs typeface="Consolas" pitchFamily="34" charset="-120"/>
              </a:rPr>
              <a:t> · questions welcome any time</a:t>
            </a:r>
            <a:endParaRPr lang="en-US" sz="1200" dirty="0"/>
          </a:p>
        </p:txBody>
      </p:sp>
      <p:sp>
        <p:nvSpPr>
          <p:cNvPr id="6" name="Shape 4"/>
          <p:cNvSpPr/>
          <p:nvPr/>
        </p:nvSpPr>
        <p:spPr>
          <a:xfrm>
            <a:off x="6858000" y="1554480"/>
            <a:ext cx="4754880" cy="3749040"/>
          </a:xfrm>
          <a:prstGeom prst="roundRect">
            <a:avLst>
              <a:gd name="adj" fmla="val 1951"/>
            </a:avLst>
          </a:prstGeom>
          <a:solidFill>
            <a:srgbClr val="070B14"/>
          </a:solidFill>
          <a:ln w="12700">
            <a:solidFill>
              <a:srgbClr val="2A3E68"/>
            </a:solidFill>
            <a:prstDash val="solid"/>
          </a:ln>
        </p:spPr>
      </p:sp>
      <p:sp>
        <p:nvSpPr>
          <p:cNvPr id="7" name="Shape 5"/>
          <p:cNvSpPr/>
          <p:nvPr/>
        </p:nvSpPr>
        <p:spPr>
          <a:xfrm>
            <a:off x="7022592" y="1682496"/>
            <a:ext cx="100584" cy="100584"/>
          </a:xfrm>
          <a:prstGeom prst="ellipse">
            <a:avLst/>
          </a:prstGeom>
          <a:solidFill>
            <a:srgbClr val="F87171"/>
          </a:solidFill>
          <a:ln w="12700">
            <a:solidFill>
              <a:srgbClr val="F87171"/>
            </a:solidFill>
            <a:prstDash val="solid"/>
          </a:ln>
        </p:spPr>
      </p:sp>
      <p:sp>
        <p:nvSpPr>
          <p:cNvPr id="8" name="Shape 6"/>
          <p:cNvSpPr/>
          <p:nvPr/>
        </p:nvSpPr>
        <p:spPr>
          <a:xfrm>
            <a:off x="7205472" y="1682496"/>
            <a:ext cx="100584" cy="100584"/>
          </a:xfrm>
          <a:prstGeom prst="ellipse">
            <a:avLst/>
          </a:prstGeom>
          <a:solidFill>
            <a:srgbClr val="FBBF24"/>
          </a:solidFill>
          <a:ln w="12700">
            <a:solidFill>
              <a:srgbClr val="FBBF24"/>
            </a:solidFill>
            <a:prstDash val="solid"/>
          </a:ln>
        </p:spPr>
      </p:sp>
      <p:sp>
        <p:nvSpPr>
          <p:cNvPr id="9" name="Shape 7"/>
          <p:cNvSpPr/>
          <p:nvPr/>
        </p:nvSpPr>
        <p:spPr>
          <a:xfrm>
            <a:off x="7388352" y="1682496"/>
            <a:ext cx="100584" cy="100584"/>
          </a:xfrm>
          <a:prstGeom prst="ellipse">
            <a:avLst/>
          </a:prstGeom>
          <a:solidFill>
            <a:srgbClr val="4ADE80"/>
          </a:solidFill>
          <a:ln w="12700">
            <a:solidFill>
              <a:srgbClr val="4ADE80"/>
            </a:solidFill>
            <a:prstDash val="solid"/>
          </a:ln>
        </p:spPr>
      </p:sp>
      <p:sp>
        <p:nvSpPr>
          <p:cNvPr id="10" name="Text 8"/>
          <p:cNvSpPr/>
          <p:nvPr/>
        </p:nvSpPr>
        <p:spPr>
          <a:xfrm>
            <a:off x="7635240" y="1627632"/>
            <a:ext cx="3840480" cy="201168"/>
          </a:xfrm>
          <a:prstGeom prst="rect">
            <a:avLst/>
          </a:prstGeom>
          <a:noFill/>
          <a:ln/>
        </p:spPr>
        <p:txBody>
          <a:bodyPr wrap="square" lIns="0" tIns="0" rIns="0" bIns="0" rtlCol="0" anchor="ctr"/>
          <a:lstStyle/>
          <a:p>
            <a:pPr marL="0" indent="0">
              <a:buNone/>
            </a:pPr>
            <a:r>
              <a:rPr lang="en-US" sz="1000" dirty="0">
                <a:solidFill>
                  <a:srgbClr val="9FB0CC"/>
                </a:solidFill>
                <a:latin typeface="Consolas" pitchFamily="34" charset="0"/>
                <a:ea typeface="Consolas" pitchFamily="34" charset="-122"/>
                <a:cs typeface="Consolas" pitchFamily="34" charset="-120"/>
              </a:rPr>
              <a:t>terminal</a:t>
            </a:r>
            <a:endParaRPr lang="en-US" sz="1000" dirty="0"/>
          </a:p>
        </p:txBody>
      </p:sp>
      <p:sp>
        <p:nvSpPr>
          <p:cNvPr id="11" name="Text 9"/>
          <p:cNvSpPr/>
          <p:nvPr/>
        </p:nvSpPr>
        <p:spPr>
          <a:xfrm>
            <a:off x="7086600" y="1938528"/>
            <a:ext cx="4297680" cy="3246120"/>
          </a:xfrm>
          <a:prstGeom prst="rect">
            <a:avLst/>
          </a:prstGeom>
          <a:noFill/>
          <a:ln/>
        </p:spPr>
        <p:txBody>
          <a:bodyPr wrap="square" lIns="0" tIns="0" rIns="0" bIns="0" rtlCol="0" anchor="t"/>
          <a:lstStyle/>
          <a:p>
            <a:pPr marL="0" indent="0">
              <a:spcAft>
                <a:spcPts val="200"/>
              </a:spcAft>
              <a:buNone/>
            </a:pPr>
            <a:r>
              <a:rPr lang="en-US" sz="1500" dirty="0">
                <a:solidFill>
                  <a:srgbClr val="9FB0CC"/>
                </a:solidFill>
                <a:latin typeface="Consolas" pitchFamily="34" charset="0"/>
                <a:ea typeface="Consolas" pitchFamily="34" charset="-122"/>
                <a:cs typeface="Consolas" pitchFamily="34" charset="-120"/>
              </a:rPr>
              <a:t>$ sha256("hello")</a:t>
            </a:r>
            <a:endParaRPr lang="en-US" sz="1500" dirty="0"/>
          </a:p>
          <a:p>
            <a:pPr marL="0" indent="0">
              <a:spcAft>
                <a:spcPts val="200"/>
              </a:spcAft>
              <a:buNone/>
            </a:pPr>
            <a:r>
              <a:rPr lang="en-US" sz="1500" dirty="0">
                <a:solidFill>
                  <a:srgbClr val="4ADE80"/>
                </a:solidFill>
                <a:latin typeface="Consolas" pitchFamily="34" charset="0"/>
                <a:ea typeface="Consolas" pitchFamily="34" charset="-122"/>
                <a:cs typeface="Consolas" pitchFamily="34" charset="-120"/>
              </a:rPr>
              <a:t>2cf24dba5fb0a30e26e83b2ac5b9e29e</a:t>
            </a:r>
            <a:endParaRPr lang="en-US" sz="1500" dirty="0"/>
          </a:p>
          <a:p>
            <a:pPr marL="0" indent="0">
              <a:spcAft>
                <a:spcPts val="200"/>
              </a:spcAft>
              <a:buNone/>
            </a:pPr>
            <a:r>
              <a:rPr lang="en-US" sz="1500" dirty="0">
                <a:solidFill>
                  <a:srgbClr val="4ADE80"/>
                </a:solidFill>
                <a:latin typeface="Consolas" pitchFamily="34" charset="0"/>
                <a:ea typeface="Consolas" pitchFamily="34" charset="-122"/>
                <a:cs typeface="Consolas" pitchFamily="34" charset="-120"/>
              </a:rPr>
              <a:t>1b161e5c1fa7425e73043362938b9824</a:t>
            </a:r>
            <a:endParaRPr lang="en-US" sz="1500" dirty="0"/>
          </a:p>
          <a:p>
            <a:pPr marL="0" indent="0">
              <a:spcAft>
                <a:spcPts val="200"/>
              </a:spcAft>
              <a:buNone/>
            </a:pPr>
            <a:endParaRPr lang="en-US" sz="1500" dirty="0"/>
          </a:p>
          <a:p>
            <a:pPr marL="0" indent="0">
              <a:spcAft>
                <a:spcPts val="200"/>
              </a:spcAft>
              <a:buNone/>
            </a:pPr>
            <a:r>
              <a:rPr lang="en-US" sz="1500" dirty="0">
                <a:solidFill>
                  <a:srgbClr val="9FB0CC"/>
                </a:solidFill>
                <a:latin typeface="Consolas" pitchFamily="34" charset="0"/>
                <a:ea typeface="Consolas" pitchFamily="34" charset="-122"/>
                <a:cs typeface="Consolas" pitchFamily="34" charset="-120"/>
              </a:rPr>
              <a:t>$ sha256("Hello")</a:t>
            </a:r>
            <a:endParaRPr lang="en-US" sz="1500" dirty="0"/>
          </a:p>
          <a:p>
            <a:pPr marL="0" indent="0">
              <a:spcAft>
                <a:spcPts val="200"/>
              </a:spcAft>
              <a:buNone/>
            </a:pPr>
            <a:r>
              <a:rPr lang="en-US" sz="1500" dirty="0">
                <a:solidFill>
                  <a:srgbClr val="22D3EE"/>
                </a:solidFill>
                <a:latin typeface="Consolas" pitchFamily="34" charset="0"/>
                <a:ea typeface="Consolas" pitchFamily="34" charset="-122"/>
                <a:cs typeface="Consolas" pitchFamily="34" charset="-120"/>
              </a:rPr>
              <a:t>185f8db32271fe25f561a6fc938b2e26</a:t>
            </a:r>
            <a:endParaRPr lang="en-US" sz="1500" dirty="0"/>
          </a:p>
          <a:p>
            <a:pPr marL="0" indent="0">
              <a:spcAft>
                <a:spcPts val="200"/>
              </a:spcAft>
              <a:buNone/>
            </a:pPr>
            <a:r>
              <a:rPr lang="en-US" sz="1500" dirty="0">
                <a:solidFill>
                  <a:srgbClr val="22D3EE"/>
                </a:solidFill>
                <a:latin typeface="Consolas" pitchFamily="34" charset="0"/>
                <a:ea typeface="Consolas" pitchFamily="34" charset="-122"/>
                <a:cs typeface="Consolas" pitchFamily="34" charset="-120"/>
              </a:rPr>
              <a:t>4306ec304eda518007d1764826381969</a:t>
            </a:r>
            <a:endParaRPr lang="en-US" sz="1500" dirty="0"/>
          </a:p>
          <a:p>
            <a:pPr marL="0" indent="0">
              <a:spcAft>
                <a:spcPts val="200"/>
              </a:spcAft>
              <a:buNone/>
            </a:pPr>
            <a:endParaRPr lang="en-US" sz="1500" dirty="0"/>
          </a:p>
          <a:p>
            <a:pPr marL="0" indent="0">
              <a:spcAft>
                <a:spcPts val="200"/>
              </a:spcAft>
              <a:buNone/>
            </a:pPr>
            <a:r>
              <a:rPr lang="en-US" sz="1500" dirty="0">
                <a:solidFill>
                  <a:srgbClr val="FBBF24"/>
                </a:solidFill>
                <a:latin typeface="Consolas" pitchFamily="34" charset="0"/>
                <a:ea typeface="Consolas" pitchFamily="34" charset="-122"/>
                <a:cs typeface="Consolas" pitchFamily="34" charset="-120"/>
              </a:rPr>
              <a:t># one letter changed.</a:t>
            </a:r>
            <a:endParaRPr lang="en-US" sz="1500" dirty="0"/>
          </a:p>
          <a:p>
            <a:pPr marL="0" indent="0">
              <a:spcAft>
                <a:spcPts val="200"/>
              </a:spcAft>
              <a:buNone/>
            </a:pPr>
            <a:r>
              <a:rPr lang="en-US" sz="1500" dirty="0">
                <a:solidFill>
                  <a:srgbClr val="FBBF24"/>
                </a:solidFill>
                <a:latin typeface="Consolas" pitchFamily="34" charset="0"/>
                <a:ea typeface="Consolas" pitchFamily="34" charset="-122"/>
                <a:cs typeface="Consolas" pitchFamily="34" charset="-120"/>
              </a:rPr>
              <a:t># a completely different hash.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a:t>
            </a:r>
            <a:r>
              <a:rPr lang="en-US" sz="1200" kern="0" spc="200">
                <a:solidFill>
                  <a:srgbClr val="22D3EE"/>
                </a:solidFill>
                <a:latin typeface="Consolas" pitchFamily="34" charset="0"/>
                <a:ea typeface="Consolas" pitchFamily="34" charset="-122"/>
                <a:cs typeface="Consolas" pitchFamily="34" charset="-120"/>
              </a:rPr>
              <a:t>THE PLAN</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r>
              <a:rPr lang="en-US" sz="2800" b="1">
                <a:solidFill>
                  <a:srgbClr val="F1F5F9"/>
                </a:solidFill>
                <a:latin typeface="Consolas"/>
              </a:rPr>
              <a:t>Roadmap</a:t>
            </a:r>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dirty="0">
                <a:solidFill>
                  <a:srgbClr val="9FB0CC"/>
                </a:solidFill>
                <a:latin typeface="Consolas" pitchFamily="34" charset="0"/>
                <a:ea typeface="Consolas" pitchFamily="34" charset="-122"/>
                <a:cs typeface="Consolas" pitchFamily="34" charset="-120"/>
              </a:rPr>
              <a:t>02</a:t>
            </a:r>
            <a:endParaRPr lang="en-US" sz="1000" dirty="0"/>
          </a:p>
        </p:txBody>
      </p:sp>
      <p:sp>
        <p:nvSpPr>
          <p:cNvPr id="6" name="Rounded Rectangle 5"/>
          <p:cNvSpPr/>
          <p:nvPr/>
        </p:nvSpPr>
        <p:spPr>
          <a:xfrm>
            <a:off x="548640" y="1417320"/>
            <a:ext cx="2103120" cy="42062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icon-book-31e2d077.png"/>
          <p:cNvPicPr>
            <a:picLocks noChangeAspect="1"/>
          </p:cNvPicPr>
          <p:nvPr/>
        </p:nvPicPr>
        <p:blipFill>
          <a:blip r:embed="rId3"/>
          <a:stretch>
            <a:fillRect/>
          </a:stretch>
        </p:blipFill>
        <p:spPr>
          <a:xfrm>
            <a:off x="731520" y="1600200"/>
            <a:ext cx="457200" cy="457200"/>
          </a:xfrm>
          <a:prstGeom prst="rect">
            <a:avLst/>
          </a:prstGeom>
        </p:spPr>
      </p:pic>
      <p:sp>
        <p:nvSpPr>
          <p:cNvPr id="8" name="TextBox 7"/>
          <p:cNvSpPr txBox="1">
            <a:spLocks/>
          </p:cNvSpPr>
          <p:nvPr/>
        </p:nvSpPr>
        <p:spPr>
          <a:xfrm>
            <a:off x="731520" y="2194560"/>
            <a:ext cx="1737360" cy="169277"/>
          </a:xfrm>
          <a:prstGeom prst="rect">
            <a:avLst/>
          </a:prstGeom>
          <a:noFill/>
        </p:spPr>
        <p:txBody>
          <a:bodyPr wrap="square" lIns="0" tIns="0" rIns="0" bIns="0" anchor="t">
            <a:spAutoFit/>
          </a:bodyPr>
          <a:lstStyle/>
          <a:p>
            <a:pPr algn="l"/>
            <a:r>
              <a:rPr lang="en-US" sz="1100" b="1" i="0">
                <a:solidFill>
                  <a:srgbClr val="22D3EE"/>
                </a:solidFill>
                <a:latin typeface="Consolas"/>
              </a:rPr>
              <a:t>PART 1  ·  25 MIN</a:t>
            </a:r>
          </a:p>
        </p:txBody>
      </p:sp>
      <p:sp>
        <p:nvSpPr>
          <p:cNvPr id="9" name="TextBox 8"/>
          <p:cNvSpPr txBox="1">
            <a:spLocks/>
          </p:cNvSpPr>
          <p:nvPr/>
        </p:nvSpPr>
        <p:spPr>
          <a:xfrm>
            <a:off x="731520" y="2468880"/>
            <a:ext cx="1737360" cy="548640"/>
          </a:xfrm>
          <a:prstGeom prst="rect">
            <a:avLst/>
          </a:prstGeom>
          <a:noFill/>
        </p:spPr>
        <p:txBody>
          <a:bodyPr wrap="square" lIns="0" tIns="0" rIns="0" bIns="0" anchor="t">
            <a:spAutoFit/>
          </a:bodyPr>
          <a:lstStyle/>
          <a:p>
            <a:pPr algn="l"/>
            <a:r>
              <a:rPr lang="en-US" sz="1400" b="1" i="0">
                <a:solidFill>
                  <a:srgbClr val="F1F5F9"/>
                </a:solidFill>
                <a:latin typeface="Consolas"/>
              </a:rPr>
              <a:t>FOUNDATIONS</a:t>
            </a:r>
          </a:p>
        </p:txBody>
      </p:sp>
      <p:sp>
        <p:nvSpPr>
          <p:cNvPr id="10" name="TextBox 9"/>
          <p:cNvSpPr txBox="1">
            <a:spLocks/>
          </p:cNvSpPr>
          <p:nvPr/>
        </p:nvSpPr>
        <p:spPr>
          <a:xfrm>
            <a:off x="731520" y="3200400"/>
            <a:ext cx="1783080" cy="1600438"/>
          </a:xfrm>
          <a:prstGeom prst="rect">
            <a:avLst/>
          </a:prstGeom>
          <a:noFill/>
        </p:spPr>
        <p:txBody>
          <a:bodyPr wrap="square" lIns="0" tIns="0" rIns="0" bIns="0" anchor="t">
            <a:spAutoFit/>
          </a:bodyPr>
          <a:lstStyle/>
          <a:p>
            <a:pPr marL="171450" indent="-171450" algn="l">
              <a:spcAft>
                <a:spcPts val="600"/>
              </a:spcAft>
              <a:buClr>
                <a:srgbClr val="22D3EE"/>
              </a:buClr>
              <a:buChar char="•"/>
            </a:pPr>
            <a:r>
              <a:rPr lang="en-US" sz="1400" b="0" i="0">
                <a:solidFill>
                  <a:srgbClr val="F1F5F9"/>
                </a:solidFill>
                <a:latin typeface="Calibri"/>
              </a:rPr>
              <a:t>Why cryptography matters</a:t>
            </a:r>
          </a:p>
          <a:p>
            <a:pPr marL="171450" indent="-171450" algn="l">
              <a:spcAft>
                <a:spcPts val="600"/>
              </a:spcAft>
              <a:buClr>
                <a:srgbClr val="22D3EE"/>
              </a:buClr>
              <a:buChar char="•"/>
            </a:pPr>
            <a:r>
              <a:rPr lang="en-US" sz="1400" b="0" i="0">
                <a:solidFill>
                  <a:srgbClr val="F1F5F9"/>
                </a:solidFill>
                <a:latin typeface="Calibri"/>
              </a:rPr>
              <a:t>Caesar and Vigenère</a:t>
            </a:r>
          </a:p>
          <a:p>
            <a:pPr marL="171450" indent="-171450" algn="l">
              <a:spcAft>
                <a:spcPts val="600"/>
              </a:spcAft>
              <a:buClr>
                <a:srgbClr val="22D3EE"/>
              </a:buClr>
              <a:buChar char="•"/>
            </a:pPr>
            <a:r>
              <a:rPr lang="en-US" sz="1400" b="0" i="0">
                <a:solidFill>
                  <a:srgbClr val="F1F5F9"/>
                </a:solidFill>
                <a:latin typeface="Calibri"/>
              </a:rPr>
              <a:t>One-time pads</a:t>
            </a:r>
          </a:p>
          <a:p>
            <a:pPr marL="171450" indent="-171450" algn="l">
              <a:spcAft>
                <a:spcPts val="600"/>
              </a:spcAft>
              <a:buClr>
                <a:srgbClr val="22D3EE"/>
              </a:buClr>
              <a:buChar char="•"/>
            </a:pPr>
            <a:r>
              <a:rPr lang="en-US" sz="1400" b="0" i="0">
                <a:solidFill>
                  <a:srgbClr val="F1F5F9"/>
                </a:solidFill>
                <a:latin typeface="Calibri"/>
              </a:rPr>
              <a:t>The Enigma machine</a:t>
            </a:r>
          </a:p>
          <a:p>
            <a:pPr marL="171450" indent="-171450" algn="l">
              <a:spcAft>
                <a:spcPts val="600"/>
              </a:spcAft>
              <a:buClr>
                <a:srgbClr val="22D3EE"/>
              </a:buClr>
              <a:buChar char="•"/>
            </a:pPr>
            <a:r>
              <a:rPr lang="en-US" sz="1400" b="0" i="0">
                <a:solidFill>
                  <a:srgbClr val="F1F5F9"/>
                </a:solidFill>
                <a:latin typeface="Calibri"/>
              </a:rPr>
              <a:t>Hashing vs encryption</a:t>
            </a:r>
          </a:p>
        </p:txBody>
      </p:sp>
      <p:sp>
        <p:nvSpPr>
          <p:cNvPr id="11" name="Rounded Rectangle 10"/>
          <p:cNvSpPr/>
          <p:nvPr/>
        </p:nvSpPr>
        <p:spPr>
          <a:xfrm>
            <a:off x="2788920" y="1417320"/>
            <a:ext cx="2103120" cy="42062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descr="image.png"/>
          <p:cNvPicPr>
            <a:picLocks noChangeAspect="1"/>
          </p:cNvPicPr>
          <p:nvPr/>
        </p:nvPicPr>
        <p:blipFill>
          <a:blip r:embed="rId4"/>
          <a:stretch>
            <a:fillRect/>
          </a:stretch>
        </p:blipFill>
        <p:spPr>
          <a:xfrm>
            <a:off x="2971800" y="1600200"/>
            <a:ext cx="457200" cy="457200"/>
          </a:xfrm>
          <a:prstGeom prst="rect">
            <a:avLst/>
          </a:prstGeom>
        </p:spPr>
      </p:pic>
      <p:sp>
        <p:nvSpPr>
          <p:cNvPr id="13" name="TextBox 12"/>
          <p:cNvSpPr txBox="1">
            <a:spLocks/>
          </p:cNvSpPr>
          <p:nvPr/>
        </p:nvSpPr>
        <p:spPr>
          <a:xfrm>
            <a:off x="2971800" y="2194560"/>
            <a:ext cx="1737360" cy="169277"/>
          </a:xfrm>
          <a:prstGeom prst="rect">
            <a:avLst/>
          </a:prstGeom>
          <a:noFill/>
        </p:spPr>
        <p:txBody>
          <a:bodyPr wrap="square" lIns="0" tIns="0" rIns="0" bIns="0" anchor="t">
            <a:spAutoFit/>
          </a:bodyPr>
          <a:lstStyle/>
          <a:p>
            <a:pPr algn="l"/>
            <a:r>
              <a:rPr lang="en-US" sz="1100" b="1" i="0">
                <a:solidFill>
                  <a:srgbClr val="4ADE80"/>
                </a:solidFill>
                <a:latin typeface="Consolas"/>
              </a:rPr>
              <a:t>PART 2  ·  20 MIN</a:t>
            </a:r>
          </a:p>
        </p:txBody>
      </p:sp>
      <p:sp>
        <p:nvSpPr>
          <p:cNvPr id="14" name="TextBox 13"/>
          <p:cNvSpPr txBox="1">
            <a:spLocks/>
          </p:cNvSpPr>
          <p:nvPr/>
        </p:nvSpPr>
        <p:spPr>
          <a:xfrm>
            <a:off x="2971800" y="2468880"/>
            <a:ext cx="1737360" cy="548640"/>
          </a:xfrm>
          <a:prstGeom prst="rect">
            <a:avLst/>
          </a:prstGeom>
          <a:noFill/>
        </p:spPr>
        <p:txBody>
          <a:bodyPr wrap="square" lIns="0" tIns="0" rIns="0" bIns="0" anchor="t">
            <a:spAutoFit/>
          </a:bodyPr>
          <a:lstStyle/>
          <a:p>
            <a:pPr algn="l"/>
            <a:r>
              <a:rPr lang="en-US" sz="1400" b="1" i="0">
                <a:solidFill>
                  <a:srgbClr val="F1F5F9"/>
                </a:solidFill>
                <a:latin typeface="Consolas"/>
              </a:rPr>
              <a:t>HASHING</a:t>
            </a:r>
          </a:p>
        </p:txBody>
      </p:sp>
      <p:sp>
        <p:nvSpPr>
          <p:cNvPr id="15" name="TextBox 14"/>
          <p:cNvSpPr txBox="1">
            <a:spLocks/>
          </p:cNvSpPr>
          <p:nvPr/>
        </p:nvSpPr>
        <p:spPr>
          <a:xfrm>
            <a:off x="2971800" y="3200400"/>
            <a:ext cx="1783080" cy="2286000"/>
          </a:xfrm>
          <a:prstGeom prst="rect">
            <a:avLst/>
          </a:prstGeom>
          <a:noFill/>
        </p:spPr>
        <p:txBody>
          <a:bodyPr wrap="square" lIns="0" tIns="0" rIns="0" bIns="0" anchor="t">
            <a:spAutoFit/>
          </a:bodyPr>
          <a:lstStyle/>
          <a:p>
            <a:pPr marL="171450" indent="-171450" algn="l">
              <a:spcAft>
                <a:spcPts val="600"/>
              </a:spcAft>
              <a:buClr>
                <a:srgbClr val="22D3EE"/>
              </a:buClr>
              <a:buChar char="•"/>
            </a:pPr>
            <a:r>
              <a:rPr lang="en-US" sz="1400" b="0" i="0">
                <a:solidFill>
                  <a:srgbClr val="F1F5F9"/>
                </a:solidFill>
                <a:latin typeface="Calibri"/>
              </a:rPr>
              <a:t>How hashing works</a:t>
            </a:r>
          </a:p>
          <a:p>
            <a:pPr marL="171450" indent="-171450" algn="l">
              <a:spcAft>
                <a:spcPts val="600"/>
              </a:spcAft>
              <a:buClr>
                <a:srgbClr val="22D3EE"/>
              </a:buClr>
              <a:buChar char="•"/>
            </a:pPr>
            <a:r>
              <a:rPr lang="en-US" sz="1400" b="0" i="0">
                <a:solidFill>
                  <a:srgbClr val="F1F5F9"/>
                </a:solidFill>
                <a:latin typeface="Calibri"/>
              </a:rPr>
              <a:t>SHA-256 up close</a:t>
            </a:r>
          </a:p>
          <a:p>
            <a:pPr marL="171450" indent="-171450" algn="l">
              <a:spcAft>
                <a:spcPts val="600"/>
              </a:spcAft>
              <a:buClr>
                <a:srgbClr val="22D3EE"/>
              </a:buClr>
              <a:buChar char="•"/>
            </a:pPr>
            <a:r>
              <a:rPr lang="en-US" sz="1400" b="0" i="0">
                <a:solidFill>
                  <a:srgbClr val="F1F5F9"/>
                </a:solidFill>
                <a:latin typeface="Calibri"/>
              </a:rPr>
              <a:t>MD5 and SHA-1 breaks</a:t>
            </a:r>
          </a:p>
          <a:p>
            <a:pPr marL="171450" indent="-171450" algn="l">
              <a:spcAft>
                <a:spcPts val="600"/>
              </a:spcAft>
              <a:buClr>
                <a:srgbClr val="22D3EE"/>
              </a:buClr>
              <a:buChar char="•"/>
            </a:pPr>
            <a:r>
              <a:rPr lang="en-US" sz="1400" b="0" i="0">
                <a:solidFill>
                  <a:srgbClr val="F1F5F9"/>
                </a:solidFill>
                <a:latin typeface="Calibri"/>
              </a:rPr>
              <a:t>Salt, pepper, passwords</a:t>
            </a:r>
          </a:p>
        </p:txBody>
      </p:sp>
      <p:sp>
        <p:nvSpPr>
          <p:cNvPr id="16" name="Rounded Rectangle 15"/>
          <p:cNvSpPr/>
          <p:nvPr/>
        </p:nvSpPr>
        <p:spPr>
          <a:xfrm>
            <a:off x="5029200" y="1417320"/>
            <a:ext cx="2103120" cy="42062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7" name="Picture 16" descr="image.png"/>
          <p:cNvPicPr>
            <a:picLocks noChangeAspect="1"/>
          </p:cNvPicPr>
          <p:nvPr/>
        </p:nvPicPr>
        <p:blipFill>
          <a:blip r:embed="rId5"/>
          <a:stretch>
            <a:fillRect/>
          </a:stretch>
        </p:blipFill>
        <p:spPr>
          <a:xfrm>
            <a:off x="5212080" y="1600200"/>
            <a:ext cx="457200" cy="457200"/>
          </a:xfrm>
          <a:prstGeom prst="rect">
            <a:avLst/>
          </a:prstGeom>
        </p:spPr>
      </p:pic>
      <p:sp>
        <p:nvSpPr>
          <p:cNvPr id="18" name="TextBox 17"/>
          <p:cNvSpPr txBox="1">
            <a:spLocks/>
          </p:cNvSpPr>
          <p:nvPr/>
        </p:nvSpPr>
        <p:spPr>
          <a:xfrm>
            <a:off x="5212080" y="2194560"/>
            <a:ext cx="1737360" cy="228600"/>
          </a:xfrm>
          <a:prstGeom prst="rect">
            <a:avLst/>
          </a:prstGeom>
          <a:noFill/>
        </p:spPr>
        <p:txBody>
          <a:bodyPr wrap="square" lIns="0" tIns="0" rIns="0" bIns="0" anchor="t">
            <a:spAutoFit/>
          </a:bodyPr>
          <a:lstStyle/>
          <a:p>
            <a:pPr algn="l"/>
            <a:r>
              <a:rPr lang="en-US" sz="1100" b="1" i="0">
                <a:solidFill>
                  <a:srgbClr val="FBBF24"/>
                </a:solidFill>
                <a:latin typeface="Consolas"/>
              </a:rPr>
              <a:t>PART 3  ·  35 MIN</a:t>
            </a:r>
          </a:p>
        </p:txBody>
      </p:sp>
      <p:sp>
        <p:nvSpPr>
          <p:cNvPr id="19" name="TextBox 18"/>
          <p:cNvSpPr txBox="1">
            <a:spLocks/>
          </p:cNvSpPr>
          <p:nvPr/>
        </p:nvSpPr>
        <p:spPr>
          <a:xfrm>
            <a:off x="5212080" y="2468880"/>
            <a:ext cx="1737360" cy="548640"/>
          </a:xfrm>
          <a:prstGeom prst="rect">
            <a:avLst/>
          </a:prstGeom>
          <a:noFill/>
        </p:spPr>
        <p:txBody>
          <a:bodyPr wrap="square" lIns="0" tIns="0" rIns="0" bIns="0" anchor="t">
            <a:spAutoFit/>
          </a:bodyPr>
          <a:lstStyle/>
          <a:p>
            <a:pPr algn="l"/>
            <a:r>
              <a:rPr lang="en-US" sz="1400" b="1" i="0">
                <a:solidFill>
                  <a:srgbClr val="F1F5F9"/>
                </a:solidFill>
                <a:latin typeface="Consolas"/>
              </a:rPr>
              <a:t>SYMMETRIC ENCRYPTION</a:t>
            </a:r>
          </a:p>
        </p:txBody>
      </p:sp>
      <p:sp>
        <p:nvSpPr>
          <p:cNvPr id="20" name="TextBox 19"/>
          <p:cNvSpPr txBox="1">
            <a:spLocks/>
          </p:cNvSpPr>
          <p:nvPr/>
        </p:nvSpPr>
        <p:spPr>
          <a:xfrm>
            <a:off x="5212080" y="3200400"/>
            <a:ext cx="1783080" cy="2286000"/>
          </a:xfrm>
          <a:prstGeom prst="rect">
            <a:avLst/>
          </a:prstGeom>
          <a:noFill/>
        </p:spPr>
        <p:txBody>
          <a:bodyPr wrap="square" lIns="0" tIns="0" rIns="0" bIns="0" anchor="t">
            <a:spAutoFit/>
          </a:bodyPr>
          <a:lstStyle/>
          <a:p>
            <a:pPr marL="171450" indent="-171450" algn="l">
              <a:spcAft>
                <a:spcPts val="600"/>
              </a:spcAft>
              <a:buClr>
                <a:srgbClr val="22D3EE"/>
              </a:buClr>
              <a:buChar char="•"/>
            </a:pPr>
            <a:r>
              <a:rPr lang="en-US" sz="1400" b="0" i="0">
                <a:solidFill>
                  <a:srgbClr val="F1F5F9"/>
                </a:solidFill>
                <a:latin typeface="Calibri"/>
              </a:rPr>
              <a:t>How encryption works</a:t>
            </a:r>
          </a:p>
          <a:p>
            <a:pPr marL="171450" indent="-171450" algn="l">
              <a:spcAft>
                <a:spcPts val="600"/>
              </a:spcAft>
              <a:buClr>
                <a:srgbClr val="22D3EE"/>
              </a:buClr>
              <a:buChar char="•"/>
            </a:pPr>
            <a:r>
              <a:rPr lang="en-US" sz="1400" b="0" i="0">
                <a:solidFill>
                  <a:srgbClr val="F1F5F9"/>
                </a:solidFill>
                <a:latin typeface="Calibri"/>
              </a:rPr>
              <a:t>AES by example</a:t>
            </a:r>
          </a:p>
          <a:p>
            <a:pPr marL="171450" indent="-171450" algn="l">
              <a:spcAft>
                <a:spcPts val="600"/>
              </a:spcAft>
              <a:buClr>
                <a:srgbClr val="22D3EE"/>
              </a:buClr>
              <a:buChar char="•"/>
            </a:pPr>
            <a:r>
              <a:rPr lang="en-US" sz="1400" b="0" i="0">
                <a:solidFill>
                  <a:srgbClr val="F1F5F9"/>
                </a:solidFill>
                <a:latin typeface="Calibri"/>
              </a:rPr>
              <a:t>Modes: ECB to GCM</a:t>
            </a:r>
          </a:p>
          <a:p>
            <a:pPr marL="171450" indent="-171450" algn="l">
              <a:spcAft>
                <a:spcPts val="600"/>
              </a:spcAft>
              <a:buClr>
                <a:srgbClr val="22D3EE"/>
              </a:buClr>
              <a:buChar char="•"/>
            </a:pPr>
            <a:r>
              <a:rPr lang="en-US" sz="1400" b="0" i="0">
                <a:solidFill>
                  <a:srgbClr val="F1F5F9"/>
                </a:solidFill>
                <a:latin typeface="Calibri"/>
              </a:rPr>
              <a:t>Where modes go wrong</a:t>
            </a:r>
          </a:p>
        </p:txBody>
      </p:sp>
      <p:sp>
        <p:nvSpPr>
          <p:cNvPr id="21" name="Rounded Rectangle 20"/>
          <p:cNvSpPr/>
          <p:nvPr/>
        </p:nvSpPr>
        <p:spPr>
          <a:xfrm>
            <a:off x="7269480" y="1417320"/>
            <a:ext cx="2103120" cy="42062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6"/>
          <a:stretch>
            <a:fillRect/>
          </a:stretch>
        </p:blipFill>
        <p:spPr>
          <a:xfrm>
            <a:off x="7452360" y="1600200"/>
            <a:ext cx="457200" cy="457200"/>
          </a:xfrm>
          <a:prstGeom prst="rect">
            <a:avLst/>
          </a:prstGeom>
        </p:spPr>
      </p:pic>
      <p:sp>
        <p:nvSpPr>
          <p:cNvPr id="23" name="TextBox 22"/>
          <p:cNvSpPr txBox="1"/>
          <p:nvPr/>
        </p:nvSpPr>
        <p:spPr>
          <a:xfrm>
            <a:off x="7452360" y="2194560"/>
            <a:ext cx="1737360" cy="169277"/>
          </a:xfrm>
          <a:prstGeom prst="rect">
            <a:avLst/>
          </a:prstGeom>
          <a:noFill/>
        </p:spPr>
        <p:txBody>
          <a:bodyPr wrap="square" lIns="0" tIns="0" rIns="0" bIns="0" anchor="t">
            <a:spAutoFit/>
          </a:bodyPr>
          <a:lstStyle/>
          <a:p>
            <a:pPr algn="l"/>
            <a:r>
              <a:rPr sz="1100" b="1" i="0">
                <a:solidFill>
                  <a:srgbClr val="22D3EE"/>
                </a:solidFill>
                <a:latin typeface="Consolas"/>
              </a:rPr>
              <a:t>PART 4  ·  </a:t>
            </a:r>
            <a:r>
              <a:rPr lang="en-US" sz="1100" b="1" i="0">
                <a:solidFill>
                  <a:srgbClr val="22D3EE"/>
                </a:solidFill>
                <a:latin typeface="Consolas"/>
              </a:rPr>
              <a:t>25</a:t>
            </a:r>
            <a:r>
              <a:rPr sz="1100" b="1" i="0">
                <a:solidFill>
                  <a:srgbClr val="22D3EE"/>
                </a:solidFill>
                <a:latin typeface="Consolas"/>
              </a:rPr>
              <a:t> MIN</a:t>
            </a:r>
          </a:p>
        </p:txBody>
      </p:sp>
      <p:sp>
        <p:nvSpPr>
          <p:cNvPr id="24" name="TextBox 23"/>
          <p:cNvSpPr txBox="1"/>
          <p:nvPr/>
        </p:nvSpPr>
        <p:spPr>
          <a:xfrm>
            <a:off x="7452360" y="2468880"/>
            <a:ext cx="1737360" cy="548640"/>
          </a:xfrm>
          <a:prstGeom prst="rect">
            <a:avLst/>
          </a:prstGeom>
          <a:noFill/>
        </p:spPr>
        <p:txBody>
          <a:bodyPr wrap="square" lIns="0" tIns="0" rIns="0" bIns="0" anchor="t">
            <a:spAutoFit/>
          </a:bodyPr>
          <a:lstStyle/>
          <a:p>
            <a:pPr algn="l"/>
            <a:r>
              <a:rPr sz="1400" b="1" i="0">
                <a:solidFill>
                  <a:srgbClr val="F1F5F9"/>
                </a:solidFill>
                <a:latin typeface="Consolas"/>
              </a:rPr>
              <a:t>ASYMMETRIC</a:t>
            </a:r>
          </a:p>
        </p:txBody>
      </p:sp>
      <p:sp>
        <p:nvSpPr>
          <p:cNvPr id="25" name="TextBox 24"/>
          <p:cNvSpPr txBox="1"/>
          <p:nvPr/>
        </p:nvSpPr>
        <p:spPr>
          <a:xfrm>
            <a:off x="7452360" y="3200400"/>
            <a:ext cx="1783080" cy="2286000"/>
          </a:xfrm>
          <a:prstGeom prst="rect">
            <a:avLst/>
          </a:prstGeom>
          <a:noFill/>
        </p:spPr>
        <p:txBody>
          <a:bodyPr wrap="square" lIns="0" tIns="0" rIns="0" bIns="0" anchor="t">
            <a:spAutoFit/>
          </a:bodyPr>
          <a:lstStyle/>
          <a:p>
            <a:pPr marL="171450" indent="-171450" algn="l">
              <a:spcAft>
                <a:spcPts val="600"/>
              </a:spcAft>
              <a:buClr>
                <a:srgbClr val="22D3EE"/>
              </a:buClr>
              <a:buChar char="•"/>
            </a:pPr>
            <a:r>
              <a:rPr sz="1400" b="0" i="0">
                <a:solidFill>
                  <a:srgbClr val="F1F5F9"/>
                </a:solidFill>
                <a:latin typeface="Calibri"/>
              </a:rPr>
              <a:t>RSA vs ECC</a:t>
            </a:r>
          </a:p>
          <a:p>
            <a:pPr marL="171450" indent="-171450" algn="l">
              <a:spcAft>
                <a:spcPts val="600"/>
              </a:spcAft>
              <a:buClr>
                <a:srgbClr val="22D3EE"/>
              </a:buClr>
              <a:buChar char="•"/>
            </a:pPr>
            <a:r>
              <a:rPr sz="1400" b="0" i="0">
                <a:solidFill>
                  <a:srgbClr val="F1F5F9"/>
                </a:solidFill>
                <a:latin typeface="Calibri"/>
              </a:rPr>
              <a:t>RSA and curves by example</a:t>
            </a:r>
          </a:p>
          <a:p>
            <a:pPr marL="171450" indent="-171450" algn="l">
              <a:spcAft>
                <a:spcPts val="600"/>
              </a:spcAft>
              <a:buClr>
                <a:srgbClr val="22D3EE"/>
              </a:buClr>
              <a:buChar char="•"/>
            </a:pPr>
            <a:r>
              <a:rPr sz="1400" b="0" i="0">
                <a:solidFill>
                  <a:srgbClr val="F1F5F9"/>
                </a:solidFill>
                <a:latin typeface="Calibri"/>
              </a:rPr>
              <a:t>Key exchange</a:t>
            </a:r>
          </a:p>
          <a:p>
            <a:pPr marL="171450" indent="-171450" algn="l">
              <a:spcAft>
                <a:spcPts val="600"/>
              </a:spcAft>
              <a:buClr>
                <a:srgbClr val="22D3EE"/>
              </a:buClr>
              <a:buChar char="•"/>
            </a:pPr>
            <a:r>
              <a:rPr sz="1400" b="0" i="0">
                <a:solidFill>
                  <a:srgbClr val="F1F5F9"/>
                </a:solidFill>
                <a:latin typeface="Calibri"/>
              </a:rPr>
              <a:t>Digital signatures</a:t>
            </a:r>
          </a:p>
        </p:txBody>
      </p:sp>
      <p:sp>
        <p:nvSpPr>
          <p:cNvPr id="26" name="Rounded Rectangle 25"/>
          <p:cNvSpPr/>
          <p:nvPr/>
        </p:nvSpPr>
        <p:spPr>
          <a:xfrm>
            <a:off x="9509760" y="1417320"/>
            <a:ext cx="2103120" cy="42062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image.png"/>
          <p:cNvPicPr>
            <a:picLocks noChangeAspect="1"/>
          </p:cNvPicPr>
          <p:nvPr/>
        </p:nvPicPr>
        <p:blipFill>
          <a:blip r:embed="rId7"/>
          <a:stretch>
            <a:fillRect/>
          </a:stretch>
        </p:blipFill>
        <p:spPr>
          <a:xfrm>
            <a:off x="9692640" y="1600200"/>
            <a:ext cx="457200" cy="457200"/>
          </a:xfrm>
          <a:prstGeom prst="rect">
            <a:avLst/>
          </a:prstGeom>
        </p:spPr>
      </p:pic>
      <p:sp>
        <p:nvSpPr>
          <p:cNvPr id="28" name="TextBox 27"/>
          <p:cNvSpPr txBox="1"/>
          <p:nvPr/>
        </p:nvSpPr>
        <p:spPr>
          <a:xfrm>
            <a:off x="9692640" y="2194560"/>
            <a:ext cx="1737360" cy="228600"/>
          </a:xfrm>
          <a:prstGeom prst="rect">
            <a:avLst/>
          </a:prstGeom>
          <a:noFill/>
        </p:spPr>
        <p:txBody>
          <a:bodyPr wrap="square" lIns="0" tIns="0" rIns="0" bIns="0" anchor="t">
            <a:spAutoFit/>
          </a:bodyPr>
          <a:lstStyle/>
          <a:p>
            <a:pPr algn="l"/>
            <a:r>
              <a:rPr sz="1100" b="1" i="0">
                <a:solidFill>
                  <a:srgbClr val="4ADE80"/>
                </a:solidFill>
                <a:latin typeface="Consolas"/>
              </a:rPr>
              <a:t>PART 5  ·  15 MIN</a:t>
            </a:r>
          </a:p>
        </p:txBody>
      </p:sp>
      <p:sp>
        <p:nvSpPr>
          <p:cNvPr id="29" name="TextBox 28"/>
          <p:cNvSpPr txBox="1"/>
          <p:nvPr/>
        </p:nvSpPr>
        <p:spPr>
          <a:xfrm>
            <a:off x="9692640" y="2468880"/>
            <a:ext cx="1737360" cy="548640"/>
          </a:xfrm>
          <a:prstGeom prst="rect">
            <a:avLst/>
          </a:prstGeom>
          <a:noFill/>
        </p:spPr>
        <p:txBody>
          <a:bodyPr wrap="square" lIns="0" tIns="0" rIns="0" bIns="0" anchor="t">
            <a:spAutoFit/>
          </a:bodyPr>
          <a:lstStyle/>
          <a:p>
            <a:pPr algn="l"/>
            <a:r>
              <a:rPr sz="1400" b="1" i="0">
                <a:solidFill>
                  <a:srgbClr val="F1F5F9"/>
                </a:solidFill>
                <a:latin typeface="Consolas"/>
              </a:rPr>
              <a:t>THE FUTURE AND WRAP-UP</a:t>
            </a:r>
          </a:p>
        </p:txBody>
      </p:sp>
      <p:sp>
        <p:nvSpPr>
          <p:cNvPr id="30" name="TextBox 29"/>
          <p:cNvSpPr txBox="1"/>
          <p:nvPr/>
        </p:nvSpPr>
        <p:spPr>
          <a:xfrm>
            <a:off x="9692640" y="3200400"/>
            <a:ext cx="1783080" cy="2286000"/>
          </a:xfrm>
          <a:prstGeom prst="rect">
            <a:avLst/>
          </a:prstGeom>
          <a:noFill/>
        </p:spPr>
        <p:txBody>
          <a:bodyPr wrap="square" lIns="0" tIns="0" rIns="0" bIns="0" anchor="t">
            <a:spAutoFit/>
          </a:bodyPr>
          <a:lstStyle/>
          <a:p>
            <a:pPr marL="171450" indent="-171450" algn="l">
              <a:spcAft>
                <a:spcPts val="600"/>
              </a:spcAft>
              <a:buClr>
                <a:srgbClr val="22D3EE"/>
              </a:buClr>
              <a:buChar char="•"/>
            </a:pPr>
            <a:r>
              <a:rPr sz="1400" b="0" i="0">
                <a:solidFill>
                  <a:srgbClr val="F1F5F9"/>
                </a:solidFill>
                <a:latin typeface="Calibri"/>
              </a:rPr>
              <a:t>Post-quantum ideas</a:t>
            </a:r>
          </a:p>
          <a:p>
            <a:pPr marL="171450" indent="-171450" algn="l">
              <a:spcAft>
                <a:spcPts val="600"/>
              </a:spcAft>
              <a:buClr>
                <a:srgbClr val="22D3EE"/>
              </a:buClr>
              <a:buChar char="•"/>
            </a:pPr>
            <a:r>
              <a:rPr sz="1400" b="0" i="0">
                <a:solidFill>
                  <a:srgbClr val="F1F5F9"/>
                </a:solidFill>
                <a:latin typeface="Calibri"/>
              </a:rPr>
              <a:t>A secure website, start to finish</a:t>
            </a:r>
          </a:p>
          <a:p>
            <a:pPr marL="171450" indent="-171450" algn="l">
              <a:spcAft>
                <a:spcPts val="600"/>
              </a:spcAft>
              <a:buClr>
                <a:srgbClr val="22D3EE"/>
              </a:buClr>
              <a:buChar char="•"/>
            </a:pPr>
            <a:r>
              <a:rPr sz="1400" b="0" i="0">
                <a:solidFill>
                  <a:srgbClr val="F1F5F9"/>
                </a:solidFill>
                <a:latin typeface="Calibri"/>
              </a:rPr>
              <a:t>Takeaways and Q&amp;A</a:t>
            </a:r>
          </a:p>
        </p:txBody>
      </p:sp>
      <p:sp>
        <p:nvSpPr>
          <p:cNvPr id="31" name="Rounded Rectangle 30"/>
          <p:cNvSpPr/>
          <p:nvPr/>
        </p:nvSpPr>
        <p:spPr>
          <a:xfrm>
            <a:off x="548640" y="5806440"/>
            <a:ext cx="11064240" cy="457200"/>
          </a:xfrm>
          <a:prstGeom prst="roundRect">
            <a:avLst>
              <a:gd name="adj" fmla="val 100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5806440"/>
            <a:ext cx="10607040" cy="457200"/>
          </a:xfrm>
          <a:prstGeom prst="rect">
            <a:avLst/>
          </a:prstGeom>
          <a:noFill/>
        </p:spPr>
        <p:txBody>
          <a:bodyPr wrap="square" lIns="0" tIns="0" rIns="0" bIns="0" anchor="ctr">
            <a:spAutoFit/>
          </a:bodyPr>
          <a:lstStyle/>
          <a:p>
            <a:pPr algn="l"/>
            <a:r>
              <a:rPr sz="1300" b="0" i="0">
                <a:solidFill>
                  <a:srgbClr val="FBBF24"/>
                </a:solidFill>
                <a:latin typeface="Consolas"/>
              </a:rPr>
              <a:t>CHECKPOINT after every part: 5 minutes to discuss. Questions welcome at any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FOUNDATIONS 01</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What is cryptography?</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03</a:t>
            </a:r>
            <a:endParaRPr lang="en-US" sz="1000"/>
          </a:p>
        </p:txBody>
      </p:sp>
      <p:sp>
        <p:nvSpPr>
          <p:cNvPr id="6" name="TextBox 5"/>
          <p:cNvSpPr txBox="1"/>
          <p:nvPr/>
        </p:nvSpPr>
        <p:spPr>
          <a:xfrm>
            <a:off x="548640" y="1371600"/>
            <a:ext cx="11064240" cy="640080"/>
          </a:xfrm>
          <a:prstGeom prst="rect">
            <a:avLst/>
          </a:prstGeom>
          <a:noFill/>
        </p:spPr>
        <p:txBody>
          <a:bodyPr wrap="square" lIns="0" tIns="0" rIns="0" bIns="0" anchor="t">
            <a:spAutoFit/>
          </a:bodyPr>
          <a:lstStyle/>
          <a:p>
            <a:pPr algn="l"/>
            <a:r>
              <a:rPr sz="1800" b="0" i="0">
                <a:solidFill>
                  <a:srgbClr val="F1F5F9"/>
                </a:solidFill>
                <a:latin typeface="Calibri"/>
              </a:rPr>
              <a:t>Cryptography is the science of keeping information safe when other people might be watching it, or trying to change it.</a:t>
            </a:r>
          </a:p>
        </p:txBody>
      </p:sp>
      <p:sp>
        <p:nvSpPr>
          <p:cNvPr id="7" name="Rounded Rectangle 6"/>
          <p:cNvSpPr/>
          <p:nvPr/>
        </p:nvSpPr>
        <p:spPr>
          <a:xfrm>
            <a:off x="548640" y="2240280"/>
            <a:ext cx="2606040" cy="32461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con-eye-off-4035e97d.png"/>
          <p:cNvPicPr>
            <a:picLocks noChangeAspect="1"/>
          </p:cNvPicPr>
          <p:nvPr/>
        </p:nvPicPr>
        <p:blipFill>
          <a:blip r:embed="rId3"/>
          <a:stretch>
            <a:fillRect/>
          </a:stretch>
        </p:blipFill>
        <p:spPr>
          <a:xfrm>
            <a:off x="777240" y="2468880"/>
            <a:ext cx="548640" cy="548640"/>
          </a:xfrm>
          <a:prstGeom prst="rect">
            <a:avLst/>
          </a:prstGeom>
        </p:spPr>
      </p:pic>
      <p:sp>
        <p:nvSpPr>
          <p:cNvPr id="9" name="TextBox 8"/>
          <p:cNvSpPr txBox="1"/>
          <p:nvPr/>
        </p:nvSpPr>
        <p:spPr>
          <a:xfrm>
            <a:off x="777240" y="3154680"/>
            <a:ext cx="2240280" cy="320040"/>
          </a:xfrm>
          <a:prstGeom prst="rect">
            <a:avLst/>
          </a:prstGeom>
          <a:noFill/>
        </p:spPr>
        <p:txBody>
          <a:bodyPr wrap="square" lIns="0" tIns="0" rIns="0" bIns="0" anchor="t">
            <a:spAutoFit/>
          </a:bodyPr>
          <a:lstStyle/>
          <a:p>
            <a:pPr algn="l"/>
            <a:r>
              <a:rPr sz="1500" b="1" i="0">
                <a:solidFill>
                  <a:srgbClr val="22D3EE"/>
                </a:solidFill>
                <a:latin typeface="Consolas"/>
              </a:rPr>
              <a:t>Confidentiality</a:t>
            </a:r>
          </a:p>
        </p:txBody>
      </p:sp>
      <p:sp>
        <p:nvSpPr>
          <p:cNvPr id="10" name="TextBox 9"/>
          <p:cNvSpPr txBox="1"/>
          <p:nvPr/>
        </p:nvSpPr>
        <p:spPr>
          <a:xfrm>
            <a:off x="777240" y="3566160"/>
            <a:ext cx="2194560" cy="640080"/>
          </a:xfrm>
          <a:prstGeom prst="rect">
            <a:avLst/>
          </a:prstGeom>
          <a:noFill/>
        </p:spPr>
        <p:txBody>
          <a:bodyPr wrap="square" lIns="0" tIns="0" rIns="0" bIns="0" anchor="t">
            <a:spAutoFit/>
          </a:bodyPr>
          <a:lstStyle/>
          <a:p>
            <a:pPr algn="l"/>
            <a:r>
              <a:rPr sz="1600" b="0" i="0">
                <a:solidFill>
                  <a:srgbClr val="F1F5F9"/>
                </a:solidFill>
                <a:latin typeface="Calibri"/>
              </a:rPr>
              <a:t>Can anyone else read it?</a:t>
            </a:r>
          </a:p>
        </p:txBody>
      </p:sp>
      <p:sp>
        <p:nvSpPr>
          <p:cNvPr id="11" name="TextBox 10"/>
          <p:cNvSpPr txBox="1"/>
          <p:nvPr/>
        </p:nvSpPr>
        <p:spPr>
          <a:xfrm>
            <a:off x="777240" y="4297680"/>
            <a:ext cx="2194560" cy="228600"/>
          </a:xfrm>
          <a:prstGeom prst="rect">
            <a:avLst/>
          </a:prstGeom>
          <a:noFill/>
        </p:spPr>
        <p:txBody>
          <a:bodyPr wrap="square" lIns="0" tIns="0" rIns="0" bIns="0" anchor="t">
            <a:spAutoFit/>
          </a:bodyPr>
          <a:lstStyle/>
          <a:p>
            <a:pPr algn="l"/>
            <a:r>
              <a:rPr sz="1000" b="0" i="0">
                <a:solidFill>
                  <a:srgbClr val="9FB0CC"/>
                </a:solidFill>
                <a:latin typeface="Consolas"/>
              </a:rPr>
              <a:t>TOOLS FOR THIS</a:t>
            </a:r>
          </a:p>
        </p:txBody>
      </p:sp>
      <p:sp>
        <p:nvSpPr>
          <p:cNvPr id="12" name="TextBox 11"/>
          <p:cNvSpPr txBox="1"/>
          <p:nvPr/>
        </p:nvSpPr>
        <p:spPr>
          <a:xfrm>
            <a:off x="777240" y="4553712"/>
            <a:ext cx="2194560" cy="731520"/>
          </a:xfrm>
          <a:prstGeom prst="rect">
            <a:avLst/>
          </a:prstGeom>
          <a:noFill/>
        </p:spPr>
        <p:txBody>
          <a:bodyPr wrap="square" lIns="0" tIns="0" rIns="0" bIns="0" anchor="t">
            <a:spAutoFit/>
          </a:bodyPr>
          <a:lstStyle/>
          <a:p>
            <a:pPr algn="l"/>
            <a:r>
              <a:rPr sz="1400" b="0" i="0">
                <a:solidFill>
                  <a:srgbClr val="4ADE80"/>
                </a:solidFill>
                <a:latin typeface="Calibri"/>
              </a:rPr>
              <a:t>Encryption (AES, RSA)</a:t>
            </a:r>
          </a:p>
        </p:txBody>
      </p:sp>
      <p:sp>
        <p:nvSpPr>
          <p:cNvPr id="13" name="Rounded Rectangle 12"/>
          <p:cNvSpPr/>
          <p:nvPr/>
        </p:nvSpPr>
        <p:spPr>
          <a:xfrm>
            <a:off x="3367735" y="2240280"/>
            <a:ext cx="2606040" cy="32461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icon-checkmark-circle-93736964.png"/>
          <p:cNvPicPr>
            <a:picLocks noChangeAspect="1"/>
          </p:cNvPicPr>
          <p:nvPr/>
        </p:nvPicPr>
        <p:blipFill>
          <a:blip r:embed="rId4"/>
          <a:stretch>
            <a:fillRect/>
          </a:stretch>
        </p:blipFill>
        <p:spPr>
          <a:xfrm>
            <a:off x="3596335" y="2468880"/>
            <a:ext cx="548640" cy="548640"/>
          </a:xfrm>
          <a:prstGeom prst="rect">
            <a:avLst/>
          </a:prstGeom>
        </p:spPr>
      </p:pic>
      <p:sp>
        <p:nvSpPr>
          <p:cNvPr id="15" name="TextBox 14"/>
          <p:cNvSpPr txBox="1"/>
          <p:nvPr/>
        </p:nvSpPr>
        <p:spPr>
          <a:xfrm>
            <a:off x="3596335" y="3154680"/>
            <a:ext cx="2240280" cy="320040"/>
          </a:xfrm>
          <a:prstGeom prst="rect">
            <a:avLst/>
          </a:prstGeom>
          <a:noFill/>
        </p:spPr>
        <p:txBody>
          <a:bodyPr wrap="square" lIns="0" tIns="0" rIns="0" bIns="0" anchor="t">
            <a:spAutoFit/>
          </a:bodyPr>
          <a:lstStyle/>
          <a:p>
            <a:pPr algn="l"/>
            <a:r>
              <a:rPr sz="1500" b="1" i="0">
                <a:solidFill>
                  <a:srgbClr val="22D3EE"/>
                </a:solidFill>
                <a:latin typeface="Consolas"/>
              </a:rPr>
              <a:t>Integrity</a:t>
            </a:r>
          </a:p>
        </p:txBody>
      </p:sp>
      <p:sp>
        <p:nvSpPr>
          <p:cNvPr id="16" name="TextBox 15"/>
          <p:cNvSpPr txBox="1"/>
          <p:nvPr/>
        </p:nvSpPr>
        <p:spPr>
          <a:xfrm>
            <a:off x="3596335" y="3566160"/>
            <a:ext cx="2194560" cy="640080"/>
          </a:xfrm>
          <a:prstGeom prst="rect">
            <a:avLst/>
          </a:prstGeom>
          <a:noFill/>
        </p:spPr>
        <p:txBody>
          <a:bodyPr wrap="square" lIns="0" tIns="0" rIns="0" bIns="0" anchor="t">
            <a:spAutoFit/>
          </a:bodyPr>
          <a:lstStyle/>
          <a:p>
            <a:pPr algn="l"/>
            <a:r>
              <a:rPr sz="1600" b="0" i="0">
                <a:solidFill>
                  <a:srgbClr val="F1F5F9"/>
                </a:solidFill>
                <a:latin typeface="Calibri"/>
              </a:rPr>
              <a:t>Was it changed on the way?</a:t>
            </a:r>
          </a:p>
        </p:txBody>
      </p:sp>
      <p:sp>
        <p:nvSpPr>
          <p:cNvPr id="17" name="TextBox 16"/>
          <p:cNvSpPr txBox="1"/>
          <p:nvPr/>
        </p:nvSpPr>
        <p:spPr>
          <a:xfrm>
            <a:off x="3596335" y="4297680"/>
            <a:ext cx="2194560" cy="228600"/>
          </a:xfrm>
          <a:prstGeom prst="rect">
            <a:avLst/>
          </a:prstGeom>
          <a:noFill/>
        </p:spPr>
        <p:txBody>
          <a:bodyPr wrap="square" lIns="0" tIns="0" rIns="0" bIns="0" anchor="t">
            <a:spAutoFit/>
          </a:bodyPr>
          <a:lstStyle/>
          <a:p>
            <a:pPr algn="l"/>
            <a:r>
              <a:rPr sz="1000" b="0" i="0">
                <a:solidFill>
                  <a:srgbClr val="9FB0CC"/>
                </a:solidFill>
                <a:latin typeface="Consolas"/>
              </a:rPr>
              <a:t>TOOLS FOR THIS</a:t>
            </a:r>
          </a:p>
        </p:txBody>
      </p:sp>
      <p:sp>
        <p:nvSpPr>
          <p:cNvPr id="18" name="TextBox 17"/>
          <p:cNvSpPr txBox="1"/>
          <p:nvPr/>
        </p:nvSpPr>
        <p:spPr>
          <a:xfrm>
            <a:off x="3596335" y="4553712"/>
            <a:ext cx="2194560" cy="731520"/>
          </a:xfrm>
          <a:prstGeom prst="rect">
            <a:avLst/>
          </a:prstGeom>
          <a:noFill/>
        </p:spPr>
        <p:txBody>
          <a:bodyPr wrap="square" lIns="0" tIns="0" rIns="0" bIns="0" anchor="t">
            <a:spAutoFit/>
          </a:bodyPr>
          <a:lstStyle/>
          <a:p>
            <a:pPr algn="l"/>
            <a:r>
              <a:rPr sz="1400" b="0" i="0">
                <a:solidFill>
                  <a:srgbClr val="4ADE80"/>
                </a:solidFill>
                <a:latin typeface="Calibri"/>
              </a:rPr>
              <a:t>Hashing (SHA-256) and tamper checks (GCM)</a:t>
            </a:r>
          </a:p>
        </p:txBody>
      </p:sp>
      <p:sp>
        <p:nvSpPr>
          <p:cNvPr id="19" name="Rounded Rectangle 18"/>
          <p:cNvSpPr/>
          <p:nvPr/>
        </p:nvSpPr>
        <p:spPr>
          <a:xfrm>
            <a:off x="6186830" y="2240280"/>
            <a:ext cx="2606040" cy="32461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con-person-297f2095.png"/>
          <p:cNvPicPr>
            <a:picLocks noChangeAspect="1"/>
          </p:cNvPicPr>
          <p:nvPr/>
        </p:nvPicPr>
        <p:blipFill>
          <a:blip r:embed="rId5"/>
          <a:stretch>
            <a:fillRect/>
          </a:stretch>
        </p:blipFill>
        <p:spPr>
          <a:xfrm>
            <a:off x="6415430" y="2468880"/>
            <a:ext cx="548640" cy="548640"/>
          </a:xfrm>
          <a:prstGeom prst="rect">
            <a:avLst/>
          </a:prstGeom>
        </p:spPr>
      </p:pic>
      <p:sp>
        <p:nvSpPr>
          <p:cNvPr id="21" name="TextBox 20"/>
          <p:cNvSpPr txBox="1"/>
          <p:nvPr/>
        </p:nvSpPr>
        <p:spPr>
          <a:xfrm>
            <a:off x="6415430" y="3154680"/>
            <a:ext cx="2240280" cy="320040"/>
          </a:xfrm>
          <a:prstGeom prst="rect">
            <a:avLst/>
          </a:prstGeom>
          <a:noFill/>
        </p:spPr>
        <p:txBody>
          <a:bodyPr wrap="square" lIns="0" tIns="0" rIns="0" bIns="0" anchor="t">
            <a:spAutoFit/>
          </a:bodyPr>
          <a:lstStyle/>
          <a:p>
            <a:pPr algn="l"/>
            <a:r>
              <a:rPr sz="1500" b="1" i="0">
                <a:solidFill>
                  <a:srgbClr val="22D3EE"/>
                </a:solidFill>
                <a:latin typeface="Consolas"/>
              </a:rPr>
              <a:t>Authentication</a:t>
            </a:r>
          </a:p>
        </p:txBody>
      </p:sp>
      <p:sp>
        <p:nvSpPr>
          <p:cNvPr id="22" name="TextBox 21"/>
          <p:cNvSpPr txBox="1"/>
          <p:nvPr/>
        </p:nvSpPr>
        <p:spPr>
          <a:xfrm>
            <a:off x="6415430" y="3566160"/>
            <a:ext cx="2194560" cy="640080"/>
          </a:xfrm>
          <a:prstGeom prst="rect">
            <a:avLst/>
          </a:prstGeom>
          <a:noFill/>
        </p:spPr>
        <p:txBody>
          <a:bodyPr wrap="square" lIns="0" tIns="0" rIns="0" bIns="0" anchor="t">
            <a:spAutoFit/>
          </a:bodyPr>
          <a:lstStyle/>
          <a:p>
            <a:pPr algn="l"/>
            <a:r>
              <a:rPr sz="1600" b="0" i="0">
                <a:solidFill>
                  <a:srgbClr val="F1F5F9"/>
                </a:solidFill>
                <a:latin typeface="Calibri"/>
              </a:rPr>
              <a:t>Who am I really talking to?</a:t>
            </a:r>
          </a:p>
        </p:txBody>
      </p:sp>
      <p:sp>
        <p:nvSpPr>
          <p:cNvPr id="23" name="TextBox 22"/>
          <p:cNvSpPr txBox="1"/>
          <p:nvPr/>
        </p:nvSpPr>
        <p:spPr>
          <a:xfrm>
            <a:off x="6415430" y="4297680"/>
            <a:ext cx="2194560" cy="228600"/>
          </a:xfrm>
          <a:prstGeom prst="rect">
            <a:avLst/>
          </a:prstGeom>
          <a:noFill/>
        </p:spPr>
        <p:txBody>
          <a:bodyPr wrap="square" lIns="0" tIns="0" rIns="0" bIns="0" anchor="t">
            <a:spAutoFit/>
          </a:bodyPr>
          <a:lstStyle/>
          <a:p>
            <a:pPr algn="l"/>
            <a:r>
              <a:rPr sz="1000" b="0" i="0">
                <a:solidFill>
                  <a:srgbClr val="9FB0CC"/>
                </a:solidFill>
                <a:latin typeface="Consolas"/>
              </a:rPr>
              <a:t>TOOLS FOR THIS</a:t>
            </a:r>
          </a:p>
        </p:txBody>
      </p:sp>
      <p:sp>
        <p:nvSpPr>
          <p:cNvPr id="24" name="TextBox 23"/>
          <p:cNvSpPr txBox="1"/>
          <p:nvPr/>
        </p:nvSpPr>
        <p:spPr>
          <a:xfrm>
            <a:off x="6415430" y="4553712"/>
            <a:ext cx="2194560" cy="731520"/>
          </a:xfrm>
          <a:prstGeom prst="rect">
            <a:avLst/>
          </a:prstGeom>
          <a:noFill/>
        </p:spPr>
        <p:txBody>
          <a:bodyPr wrap="square" lIns="0" tIns="0" rIns="0" bIns="0" anchor="t">
            <a:spAutoFit/>
          </a:bodyPr>
          <a:lstStyle/>
          <a:p>
            <a:pPr algn="l"/>
            <a:r>
              <a:rPr sz="1400" b="0" i="0">
                <a:solidFill>
                  <a:srgbClr val="4ADE80"/>
                </a:solidFill>
                <a:latin typeface="Calibri"/>
              </a:rPr>
              <a:t>Passwords, certificates, signatures</a:t>
            </a:r>
          </a:p>
        </p:txBody>
      </p:sp>
      <p:sp>
        <p:nvSpPr>
          <p:cNvPr id="25" name="Rounded Rectangle 24"/>
          <p:cNvSpPr/>
          <p:nvPr/>
        </p:nvSpPr>
        <p:spPr>
          <a:xfrm>
            <a:off x="9005925" y="2240280"/>
            <a:ext cx="2606040" cy="32461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icon-edit-2f9d1e1a.png"/>
          <p:cNvPicPr>
            <a:picLocks noChangeAspect="1"/>
          </p:cNvPicPr>
          <p:nvPr/>
        </p:nvPicPr>
        <p:blipFill>
          <a:blip r:embed="rId6"/>
          <a:stretch>
            <a:fillRect/>
          </a:stretch>
        </p:blipFill>
        <p:spPr>
          <a:xfrm>
            <a:off x="9234525" y="2468880"/>
            <a:ext cx="548640" cy="548640"/>
          </a:xfrm>
          <a:prstGeom prst="rect">
            <a:avLst/>
          </a:prstGeom>
        </p:spPr>
      </p:pic>
      <p:sp>
        <p:nvSpPr>
          <p:cNvPr id="27" name="TextBox 26"/>
          <p:cNvSpPr txBox="1"/>
          <p:nvPr/>
        </p:nvSpPr>
        <p:spPr>
          <a:xfrm>
            <a:off x="9234525" y="3154680"/>
            <a:ext cx="2240280" cy="320040"/>
          </a:xfrm>
          <a:prstGeom prst="rect">
            <a:avLst/>
          </a:prstGeom>
          <a:noFill/>
        </p:spPr>
        <p:txBody>
          <a:bodyPr wrap="square" lIns="0" tIns="0" rIns="0" bIns="0" anchor="t">
            <a:spAutoFit/>
          </a:bodyPr>
          <a:lstStyle/>
          <a:p>
            <a:pPr algn="l"/>
            <a:r>
              <a:rPr sz="1500" b="1" i="0">
                <a:solidFill>
                  <a:srgbClr val="22D3EE"/>
                </a:solidFill>
                <a:latin typeface="Consolas"/>
              </a:rPr>
              <a:t>Non-repudiation</a:t>
            </a:r>
          </a:p>
        </p:txBody>
      </p:sp>
      <p:sp>
        <p:nvSpPr>
          <p:cNvPr id="28" name="TextBox 27"/>
          <p:cNvSpPr txBox="1"/>
          <p:nvPr/>
        </p:nvSpPr>
        <p:spPr>
          <a:xfrm>
            <a:off x="9234525" y="3566160"/>
            <a:ext cx="2194560" cy="640080"/>
          </a:xfrm>
          <a:prstGeom prst="rect">
            <a:avLst/>
          </a:prstGeom>
          <a:noFill/>
        </p:spPr>
        <p:txBody>
          <a:bodyPr wrap="square" lIns="0" tIns="0" rIns="0" bIns="0" anchor="t">
            <a:spAutoFit/>
          </a:bodyPr>
          <a:lstStyle/>
          <a:p>
            <a:pPr algn="l"/>
            <a:r>
              <a:rPr sz="1600" b="0" i="0">
                <a:solidFill>
                  <a:srgbClr val="F1F5F9"/>
                </a:solidFill>
                <a:latin typeface="Calibri"/>
              </a:rPr>
              <a:t>Can the sender deny sending it?</a:t>
            </a:r>
          </a:p>
        </p:txBody>
      </p:sp>
      <p:sp>
        <p:nvSpPr>
          <p:cNvPr id="29" name="TextBox 28"/>
          <p:cNvSpPr txBox="1"/>
          <p:nvPr/>
        </p:nvSpPr>
        <p:spPr>
          <a:xfrm>
            <a:off x="9234525" y="4297680"/>
            <a:ext cx="2194560" cy="228600"/>
          </a:xfrm>
          <a:prstGeom prst="rect">
            <a:avLst/>
          </a:prstGeom>
          <a:noFill/>
        </p:spPr>
        <p:txBody>
          <a:bodyPr wrap="square" lIns="0" tIns="0" rIns="0" bIns="0" anchor="t">
            <a:spAutoFit/>
          </a:bodyPr>
          <a:lstStyle/>
          <a:p>
            <a:pPr algn="l"/>
            <a:r>
              <a:rPr sz="1000" b="0" i="0">
                <a:solidFill>
                  <a:srgbClr val="9FB0CC"/>
                </a:solidFill>
                <a:latin typeface="Consolas"/>
              </a:rPr>
              <a:t>TOOLS FOR THIS</a:t>
            </a:r>
          </a:p>
        </p:txBody>
      </p:sp>
      <p:sp>
        <p:nvSpPr>
          <p:cNvPr id="30" name="TextBox 29"/>
          <p:cNvSpPr txBox="1"/>
          <p:nvPr/>
        </p:nvSpPr>
        <p:spPr>
          <a:xfrm>
            <a:off x="9234525" y="4553712"/>
            <a:ext cx="2194560" cy="731520"/>
          </a:xfrm>
          <a:prstGeom prst="rect">
            <a:avLst/>
          </a:prstGeom>
          <a:noFill/>
        </p:spPr>
        <p:txBody>
          <a:bodyPr wrap="square" lIns="0" tIns="0" rIns="0" bIns="0" anchor="t">
            <a:spAutoFit/>
          </a:bodyPr>
          <a:lstStyle/>
          <a:p>
            <a:pPr algn="l"/>
            <a:r>
              <a:rPr sz="1400" b="0" i="0">
                <a:solidFill>
                  <a:srgbClr val="4ADE80"/>
                </a:solidFill>
                <a:latin typeface="Calibri"/>
              </a:rPr>
              <a:t>Digital signatures</a:t>
            </a:r>
          </a:p>
        </p:txBody>
      </p:sp>
      <p:sp>
        <p:nvSpPr>
          <p:cNvPr id="31" name="Rounded Rectangle 30"/>
          <p:cNvSpPr/>
          <p:nvPr/>
        </p:nvSpPr>
        <p:spPr>
          <a:xfrm>
            <a:off x="548640" y="5669280"/>
            <a:ext cx="11064240" cy="502920"/>
          </a:xfrm>
          <a:prstGeom prst="roundRect">
            <a:avLst>
              <a:gd name="adj" fmla="val 100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5669280"/>
            <a:ext cx="10607040" cy="502920"/>
          </a:xfrm>
          <a:prstGeom prst="rect">
            <a:avLst/>
          </a:prstGeom>
          <a:noFill/>
        </p:spPr>
        <p:txBody>
          <a:bodyPr wrap="square" lIns="0" tIns="0" rIns="0" bIns="0" anchor="ctr">
            <a:spAutoFit/>
          </a:bodyPr>
          <a:lstStyle/>
          <a:p>
            <a:pPr algn="l"/>
            <a:r>
              <a:rPr sz="1300" b="0" i="0">
                <a:solidFill>
                  <a:srgbClr val="4ADE80"/>
                </a:solidFill>
                <a:latin typeface="Consolas"/>
              </a:rPr>
              <a:t>You use all four every day: messaging, online banking, logging in, and every https:// page.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FOUNDATIONS 02</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Your first cipher: the Caesar shift</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04</a:t>
            </a:r>
            <a:endParaRPr lang="en-US" sz="1000"/>
          </a:p>
        </p:txBody>
      </p:sp>
      <p:sp>
        <p:nvSpPr>
          <p:cNvPr id="6" name="Rounded Rectangle 5"/>
          <p:cNvSpPr/>
          <p:nvPr/>
        </p:nvSpPr>
        <p:spPr>
          <a:xfrm>
            <a:off x="548640" y="1371600"/>
            <a:ext cx="11064240" cy="224028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81328"/>
            <a:ext cx="10515600" cy="228600"/>
          </a:xfrm>
          <a:prstGeom prst="rect">
            <a:avLst/>
          </a:prstGeom>
          <a:noFill/>
        </p:spPr>
        <p:txBody>
          <a:bodyPr wrap="square" lIns="0" tIns="0" rIns="0" bIns="0" anchor="t">
            <a:spAutoFit/>
          </a:bodyPr>
          <a:lstStyle/>
          <a:p>
            <a:pPr algn="l"/>
            <a:r>
              <a:rPr sz="1000" b="0" i="0">
                <a:solidFill>
                  <a:srgbClr val="9FB0CC"/>
                </a:solidFill>
                <a:latin typeface="Consolas"/>
              </a:rPr>
              <a:t>PLAIN ALPHABET</a:t>
            </a:r>
          </a:p>
        </p:txBody>
      </p:sp>
      <p:sp>
        <p:nvSpPr>
          <p:cNvPr id="8" name="TextBox 7"/>
          <p:cNvSpPr txBox="1"/>
          <p:nvPr/>
        </p:nvSpPr>
        <p:spPr>
          <a:xfrm>
            <a:off x="731520" y="2377440"/>
            <a:ext cx="10515600" cy="228600"/>
          </a:xfrm>
          <a:prstGeom prst="rect">
            <a:avLst/>
          </a:prstGeom>
          <a:noFill/>
        </p:spPr>
        <p:txBody>
          <a:bodyPr wrap="square" lIns="0" tIns="0" rIns="0" bIns="0" anchor="t">
            <a:spAutoFit/>
          </a:bodyPr>
          <a:lstStyle/>
          <a:p>
            <a:pPr algn="l"/>
            <a:r>
              <a:rPr sz="1000" b="0" i="0">
                <a:solidFill>
                  <a:srgbClr val="4ADE80"/>
                </a:solidFill>
                <a:latin typeface="Consolas"/>
              </a:rPr>
              <a:t>CIPHER ALPHABET: every letter shifted forward by 3 (the key is 3)</a:t>
            </a:r>
          </a:p>
        </p:txBody>
      </p:sp>
      <p:sp>
        <p:nvSpPr>
          <p:cNvPr id="9" name="Rounded Rectangle 8"/>
          <p:cNvSpPr/>
          <p:nvPr/>
        </p:nvSpPr>
        <p:spPr>
          <a:xfrm>
            <a:off x="73152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A</a:t>
            </a:r>
          </a:p>
        </p:txBody>
      </p:sp>
      <p:sp>
        <p:nvSpPr>
          <p:cNvPr id="11" name="Rounded Rectangle 10"/>
          <p:cNvSpPr/>
          <p:nvPr/>
        </p:nvSpPr>
        <p:spPr>
          <a:xfrm>
            <a:off x="73152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D</a:t>
            </a:r>
          </a:p>
        </p:txBody>
      </p:sp>
      <p:sp>
        <p:nvSpPr>
          <p:cNvPr id="13" name="Rounded Rectangle 12"/>
          <p:cNvSpPr/>
          <p:nvPr/>
        </p:nvSpPr>
        <p:spPr>
          <a:xfrm>
            <a:off x="114300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B</a:t>
            </a:r>
          </a:p>
        </p:txBody>
      </p:sp>
      <p:sp>
        <p:nvSpPr>
          <p:cNvPr id="15" name="Rounded Rectangle 14"/>
          <p:cNvSpPr/>
          <p:nvPr/>
        </p:nvSpPr>
        <p:spPr>
          <a:xfrm>
            <a:off x="114300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E</a:t>
            </a:r>
          </a:p>
        </p:txBody>
      </p:sp>
      <p:sp>
        <p:nvSpPr>
          <p:cNvPr id="17" name="Rounded Rectangle 16"/>
          <p:cNvSpPr/>
          <p:nvPr/>
        </p:nvSpPr>
        <p:spPr>
          <a:xfrm>
            <a:off x="155448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55448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C</a:t>
            </a:r>
          </a:p>
        </p:txBody>
      </p:sp>
      <p:sp>
        <p:nvSpPr>
          <p:cNvPr id="19" name="Rounded Rectangle 18"/>
          <p:cNvSpPr/>
          <p:nvPr/>
        </p:nvSpPr>
        <p:spPr>
          <a:xfrm>
            <a:off x="155448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5448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F</a:t>
            </a:r>
          </a:p>
        </p:txBody>
      </p:sp>
      <p:sp>
        <p:nvSpPr>
          <p:cNvPr id="21" name="Rounded Rectangle 20"/>
          <p:cNvSpPr/>
          <p:nvPr/>
        </p:nvSpPr>
        <p:spPr>
          <a:xfrm>
            <a:off x="196596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6596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D</a:t>
            </a:r>
          </a:p>
        </p:txBody>
      </p:sp>
      <p:sp>
        <p:nvSpPr>
          <p:cNvPr id="23" name="Rounded Rectangle 22"/>
          <p:cNvSpPr/>
          <p:nvPr/>
        </p:nvSpPr>
        <p:spPr>
          <a:xfrm>
            <a:off x="196596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96596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G</a:t>
            </a:r>
          </a:p>
        </p:txBody>
      </p:sp>
      <p:sp>
        <p:nvSpPr>
          <p:cNvPr id="25" name="Rounded Rectangle 24"/>
          <p:cNvSpPr/>
          <p:nvPr/>
        </p:nvSpPr>
        <p:spPr>
          <a:xfrm>
            <a:off x="2377440" y="1737360"/>
            <a:ext cx="393192" cy="384048"/>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377440" y="1737360"/>
            <a:ext cx="393192" cy="384048"/>
          </a:xfrm>
          <a:prstGeom prst="rect">
            <a:avLst/>
          </a:prstGeom>
          <a:noFill/>
        </p:spPr>
        <p:txBody>
          <a:bodyPr wrap="square" lIns="0" tIns="0" rIns="0" bIns="0" anchor="ctr">
            <a:spAutoFit/>
          </a:bodyPr>
          <a:lstStyle/>
          <a:p>
            <a:pPr algn="ctr"/>
            <a:r>
              <a:rPr sz="1300" b="1" i="0">
                <a:solidFill>
                  <a:srgbClr val="FBBF24"/>
                </a:solidFill>
                <a:latin typeface="Consolas"/>
              </a:rPr>
              <a:t>E</a:t>
            </a:r>
          </a:p>
        </p:txBody>
      </p:sp>
      <p:sp>
        <p:nvSpPr>
          <p:cNvPr id="27" name="Rounded Rectangle 26"/>
          <p:cNvSpPr/>
          <p:nvPr/>
        </p:nvSpPr>
        <p:spPr>
          <a:xfrm>
            <a:off x="2377440" y="2633472"/>
            <a:ext cx="393192" cy="384048"/>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377440" y="2633472"/>
            <a:ext cx="393192" cy="384048"/>
          </a:xfrm>
          <a:prstGeom prst="rect">
            <a:avLst/>
          </a:prstGeom>
          <a:noFill/>
        </p:spPr>
        <p:txBody>
          <a:bodyPr wrap="square" lIns="0" tIns="0" rIns="0" bIns="0" anchor="ctr">
            <a:spAutoFit/>
          </a:bodyPr>
          <a:lstStyle/>
          <a:p>
            <a:pPr algn="ctr"/>
            <a:r>
              <a:rPr sz="1300" b="1" i="0">
                <a:solidFill>
                  <a:srgbClr val="FBBF24"/>
                </a:solidFill>
                <a:latin typeface="Consolas"/>
              </a:rPr>
              <a:t>H</a:t>
            </a:r>
          </a:p>
        </p:txBody>
      </p:sp>
      <p:sp>
        <p:nvSpPr>
          <p:cNvPr id="29" name="Rounded Rectangle 28"/>
          <p:cNvSpPr/>
          <p:nvPr/>
        </p:nvSpPr>
        <p:spPr>
          <a:xfrm>
            <a:off x="278892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8892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F</a:t>
            </a:r>
          </a:p>
        </p:txBody>
      </p:sp>
      <p:sp>
        <p:nvSpPr>
          <p:cNvPr id="31" name="Rounded Rectangle 30"/>
          <p:cNvSpPr/>
          <p:nvPr/>
        </p:nvSpPr>
        <p:spPr>
          <a:xfrm>
            <a:off x="278892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8892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I</a:t>
            </a:r>
          </a:p>
        </p:txBody>
      </p:sp>
      <p:sp>
        <p:nvSpPr>
          <p:cNvPr id="33" name="Rounded Rectangle 32"/>
          <p:cNvSpPr/>
          <p:nvPr/>
        </p:nvSpPr>
        <p:spPr>
          <a:xfrm>
            <a:off x="320040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40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G</a:t>
            </a:r>
          </a:p>
        </p:txBody>
      </p:sp>
      <p:sp>
        <p:nvSpPr>
          <p:cNvPr id="35" name="Rounded Rectangle 34"/>
          <p:cNvSpPr/>
          <p:nvPr/>
        </p:nvSpPr>
        <p:spPr>
          <a:xfrm>
            <a:off x="320040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0040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J</a:t>
            </a:r>
          </a:p>
        </p:txBody>
      </p:sp>
      <p:sp>
        <p:nvSpPr>
          <p:cNvPr id="37" name="Rounded Rectangle 36"/>
          <p:cNvSpPr/>
          <p:nvPr/>
        </p:nvSpPr>
        <p:spPr>
          <a:xfrm>
            <a:off x="3611880" y="1737360"/>
            <a:ext cx="393192" cy="384048"/>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11880" y="1737360"/>
            <a:ext cx="393192" cy="384048"/>
          </a:xfrm>
          <a:prstGeom prst="rect">
            <a:avLst/>
          </a:prstGeom>
          <a:noFill/>
        </p:spPr>
        <p:txBody>
          <a:bodyPr wrap="square" lIns="0" tIns="0" rIns="0" bIns="0" anchor="ctr">
            <a:spAutoFit/>
          </a:bodyPr>
          <a:lstStyle/>
          <a:p>
            <a:pPr algn="ctr"/>
            <a:r>
              <a:rPr sz="1300" b="1" i="0">
                <a:solidFill>
                  <a:srgbClr val="FBBF24"/>
                </a:solidFill>
                <a:latin typeface="Consolas"/>
              </a:rPr>
              <a:t>H</a:t>
            </a:r>
          </a:p>
        </p:txBody>
      </p:sp>
      <p:sp>
        <p:nvSpPr>
          <p:cNvPr id="39" name="Rounded Rectangle 38"/>
          <p:cNvSpPr/>
          <p:nvPr/>
        </p:nvSpPr>
        <p:spPr>
          <a:xfrm>
            <a:off x="3611880" y="2633472"/>
            <a:ext cx="393192" cy="384048"/>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11880" y="2633472"/>
            <a:ext cx="393192" cy="384048"/>
          </a:xfrm>
          <a:prstGeom prst="rect">
            <a:avLst/>
          </a:prstGeom>
          <a:noFill/>
        </p:spPr>
        <p:txBody>
          <a:bodyPr wrap="square" lIns="0" tIns="0" rIns="0" bIns="0" anchor="ctr">
            <a:spAutoFit/>
          </a:bodyPr>
          <a:lstStyle/>
          <a:p>
            <a:pPr algn="ctr"/>
            <a:r>
              <a:rPr sz="1300" b="1" i="0">
                <a:solidFill>
                  <a:srgbClr val="FBBF24"/>
                </a:solidFill>
                <a:latin typeface="Consolas"/>
              </a:rPr>
              <a:t>K</a:t>
            </a:r>
          </a:p>
        </p:txBody>
      </p:sp>
      <p:sp>
        <p:nvSpPr>
          <p:cNvPr id="41" name="Rounded Rectangle 40"/>
          <p:cNvSpPr/>
          <p:nvPr/>
        </p:nvSpPr>
        <p:spPr>
          <a:xfrm>
            <a:off x="402336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02336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I</a:t>
            </a:r>
          </a:p>
        </p:txBody>
      </p:sp>
      <p:sp>
        <p:nvSpPr>
          <p:cNvPr id="43" name="Rounded Rectangle 42"/>
          <p:cNvSpPr/>
          <p:nvPr/>
        </p:nvSpPr>
        <p:spPr>
          <a:xfrm>
            <a:off x="402336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02336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L</a:t>
            </a:r>
          </a:p>
        </p:txBody>
      </p:sp>
      <p:sp>
        <p:nvSpPr>
          <p:cNvPr id="45" name="Rounded Rectangle 44"/>
          <p:cNvSpPr/>
          <p:nvPr/>
        </p:nvSpPr>
        <p:spPr>
          <a:xfrm>
            <a:off x="443484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43484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J</a:t>
            </a:r>
          </a:p>
        </p:txBody>
      </p:sp>
      <p:sp>
        <p:nvSpPr>
          <p:cNvPr id="47" name="Rounded Rectangle 46"/>
          <p:cNvSpPr/>
          <p:nvPr/>
        </p:nvSpPr>
        <p:spPr>
          <a:xfrm>
            <a:off x="443484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3484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M</a:t>
            </a:r>
          </a:p>
        </p:txBody>
      </p:sp>
      <p:sp>
        <p:nvSpPr>
          <p:cNvPr id="49" name="Rounded Rectangle 48"/>
          <p:cNvSpPr/>
          <p:nvPr/>
        </p:nvSpPr>
        <p:spPr>
          <a:xfrm>
            <a:off x="484632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84632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K</a:t>
            </a:r>
          </a:p>
        </p:txBody>
      </p:sp>
      <p:sp>
        <p:nvSpPr>
          <p:cNvPr id="51" name="Rounded Rectangle 50"/>
          <p:cNvSpPr/>
          <p:nvPr/>
        </p:nvSpPr>
        <p:spPr>
          <a:xfrm>
            <a:off x="484632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84632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N</a:t>
            </a:r>
          </a:p>
        </p:txBody>
      </p:sp>
      <p:sp>
        <p:nvSpPr>
          <p:cNvPr id="53" name="Rounded Rectangle 52"/>
          <p:cNvSpPr/>
          <p:nvPr/>
        </p:nvSpPr>
        <p:spPr>
          <a:xfrm>
            <a:off x="5257800" y="1737360"/>
            <a:ext cx="393192" cy="384048"/>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257800" y="1737360"/>
            <a:ext cx="393192" cy="384048"/>
          </a:xfrm>
          <a:prstGeom prst="rect">
            <a:avLst/>
          </a:prstGeom>
          <a:noFill/>
        </p:spPr>
        <p:txBody>
          <a:bodyPr wrap="square" lIns="0" tIns="0" rIns="0" bIns="0" anchor="ctr">
            <a:spAutoFit/>
          </a:bodyPr>
          <a:lstStyle/>
          <a:p>
            <a:pPr algn="ctr"/>
            <a:r>
              <a:rPr sz="1300" b="1" i="0">
                <a:solidFill>
                  <a:srgbClr val="FBBF24"/>
                </a:solidFill>
                <a:latin typeface="Consolas"/>
              </a:rPr>
              <a:t>L</a:t>
            </a:r>
          </a:p>
        </p:txBody>
      </p:sp>
      <p:sp>
        <p:nvSpPr>
          <p:cNvPr id="55" name="Rounded Rectangle 54"/>
          <p:cNvSpPr/>
          <p:nvPr/>
        </p:nvSpPr>
        <p:spPr>
          <a:xfrm>
            <a:off x="5257800" y="2633472"/>
            <a:ext cx="393192" cy="384048"/>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257800" y="2633472"/>
            <a:ext cx="393192" cy="384048"/>
          </a:xfrm>
          <a:prstGeom prst="rect">
            <a:avLst/>
          </a:prstGeom>
          <a:noFill/>
        </p:spPr>
        <p:txBody>
          <a:bodyPr wrap="square" lIns="0" tIns="0" rIns="0" bIns="0" anchor="ctr">
            <a:spAutoFit/>
          </a:bodyPr>
          <a:lstStyle/>
          <a:p>
            <a:pPr algn="ctr"/>
            <a:r>
              <a:rPr sz="1300" b="1" i="0">
                <a:solidFill>
                  <a:srgbClr val="FBBF24"/>
                </a:solidFill>
                <a:latin typeface="Consolas"/>
              </a:rPr>
              <a:t>O</a:t>
            </a:r>
          </a:p>
        </p:txBody>
      </p:sp>
      <p:sp>
        <p:nvSpPr>
          <p:cNvPr id="57" name="Rounded Rectangle 56"/>
          <p:cNvSpPr/>
          <p:nvPr/>
        </p:nvSpPr>
        <p:spPr>
          <a:xfrm>
            <a:off x="566928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66928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M</a:t>
            </a:r>
          </a:p>
        </p:txBody>
      </p:sp>
      <p:sp>
        <p:nvSpPr>
          <p:cNvPr id="59" name="Rounded Rectangle 58"/>
          <p:cNvSpPr/>
          <p:nvPr/>
        </p:nvSpPr>
        <p:spPr>
          <a:xfrm>
            <a:off x="566928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66928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P</a:t>
            </a:r>
          </a:p>
        </p:txBody>
      </p:sp>
      <p:sp>
        <p:nvSpPr>
          <p:cNvPr id="61" name="Rounded Rectangle 60"/>
          <p:cNvSpPr/>
          <p:nvPr/>
        </p:nvSpPr>
        <p:spPr>
          <a:xfrm>
            <a:off x="608076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08076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N</a:t>
            </a:r>
          </a:p>
        </p:txBody>
      </p:sp>
      <p:sp>
        <p:nvSpPr>
          <p:cNvPr id="63" name="Rounded Rectangle 62"/>
          <p:cNvSpPr/>
          <p:nvPr/>
        </p:nvSpPr>
        <p:spPr>
          <a:xfrm>
            <a:off x="608076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08076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Q</a:t>
            </a:r>
          </a:p>
        </p:txBody>
      </p:sp>
      <p:sp>
        <p:nvSpPr>
          <p:cNvPr id="65" name="Rounded Rectangle 64"/>
          <p:cNvSpPr/>
          <p:nvPr/>
        </p:nvSpPr>
        <p:spPr>
          <a:xfrm>
            <a:off x="6492240" y="1737360"/>
            <a:ext cx="393192" cy="384048"/>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92240" y="1737360"/>
            <a:ext cx="393192" cy="384048"/>
          </a:xfrm>
          <a:prstGeom prst="rect">
            <a:avLst/>
          </a:prstGeom>
          <a:noFill/>
        </p:spPr>
        <p:txBody>
          <a:bodyPr wrap="square" lIns="0" tIns="0" rIns="0" bIns="0" anchor="ctr">
            <a:spAutoFit/>
          </a:bodyPr>
          <a:lstStyle/>
          <a:p>
            <a:pPr algn="ctr"/>
            <a:r>
              <a:rPr sz="1300" b="1" i="0">
                <a:solidFill>
                  <a:srgbClr val="FBBF24"/>
                </a:solidFill>
                <a:latin typeface="Consolas"/>
              </a:rPr>
              <a:t>O</a:t>
            </a:r>
          </a:p>
        </p:txBody>
      </p:sp>
      <p:sp>
        <p:nvSpPr>
          <p:cNvPr id="67" name="Rounded Rectangle 66"/>
          <p:cNvSpPr/>
          <p:nvPr/>
        </p:nvSpPr>
        <p:spPr>
          <a:xfrm>
            <a:off x="6492240" y="2633472"/>
            <a:ext cx="393192" cy="384048"/>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492240" y="2633472"/>
            <a:ext cx="393192" cy="384048"/>
          </a:xfrm>
          <a:prstGeom prst="rect">
            <a:avLst/>
          </a:prstGeom>
          <a:noFill/>
        </p:spPr>
        <p:txBody>
          <a:bodyPr wrap="square" lIns="0" tIns="0" rIns="0" bIns="0" anchor="ctr">
            <a:spAutoFit/>
          </a:bodyPr>
          <a:lstStyle/>
          <a:p>
            <a:pPr algn="ctr"/>
            <a:r>
              <a:rPr sz="1300" b="1" i="0">
                <a:solidFill>
                  <a:srgbClr val="FBBF24"/>
                </a:solidFill>
                <a:latin typeface="Consolas"/>
              </a:rPr>
              <a:t>R</a:t>
            </a:r>
          </a:p>
        </p:txBody>
      </p:sp>
      <p:sp>
        <p:nvSpPr>
          <p:cNvPr id="69" name="Rounded Rectangle 68"/>
          <p:cNvSpPr/>
          <p:nvPr/>
        </p:nvSpPr>
        <p:spPr>
          <a:xfrm>
            <a:off x="690372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90372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P</a:t>
            </a:r>
          </a:p>
        </p:txBody>
      </p:sp>
      <p:sp>
        <p:nvSpPr>
          <p:cNvPr id="71" name="Rounded Rectangle 70"/>
          <p:cNvSpPr/>
          <p:nvPr/>
        </p:nvSpPr>
        <p:spPr>
          <a:xfrm>
            <a:off x="690372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90372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S</a:t>
            </a:r>
          </a:p>
        </p:txBody>
      </p:sp>
      <p:sp>
        <p:nvSpPr>
          <p:cNvPr id="73" name="Rounded Rectangle 72"/>
          <p:cNvSpPr/>
          <p:nvPr/>
        </p:nvSpPr>
        <p:spPr>
          <a:xfrm>
            <a:off x="731520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31520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Q</a:t>
            </a:r>
          </a:p>
        </p:txBody>
      </p:sp>
      <p:sp>
        <p:nvSpPr>
          <p:cNvPr id="75" name="Rounded Rectangle 74"/>
          <p:cNvSpPr/>
          <p:nvPr/>
        </p:nvSpPr>
        <p:spPr>
          <a:xfrm>
            <a:off x="731520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31520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T</a:t>
            </a:r>
          </a:p>
        </p:txBody>
      </p:sp>
      <p:sp>
        <p:nvSpPr>
          <p:cNvPr id="77" name="Rounded Rectangle 76"/>
          <p:cNvSpPr/>
          <p:nvPr/>
        </p:nvSpPr>
        <p:spPr>
          <a:xfrm>
            <a:off x="772668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72668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R</a:t>
            </a:r>
          </a:p>
        </p:txBody>
      </p:sp>
      <p:sp>
        <p:nvSpPr>
          <p:cNvPr id="79" name="Rounded Rectangle 78"/>
          <p:cNvSpPr/>
          <p:nvPr/>
        </p:nvSpPr>
        <p:spPr>
          <a:xfrm>
            <a:off x="772668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72668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U</a:t>
            </a:r>
          </a:p>
        </p:txBody>
      </p:sp>
      <p:sp>
        <p:nvSpPr>
          <p:cNvPr id="81" name="Rounded Rectangle 80"/>
          <p:cNvSpPr/>
          <p:nvPr/>
        </p:nvSpPr>
        <p:spPr>
          <a:xfrm>
            <a:off x="813816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13816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S</a:t>
            </a:r>
          </a:p>
        </p:txBody>
      </p:sp>
      <p:sp>
        <p:nvSpPr>
          <p:cNvPr id="83" name="Rounded Rectangle 82"/>
          <p:cNvSpPr/>
          <p:nvPr/>
        </p:nvSpPr>
        <p:spPr>
          <a:xfrm>
            <a:off x="813816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13816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V</a:t>
            </a:r>
          </a:p>
        </p:txBody>
      </p:sp>
      <p:sp>
        <p:nvSpPr>
          <p:cNvPr id="85" name="Rounded Rectangle 84"/>
          <p:cNvSpPr/>
          <p:nvPr/>
        </p:nvSpPr>
        <p:spPr>
          <a:xfrm>
            <a:off x="854964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54964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T</a:t>
            </a:r>
          </a:p>
        </p:txBody>
      </p:sp>
      <p:sp>
        <p:nvSpPr>
          <p:cNvPr id="87" name="Rounded Rectangle 86"/>
          <p:cNvSpPr/>
          <p:nvPr/>
        </p:nvSpPr>
        <p:spPr>
          <a:xfrm>
            <a:off x="854964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854964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W</a:t>
            </a:r>
          </a:p>
        </p:txBody>
      </p:sp>
      <p:sp>
        <p:nvSpPr>
          <p:cNvPr id="89" name="Rounded Rectangle 88"/>
          <p:cNvSpPr/>
          <p:nvPr/>
        </p:nvSpPr>
        <p:spPr>
          <a:xfrm>
            <a:off x="896112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896112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U</a:t>
            </a:r>
          </a:p>
        </p:txBody>
      </p:sp>
      <p:sp>
        <p:nvSpPr>
          <p:cNvPr id="91" name="Rounded Rectangle 90"/>
          <p:cNvSpPr/>
          <p:nvPr/>
        </p:nvSpPr>
        <p:spPr>
          <a:xfrm>
            <a:off x="896112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96112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X</a:t>
            </a:r>
          </a:p>
        </p:txBody>
      </p:sp>
      <p:sp>
        <p:nvSpPr>
          <p:cNvPr id="93" name="Rounded Rectangle 92"/>
          <p:cNvSpPr/>
          <p:nvPr/>
        </p:nvSpPr>
        <p:spPr>
          <a:xfrm>
            <a:off x="937260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937260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V</a:t>
            </a:r>
          </a:p>
        </p:txBody>
      </p:sp>
      <p:sp>
        <p:nvSpPr>
          <p:cNvPr id="95" name="Rounded Rectangle 94"/>
          <p:cNvSpPr/>
          <p:nvPr/>
        </p:nvSpPr>
        <p:spPr>
          <a:xfrm>
            <a:off x="937260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937260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Y</a:t>
            </a:r>
          </a:p>
        </p:txBody>
      </p:sp>
      <p:sp>
        <p:nvSpPr>
          <p:cNvPr id="97" name="Rounded Rectangle 96"/>
          <p:cNvSpPr/>
          <p:nvPr/>
        </p:nvSpPr>
        <p:spPr>
          <a:xfrm>
            <a:off x="978408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978408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W</a:t>
            </a:r>
          </a:p>
        </p:txBody>
      </p:sp>
      <p:sp>
        <p:nvSpPr>
          <p:cNvPr id="99" name="Rounded Rectangle 98"/>
          <p:cNvSpPr/>
          <p:nvPr/>
        </p:nvSpPr>
        <p:spPr>
          <a:xfrm>
            <a:off x="978408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978408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Z</a:t>
            </a:r>
          </a:p>
        </p:txBody>
      </p:sp>
      <p:sp>
        <p:nvSpPr>
          <p:cNvPr id="101" name="Rounded Rectangle 100"/>
          <p:cNvSpPr/>
          <p:nvPr/>
        </p:nvSpPr>
        <p:spPr>
          <a:xfrm>
            <a:off x="1019556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1019556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X</a:t>
            </a:r>
          </a:p>
        </p:txBody>
      </p:sp>
      <p:sp>
        <p:nvSpPr>
          <p:cNvPr id="103" name="Rounded Rectangle 102"/>
          <p:cNvSpPr/>
          <p:nvPr/>
        </p:nvSpPr>
        <p:spPr>
          <a:xfrm>
            <a:off x="1019556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1019556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A</a:t>
            </a:r>
          </a:p>
        </p:txBody>
      </p:sp>
      <p:sp>
        <p:nvSpPr>
          <p:cNvPr id="105" name="Rounded Rectangle 104"/>
          <p:cNvSpPr/>
          <p:nvPr/>
        </p:nvSpPr>
        <p:spPr>
          <a:xfrm>
            <a:off x="1060704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1060704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Y</a:t>
            </a:r>
          </a:p>
        </p:txBody>
      </p:sp>
      <p:sp>
        <p:nvSpPr>
          <p:cNvPr id="107" name="Rounded Rectangle 106"/>
          <p:cNvSpPr/>
          <p:nvPr/>
        </p:nvSpPr>
        <p:spPr>
          <a:xfrm>
            <a:off x="1060704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1060704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B</a:t>
            </a:r>
          </a:p>
        </p:txBody>
      </p:sp>
      <p:sp>
        <p:nvSpPr>
          <p:cNvPr id="109" name="Rounded Rectangle 108"/>
          <p:cNvSpPr/>
          <p:nvPr/>
        </p:nvSpPr>
        <p:spPr>
          <a:xfrm>
            <a:off x="11018520" y="1737360"/>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11018520" y="1737360"/>
            <a:ext cx="393192" cy="384048"/>
          </a:xfrm>
          <a:prstGeom prst="rect">
            <a:avLst/>
          </a:prstGeom>
          <a:noFill/>
        </p:spPr>
        <p:txBody>
          <a:bodyPr wrap="square" lIns="0" tIns="0" rIns="0" bIns="0" anchor="ctr">
            <a:spAutoFit/>
          </a:bodyPr>
          <a:lstStyle/>
          <a:p>
            <a:pPr algn="ctr"/>
            <a:r>
              <a:rPr sz="1300" b="1" i="0">
                <a:solidFill>
                  <a:srgbClr val="22D3EE"/>
                </a:solidFill>
                <a:latin typeface="Consolas"/>
              </a:rPr>
              <a:t>Z</a:t>
            </a:r>
          </a:p>
        </p:txBody>
      </p:sp>
      <p:sp>
        <p:nvSpPr>
          <p:cNvPr id="111" name="Rounded Rectangle 110"/>
          <p:cNvSpPr/>
          <p:nvPr/>
        </p:nvSpPr>
        <p:spPr>
          <a:xfrm>
            <a:off x="11018520" y="2633472"/>
            <a:ext cx="393192" cy="384048"/>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1018520" y="2633472"/>
            <a:ext cx="393192" cy="384048"/>
          </a:xfrm>
          <a:prstGeom prst="rect">
            <a:avLst/>
          </a:prstGeom>
          <a:noFill/>
        </p:spPr>
        <p:txBody>
          <a:bodyPr wrap="square" lIns="0" tIns="0" rIns="0" bIns="0" anchor="ctr">
            <a:spAutoFit/>
          </a:bodyPr>
          <a:lstStyle/>
          <a:p>
            <a:pPr algn="ctr"/>
            <a:r>
              <a:rPr sz="1300" b="1" i="0">
                <a:solidFill>
                  <a:srgbClr val="4ADE80"/>
                </a:solidFill>
                <a:latin typeface="Consolas"/>
              </a:rPr>
              <a:t>C</a:t>
            </a:r>
          </a:p>
        </p:txBody>
      </p:sp>
      <p:sp>
        <p:nvSpPr>
          <p:cNvPr id="113" name="TextBox 112"/>
          <p:cNvSpPr txBox="1"/>
          <p:nvPr/>
        </p:nvSpPr>
        <p:spPr>
          <a:xfrm>
            <a:off x="731520" y="3154680"/>
            <a:ext cx="10515600" cy="320040"/>
          </a:xfrm>
          <a:prstGeom prst="rect">
            <a:avLst/>
          </a:prstGeom>
          <a:noFill/>
        </p:spPr>
        <p:txBody>
          <a:bodyPr wrap="square" lIns="0" tIns="0" rIns="0" bIns="0" anchor="t">
            <a:spAutoFit/>
          </a:bodyPr>
          <a:lstStyle/>
          <a:p>
            <a:pPr algn="l"/>
            <a:r>
              <a:rPr sz="1600" b="1" i="0">
                <a:solidFill>
                  <a:srgbClr val="22D3EE"/>
                </a:solidFill>
                <a:latin typeface="Consolas"/>
              </a:rPr>
              <a:t>HELLO</a:t>
            </a:r>
            <a:r>
              <a:rPr sz="1600" b="1" i="0">
                <a:solidFill>
                  <a:srgbClr val="9FB0CC"/>
                </a:solidFill>
                <a:latin typeface="Consolas"/>
              </a:rPr>
              <a:t>   becomes   </a:t>
            </a:r>
            <a:r>
              <a:rPr sz="1600" b="1" i="0">
                <a:solidFill>
                  <a:srgbClr val="4ADE80"/>
                </a:solidFill>
                <a:latin typeface="Consolas"/>
              </a:rPr>
              <a:t>KHOOR</a:t>
            </a:r>
          </a:p>
        </p:txBody>
      </p:sp>
      <p:sp>
        <p:nvSpPr>
          <p:cNvPr id="114" name="Rounded Rectangle 113"/>
          <p:cNvSpPr/>
          <p:nvPr/>
        </p:nvSpPr>
        <p:spPr>
          <a:xfrm>
            <a:off x="548640" y="3794760"/>
            <a:ext cx="3566160" cy="23774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777240" y="3977639"/>
            <a:ext cx="3108960" cy="320040"/>
          </a:xfrm>
          <a:prstGeom prst="rect">
            <a:avLst/>
          </a:prstGeom>
          <a:noFill/>
        </p:spPr>
        <p:txBody>
          <a:bodyPr wrap="square" lIns="0" tIns="0" rIns="0" bIns="0" anchor="t">
            <a:spAutoFit/>
          </a:bodyPr>
          <a:lstStyle/>
          <a:p>
            <a:pPr algn="l"/>
            <a:r>
              <a:rPr sz="1500" b="1" i="0">
                <a:solidFill>
                  <a:srgbClr val="22D3EE"/>
                </a:solidFill>
                <a:latin typeface="Consolas"/>
              </a:rPr>
              <a:t>Try it</a:t>
            </a:r>
          </a:p>
        </p:txBody>
      </p:sp>
      <p:sp>
        <p:nvSpPr>
          <p:cNvPr id="116" name="TextBox 115"/>
          <p:cNvSpPr txBox="1"/>
          <p:nvPr/>
        </p:nvSpPr>
        <p:spPr>
          <a:xfrm>
            <a:off x="777240" y="4434840"/>
            <a:ext cx="3108960" cy="1645920"/>
          </a:xfrm>
          <a:prstGeom prst="rect">
            <a:avLst/>
          </a:prstGeom>
          <a:noFill/>
        </p:spPr>
        <p:txBody>
          <a:bodyPr wrap="square" lIns="0" tIns="0" rIns="0" bIns="0" anchor="t">
            <a:spAutoFit/>
          </a:bodyPr>
          <a:lstStyle/>
          <a:p>
            <a:pPr algn="l"/>
            <a:r>
              <a:rPr sz="1400" b="0" i="0">
                <a:solidFill>
                  <a:srgbClr val="F1F5F9"/>
                </a:solidFill>
                <a:latin typeface="Calibri"/>
              </a:rPr>
              <a:t>To encrypt, replace each letter with the one 3 places later: H becomes K, E becomes H. To decrypt, shift back by 3. The key is just the number 3.</a:t>
            </a:r>
          </a:p>
        </p:txBody>
      </p:sp>
      <p:sp>
        <p:nvSpPr>
          <p:cNvPr id="117" name="Rounded Rectangle 116"/>
          <p:cNvSpPr/>
          <p:nvPr/>
        </p:nvSpPr>
        <p:spPr>
          <a:xfrm>
            <a:off x="4297679" y="3794760"/>
            <a:ext cx="3566160" cy="23774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4526279" y="3977639"/>
            <a:ext cx="3108960" cy="320040"/>
          </a:xfrm>
          <a:prstGeom prst="rect">
            <a:avLst/>
          </a:prstGeom>
          <a:noFill/>
        </p:spPr>
        <p:txBody>
          <a:bodyPr wrap="square" lIns="0" tIns="0" rIns="0" bIns="0" anchor="t">
            <a:spAutoFit/>
          </a:bodyPr>
          <a:lstStyle/>
          <a:p>
            <a:pPr algn="l"/>
            <a:r>
              <a:rPr sz="1500" b="1" i="0">
                <a:solidFill>
                  <a:srgbClr val="F87171"/>
                </a:solidFill>
                <a:latin typeface="Consolas"/>
              </a:rPr>
              <a:t>Why it is weak</a:t>
            </a:r>
          </a:p>
        </p:txBody>
      </p:sp>
      <p:sp>
        <p:nvSpPr>
          <p:cNvPr id="119" name="TextBox 118"/>
          <p:cNvSpPr txBox="1"/>
          <p:nvPr/>
        </p:nvSpPr>
        <p:spPr>
          <a:xfrm>
            <a:off x="4526279" y="4434840"/>
            <a:ext cx="3108960" cy="1645920"/>
          </a:xfrm>
          <a:prstGeom prst="rect">
            <a:avLst/>
          </a:prstGeom>
          <a:noFill/>
        </p:spPr>
        <p:txBody>
          <a:bodyPr wrap="square" lIns="0" tIns="0" rIns="0" bIns="0" anchor="t">
            <a:spAutoFit/>
          </a:bodyPr>
          <a:lstStyle/>
          <a:p>
            <a:pPr algn="l"/>
            <a:r>
              <a:rPr sz="1400" b="0" i="0">
                <a:solidFill>
                  <a:srgbClr val="F1F5F9"/>
                </a:solidFill>
                <a:latin typeface="Calibri"/>
              </a:rPr>
              <a:t>There are only 25 possible keys, so a computer tries them all in an instant. Letter counts also give it away: the most common letter is probably E.</a:t>
            </a:r>
          </a:p>
        </p:txBody>
      </p:sp>
      <p:sp>
        <p:nvSpPr>
          <p:cNvPr id="120" name="Rounded Rectangle 119"/>
          <p:cNvSpPr/>
          <p:nvPr/>
        </p:nvSpPr>
        <p:spPr>
          <a:xfrm>
            <a:off x="8046719" y="3794760"/>
            <a:ext cx="3566160" cy="23774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8275319" y="3977639"/>
            <a:ext cx="3108960" cy="320040"/>
          </a:xfrm>
          <a:prstGeom prst="rect">
            <a:avLst/>
          </a:prstGeom>
          <a:noFill/>
        </p:spPr>
        <p:txBody>
          <a:bodyPr wrap="square" lIns="0" tIns="0" rIns="0" bIns="0" anchor="t">
            <a:spAutoFit/>
          </a:bodyPr>
          <a:lstStyle/>
          <a:p>
            <a:pPr algn="l"/>
            <a:r>
              <a:rPr sz="1500" b="1" i="0">
                <a:solidFill>
                  <a:srgbClr val="4ADE80"/>
                </a:solidFill>
                <a:latin typeface="Consolas"/>
              </a:rPr>
              <a:t>What modern ciphers fix</a:t>
            </a:r>
          </a:p>
        </p:txBody>
      </p:sp>
      <p:sp>
        <p:nvSpPr>
          <p:cNvPr id="122" name="TextBox 121"/>
          <p:cNvSpPr txBox="1"/>
          <p:nvPr/>
        </p:nvSpPr>
        <p:spPr>
          <a:xfrm>
            <a:off x="8275319" y="4434840"/>
            <a:ext cx="3108960" cy="1645920"/>
          </a:xfrm>
          <a:prstGeom prst="rect">
            <a:avLst/>
          </a:prstGeom>
          <a:noFill/>
        </p:spPr>
        <p:txBody>
          <a:bodyPr wrap="square" lIns="0" tIns="0" rIns="0" bIns="0" anchor="t">
            <a:spAutoFit/>
          </a:bodyPr>
          <a:lstStyle/>
          <a:p>
            <a:pPr algn="l"/>
            <a:r>
              <a:rPr sz="1400" b="0" i="0">
                <a:solidFill>
                  <a:srgbClr val="F1F5F9"/>
                </a:solidFill>
                <a:latin typeface="Calibri"/>
              </a:rPr>
              <a:t>A huge number of keys, so guessing is hopeless. Heavy scrambling that hides letter patterns. And the method can be public: only the key is secret.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FOUNDATIONS 03</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The Vigenère cipher: a keyword, not one shift</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05</a:t>
            </a:r>
            <a:endParaRPr lang="en-US" sz="1000"/>
          </a:p>
        </p:txBody>
      </p:sp>
      <p:sp>
        <p:nvSpPr>
          <p:cNvPr id="6" name="Rounded Rectangle 5"/>
          <p:cNvSpPr/>
          <p:nvPr/>
        </p:nvSpPr>
        <p:spPr>
          <a:xfrm>
            <a:off x="548640" y="1371600"/>
            <a:ext cx="7315200" cy="30175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481328"/>
            <a:ext cx="6858000" cy="228600"/>
          </a:xfrm>
          <a:prstGeom prst="rect">
            <a:avLst/>
          </a:prstGeom>
          <a:noFill/>
        </p:spPr>
        <p:txBody>
          <a:bodyPr wrap="square" lIns="0" tIns="0" rIns="0" bIns="0" anchor="t">
            <a:spAutoFit/>
          </a:bodyPr>
          <a:lstStyle/>
          <a:p>
            <a:pPr algn="l"/>
            <a:r>
              <a:rPr sz="1000" b="0">
                <a:solidFill>
                  <a:srgbClr val="9FB0CC"/>
                </a:solidFill>
                <a:latin typeface="Consolas"/>
              </a:rPr>
              <a:t>MESSAGE</a:t>
            </a:r>
          </a:p>
        </p:txBody>
      </p:sp>
      <p:sp>
        <p:nvSpPr>
          <p:cNvPr id="8" name="Rounded Rectangle 7"/>
          <p:cNvSpPr/>
          <p:nvPr/>
        </p:nvSpPr>
        <p:spPr>
          <a:xfrm>
            <a:off x="777240" y="1737360"/>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737360"/>
            <a:ext cx="457200" cy="457200"/>
          </a:xfrm>
          <a:prstGeom prst="rect">
            <a:avLst/>
          </a:prstGeom>
          <a:noFill/>
        </p:spPr>
        <p:txBody>
          <a:bodyPr wrap="square" lIns="0" tIns="0" rIns="0" bIns="0" anchor="ctr">
            <a:spAutoFit/>
          </a:bodyPr>
          <a:lstStyle/>
          <a:p>
            <a:pPr algn="ctr"/>
            <a:r>
              <a:rPr sz="1500" b="1">
                <a:solidFill>
                  <a:srgbClr val="FBBF24"/>
                </a:solidFill>
                <a:latin typeface="Consolas"/>
              </a:rPr>
              <a:t>A</a:t>
            </a:r>
          </a:p>
        </p:txBody>
      </p:sp>
      <p:sp>
        <p:nvSpPr>
          <p:cNvPr id="10" name="Rounded Rectangle 9"/>
          <p:cNvSpPr/>
          <p:nvPr/>
        </p:nvSpPr>
        <p:spPr>
          <a:xfrm>
            <a:off x="1325880" y="1737360"/>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25880" y="1737360"/>
            <a:ext cx="457200" cy="457200"/>
          </a:xfrm>
          <a:prstGeom prst="rect">
            <a:avLst/>
          </a:prstGeom>
          <a:noFill/>
        </p:spPr>
        <p:txBody>
          <a:bodyPr wrap="square" lIns="0" tIns="0" rIns="0" bIns="0" anchor="ctr">
            <a:spAutoFit/>
          </a:bodyPr>
          <a:lstStyle/>
          <a:p>
            <a:pPr algn="ctr"/>
            <a:r>
              <a:rPr sz="1500" b="1">
                <a:solidFill>
                  <a:srgbClr val="22D3EE"/>
                </a:solidFill>
                <a:latin typeface="Consolas"/>
              </a:rPr>
              <a:t>T</a:t>
            </a:r>
          </a:p>
        </p:txBody>
      </p:sp>
      <p:sp>
        <p:nvSpPr>
          <p:cNvPr id="12" name="Rounded Rectangle 11"/>
          <p:cNvSpPr/>
          <p:nvPr/>
        </p:nvSpPr>
        <p:spPr>
          <a:xfrm>
            <a:off x="1874519" y="1737360"/>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74519" y="1737360"/>
            <a:ext cx="457200" cy="457200"/>
          </a:xfrm>
          <a:prstGeom prst="rect">
            <a:avLst/>
          </a:prstGeom>
          <a:noFill/>
        </p:spPr>
        <p:txBody>
          <a:bodyPr wrap="square" lIns="0" tIns="0" rIns="0" bIns="0" anchor="ctr">
            <a:spAutoFit/>
          </a:bodyPr>
          <a:lstStyle/>
          <a:p>
            <a:pPr algn="ctr"/>
            <a:r>
              <a:rPr sz="1500" b="1">
                <a:solidFill>
                  <a:srgbClr val="22D3EE"/>
                </a:solidFill>
                <a:latin typeface="Consolas"/>
              </a:rPr>
              <a:t>T</a:t>
            </a:r>
          </a:p>
        </p:txBody>
      </p:sp>
      <p:sp>
        <p:nvSpPr>
          <p:cNvPr id="14" name="Rounded Rectangle 13"/>
          <p:cNvSpPr/>
          <p:nvPr/>
        </p:nvSpPr>
        <p:spPr>
          <a:xfrm>
            <a:off x="2423160" y="1737360"/>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23160" y="1737360"/>
            <a:ext cx="457200" cy="457200"/>
          </a:xfrm>
          <a:prstGeom prst="rect">
            <a:avLst/>
          </a:prstGeom>
          <a:noFill/>
        </p:spPr>
        <p:txBody>
          <a:bodyPr wrap="square" lIns="0" tIns="0" rIns="0" bIns="0" anchor="ctr">
            <a:spAutoFit/>
          </a:bodyPr>
          <a:lstStyle/>
          <a:p>
            <a:pPr algn="ctr"/>
            <a:r>
              <a:rPr sz="1500" b="1">
                <a:solidFill>
                  <a:srgbClr val="FBBF24"/>
                </a:solidFill>
                <a:latin typeface="Consolas"/>
              </a:rPr>
              <a:t>A</a:t>
            </a:r>
          </a:p>
        </p:txBody>
      </p:sp>
      <p:sp>
        <p:nvSpPr>
          <p:cNvPr id="16" name="Rounded Rectangle 15"/>
          <p:cNvSpPr/>
          <p:nvPr/>
        </p:nvSpPr>
        <p:spPr>
          <a:xfrm>
            <a:off x="2971800" y="1737360"/>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71800" y="1737360"/>
            <a:ext cx="457200" cy="457200"/>
          </a:xfrm>
          <a:prstGeom prst="rect">
            <a:avLst/>
          </a:prstGeom>
          <a:noFill/>
        </p:spPr>
        <p:txBody>
          <a:bodyPr wrap="square" lIns="0" tIns="0" rIns="0" bIns="0" anchor="ctr">
            <a:spAutoFit/>
          </a:bodyPr>
          <a:lstStyle/>
          <a:p>
            <a:pPr algn="ctr"/>
            <a:r>
              <a:rPr sz="1500" b="1">
                <a:solidFill>
                  <a:srgbClr val="22D3EE"/>
                </a:solidFill>
                <a:latin typeface="Consolas"/>
              </a:rPr>
              <a:t>C</a:t>
            </a:r>
          </a:p>
        </p:txBody>
      </p:sp>
      <p:sp>
        <p:nvSpPr>
          <p:cNvPr id="18" name="Rounded Rectangle 17"/>
          <p:cNvSpPr/>
          <p:nvPr/>
        </p:nvSpPr>
        <p:spPr>
          <a:xfrm>
            <a:off x="3520440" y="1737360"/>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20440" y="1737360"/>
            <a:ext cx="457200" cy="457200"/>
          </a:xfrm>
          <a:prstGeom prst="rect">
            <a:avLst/>
          </a:prstGeom>
          <a:noFill/>
        </p:spPr>
        <p:txBody>
          <a:bodyPr wrap="square" lIns="0" tIns="0" rIns="0" bIns="0" anchor="ctr">
            <a:spAutoFit/>
          </a:bodyPr>
          <a:lstStyle/>
          <a:p>
            <a:pPr algn="ctr"/>
            <a:r>
              <a:rPr sz="1500" b="1">
                <a:solidFill>
                  <a:srgbClr val="22D3EE"/>
                </a:solidFill>
                <a:latin typeface="Consolas"/>
              </a:rPr>
              <a:t>K</a:t>
            </a:r>
          </a:p>
        </p:txBody>
      </p:sp>
      <p:sp>
        <p:nvSpPr>
          <p:cNvPr id="20" name="Rounded Rectangle 19"/>
          <p:cNvSpPr/>
          <p:nvPr/>
        </p:nvSpPr>
        <p:spPr>
          <a:xfrm>
            <a:off x="4069079" y="1737360"/>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69079" y="1737360"/>
            <a:ext cx="457200" cy="457200"/>
          </a:xfrm>
          <a:prstGeom prst="rect">
            <a:avLst/>
          </a:prstGeom>
          <a:noFill/>
        </p:spPr>
        <p:txBody>
          <a:bodyPr wrap="square" lIns="0" tIns="0" rIns="0" bIns="0" anchor="ctr">
            <a:spAutoFit/>
          </a:bodyPr>
          <a:lstStyle/>
          <a:p>
            <a:pPr algn="ctr"/>
            <a:r>
              <a:rPr sz="1500" b="1">
                <a:solidFill>
                  <a:srgbClr val="FBBF24"/>
                </a:solidFill>
                <a:latin typeface="Consolas"/>
              </a:rPr>
              <a:t>A</a:t>
            </a:r>
          </a:p>
        </p:txBody>
      </p:sp>
      <p:sp>
        <p:nvSpPr>
          <p:cNvPr id="22" name="Rounded Rectangle 21"/>
          <p:cNvSpPr/>
          <p:nvPr/>
        </p:nvSpPr>
        <p:spPr>
          <a:xfrm>
            <a:off x="4617720" y="1737360"/>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17720" y="1737360"/>
            <a:ext cx="457200" cy="457200"/>
          </a:xfrm>
          <a:prstGeom prst="rect">
            <a:avLst/>
          </a:prstGeom>
          <a:noFill/>
        </p:spPr>
        <p:txBody>
          <a:bodyPr wrap="square" lIns="0" tIns="0" rIns="0" bIns="0" anchor="ctr">
            <a:spAutoFit/>
          </a:bodyPr>
          <a:lstStyle/>
          <a:p>
            <a:pPr algn="ctr"/>
            <a:r>
              <a:rPr sz="1500" b="1">
                <a:solidFill>
                  <a:srgbClr val="22D3EE"/>
                </a:solidFill>
                <a:latin typeface="Consolas"/>
              </a:rPr>
              <a:t>T</a:t>
            </a:r>
          </a:p>
        </p:txBody>
      </p:sp>
      <p:sp>
        <p:nvSpPr>
          <p:cNvPr id="24" name="Rounded Rectangle 23"/>
          <p:cNvSpPr/>
          <p:nvPr/>
        </p:nvSpPr>
        <p:spPr>
          <a:xfrm>
            <a:off x="5166359" y="1737360"/>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66359" y="1737360"/>
            <a:ext cx="457200" cy="457200"/>
          </a:xfrm>
          <a:prstGeom prst="rect">
            <a:avLst/>
          </a:prstGeom>
          <a:noFill/>
        </p:spPr>
        <p:txBody>
          <a:bodyPr wrap="square" lIns="0" tIns="0" rIns="0" bIns="0" anchor="ctr">
            <a:spAutoFit/>
          </a:bodyPr>
          <a:lstStyle/>
          <a:p>
            <a:pPr algn="ctr"/>
            <a:r>
              <a:rPr sz="1500" b="1">
                <a:solidFill>
                  <a:srgbClr val="22D3EE"/>
                </a:solidFill>
                <a:latin typeface="Consolas"/>
              </a:rPr>
              <a:t>D</a:t>
            </a:r>
          </a:p>
        </p:txBody>
      </p:sp>
      <p:sp>
        <p:nvSpPr>
          <p:cNvPr id="26" name="Rounded Rectangle 25"/>
          <p:cNvSpPr/>
          <p:nvPr/>
        </p:nvSpPr>
        <p:spPr>
          <a:xfrm>
            <a:off x="5714999" y="1737360"/>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14999" y="1737360"/>
            <a:ext cx="457200" cy="457200"/>
          </a:xfrm>
          <a:prstGeom prst="rect">
            <a:avLst/>
          </a:prstGeom>
          <a:noFill/>
        </p:spPr>
        <p:txBody>
          <a:bodyPr wrap="square" lIns="0" tIns="0" rIns="0" bIns="0" anchor="ctr">
            <a:spAutoFit/>
          </a:bodyPr>
          <a:lstStyle/>
          <a:p>
            <a:pPr algn="ctr"/>
            <a:r>
              <a:rPr sz="1500" b="1">
                <a:solidFill>
                  <a:srgbClr val="FBBF24"/>
                </a:solidFill>
                <a:latin typeface="Consolas"/>
              </a:rPr>
              <a:t>A</a:t>
            </a:r>
          </a:p>
        </p:txBody>
      </p:sp>
      <p:sp>
        <p:nvSpPr>
          <p:cNvPr id="28" name="Rounded Rectangle 27"/>
          <p:cNvSpPr/>
          <p:nvPr/>
        </p:nvSpPr>
        <p:spPr>
          <a:xfrm>
            <a:off x="6263640" y="1737360"/>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63640" y="1737360"/>
            <a:ext cx="457200" cy="457200"/>
          </a:xfrm>
          <a:prstGeom prst="rect">
            <a:avLst/>
          </a:prstGeom>
          <a:noFill/>
        </p:spPr>
        <p:txBody>
          <a:bodyPr wrap="square" lIns="0" tIns="0" rIns="0" bIns="0" anchor="ctr">
            <a:spAutoFit/>
          </a:bodyPr>
          <a:lstStyle/>
          <a:p>
            <a:pPr algn="ctr"/>
            <a:r>
              <a:rPr sz="1500" b="1">
                <a:solidFill>
                  <a:srgbClr val="22D3EE"/>
                </a:solidFill>
                <a:latin typeface="Consolas"/>
              </a:rPr>
              <a:t>W</a:t>
            </a:r>
          </a:p>
        </p:txBody>
      </p:sp>
      <p:sp>
        <p:nvSpPr>
          <p:cNvPr id="30" name="Rounded Rectangle 29"/>
          <p:cNvSpPr/>
          <p:nvPr/>
        </p:nvSpPr>
        <p:spPr>
          <a:xfrm>
            <a:off x="6812279" y="1737360"/>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12279" y="1737360"/>
            <a:ext cx="457200" cy="457200"/>
          </a:xfrm>
          <a:prstGeom prst="rect">
            <a:avLst/>
          </a:prstGeom>
          <a:noFill/>
        </p:spPr>
        <p:txBody>
          <a:bodyPr wrap="square" lIns="0" tIns="0" rIns="0" bIns="0" anchor="ctr">
            <a:spAutoFit/>
          </a:bodyPr>
          <a:lstStyle/>
          <a:p>
            <a:pPr algn="ctr"/>
            <a:r>
              <a:rPr sz="1500" b="1">
                <a:solidFill>
                  <a:srgbClr val="22D3EE"/>
                </a:solidFill>
                <a:latin typeface="Consolas"/>
              </a:rPr>
              <a:t>N</a:t>
            </a:r>
          </a:p>
        </p:txBody>
      </p:sp>
      <p:sp>
        <p:nvSpPr>
          <p:cNvPr id="32" name="TextBox 31"/>
          <p:cNvSpPr txBox="1"/>
          <p:nvPr/>
        </p:nvSpPr>
        <p:spPr>
          <a:xfrm>
            <a:off x="777240" y="2359152"/>
            <a:ext cx="6858000" cy="228600"/>
          </a:xfrm>
          <a:prstGeom prst="rect">
            <a:avLst/>
          </a:prstGeom>
          <a:noFill/>
        </p:spPr>
        <p:txBody>
          <a:bodyPr wrap="square" lIns="0" tIns="0" rIns="0" bIns="0" anchor="t">
            <a:spAutoFit/>
          </a:bodyPr>
          <a:lstStyle/>
          <a:p>
            <a:pPr algn="l"/>
            <a:r>
              <a:rPr sz="1000" b="0">
                <a:solidFill>
                  <a:srgbClr val="FBBF24"/>
                </a:solidFill>
                <a:latin typeface="Consolas"/>
              </a:rPr>
              <a:t>KEYWORD "LEMON", REPEATED. EACH LETTER IS A DIFFERENT SHIFT</a:t>
            </a:r>
          </a:p>
        </p:txBody>
      </p:sp>
      <p:sp>
        <p:nvSpPr>
          <p:cNvPr id="33" name="Rounded Rectangle 32"/>
          <p:cNvSpPr/>
          <p:nvPr/>
        </p:nvSpPr>
        <p:spPr>
          <a:xfrm>
            <a:off x="777240" y="2615184"/>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7240"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L</a:t>
            </a:r>
          </a:p>
        </p:txBody>
      </p:sp>
      <p:sp>
        <p:nvSpPr>
          <p:cNvPr id="35" name="Rounded Rectangle 34"/>
          <p:cNvSpPr/>
          <p:nvPr/>
        </p:nvSpPr>
        <p:spPr>
          <a:xfrm>
            <a:off x="1325880" y="2615184"/>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325880"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E</a:t>
            </a:r>
          </a:p>
        </p:txBody>
      </p:sp>
      <p:sp>
        <p:nvSpPr>
          <p:cNvPr id="37" name="Rounded Rectangle 36"/>
          <p:cNvSpPr/>
          <p:nvPr/>
        </p:nvSpPr>
        <p:spPr>
          <a:xfrm>
            <a:off x="1874519" y="2615184"/>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74519"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M</a:t>
            </a:r>
          </a:p>
        </p:txBody>
      </p:sp>
      <p:sp>
        <p:nvSpPr>
          <p:cNvPr id="39" name="Rounded Rectangle 38"/>
          <p:cNvSpPr/>
          <p:nvPr/>
        </p:nvSpPr>
        <p:spPr>
          <a:xfrm>
            <a:off x="2423160" y="2615184"/>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423160"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O</a:t>
            </a:r>
          </a:p>
        </p:txBody>
      </p:sp>
      <p:sp>
        <p:nvSpPr>
          <p:cNvPr id="41" name="Rounded Rectangle 40"/>
          <p:cNvSpPr/>
          <p:nvPr/>
        </p:nvSpPr>
        <p:spPr>
          <a:xfrm>
            <a:off x="2971800" y="2615184"/>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971800"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N</a:t>
            </a:r>
          </a:p>
        </p:txBody>
      </p:sp>
      <p:sp>
        <p:nvSpPr>
          <p:cNvPr id="43" name="Rounded Rectangle 42"/>
          <p:cNvSpPr/>
          <p:nvPr/>
        </p:nvSpPr>
        <p:spPr>
          <a:xfrm>
            <a:off x="3520440" y="2615184"/>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520440"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L</a:t>
            </a:r>
          </a:p>
        </p:txBody>
      </p:sp>
      <p:sp>
        <p:nvSpPr>
          <p:cNvPr id="45" name="Rounded Rectangle 44"/>
          <p:cNvSpPr/>
          <p:nvPr/>
        </p:nvSpPr>
        <p:spPr>
          <a:xfrm>
            <a:off x="4069079" y="2615184"/>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069079"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E</a:t>
            </a:r>
          </a:p>
        </p:txBody>
      </p:sp>
      <p:sp>
        <p:nvSpPr>
          <p:cNvPr id="47" name="Rounded Rectangle 46"/>
          <p:cNvSpPr/>
          <p:nvPr/>
        </p:nvSpPr>
        <p:spPr>
          <a:xfrm>
            <a:off x="4617720" y="2615184"/>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617720"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M</a:t>
            </a:r>
          </a:p>
        </p:txBody>
      </p:sp>
      <p:sp>
        <p:nvSpPr>
          <p:cNvPr id="49" name="Rounded Rectangle 48"/>
          <p:cNvSpPr/>
          <p:nvPr/>
        </p:nvSpPr>
        <p:spPr>
          <a:xfrm>
            <a:off x="5166359" y="2615184"/>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166359"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O</a:t>
            </a:r>
          </a:p>
        </p:txBody>
      </p:sp>
      <p:sp>
        <p:nvSpPr>
          <p:cNvPr id="51" name="Rounded Rectangle 50"/>
          <p:cNvSpPr/>
          <p:nvPr/>
        </p:nvSpPr>
        <p:spPr>
          <a:xfrm>
            <a:off x="5714999" y="2615184"/>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714999"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N</a:t>
            </a:r>
          </a:p>
        </p:txBody>
      </p:sp>
      <p:sp>
        <p:nvSpPr>
          <p:cNvPr id="53" name="Rounded Rectangle 52"/>
          <p:cNvSpPr/>
          <p:nvPr/>
        </p:nvSpPr>
        <p:spPr>
          <a:xfrm>
            <a:off x="6263640" y="2615184"/>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263640"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L</a:t>
            </a:r>
          </a:p>
        </p:txBody>
      </p:sp>
      <p:sp>
        <p:nvSpPr>
          <p:cNvPr id="55" name="Rounded Rectangle 54"/>
          <p:cNvSpPr/>
          <p:nvPr/>
        </p:nvSpPr>
        <p:spPr>
          <a:xfrm>
            <a:off x="6812279" y="2615184"/>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812279" y="2615184"/>
            <a:ext cx="457200" cy="457200"/>
          </a:xfrm>
          <a:prstGeom prst="rect">
            <a:avLst/>
          </a:prstGeom>
          <a:noFill/>
        </p:spPr>
        <p:txBody>
          <a:bodyPr wrap="square" lIns="0" tIns="0" rIns="0" bIns="0" anchor="ctr">
            <a:spAutoFit/>
          </a:bodyPr>
          <a:lstStyle/>
          <a:p>
            <a:pPr algn="ctr"/>
            <a:r>
              <a:rPr sz="1500" b="1">
                <a:solidFill>
                  <a:srgbClr val="FBBF24"/>
                </a:solidFill>
                <a:latin typeface="Consolas"/>
              </a:rPr>
              <a:t>E</a:t>
            </a:r>
          </a:p>
        </p:txBody>
      </p:sp>
      <p:sp>
        <p:nvSpPr>
          <p:cNvPr id="57" name="TextBox 56"/>
          <p:cNvSpPr txBox="1"/>
          <p:nvPr/>
        </p:nvSpPr>
        <p:spPr>
          <a:xfrm>
            <a:off x="777240" y="3236976"/>
            <a:ext cx="6858000" cy="228600"/>
          </a:xfrm>
          <a:prstGeom prst="rect">
            <a:avLst/>
          </a:prstGeom>
          <a:noFill/>
        </p:spPr>
        <p:txBody>
          <a:bodyPr wrap="square" lIns="0" tIns="0" rIns="0" bIns="0" anchor="t">
            <a:spAutoFit/>
          </a:bodyPr>
          <a:lstStyle/>
          <a:p>
            <a:pPr algn="l"/>
            <a:r>
              <a:rPr sz="1000" b="0">
                <a:solidFill>
                  <a:srgbClr val="4ADE80"/>
                </a:solidFill>
                <a:latin typeface="Consolas"/>
              </a:rPr>
              <a:t>SECRET MESSAGE</a:t>
            </a:r>
          </a:p>
        </p:txBody>
      </p:sp>
      <p:sp>
        <p:nvSpPr>
          <p:cNvPr id="58" name="Rounded Rectangle 57"/>
          <p:cNvSpPr/>
          <p:nvPr/>
        </p:nvSpPr>
        <p:spPr>
          <a:xfrm>
            <a:off x="777240" y="3493008"/>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77240" y="3493008"/>
            <a:ext cx="457200" cy="457200"/>
          </a:xfrm>
          <a:prstGeom prst="rect">
            <a:avLst/>
          </a:prstGeom>
          <a:noFill/>
        </p:spPr>
        <p:txBody>
          <a:bodyPr wrap="square" lIns="0" tIns="0" rIns="0" bIns="0" anchor="ctr">
            <a:spAutoFit/>
          </a:bodyPr>
          <a:lstStyle/>
          <a:p>
            <a:pPr algn="ctr"/>
            <a:r>
              <a:rPr sz="1500" b="1">
                <a:solidFill>
                  <a:srgbClr val="FBBF24"/>
                </a:solidFill>
                <a:latin typeface="Consolas"/>
              </a:rPr>
              <a:t>L</a:t>
            </a:r>
          </a:p>
        </p:txBody>
      </p:sp>
      <p:sp>
        <p:nvSpPr>
          <p:cNvPr id="60" name="Rounded Rectangle 59"/>
          <p:cNvSpPr/>
          <p:nvPr/>
        </p:nvSpPr>
        <p:spPr>
          <a:xfrm>
            <a:off x="1325880" y="3493008"/>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325880" y="3493008"/>
            <a:ext cx="457200" cy="457200"/>
          </a:xfrm>
          <a:prstGeom prst="rect">
            <a:avLst/>
          </a:prstGeom>
          <a:noFill/>
        </p:spPr>
        <p:txBody>
          <a:bodyPr wrap="square" lIns="0" tIns="0" rIns="0" bIns="0" anchor="ctr">
            <a:spAutoFit/>
          </a:bodyPr>
          <a:lstStyle/>
          <a:p>
            <a:pPr algn="ctr"/>
            <a:r>
              <a:rPr sz="1500" b="1">
                <a:solidFill>
                  <a:srgbClr val="4ADE80"/>
                </a:solidFill>
                <a:latin typeface="Consolas"/>
              </a:rPr>
              <a:t>X</a:t>
            </a:r>
          </a:p>
        </p:txBody>
      </p:sp>
      <p:sp>
        <p:nvSpPr>
          <p:cNvPr id="62" name="Rounded Rectangle 61"/>
          <p:cNvSpPr/>
          <p:nvPr/>
        </p:nvSpPr>
        <p:spPr>
          <a:xfrm>
            <a:off x="1874519" y="3493008"/>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874519" y="3493008"/>
            <a:ext cx="457200" cy="457200"/>
          </a:xfrm>
          <a:prstGeom prst="rect">
            <a:avLst/>
          </a:prstGeom>
          <a:noFill/>
        </p:spPr>
        <p:txBody>
          <a:bodyPr wrap="square" lIns="0" tIns="0" rIns="0" bIns="0" anchor="ctr">
            <a:spAutoFit/>
          </a:bodyPr>
          <a:lstStyle/>
          <a:p>
            <a:pPr algn="ctr"/>
            <a:r>
              <a:rPr sz="1500" b="1">
                <a:solidFill>
                  <a:srgbClr val="4ADE80"/>
                </a:solidFill>
                <a:latin typeface="Consolas"/>
              </a:rPr>
              <a:t>F</a:t>
            </a:r>
          </a:p>
        </p:txBody>
      </p:sp>
      <p:sp>
        <p:nvSpPr>
          <p:cNvPr id="64" name="Rounded Rectangle 63"/>
          <p:cNvSpPr/>
          <p:nvPr/>
        </p:nvSpPr>
        <p:spPr>
          <a:xfrm>
            <a:off x="2423160" y="3493008"/>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423160" y="3493008"/>
            <a:ext cx="457200" cy="457200"/>
          </a:xfrm>
          <a:prstGeom prst="rect">
            <a:avLst/>
          </a:prstGeom>
          <a:noFill/>
        </p:spPr>
        <p:txBody>
          <a:bodyPr wrap="square" lIns="0" tIns="0" rIns="0" bIns="0" anchor="ctr">
            <a:spAutoFit/>
          </a:bodyPr>
          <a:lstStyle/>
          <a:p>
            <a:pPr algn="ctr"/>
            <a:r>
              <a:rPr sz="1500" b="1">
                <a:solidFill>
                  <a:srgbClr val="FBBF24"/>
                </a:solidFill>
                <a:latin typeface="Consolas"/>
              </a:rPr>
              <a:t>O</a:t>
            </a:r>
          </a:p>
        </p:txBody>
      </p:sp>
      <p:sp>
        <p:nvSpPr>
          <p:cNvPr id="66" name="Rounded Rectangle 65"/>
          <p:cNvSpPr/>
          <p:nvPr/>
        </p:nvSpPr>
        <p:spPr>
          <a:xfrm>
            <a:off x="2971800" y="3493008"/>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971800" y="3493008"/>
            <a:ext cx="457200" cy="457200"/>
          </a:xfrm>
          <a:prstGeom prst="rect">
            <a:avLst/>
          </a:prstGeom>
          <a:noFill/>
        </p:spPr>
        <p:txBody>
          <a:bodyPr wrap="square" lIns="0" tIns="0" rIns="0" bIns="0" anchor="ctr">
            <a:spAutoFit/>
          </a:bodyPr>
          <a:lstStyle/>
          <a:p>
            <a:pPr algn="ctr"/>
            <a:r>
              <a:rPr sz="1500" b="1">
                <a:solidFill>
                  <a:srgbClr val="4ADE80"/>
                </a:solidFill>
                <a:latin typeface="Consolas"/>
              </a:rPr>
              <a:t>P</a:t>
            </a:r>
          </a:p>
        </p:txBody>
      </p:sp>
      <p:sp>
        <p:nvSpPr>
          <p:cNvPr id="68" name="Rounded Rectangle 67"/>
          <p:cNvSpPr/>
          <p:nvPr/>
        </p:nvSpPr>
        <p:spPr>
          <a:xfrm>
            <a:off x="3520440" y="3493008"/>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520440" y="3493008"/>
            <a:ext cx="457200" cy="457200"/>
          </a:xfrm>
          <a:prstGeom prst="rect">
            <a:avLst/>
          </a:prstGeom>
          <a:noFill/>
        </p:spPr>
        <p:txBody>
          <a:bodyPr wrap="square" lIns="0" tIns="0" rIns="0" bIns="0" anchor="ctr">
            <a:spAutoFit/>
          </a:bodyPr>
          <a:lstStyle/>
          <a:p>
            <a:pPr algn="ctr"/>
            <a:r>
              <a:rPr sz="1500" b="1">
                <a:solidFill>
                  <a:srgbClr val="4ADE80"/>
                </a:solidFill>
                <a:latin typeface="Consolas"/>
              </a:rPr>
              <a:t>V</a:t>
            </a:r>
          </a:p>
        </p:txBody>
      </p:sp>
      <p:sp>
        <p:nvSpPr>
          <p:cNvPr id="70" name="Rounded Rectangle 69"/>
          <p:cNvSpPr/>
          <p:nvPr/>
        </p:nvSpPr>
        <p:spPr>
          <a:xfrm>
            <a:off x="4069079" y="3493008"/>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069079" y="3493008"/>
            <a:ext cx="457200" cy="457200"/>
          </a:xfrm>
          <a:prstGeom prst="rect">
            <a:avLst/>
          </a:prstGeom>
          <a:noFill/>
        </p:spPr>
        <p:txBody>
          <a:bodyPr wrap="square" lIns="0" tIns="0" rIns="0" bIns="0" anchor="ctr">
            <a:spAutoFit/>
          </a:bodyPr>
          <a:lstStyle/>
          <a:p>
            <a:pPr algn="ctr"/>
            <a:r>
              <a:rPr sz="1500" b="1">
                <a:solidFill>
                  <a:srgbClr val="FBBF24"/>
                </a:solidFill>
                <a:latin typeface="Consolas"/>
              </a:rPr>
              <a:t>E</a:t>
            </a:r>
          </a:p>
        </p:txBody>
      </p:sp>
      <p:sp>
        <p:nvSpPr>
          <p:cNvPr id="72" name="Rounded Rectangle 71"/>
          <p:cNvSpPr/>
          <p:nvPr/>
        </p:nvSpPr>
        <p:spPr>
          <a:xfrm>
            <a:off x="4617720" y="3493008"/>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4617720" y="3493008"/>
            <a:ext cx="457200" cy="457200"/>
          </a:xfrm>
          <a:prstGeom prst="rect">
            <a:avLst/>
          </a:prstGeom>
          <a:noFill/>
        </p:spPr>
        <p:txBody>
          <a:bodyPr wrap="square" lIns="0" tIns="0" rIns="0" bIns="0" anchor="ctr">
            <a:spAutoFit/>
          </a:bodyPr>
          <a:lstStyle/>
          <a:p>
            <a:pPr algn="ctr"/>
            <a:r>
              <a:rPr sz="1500" b="1">
                <a:solidFill>
                  <a:srgbClr val="4ADE80"/>
                </a:solidFill>
                <a:latin typeface="Consolas"/>
              </a:rPr>
              <a:t>F</a:t>
            </a:r>
          </a:p>
        </p:txBody>
      </p:sp>
      <p:sp>
        <p:nvSpPr>
          <p:cNvPr id="74" name="Rounded Rectangle 73"/>
          <p:cNvSpPr/>
          <p:nvPr/>
        </p:nvSpPr>
        <p:spPr>
          <a:xfrm>
            <a:off x="5166359" y="3493008"/>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166359" y="3493008"/>
            <a:ext cx="457200" cy="457200"/>
          </a:xfrm>
          <a:prstGeom prst="rect">
            <a:avLst/>
          </a:prstGeom>
          <a:noFill/>
        </p:spPr>
        <p:txBody>
          <a:bodyPr wrap="square" lIns="0" tIns="0" rIns="0" bIns="0" anchor="ctr">
            <a:spAutoFit/>
          </a:bodyPr>
          <a:lstStyle/>
          <a:p>
            <a:pPr algn="ctr"/>
            <a:r>
              <a:rPr sz="1500" b="1">
                <a:solidFill>
                  <a:srgbClr val="4ADE80"/>
                </a:solidFill>
                <a:latin typeface="Consolas"/>
              </a:rPr>
              <a:t>R</a:t>
            </a:r>
          </a:p>
        </p:txBody>
      </p:sp>
      <p:sp>
        <p:nvSpPr>
          <p:cNvPr id="76" name="Rounded Rectangle 75"/>
          <p:cNvSpPr/>
          <p:nvPr/>
        </p:nvSpPr>
        <p:spPr>
          <a:xfrm>
            <a:off x="5714999" y="3493008"/>
            <a:ext cx="457200" cy="45720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714999" y="3493008"/>
            <a:ext cx="457200" cy="457200"/>
          </a:xfrm>
          <a:prstGeom prst="rect">
            <a:avLst/>
          </a:prstGeom>
          <a:noFill/>
        </p:spPr>
        <p:txBody>
          <a:bodyPr wrap="square" lIns="0" tIns="0" rIns="0" bIns="0" anchor="ctr">
            <a:spAutoFit/>
          </a:bodyPr>
          <a:lstStyle/>
          <a:p>
            <a:pPr algn="ctr"/>
            <a:r>
              <a:rPr sz="1500" b="1">
                <a:solidFill>
                  <a:srgbClr val="FBBF24"/>
                </a:solidFill>
                <a:latin typeface="Consolas"/>
              </a:rPr>
              <a:t>N</a:t>
            </a:r>
          </a:p>
        </p:txBody>
      </p:sp>
      <p:sp>
        <p:nvSpPr>
          <p:cNvPr id="78" name="Rounded Rectangle 77"/>
          <p:cNvSpPr/>
          <p:nvPr/>
        </p:nvSpPr>
        <p:spPr>
          <a:xfrm>
            <a:off x="6263640" y="3493008"/>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263640" y="3493008"/>
            <a:ext cx="457200" cy="457200"/>
          </a:xfrm>
          <a:prstGeom prst="rect">
            <a:avLst/>
          </a:prstGeom>
          <a:noFill/>
        </p:spPr>
        <p:txBody>
          <a:bodyPr wrap="square" lIns="0" tIns="0" rIns="0" bIns="0" anchor="ctr">
            <a:spAutoFit/>
          </a:bodyPr>
          <a:lstStyle/>
          <a:p>
            <a:pPr algn="ctr"/>
            <a:r>
              <a:rPr sz="1500" b="1">
                <a:solidFill>
                  <a:srgbClr val="4ADE80"/>
                </a:solidFill>
                <a:latin typeface="Consolas"/>
              </a:rPr>
              <a:t>H</a:t>
            </a:r>
          </a:p>
        </p:txBody>
      </p:sp>
      <p:sp>
        <p:nvSpPr>
          <p:cNvPr id="80" name="Rounded Rectangle 79"/>
          <p:cNvSpPr/>
          <p:nvPr/>
        </p:nvSpPr>
        <p:spPr>
          <a:xfrm>
            <a:off x="6812279" y="3493008"/>
            <a:ext cx="457200" cy="45720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812279" y="3493008"/>
            <a:ext cx="457200" cy="457200"/>
          </a:xfrm>
          <a:prstGeom prst="rect">
            <a:avLst/>
          </a:prstGeom>
          <a:noFill/>
        </p:spPr>
        <p:txBody>
          <a:bodyPr wrap="square" lIns="0" tIns="0" rIns="0" bIns="0" anchor="ctr">
            <a:spAutoFit/>
          </a:bodyPr>
          <a:lstStyle/>
          <a:p>
            <a:pPr algn="ctr"/>
            <a:r>
              <a:rPr sz="1500" b="1">
                <a:solidFill>
                  <a:srgbClr val="4ADE80"/>
                </a:solidFill>
                <a:latin typeface="Consolas"/>
              </a:rPr>
              <a:t>R</a:t>
            </a:r>
          </a:p>
        </p:txBody>
      </p:sp>
      <p:sp>
        <p:nvSpPr>
          <p:cNvPr id="82" name="TextBox 81"/>
          <p:cNvSpPr txBox="1"/>
          <p:nvPr/>
        </p:nvSpPr>
        <p:spPr>
          <a:xfrm>
            <a:off x="777240" y="4041648"/>
            <a:ext cx="6858000" cy="274320"/>
          </a:xfrm>
          <a:prstGeom prst="rect">
            <a:avLst/>
          </a:prstGeom>
          <a:noFill/>
        </p:spPr>
        <p:txBody>
          <a:bodyPr wrap="square" lIns="0" tIns="0" rIns="0" bIns="0" anchor="t">
            <a:spAutoFit/>
          </a:bodyPr>
          <a:lstStyle/>
          <a:p>
            <a:pPr algn="l"/>
            <a:r>
              <a:rPr sz="1300" b="0">
                <a:solidFill>
                  <a:srgbClr val="9FB0CC"/>
                </a:solidFill>
                <a:latin typeface="Calibri"/>
              </a:rPr>
              <a:t>Look at the four A's: they became L, O, E and N. The same letter no longer gives the same answer.</a:t>
            </a:r>
          </a:p>
        </p:txBody>
      </p:sp>
      <p:sp>
        <p:nvSpPr>
          <p:cNvPr id="83" name="Rounded Rectangle 82"/>
          <p:cNvSpPr/>
          <p:nvPr/>
        </p:nvSpPr>
        <p:spPr>
          <a:xfrm>
            <a:off x="8046720" y="1371600"/>
            <a:ext cx="3566160" cy="30175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275320" y="1508760"/>
            <a:ext cx="3108960" cy="274320"/>
          </a:xfrm>
          <a:prstGeom prst="rect">
            <a:avLst/>
          </a:prstGeom>
          <a:noFill/>
        </p:spPr>
        <p:txBody>
          <a:bodyPr wrap="square" lIns="0" tIns="0" rIns="0" bIns="0" anchor="t">
            <a:spAutoFit/>
          </a:bodyPr>
          <a:lstStyle/>
          <a:p>
            <a:pPr algn="l"/>
            <a:r>
              <a:rPr sz="1300" b="1">
                <a:solidFill>
                  <a:srgbClr val="22D3EE"/>
                </a:solidFill>
                <a:latin typeface="Consolas"/>
              </a:rPr>
              <a:t>HOW ONE LETTER WORKS</a:t>
            </a:r>
          </a:p>
        </p:txBody>
      </p:sp>
      <p:sp>
        <p:nvSpPr>
          <p:cNvPr id="85" name="TextBox 84"/>
          <p:cNvSpPr txBox="1"/>
          <p:nvPr/>
        </p:nvSpPr>
        <p:spPr>
          <a:xfrm>
            <a:off x="8275320" y="1874519"/>
            <a:ext cx="3108960" cy="2468880"/>
          </a:xfrm>
          <a:prstGeom prst="rect">
            <a:avLst/>
          </a:prstGeom>
          <a:noFill/>
        </p:spPr>
        <p:txBody>
          <a:bodyPr wrap="square" lIns="0" tIns="0" rIns="0" bIns="0" anchor="t">
            <a:spAutoFit/>
          </a:bodyPr>
          <a:lstStyle/>
          <a:p>
            <a:pPr algn="l">
              <a:spcAft>
                <a:spcPts val="700"/>
              </a:spcAft>
            </a:pPr>
            <a:r>
              <a:rPr sz="1400" b="0">
                <a:solidFill>
                  <a:srgbClr val="F1F5F9"/>
                </a:solidFill>
                <a:latin typeface="Calibri"/>
              </a:rPr>
              <a:t>The first message letter is A and the first key letter is L.</a:t>
            </a:r>
          </a:p>
          <a:p>
            <a:pPr algn="l">
              <a:spcAft>
                <a:spcPts val="700"/>
              </a:spcAft>
            </a:pPr>
            <a:r>
              <a:rPr sz="1400" b="0">
                <a:solidFill>
                  <a:srgbClr val="F1F5F9"/>
                </a:solidFill>
                <a:latin typeface="Calibri"/>
              </a:rPr>
              <a:t>L is the 12th letter, so shift A forward 11 places. A becomes L.</a:t>
            </a:r>
          </a:p>
          <a:p>
            <a:pPr algn="l">
              <a:spcAft>
                <a:spcPts val="700"/>
              </a:spcAft>
            </a:pPr>
            <a:r>
              <a:rPr sz="1400" b="0">
                <a:solidFill>
                  <a:srgbClr val="F1F5F9"/>
                </a:solidFill>
                <a:latin typeface="Calibri"/>
              </a:rPr>
              <a:t>Next, T with E: E is the 5th letter, so shift T forward 4 places. T becomes X.</a:t>
            </a:r>
          </a:p>
        </p:txBody>
      </p:sp>
      <p:sp>
        <p:nvSpPr>
          <p:cNvPr id="86" name="Rounded Rectangle 85"/>
          <p:cNvSpPr/>
          <p:nvPr/>
        </p:nvSpPr>
        <p:spPr>
          <a:xfrm>
            <a:off x="548640" y="4572000"/>
            <a:ext cx="5440680" cy="160020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77240" y="4709160"/>
            <a:ext cx="5029200" cy="274320"/>
          </a:xfrm>
          <a:prstGeom prst="rect">
            <a:avLst/>
          </a:prstGeom>
          <a:noFill/>
        </p:spPr>
        <p:txBody>
          <a:bodyPr wrap="square" lIns="0" tIns="0" rIns="0" bIns="0" anchor="t">
            <a:spAutoFit/>
          </a:bodyPr>
          <a:lstStyle/>
          <a:p>
            <a:pPr algn="l"/>
            <a:r>
              <a:rPr sz="1500" b="1">
                <a:solidFill>
                  <a:srgbClr val="4ADE80"/>
                </a:solidFill>
                <a:latin typeface="Consolas"/>
              </a:rPr>
              <a:t>Why it was a big step</a:t>
            </a:r>
          </a:p>
        </p:txBody>
      </p:sp>
      <p:sp>
        <p:nvSpPr>
          <p:cNvPr id="88" name="TextBox 87"/>
          <p:cNvSpPr txBox="1"/>
          <p:nvPr/>
        </p:nvSpPr>
        <p:spPr>
          <a:xfrm>
            <a:off x="777240" y="5074920"/>
            <a:ext cx="5029200" cy="1051560"/>
          </a:xfrm>
          <a:prstGeom prst="rect">
            <a:avLst/>
          </a:prstGeom>
          <a:noFill/>
        </p:spPr>
        <p:txBody>
          <a:bodyPr wrap="square" lIns="0" tIns="0" rIns="0" bIns="0" anchor="t">
            <a:spAutoFit/>
          </a:bodyPr>
          <a:lstStyle/>
          <a:p>
            <a:pPr algn="l"/>
            <a:r>
              <a:rPr sz="1400" b="0">
                <a:solidFill>
                  <a:srgbClr val="F1F5F9"/>
                </a:solidFill>
                <a:latin typeface="Calibri"/>
              </a:rPr>
              <a:t>Counting letters no longer works, because E is not always the same letter. People called it "the unbreakable cipher" for about 300 years.</a:t>
            </a:r>
          </a:p>
        </p:txBody>
      </p:sp>
      <p:sp>
        <p:nvSpPr>
          <p:cNvPr id="89" name="Rounded Rectangle 88"/>
          <p:cNvSpPr/>
          <p:nvPr/>
        </p:nvSpPr>
        <p:spPr>
          <a:xfrm>
            <a:off x="6172200" y="4572000"/>
            <a:ext cx="5440680" cy="160020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400800" y="4709160"/>
            <a:ext cx="5029200" cy="274320"/>
          </a:xfrm>
          <a:prstGeom prst="rect">
            <a:avLst/>
          </a:prstGeom>
          <a:noFill/>
        </p:spPr>
        <p:txBody>
          <a:bodyPr wrap="square" lIns="0" tIns="0" rIns="0" bIns="0" anchor="t">
            <a:spAutoFit/>
          </a:bodyPr>
          <a:lstStyle/>
          <a:p>
            <a:pPr algn="l"/>
            <a:r>
              <a:rPr sz="1500" b="1">
                <a:solidFill>
                  <a:srgbClr val="F87171"/>
                </a:solidFill>
                <a:latin typeface="Consolas"/>
              </a:rPr>
              <a:t>Why it still fails</a:t>
            </a:r>
          </a:p>
        </p:txBody>
      </p:sp>
      <p:sp>
        <p:nvSpPr>
          <p:cNvPr id="91" name="TextBox 90"/>
          <p:cNvSpPr txBox="1"/>
          <p:nvPr/>
        </p:nvSpPr>
        <p:spPr>
          <a:xfrm>
            <a:off x="6400800" y="5074920"/>
            <a:ext cx="5029200" cy="1051560"/>
          </a:xfrm>
          <a:prstGeom prst="rect">
            <a:avLst/>
          </a:prstGeom>
          <a:noFill/>
        </p:spPr>
        <p:txBody>
          <a:bodyPr wrap="square" lIns="0" tIns="0" rIns="0" bIns="0" anchor="t">
            <a:spAutoFit/>
          </a:bodyPr>
          <a:lstStyle/>
          <a:p>
            <a:pPr algn="l"/>
            <a:r>
              <a:rPr sz="1400" b="0">
                <a:solidFill>
                  <a:srgbClr val="F1F5F9"/>
                </a:solidFill>
                <a:latin typeface="Calibri"/>
              </a:rPr>
              <a:t>The keyword repeats. Codebreakers found the key length from repeated patterns, then solved each position like a Caesar cipher (1800s).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FOUNDATIONS 04</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The one-time pad: a key that never repeats</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06</a:t>
            </a:r>
            <a:endParaRPr lang="en-US" sz="1000"/>
          </a:p>
        </p:txBody>
      </p:sp>
      <p:sp>
        <p:nvSpPr>
          <p:cNvPr id="6" name="Rounded Rectangle 5"/>
          <p:cNvSpPr/>
          <p:nvPr/>
        </p:nvSpPr>
        <p:spPr>
          <a:xfrm>
            <a:off x="548640" y="1371600"/>
            <a:ext cx="6766560" cy="333756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481328"/>
            <a:ext cx="6309360" cy="228600"/>
          </a:xfrm>
          <a:prstGeom prst="rect">
            <a:avLst/>
          </a:prstGeom>
          <a:noFill/>
        </p:spPr>
        <p:txBody>
          <a:bodyPr wrap="square" lIns="0" tIns="0" rIns="0" bIns="0" anchor="t">
            <a:spAutoFit/>
          </a:bodyPr>
          <a:lstStyle/>
          <a:p>
            <a:pPr algn="l"/>
            <a:r>
              <a:rPr sz="1000" b="0">
                <a:solidFill>
                  <a:srgbClr val="9FB0CC"/>
                </a:solidFill>
                <a:latin typeface="Consolas"/>
              </a:rPr>
              <a:t>MESSAGE</a:t>
            </a:r>
          </a:p>
        </p:txBody>
      </p:sp>
      <p:sp>
        <p:nvSpPr>
          <p:cNvPr id="8" name="Rounded Rectangle 7"/>
          <p:cNvSpPr/>
          <p:nvPr/>
        </p:nvSpPr>
        <p:spPr>
          <a:xfrm>
            <a:off x="777240" y="1737360"/>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737360"/>
            <a:ext cx="640080" cy="640080"/>
          </a:xfrm>
          <a:prstGeom prst="rect">
            <a:avLst/>
          </a:prstGeom>
          <a:noFill/>
        </p:spPr>
        <p:txBody>
          <a:bodyPr wrap="square" lIns="0" tIns="0" rIns="0" bIns="0" anchor="ctr">
            <a:spAutoFit/>
          </a:bodyPr>
          <a:lstStyle/>
          <a:p>
            <a:pPr algn="ctr"/>
            <a:r>
              <a:rPr sz="2000" b="1">
                <a:solidFill>
                  <a:srgbClr val="22D3EE"/>
                </a:solidFill>
                <a:latin typeface="Consolas"/>
              </a:rPr>
              <a:t>H</a:t>
            </a:r>
          </a:p>
        </p:txBody>
      </p:sp>
      <p:sp>
        <p:nvSpPr>
          <p:cNvPr id="10" name="Rounded Rectangle 9"/>
          <p:cNvSpPr/>
          <p:nvPr/>
        </p:nvSpPr>
        <p:spPr>
          <a:xfrm>
            <a:off x="1554480" y="1737360"/>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54480" y="1737360"/>
            <a:ext cx="640080" cy="640080"/>
          </a:xfrm>
          <a:prstGeom prst="rect">
            <a:avLst/>
          </a:prstGeom>
          <a:noFill/>
        </p:spPr>
        <p:txBody>
          <a:bodyPr wrap="square" lIns="0" tIns="0" rIns="0" bIns="0" anchor="ctr">
            <a:spAutoFit/>
          </a:bodyPr>
          <a:lstStyle/>
          <a:p>
            <a:pPr algn="ctr"/>
            <a:r>
              <a:rPr sz="2000" b="1">
                <a:solidFill>
                  <a:srgbClr val="22D3EE"/>
                </a:solidFill>
                <a:latin typeface="Consolas"/>
              </a:rPr>
              <a:t>E</a:t>
            </a:r>
          </a:p>
        </p:txBody>
      </p:sp>
      <p:sp>
        <p:nvSpPr>
          <p:cNvPr id="12" name="Rounded Rectangle 11"/>
          <p:cNvSpPr/>
          <p:nvPr/>
        </p:nvSpPr>
        <p:spPr>
          <a:xfrm>
            <a:off x="2331720" y="1737360"/>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31720" y="1737360"/>
            <a:ext cx="640080" cy="640080"/>
          </a:xfrm>
          <a:prstGeom prst="rect">
            <a:avLst/>
          </a:prstGeom>
          <a:noFill/>
        </p:spPr>
        <p:txBody>
          <a:bodyPr wrap="square" lIns="0" tIns="0" rIns="0" bIns="0" anchor="ctr">
            <a:spAutoFit/>
          </a:bodyPr>
          <a:lstStyle/>
          <a:p>
            <a:pPr algn="ctr"/>
            <a:r>
              <a:rPr sz="2000" b="1">
                <a:solidFill>
                  <a:srgbClr val="22D3EE"/>
                </a:solidFill>
                <a:latin typeface="Consolas"/>
              </a:rPr>
              <a:t>L</a:t>
            </a:r>
          </a:p>
        </p:txBody>
      </p:sp>
      <p:sp>
        <p:nvSpPr>
          <p:cNvPr id="14" name="Rounded Rectangle 13"/>
          <p:cNvSpPr/>
          <p:nvPr/>
        </p:nvSpPr>
        <p:spPr>
          <a:xfrm>
            <a:off x="3108960" y="1737360"/>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08960" y="1737360"/>
            <a:ext cx="640080" cy="640080"/>
          </a:xfrm>
          <a:prstGeom prst="rect">
            <a:avLst/>
          </a:prstGeom>
          <a:noFill/>
        </p:spPr>
        <p:txBody>
          <a:bodyPr wrap="square" lIns="0" tIns="0" rIns="0" bIns="0" anchor="ctr">
            <a:spAutoFit/>
          </a:bodyPr>
          <a:lstStyle/>
          <a:p>
            <a:pPr algn="ctr"/>
            <a:r>
              <a:rPr sz="2000" b="1">
                <a:solidFill>
                  <a:srgbClr val="22D3EE"/>
                </a:solidFill>
                <a:latin typeface="Consolas"/>
              </a:rPr>
              <a:t>L</a:t>
            </a:r>
          </a:p>
        </p:txBody>
      </p:sp>
      <p:sp>
        <p:nvSpPr>
          <p:cNvPr id="16" name="Rounded Rectangle 15"/>
          <p:cNvSpPr/>
          <p:nvPr/>
        </p:nvSpPr>
        <p:spPr>
          <a:xfrm>
            <a:off x="3886200" y="1737360"/>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86200" y="1737360"/>
            <a:ext cx="640080" cy="640080"/>
          </a:xfrm>
          <a:prstGeom prst="rect">
            <a:avLst/>
          </a:prstGeom>
          <a:noFill/>
        </p:spPr>
        <p:txBody>
          <a:bodyPr wrap="square" lIns="0" tIns="0" rIns="0" bIns="0" anchor="ctr">
            <a:spAutoFit/>
          </a:bodyPr>
          <a:lstStyle/>
          <a:p>
            <a:pPr algn="ctr"/>
            <a:r>
              <a:rPr sz="2000" b="1">
                <a:solidFill>
                  <a:srgbClr val="22D3EE"/>
                </a:solidFill>
                <a:latin typeface="Consolas"/>
              </a:rPr>
              <a:t>O</a:t>
            </a:r>
          </a:p>
        </p:txBody>
      </p:sp>
      <p:sp>
        <p:nvSpPr>
          <p:cNvPr id="18" name="TextBox 17"/>
          <p:cNvSpPr txBox="1"/>
          <p:nvPr/>
        </p:nvSpPr>
        <p:spPr>
          <a:xfrm>
            <a:off x="777240" y="2487168"/>
            <a:ext cx="3931920" cy="153888"/>
          </a:xfrm>
          <a:prstGeom prst="rect">
            <a:avLst/>
          </a:prstGeom>
          <a:noFill/>
        </p:spPr>
        <p:txBody>
          <a:bodyPr wrap="square" lIns="0" tIns="0" rIns="0" bIns="0" anchor="t">
            <a:spAutoFit/>
          </a:bodyPr>
          <a:lstStyle/>
          <a:p>
            <a:pPr algn="l"/>
            <a:r>
              <a:rPr sz="1000" b="0">
                <a:solidFill>
                  <a:srgbClr val="FBBF24"/>
                </a:solidFill>
                <a:latin typeface="Consolas"/>
              </a:rPr>
              <a:t>RANDOM KEY, AS LONG AS THE MESSAGE</a:t>
            </a:r>
          </a:p>
        </p:txBody>
      </p:sp>
      <p:sp>
        <p:nvSpPr>
          <p:cNvPr id="19" name="Rounded Rectangle 18"/>
          <p:cNvSpPr/>
          <p:nvPr/>
        </p:nvSpPr>
        <p:spPr>
          <a:xfrm>
            <a:off x="777240" y="2743200"/>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2743200"/>
            <a:ext cx="640080" cy="640080"/>
          </a:xfrm>
          <a:prstGeom prst="rect">
            <a:avLst/>
          </a:prstGeom>
          <a:noFill/>
        </p:spPr>
        <p:txBody>
          <a:bodyPr wrap="square" lIns="0" tIns="0" rIns="0" bIns="0" anchor="ctr">
            <a:spAutoFit/>
          </a:bodyPr>
          <a:lstStyle/>
          <a:p>
            <a:pPr algn="ctr"/>
            <a:r>
              <a:rPr sz="2000" b="1">
                <a:solidFill>
                  <a:srgbClr val="FBBF24"/>
                </a:solidFill>
                <a:latin typeface="Consolas"/>
              </a:rPr>
              <a:t>X</a:t>
            </a:r>
          </a:p>
        </p:txBody>
      </p:sp>
      <p:sp>
        <p:nvSpPr>
          <p:cNvPr id="21" name="Rounded Rectangle 20"/>
          <p:cNvSpPr/>
          <p:nvPr/>
        </p:nvSpPr>
        <p:spPr>
          <a:xfrm>
            <a:off x="1554480" y="2743200"/>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554480" y="2743200"/>
            <a:ext cx="640080" cy="640080"/>
          </a:xfrm>
          <a:prstGeom prst="rect">
            <a:avLst/>
          </a:prstGeom>
          <a:noFill/>
        </p:spPr>
        <p:txBody>
          <a:bodyPr wrap="square" lIns="0" tIns="0" rIns="0" bIns="0" anchor="ctr">
            <a:spAutoFit/>
          </a:bodyPr>
          <a:lstStyle/>
          <a:p>
            <a:pPr algn="ctr"/>
            <a:r>
              <a:rPr sz="2000" b="1">
                <a:solidFill>
                  <a:srgbClr val="FBBF24"/>
                </a:solidFill>
                <a:latin typeface="Consolas"/>
              </a:rPr>
              <a:t>M</a:t>
            </a:r>
          </a:p>
        </p:txBody>
      </p:sp>
      <p:sp>
        <p:nvSpPr>
          <p:cNvPr id="23" name="Rounded Rectangle 22"/>
          <p:cNvSpPr/>
          <p:nvPr/>
        </p:nvSpPr>
        <p:spPr>
          <a:xfrm>
            <a:off x="2331720" y="2743200"/>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331720" y="2743200"/>
            <a:ext cx="640080" cy="640080"/>
          </a:xfrm>
          <a:prstGeom prst="rect">
            <a:avLst/>
          </a:prstGeom>
          <a:noFill/>
        </p:spPr>
        <p:txBody>
          <a:bodyPr wrap="square" lIns="0" tIns="0" rIns="0" bIns="0" anchor="ctr">
            <a:spAutoFit/>
          </a:bodyPr>
          <a:lstStyle/>
          <a:p>
            <a:pPr algn="ctr"/>
            <a:r>
              <a:rPr sz="2000" b="1">
                <a:solidFill>
                  <a:srgbClr val="FBBF24"/>
                </a:solidFill>
                <a:latin typeface="Consolas"/>
              </a:rPr>
              <a:t>C</a:t>
            </a:r>
          </a:p>
        </p:txBody>
      </p:sp>
      <p:sp>
        <p:nvSpPr>
          <p:cNvPr id="25" name="Rounded Rectangle 24"/>
          <p:cNvSpPr/>
          <p:nvPr/>
        </p:nvSpPr>
        <p:spPr>
          <a:xfrm>
            <a:off x="3108960" y="2743200"/>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108960" y="2743200"/>
            <a:ext cx="640080" cy="640080"/>
          </a:xfrm>
          <a:prstGeom prst="rect">
            <a:avLst/>
          </a:prstGeom>
          <a:noFill/>
        </p:spPr>
        <p:txBody>
          <a:bodyPr wrap="square" lIns="0" tIns="0" rIns="0" bIns="0" anchor="ctr">
            <a:spAutoFit/>
          </a:bodyPr>
          <a:lstStyle/>
          <a:p>
            <a:pPr algn="ctr"/>
            <a:r>
              <a:rPr sz="2000" b="1">
                <a:solidFill>
                  <a:srgbClr val="FBBF24"/>
                </a:solidFill>
                <a:latin typeface="Consolas"/>
              </a:rPr>
              <a:t>K</a:t>
            </a:r>
          </a:p>
        </p:txBody>
      </p:sp>
      <p:sp>
        <p:nvSpPr>
          <p:cNvPr id="27" name="Rounded Rectangle 26"/>
          <p:cNvSpPr/>
          <p:nvPr/>
        </p:nvSpPr>
        <p:spPr>
          <a:xfrm>
            <a:off x="3886200" y="2743200"/>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86200" y="2743200"/>
            <a:ext cx="640080" cy="640080"/>
          </a:xfrm>
          <a:prstGeom prst="rect">
            <a:avLst/>
          </a:prstGeom>
          <a:noFill/>
        </p:spPr>
        <p:txBody>
          <a:bodyPr wrap="square" lIns="0" tIns="0" rIns="0" bIns="0" anchor="ctr">
            <a:spAutoFit/>
          </a:bodyPr>
          <a:lstStyle/>
          <a:p>
            <a:pPr algn="ctr"/>
            <a:r>
              <a:rPr sz="2000" b="1">
                <a:solidFill>
                  <a:srgbClr val="FBBF24"/>
                </a:solidFill>
                <a:latin typeface="Consolas"/>
              </a:rPr>
              <a:t>L</a:t>
            </a:r>
          </a:p>
        </p:txBody>
      </p:sp>
      <p:sp>
        <p:nvSpPr>
          <p:cNvPr id="29" name="TextBox 28"/>
          <p:cNvSpPr txBox="1"/>
          <p:nvPr/>
        </p:nvSpPr>
        <p:spPr>
          <a:xfrm>
            <a:off x="777240" y="3493008"/>
            <a:ext cx="6309360" cy="228600"/>
          </a:xfrm>
          <a:prstGeom prst="rect">
            <a:avLst/>
          </a:prstGeom>
          <a:noFill/>
        </p:spPr>
        <p:txBody>
          <a:bodyPr wrap="square" lIns="0" tIns="0" rIns="0" bIns="0" anchor="t">
            <a:spAutoFit/>
          </a:bodyPr>
          <a:lstStyle/>
          <a:p>
            <a:pPr algn="l"/>
            <a:r>
              <a:rPr sz="1000" b="0">
                <a:solidFill>
                  <a:srgbClr val="4ADE80"/>
                </a:solidFill>
                <a:latin typeface="Consolas"/>
              </a:rPr>
              <a:t>SECRET MESSAGE</a:t>
            </a:r>
          </a:p>
        </p:txBody>
      </p:sp>
      <p:sp>
        <p:nvSpPr>
          <p:cNvPr id="30" name="Rounded Rectangle 29"/>
          <p:cNvSpPr/>
          <p:nvPr/>
        </p:nvSpPr>
        <p:spPr>
          <a:xfrm>
            <a:off x="777240" y="3749039"/>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3749039"/>
            <a:ext cx="640080" cy="640080"/>
          </a:xfrm>
          <a:prstGeom prst="rect">
            <a:avLst/>
          </a:prstGeom>
          <a:noFill/>
        </p:spPr>
        <p:txBody>
          <a:bodyPr wrap="square" lIns="0" tIns="0" rIns="0" bIns="0" anchor="ctr">
            <a:spAutoFit/>
          </a:bodyPr>
          <a:lstStyle/>
          <a:p>
            <a:pPr algn="ctr"/>
            <a:r>
              <a:rPr sz="2000" b="1">
                <a:solidFill>
                  <a:srgbClr val="4ADE80"/>
                </a:solidFill>
                <a:latin typeface="Consolas"/>
              </a:rPr>
              <a:t>E</a:t>
            </a:r>
          </a:p>
        </p:txBody>
      </p:sp>
      <p:sp>
        <p:nvSpPr>
          <p:cNvPr id="32" name="Rounded Rectangle 31"/>
          <p:cNvSpPr/>
          <p:nvPr/>
        </p:nvSpPr>
        <p:spPr>
          <a:xfrm>
            <a:off x="1554480" y="3749039"/>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554480" y="3749039"/>
            <a:ext cx="640080" cy="640080"/>
          </a:xfrm>
          <a:prstGeom prst="rect">
            <a:avLst/>
          </a:prstGeom>
          <a:noFill/>
        </p:spPr>
        <p:txBody>
          <a:bodyPr wrap="square" lIns="0" tIns="0" rIns="0" bIns="0" anchor="ctr">
            <a:spAutoFit/>
          </a:bodyPr>
          <a:lstStyle/>
          <a:p>
            <a:pPr algn="ctr"/>
            <a:r>
              <a:rPr sz="2000" b="1">
                <a:solidFill>
                  <a:srgbClr val="4ADE80"/>
                </a:solidFill>
                <a:latin typeface="Consolas"/>
              </a:rPr>
              <a:t>Q</a:t>
            </a:r>
          </a:p>
        </p:txBody>
      </p:sp>
      <p:sp>
        <p:nvSpPr>
          <p:cNvPr id="34" name="Rounded Rectangle 33"/>
          <p:cNvSpPr/>
          <p:nvPr/>
        </p:nvSpPr>
        <p:spPr>
          <a:xfrm>
            <a:off x="2331720" y="3749039"/>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331720" y="3749039"/>
            <a:ext cx="640080" cy="640080"/>
          </a:xfrm>
          <a:prstGeom prst="rect">
            <a:avLst/>
          </a:prstGeom>
          <a:noFill/>
        </p:spPr>
        <p:txBody>
          <a:bodyPr wrap="square" lIns="0" tIns="0" rIns="0" bIns="0" anchor="ctr">
            <a:spAutoFit/>
          </a:bodyPr>
          <a:lstStyle/>
          <a:p>
            <a:pPr algn="ctr"/>
            <a:r>
              <a:rPr sz="2000" b="1">
                <a:solidFill>
                  <a:srgbClr val="4ADE80"/>
                </a:solidFill>
                <a:latin typeface="Consolas"/>
              </a:rPr>
              <a:t>N</a:t>
            </a:r>
          </a:p>
        </p:txBody>
      </p:sp>
      <p:sp>
        <p:nvSpPr>
          <p:cNvPr id="36" name="Rounded Rectangle 35"/>
          <p:cNvSpPr/>
          <p:nvPr/>
        </p:nvSpPr>
        <p:spPr>
          <a:xfrm>
            <a:off x="3108960" y="3749039"/>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108960" y="3749039"/>
            <a:ext cx="640080" cy="640080"/>
          </a:xfrm>
          <a:prstGeom prst="rect">
            <a:avLst/>
          </a:prstGeom>
          <a:noFill/>
        </p:spPr>
        <p:txBody>
          <a:bodyPr wrap="square" lIns="0" tIns="0" rIns="0" bIns="0" anchor="ctr">
            <a:spAutoFit/>
          </a:bodyPr>
          <a:lstStyle/>
          <a:p>
            <a:pPr algn="ctr"/>
            <a:r>
              <a:rPr sz="2000" b="1">
                <a:solidFill>
                  <a:srgbClr val="4ADE80"/>
                </a:solidFill>
                <a:latin typeface="Consolas"/>
              </a:rPr>
              <a:t>V</a:t>
            </a:r>
          </a:p>
        </p:txBody>
      </p:sp>
      <p:sp>
        <p:nvSpPr>
          <p:cNvPr id="38" name="Rounded Rectangle 37"/>
          <p:cNvSpPr/>
          <p:nvPr/>
        </p:nvSpPr>
        <p:spPr>
          <a:xfrm>
            <a:off x="3886200" y="3749039"/>
            <a:ext cx="640080" cy="64008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86200" y="3749039"/>
            <a:ext cx="640080" cy="640080"/>
          </a:xfrm>
          <a:prstGeom prst="rect">
            <a:avLst/>
          </a:prstGeom>
          <a:noFill/>
        </p:spPr>
        <p:txBody>
          <a:bodyPr wrap="square" lIns="0" tIns="0" rIns="0" bIns="0" anchor="ctr">
            <a:spAutoFit/>
          </a:bodyPr>
          <a:lstStyle/>
          <a:p>
            <a:pPr algn="ctr"/>
            <a:r>
              <a:rPr sz="2000" b="1">
                <a:solidFill>
                  <a:srgbClr val="4ADE80"/>
                </a:solidFill>
                <a:latin typeface="Consolas"/>
              </a:rPr>
              <a:t>Z</a:t>
            </a:r>
          </a:p>
        </p:txBody>
      </p:sp>
      <p:sp>
        <p:nvSpPr>
          <p:cNvPr id="40" name="TextBox 39"/>
          <p:cNvSpPr txBox="1"/>
          <p:nvPr/>
        </p:nvSpPr>
        <p:spPr>
          <a:xfrm>
            <a:off x="4846320" y="1783080"/>
            <a:ext cx="2331720" cy="2651760"/>
          </a:xfrm>
          <a:prstGeom prst="rect">
            <a:avLst/>
          </a:prstGeom>
          <a:noFill/>
        </p:spPr>
        <p:txBody>
          <a:bodyPr wrap="square" lIns="0" tIns="0" rIns="0" bIns="0" anchor="t">
            <a:spAutoFit/>
          </a:bodyPr>
          <a:lstStyle/>
          <a:p>
            <a:pPr algn="l">
              <a:spcAft>
                <a:spcPts val="800"/>
              </a:spcAft>
            </a:pPr>
            <a:r>
              <a:rPr sz="1200" b="0">
                <a:solidFill>
                  <a:srgbClr val="9FB0CC"/>
                </a:solidFill>
                <a:latin typeface="Calibri"/>
              </a:rPr>
              <a:t>Same secret, other key:</a:t>
            </a:r>
          </a:p>
          <a:p>
            <a:pPr algn="l">
              <a:spcAft>
                <a:spcPts val="800"/>
              </a:spcAft>
            </a:pPr>
            <a:r>
              <a:rPr sz="1500" b="1">
                <a:solidFill>
                  <a:srgbClr val="4ADE80"/>
                </a:solidFill>
                <a:latin typeface="Consolas"/>
              </a:rPr>
              <a:t>EQNVZ</a:t>
            </a:r>
            <a:r>
              <a:rPr sz="1400" b="0">
                <a:solidFill>
                  <a:srgbClr val="9FB0CC"/>
                </a:solidFill>
                <a:latin typeface="Calibri"/>
              </a:rPr>
              <a:t> + key </a:t>
            </a:r>
            <a:r>
              <a:rPr sz="1500" b="1">
                <a:solidFill>
                  <a:srgbClr val="FBBF24"/>
                </a:solidFill>
                <a:latin typeface="Consolas"/>
              </a:rPr>
              <a:t>TQURI</a:t>
            </a:r>
          </a:p>
          <a:p>
            <a:pPr algn="l">
              <a:spcAft>
                <a:spcPts val="800"/>
              </a:spcAft>
            </a:pPr>
            <a:r>
              <a:rPr sz="1400" b="0">
                <a:solidFill>
                  <a:srgbClr val="9FB0CC"/>
                </a:solidFill>
                <a:latin typeface="Calibri"/>
              </a:rPr>
              <a:t>= </a:t>
            </a:r>
            <a:r>
              <a:rPr sz="1500" b="1">
                <a:solidFill>
                  <a:srgbClr val="22D3EE"/>
                </a:solidFill>
                <a:latin typeface="Consolas"/>
              </a:rPr>
              <a:t>LATER</a:t>
            </a:r>
          </a:p>
          <a:p>
            <a:pPr algn="l">
              <a:spcAft>
                <a:spcPts val="800"/>
              </a:spcAft>
            </a:pPr>
            <a:r>
              <a:rPr sz="1300" b="0">
                <a:solidFill>
                  <a:srgbClr val="F1F5F9"/>
                </a:solidFill>
                <a:latin typeface="Calibri"/>
              </a:rPr>
              <a:t>Any 5-letter word fits some key, so a guess tells you nothing.</a:t>
            </a:r>
          </a:p>
        </p:txBody>
      </p:sp>
      <p:sp>
        <p:nvSpPr>
          <p:cNvPr id="41" name="Rounded Rectangle 40"/>
          <p:cNvSpPr/>
          <p:nvPr/>
        </p:nvSpPr>
        <p:spPr>
          <a:xfrm>
            <a:off x="7498079" y="1371600"/>
            <a:ext cx="4114800" cy="333756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26679" y="1508760"/>
            <a:ext cx="3657600" cy="274320"/>
          </a:xfrm>
          <a:prstGeom prst="rect">
            <a:avLst/>
          </a:prstGeom>
          <a:noFill/>
        </p:spPr>
        <p:txBody>
          <a:bodyPr wrap="square" lIns="0" tIns="0" rIns="0" bIns="0" anchor="t">
            <a:spAutoFit/>
          </a:bodyPr>
          <a:lstStyle/>
          <a:p>
            <a:pPr algn="l"/>
            <a:r>
              <a:rPr sz="1300" b="1">
                <a:solidFill>
                  <a:srgbClr val="22D3EE"/>
                </a:solidFill>
                <a:latin typeface="Consolas"/>
              </a:rPr>
              <a:t>THE FOUR RULES</a:t>
            </a:r>
          </a:p>
        </p:txBody>
      </p:sp>
      <p:sp>
        <p:nvSpPr>
          <p:cNvPr id="43" name="TextBox 42"/>
          <p:cNvSpPr txBox="1"/>
          <p:nvPr/>
        </p:nvSpPr>
        <p:spPr>
          <a:xfrm>
            <a:off x="7726679" y="1920240"/>
            <a:ext cx="3657600" cy="2743200"/>
          </a:xfrm>
          <a:prstGeom prst="rect">
            <a:avLst/>
          </a:prstGeom>
          <a:noFill/>
        </p:spPr>
        <p:txBody>
          <a:bodyPr wrap="square" lIns="0" tIns="0" rIns="0" bIns="0" anchor="t">
            <a:spAutoFit/>
          </a:bodyPr>
          <a:lstStyle/>
          <a:p>
            <a:pPr marL="171450" indent="-171450" algn="l">
              <a:spcAft>
                <a:spcPts val="1000"/>
              </a:spcAft>
              <a:buClr>
                <a:srgbClr val="22D3EE"/>
              </a:buClr>
              <a:buChar char="•"/>
            </a:pPr>
            <a:r>
              <a:rPr sz="1500" b="0">
                <a:solidFill>
                  <a:srgbClr val="F1F5F9"/>
                </a:solidFill>
                <a:latin typeface="Calibri"/>
              </a:rPr>
              <a:t>Truly random, not a pattern or a phrase</a:t>
            </a:r>
          </a:p>
          <a:p>
            <a:pPr marL="171450" indent="-171450" algn="l">
              <a:spcAft>
                <a:spcPts val="1000"/>
              </a:spcAft>
              <a:buClr>
                <a:srgbClr val="22D3EE"/>
              </a:buClr>
              <a:buChar char="•"/>
            </a:pPr>
            <a:r>
              <a:rPr sz="1500" b="0">
                <a:solidFill>
                  <a:srgbClr val="F1F5F9"/>
                </a:solidFill>
                <a:latin typeface="Calibri"/>
              </a:rPr>
              <a:t>At least as long as the message</a:t>
            </a:r>
          </a:p>
          <a:p>
            <a:pPr marL="171450" indent="-171450" algn="l">
              <a:spcAft>
                <a:spcPts val="1000"/>
              </a:spcAft>
              <a:buClr>
                <a:srgbClr val="22D3EE"/>
              </a:buClr>
              <a:buChar char="•"/>
            </a:pPr>
            <a:r>
              <a:rPr sz="1500" b="0">
                <a:solidFill>
                  <a:srgbClr val="F1F5F9"/>
                </a:solidFill>
                <a:latin typeface="Calibri"/>
              </a:rPr>
              <a:t>Used once, then thrown away</a:t>
            </a:r>
          </a:p>
          <a:p>
            <a:pPr marL="171450" indent="-171450" algn="l">
              <a:spcAft>
                <a:spcPts val="1000"/>
              </a:spcAft>
              <a:buClr>
                <a:srgbClr val="22D3EE"/>
              </a:buClr>
              <a:buChar char="•"/>
            </a:pPr>
            <a:r>
              <a:rPr sz="1500" b="0">
                <a:solidFill>
                  <a:srgbClr val="F1F5F9"/>
                </a:solidFill>
                <a:latin typeface="Calibri"/>
              </a:rPr>
              <a:t>Kept secret, and shared safely beforehand</a:t>
            </a:r>
          </a:p>
        </p:txBody>
      </p:sp>
      <p:sp>
        <p:nvSpPr>
          <p:cNvPr id="44" name="Rounded Rectangle 43"/>
          <p:cNvSpPr/>
          <p:nvPr/>
        </p:nvSpPr>
        <p:spPr>
          <a:xfrm>
            <a:off x="548640" y="4892040"/>
            <a:ext cx="5440680" cy="128016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77240" y="5010912"/>
            <a:ext cx="5029200" cy="274320"/>
          </a:xfrm>
          <a:prstGeom prst="rect">
            <a:avLst/>
          </a:prstGeom>
          <a:noFill/>
        </p:spPr>
        <p:txBody>
          <a:bodyPr wrap="square" lIns="0" tIns="0" rIns="0" bIns="0" anchor="t">
            <a:spAutoFit/>
          </a:bodyPr>
          <a:lstStyle/>
          <a:p>
            <a:pPr algn="l"/>
            <a:r>
              <a:rPr sz="1500" b="1">
                <a:solidFill>
                  <a:srgbClr val="4ADE80"/>
                </a:solidFill>
                <a:latin typeface="Consolas"/>
              </a:rPr>
              <a:t>Why it is perfect</a:t>
            </a:r>
          </a:p>
        </p:txBody>
      </p:sp>
      <p:sp>
        <p:nvSpPr>
          <p:cNvPr id="46" name="TextBox 45"/>
          <p:cNvSpPr txBox="1"/>
          <p:nvPr/>
        </p:nvSpPr>
        <p:spPr>
          <a:xfrm>
            <a:off x="777240" y="5376672"/>
            <a:ext cx="5029200" cy="777240"/>
          </a:xfrm>
          <a:prstGeom prst="rect">
            <a:avLst/>
          </a:prstGeom>
          <a:noFill/>
        </p:spPr>
        <p:txBody>
          <a:bodyPr wrap="square" lIns="0" tIns="0" rIns="0" bIns="0" anchor="t">
            <a:spAutoFit/>
          </a:bodyPr>
          <a:lstStyle/>
          <a:p>
            <a:pPr algn="l"/>
            <a:r>
              <a:rPr sz="1400" b="0">
                <a:solidFill>
                  <a:srgbClr val="F1F5F9"/>
                </a:solidFill>
                <a:latin typeface="Calibri"/>
              </a:rPr>
              <a:t>Follow the rules and it cannot be cracked, even with unlimited computing power. There is simply nothing to find.</a:t>
            </a:r>
          </a:p>
        </p:txBody>
      </p:sp>
      <p:sp>
        <p:nvSpPr>
          <p:cNvPr id="47" name="Rounded Rectangle 46"/>
          <p:cNvSpPr/>
          <p:nvPr/>
        </p:nvSpPr>
        <p:spPr>
          <a:xfrm>
            <a:off x="6172200" y="4892040"/>
            <a:ext cx="5440680" cy="128016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0800" y="5010912"/>
            <a:ext cx="5029200" cy="274320"/>
          </a:xfrm>
          <a:prstGeom prst="rect">
            <a:avLst/>
          </a:prstGeom>
          <a:noFill/>
        </p:spPr>
        <p:txBody>
          <a:bodyPr wrap="square" lIns="0" tIns="0" rIns="0" bIns="0" anchor="t">
            <a:spAutoFit/>
          </a:bodyPr>
          <a:lstStyle/>
          <a:p>
            <a:pPr algn="l"/>
            <a:r>
              <a:rPr sz="1500" b="1">
                <a:solidFill>
                  <a:srgbClr val="F87171"/>
                </a:solidFill>
                <a:latin typeface="Consolas"/>
              </a:rPr>
              <a:t>Why we rarely use it</a:t>
            </a:r>
          </a:p>
        </p:txBody>
      </p:sp>
      <p:sp>
        <p:nvSpPr>
          <p:cNvPr id="49" name="TextBox 48"/>
          <p:cNvSpPr txBox="1"/>
          <p:nvPr/>
        </p:nvSpPr>
        <p:spPr>
          <a:xfrm>
            <a:off x="6400800" y="5376672"/>
            <a:ext cx="5029200" cy="777240"/>
          </a:xfrm>
          <a:prstGeom prst="rect">
            <a:avLst/>
          </a:prstGeom>
          <a:noFill/>
        </p:spPr>
        <p:txBody>
          <a:bodyPr wrap="square" lIns="0" tIns="0" rIns="0" bIns="0" anchor="t">
            <a:spAutoFit/>
          </a:bodyPr>
          <a:lstStyle/>
          <a:p>
            <a:pPr algn="l"/>
            <a:r>
              <a:rPr sz="1400" b="0">
                <a:solidFill>
                  <a:srgbClr val="F1F5F9"/>
                </a:solidFill>
                <a:latin typeface="Calibri"/>
              </a:rPr>
              <a:t>Sharing a huge key for every message is painful. Reusing a key breaks it (this happened in the 1940s). Modern encryption makes a key stream instead.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FOUNDATIONS 05</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The Enigma machine: a cipher built from gears</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07</a:t>
            </a:r>
            <a:endParaRPr lang="en-US" sz="1000"/>
          </a:p>
        </p:txBody>
      </p:sp>
      <p:sp>
        <p:nvSpPr>
          <p:cNvPr id="6" name="Rounded Rectangle 5"/>
          <p:cNvSpPr/>
          <p:nvPr/>
        </p:nvSpPr>
        <p:spPr>
          <a:xfrm>
            <a:off x="548640" y="1417320"/>
            <a:ext cx="7452360" cy="274320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54480"/>
            <a:ext cx="6949440" cy="274320"/>
          </a:xfrm>
          <a:prstGeom prst="rect">
            <a:avLst/>
          </a:prstGeom>
          <a:noFill/>
        </p:spPr>
        <p:txBody>
          <a:bodyPr wrap="square" lIns="0" tIns="0" rIns="0" bIns="0" anchor="t">
            <a:spAutoFit/>
          </a:bodyPr>
          <a:lstStyle/>
          <a:p>
            <a:pPr algn="l"/>
            <a:r>
              <a:rPr sz="1200" b="1">
                <a:solidFill>
                  <a:srgbClr val="22D3EE"/>
                </a:solidFill>
                <a:latin typeface="Consolas"/>
              </a:rPr>
              <a:t>WHAT HAPPENS WHEN YOU PRESS A KEY</a:t>
            </a:r>
          </a:p>
        </p:txBody>
      </p:sp>
      <p:sp>
        <p:nvSpPr>
          <p:cNvPr id="8" name="Rounded Rectangle 7"/>
          <p:cNvSpPr/>
          <p:nvPr/>
        </p:nvSpPr>
        <p:spPr>
          <a:xfrm>
            <a:off x="777240" y="1920240"/>
            <a:ext cx="1371600" cy="640080"/>
          </a:xfrm>
          <a:prstGeom prst="roundRect">
            <a:avLst>
              <a:gd name="adj" fmla="val 10000"/>
            </a:avLst>
          </a:prstGeom>
          <a:solidFill>
            <a:srgbClr val="172544"/>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920240"/>
            <a:ext cx="1280160" cy="640080"/>
          </a:xfrm>
          <a:prstGeom prst="rect">
            <a:avLst/>
          </a:prstGeom>
          <a:noFill/>
        </p:spPr>
        <p:txBody>
          <a:bodyPr wrap="square" lIns="0" tIns="0" rIns="0" bIns="0" anchor="ctr">
            <a:spAutoFit/>
          </a:bodyPr>
          <a:lstStyle/>
          <a:p>
            <a:pPr algn="ctr"/>
            <a:r>
              <a:rPr sz="1200" b="1">
                <a:solidFill>
                  <a:srgbClr val="22D3EE"/>
                </a:solidFill>
                <a:latin typeface="Consolas"/>
              </a:rPr>
              <a:t>press H</a:t>
            </a:r>
          </a:p>
        </p:txBody>
      </p:sp>
      <p:cxnSp>
        <p:nvCxnSpPr>
          <p:cNvPr id="10" name="Connector 9"/>
          <p:cNvCxnSpPr/>
          <p:nvPr/>
        </p:nvCxnSpPr>
        <p:spPr>
          <a:xfrm>
            <a:off x="2176272" y="2240280"/>
            <a:ext cx="402336" cy="0"/>
          </a:xfrm>
          <a:prstGeom prst="line">
            <a:avLst/>
          </a:prstGeom>
          <a:ln w="22225">
            <a:solidFill>
              <a:srgbClr val="22D3EE"/>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606040" y="1920240"/>
            <a:ext cx="1371600" cy="640080"/>
          </a:xfrm>
          <a:prstGeom prst="roundRect">
            <a:avLst>
              <a:gd name="adj" fmla="val 10000"/>
            </a:avLst>
          </a:prstGeom>
          <a:solidFill>
            <a:srgbClr val="172544"/>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51760" y="1920240"/>
            <a:ext cx="1280160" cy="640080"/>
          </a:xfrm>
          <a:prstGeom prst="rect">
            <a:avLst/>
          </a:prstGeom>
          <a:noFill/>
        </p:spPr>
        <p:txBody>
          <a:bodyPr wrap="square" lIns="0" tIns="0" rIns="0" bIns="0" anchor="ctr">
            <a:spAutoFit/>
          </a:bodyPr>
          <a:lstStyle/>
          <a:p>
            <a:pPr algn="ctr"/>
            <a:r>
              <a:rPr sz="1200" b="1">
                <a:solidFill>
                  <a:srgbClr val="FBBF24"/>
                </a:solidFill>
                <a:latin typeface="Consolas"/>
              </a:rPr>
              <a:t>plugboard</a:t>
            </a:r>
          </a:p>
        </p:txBody>
      </p:sp>
      <p:cxnSp>
        <p:nvCxnSpPr>
          <p:cNvPr id="13" name="Connector 12"/>
          <p:cNvCxnSpPr/>
          <p:nvPr/>
        </p:nvCxnSpPr>
        <p:spPr>
          <a:xfrm>
            <a:off x="4005072" y="2240280"/>
            <a:ext cx="402336"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34840" y="1920240"/>
            <a:ext cx="1371600" cy="640080"/>
          </a:xfrm>
          <a:prstGeom prst="roundRect">
            <a:avLst>
              <a:gd name="adj" fmla="val 10000"/>
            </a:avLst>
          </a:prstGeom>
          <a:solidFill>
            <a:srgbClr val="172544"/>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0559" y="1920240"/>
            <a:ext cx="1280160" cy="640080"/>
          </a:xfrm>
          <a:prstGeom prst="rect">
            <a:avLst/>
          </a:prstGeom>
          <a:noFill/>
        </p:spPr>
        <p:txBody>
          <a:bodyPr wrap="square" lIns="0" tIns="0" rIns="0" bIns="0" anchor="ctr">
            <a:spAutoFit/>
          </a:bodyPr>
          <a:lstStyle/>
          <a:p>
            <a:pPr algn="ctr"/>
            <a:r>
              <a:rPr sz="1200" b="1">
                <a:solidFill>
                  <a:srgbClr val="A78BFA"/>
                </a:solidFill>
                <a:latin typeface="Consolas"/>
              </a:rPr>
              <a:t>3 rotors</a:t>
            </a:r>
          </a:p>
        </p:txBody>
      </p:sp>
      <p:cxnSp>
        <p:nvCxnSpPr>
          <p:cNvPr id="16" name="Connector 15"/>
          <p:cNvCxnSpPr/>
          <p:nvPr/>
        </p:nvCxnSpPr>
        <p:spPr>
          <a:xfrm>
            <a:off x="5833872" y="2240280"/>
            <a:ext cx="402335" cy="0"/>
          </a:xfrm>
          <a:prstGeom prst="line">
            <a:avLst/>
          </a:prstGeom>
          <a:ln w="22225">
            <a:solidFill>
              <a:srgbClr val="A78BF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63640" y="1920240"/>
            <a:ext cx="1371600" cy="640080"/>
          </a:xfrm>
          <a:prstGeom prst="roundRect">
            <a:avLst>
              <a:gd name="adj" fmla="val 10000"/>
            </a:avLst>
          </a:prstGeom>
          <a:solidFill>
            <a:srgbClr val="172544"/>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59" y="1920240"/>
            <a:ext cx="1280160" cy="640080"/>
          </a:xfrm>
          <a:prstGeom prst="rect">
            <a:avLst/>
          </a:prstGeom>
          <a:noFill/>
        </p:spPr>
        <p:txBody>
          <a:bodyPr wrap="square" lIns="0" tIns="0" rIns="0" bIns="0" anchor="ctr">
            <a:spAutoFit/>
          </a:bodyPr>
          <a:lstStyle/>
          <a:p>
            <a:pPr algn="ctr"/>
            <a:r>
              <a:rPr sz="1200" b="1">
                <a:solidFill>
                  <a:srgbClr val="F87171"/>
                </a:solidFill>
                <a:latin typeface="Consolas"/>
              </a:rPr>
              <a:t>reflector</a:t>
            </a:r>
          </a:p>
        </p:txBody>
      </p:sp>
      <p:sp>
        <p:nvSpPr>
          <p:cNvPr id="19" name="Rounded Rectangle 18"/>
          <p:cNvSpPr/>
          <p:nvPr/>
        </p:nvSpPr>
        <p:spPr>
          <a:xfrm>
            <a:off x="777240" y="3063240"/>
            <a:ext cx="1371600" cy="640080"/>
          </a:xfrm>
          <a:prstGeom prst="roundRect">
            <a:avLst>
              <a:gd name="adj" fmla="val 10000"/>
            </a:avLst>
          </a:prstGeom>
          <a:solidFill>
            <a:srgbClr val="172544"/>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3063240"/>
            <a:ext cx="1280160" cy="640080"/>
          </a:xfrm>
          <a:prstGeom prst="rect">
            <a:avLst/>
          </a:prstGeom>
          <a:noFill/>
        </p:spPr>
        <p:txBody>
          <a:bodyPr wrap="square" lIns="0" tIns="0" rIns="0" bIns="0" anchor="ctr">
            <a:spAutoFit/>
          </a:bodyPr>
          <a:lstStyle/>
          <a:p>
            <a:pPr algn="ctr"/>
            <a:r>
              <a:rPr sz="1200" b="1">
                <a:solidFill>
                  <a:srgbClr val="4ADE80"/>
                </a:solidFill>
                <a:latin typeface="Consolas"/>
              </a:rPr>
              <a:t>lamp I lights</a:t>
            </a:r>
          </a:p>
        </p:txBody>
      </p:sp>
      <p:sp>
        <p:nvSpPr>
          <p:cNvPr id="21" name="Rounded Rectangle 20"/>
          <p:cNvSpPr/>
          <p:nvPr/>
        </p:nvSpPr>
        <p:spPr>
          <a:xfrm>
            <a:off x="2606040" y="3063240"/>
            <a:ext cx="1371600" cy="640080"/>
          </a:xfrm>
          <a:prstGeom prst="roundRect">
            <a:avLst>
              <a:gd name="adj" fmla="val 10000"/>
            </a:avLst>
          </a:prstGeom>
          <a:solidFill>
            <a:srgbClr val="172544"/>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651760" y="3063240"/>
            <a:ext cx="1280160" cy="640080"/>
          </a:xfrm>
          <a:prstGeom prst="rect">
            <a:avLst/>
          </a:prstGeom>
          <a:noFill/>
        </p:spPr>
        <p:txBody>
          <a:bodyPr wrap="square" lIns="0" tIns="0" rIns="0" bIns="0" anchor="ctr">
            <a:spAutoFit/>
          </a:bodyPr>
          <a:lstStyle/>
          <a:p>
            <a:pPr algn="ctr"/>
            <a:r>
              <a:rPr sz="1200" b="1">
                <a:solidFill>
                  <a:srgbClr val="FBBF24"/>
                </a:solidFill>
                <a:latin typeface="Consolas"/>
              </a:rPr>
              <a:t>plugboard</a:t>
            </a:r>
          </a:p>
        </p:txBody>
      </p:sp>
      <p:sp>
        <p:nvSpPr>
          <p:cNvPr id="23" name="Rounded Rectangle 22"/>
          <p:cNvSpPr/>
          <p:nvPr/>
        </p:nvSpPr>
        <p:spPr>
          <a:xfrm>
            <a:off x="4434840" y="3063240"/>
            <a:ext cx="1371600" cy="640080"/>
          </a:xfrm>
          <a:prstGeom prst="roundRect">
            <a:avLst>
              <a:gd name="adj" fmla="val 10000"/>
            </a:avLst>
          </a:prstGeom>
          <a:solidFill>
            <a:srgbClr val="172544"/>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80559" y="3063240"/>
            <a:ext cx="1280160" cy="640080"/>
          </a:xfrm>
          <a:prstGeom prst="rect">
            <a:avLst/>
          </a:prstGeom>
          <a:noFill/>
        </p:spPr>
        <p:txBody>
          <a:bodyPr wrap="square" lIns="0" tIns="0" rIns="0" bIns="0" anchor="ctr">
            <a:spAutoFit/>
          </a:bodyPr>
          <a:lstStyle/>
          <a:p>
            <a:pPr algn="ctr"/>
            <a:r>
              <a:rPr sz="1200" b="1">
                <a:solidFill>
                  <a:srgbClr val="A78BFA"/>
                </a:solidFill>
                <a:latin typeface="Consolas"/>
              </a:rPr>
              <a:t>3 rotors</a:t>
            </a:r>
          </a:p>
        </p:txBody>
      </p:sp>
      <p:cxnSp>
        <p:nvCxnSpPr>
          <p:cNvPr id="25" name="Connector 24"/>
          <p:cNvCxnSpPr/>
          <p:nvPr/>
        </p:nvCxnSpPr>
        <p:spPr>
          <a:xfrm flipH="1">
            <a:off x="4005072" y="3383280"/>
            <a:ext cx="402336" cy="0"/>
          </a:xfrm>
          <a:prstGeom prst="line">
            <a:avLst/>
          </a:prstGeom>
          <a:ln w="22225">
            <a:solidFill>
              <a:srgbClr val="A78BFA"/>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833872" y="3383280"/>
            <a:ext cx="402336"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35040" y="2560320"/>
            <a:ext cx="0" cy="822960"/>
          </a:xfrm>
          <a:prstGeom prst="line">
            <a:avLst/>
          </a:prstGeom>
          <a:ln w="22225">
            <a:solidFill>
              <a:srgbClr val="F8717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806440" y="3383280"/>
            <a:ext cx="228600" cy="0"/>
          </a:xfrm>
          <a:prstGeom prst="line">
            <a:avLst/>
          </a:prstGeom>
          <a:ln w="22225">
            <a:solidFill>
              <a:srgbClr val="F8717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3840480"/>
            <a:ext cx="6949440" cy="274320"/>
          </a:xfrm>
          <a:prstGeom prst="rect">
            <a:avLst/>
          </a:prstGeom>
          <a:noFill/>
        </p:spPr>
        <p:txBody>
          <a:bodyPr wrap="square" lIns="0" tIns="0" rIns="0" bIns="0" anchor="t">
            <a:spAutoFit/>
          </a:bodyPr>
          <a:lstStyle/>
          <a:p>
            <a:pPr algn="l"/>
            <a:r>
              <a:rPr sz="1300" b="0">
                <a:solidFill>
                  <a:srgbClr val="9FB0CC"/>
                </a:solidFill>
                <a:latin typeface="Calibri"/>
              </a:rPr>
              <a:t>The rotors turn after every key press, so the wiring changes with each letter.</a:t>
            </a:r>
          </a:p>
        </p:txBody>
      </p:sp>
      <p:sp>
        <p:nvSpPr>
          <p:cNvPr id="30" name="Rounded Rectangle 29"/>
          <p:cNvSpPr/>
          <p:nvPr/>
        </p:nvSpPr>
        <p:spPr>
          <a:xfrm>
            <a:off x="8183879" y="1417320"/>
            <a:ext cx="3429000" cy="274320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0" y="1554480"/>
            <a:ext cx="3017520" cy="274320"/>
          </a:xfrm>
          <a:prstGeom prst="rect">
            <a:avLst/>
          </a:prstGeom>
          <a:noFill/>
        </p:spPr>
        <p:txBody>
          <a:bodyPr wrap="square" lIns="0" tIns="0" rIns="0" bIns="0" anchor="t">
            <a:spAutoFit/>
          </a:bodyPr>
          <a:lstStyle/>
          <a:p>
            <a:pPr algn="l"/>
            <a:r>
              <a:rPr sz="1200" b="1">
                <a:solidFill>
                  <a:srgbClr val="22D3EE"/>
                </a:solidFill>
                <a:latin typeface="Consolas"/>
              </a:rPr>
              <a:t>PRESS A FIVE TIMES</a:t>
            </a:r>
          </a:p>
        </p:txBody>
      </p:sp>
      <p:sp>
        <p:nvSpPr>
          <p:cNvPr id="32" name="Rounded Rectangle 31"/>
          <p:cNvSpPr/>
          <p:nvPr/>
        </p:nvSpPr>
        <p:spPr>
          <a:xfrm>
            <a:off x="8412480" y="1874519"/>
            <a:ext cx="502920" cy="50292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80" y="1874519"/>
            <a:ext cx="502920" cy="502920"/>
          </a:xfrm>
          <a:prstGeom prst="rect">
            <a:avLst/>
          </a:prstGeom>
          <a:noFill/>
        </p:spPr>
        <p:txBody>
          <a:bodyPr wrap="square" lIns="0" tIns="0" rIns="0" bIns="0" anchor="ctr">
            <a:spAutoFit/>
          </a:bodyPr>
          <a:lstStyle/>
          <a:p>
            <a:pPr algn="ctr"/>
            <a:r>
              <a:rPr sz="1500" b="1">
                <a:solidFill>
                  <a:srgbClr val="22D3EE"/>
                </a:solidFill>
                <a:latin typeface="Consolas"/>
              </a:rPr>
              <a:t>A</a:t>
            </a:r>
          </a:p>
        </p:txBody>
      </p:sp>
      <p:sp>
        <p:nvSpPr>
          <p:cNvPr id="34" name="Rounded Rectangle 33"/>
          <p:cNvSpPr/>
          <p:nvPr/>
        </p:nvSpPr>
        <p:spPr>
          <a:xfrm>
            <a:off x="9015984" y="1874519"/>
            <a:ext cx="502920" cy="50292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15984" y="1874519"/>
            <a:ext cx="502920" cy="502920"/>
          </a:xfrm>
          <a:prstGeom prst="rect">
            <a:avLst/>
          </a:prstGeom>
          <a:noFill/>
        </p:spPr>
        <p:txBody>
          <a:bodyPr wrap="square" lIns="0" tIns="0" rIns="0" bIns="0" anchor="ctr">
            <a:spAutoFit/>
          </a:bodyPr>
          <a:lstStyle/>
          <a:p>
            <a:pPr algn="ctr"/>
            <a:r>
              <a:rPr sz="1500" b="1">
                <a:solidFill>
                  <a:srgbClr val="22D3EE"/>
                </a:solidFill>
                <a:latin typeface="Consolas"/>
              </a:rPr>
              <a:t>A</a:t>
            </a:r>
          </a:p>
        </p:txBody>
      </p:sp>
      <p:sp>
        <p:nvSpPr>
          <p:cNvPr id="36" name="Rounded Rectangle 35"/>
          <p:cNvSpPr/>
          <p:nvPr/>
        </p:nvSpPr>
        <p:spPr>
          <a:xfrm>
            <a:off x="9619488" y="1874519"/>
            <a:ext cx="502920" cy="50292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619488" y="1874519"/>
            <a:ext cx="502920" cy="502920"/>
          </a:xfrm>
          <a:prstGeom prst="rect">
            <a:avLst/>
          </a:prstGeom>
          <a:noFill/>
        </p:spPr>
        <p:txBody>
          <a:bodyPr wrap="square" lIns="0" tIns="0" rIns="0" bIns="0" anchor="ctr">
            <a:spAutoFit/>
          </a:bodyPr>
          <a:lstStyle/>
          <a:p>
            <a:pPr algn="ctr"/>
            <a:r>
              <a:rPr sz="1500" b="1">
                <a:solidFill>
                  <a:srgbClr val="22D3EE"/>
                </a:solidFill>
                <a:latin typeface="Consolas"/>
              </a:rPr>
              <a:t>A</a:t>
            </a:r>
          </a:p>
        </p:txBody>
      </p:sp>
      <p:sp>
        <p:nvSpPr>
          <p:cNvPr id="38" name="Rounded Rectangle 37"/>
          <p:cNvSpPr/>
          <p:nvPr/>
        </p:nvSpPr>
        <p:spPr>
          <a:xfrm>
            <a:off x="10222992" y="1874519"/>
            <a:ext cx="502920" cy="50292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222992" y="1874519"/>
            <a:ext cx="502920" cy="502920"/>
          </a:xfrm>
          <a:prstGeom prst="rect">
            <a:avLst/>
          </a:prstGeom>
          <a:noFill/>
        </p:spPr>
        <p:txBody>
          <a:bodyPr wrap="square" lIns="0" tIns="0" rIns="0" bIns="0" anchor="ctr">
            <a:spAutoFit/>
          </a:bodyPr>
          <a:lstStyle/>
          <a:p>
            <a:pPr algn="ctr"/>
            <a:r>
              <a:rPr sz="1500" b="1">
                <a:solidFill>
                  <a:srgbClr val="22D3EE"/>
                </a:solidFill>
                <a:latin typeface="Consolas"/>
              </a:rPr>
              <a:t>A</a:t>
            </a:r>
          </a:p>
        </p:txBody>
      </p:sp>
      <p:sp>
        <p:nvSpPr>
          <p:cNvPr id="40" name="Rounded Rectangle 39"/>
          <p:cNvSpPr/>
          <p:nvPr/>
        </p:nvSpPr>
        <p:spPr>
          <a:xfrm>
            <a:off x="10826496" y="1874519"/>
            <a:ext cx="502920" cy="502920"/>
          </a:xfrm>
          <a:prstGeom prst="roundRect">
            <a:avLst>
              <a:gd name="adj" fmla="val 10000"/>
            </a:avLst>
          </a:prstGeom>
          <a:solidFill>
            <a:srgbClr val="172544"/>
          </a:solidFill>
          <a:ln w="9525">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826496" y="1874519"/>
            <a:ext cx="502920" cy="502920"/>
          </a:xfrm>
          <a:prstGeom prst="rect">
            <a:avLst/>
          </a:prstGeom>
          <a:noFill/>
        </p:spPr>
        <p:txBody>
          <a:bodyPr wrap="square" lIns="0" tIns="0" rIns="0" bIns="0" anchor="ctr">
            <a:spAutoFit/>
          </a:bodyPr>
          <a:lstStyle/>
          <a:p>
            <a:pPr algn="ctr"/>
            <a:r>
              <a:rPr sz="1500" b="1">
                <a:solidFill>
                  <a:srgbClr val="22D3EE"/>
                </a:solidFill>
                <a:latin typeface="Consolas"/>
              </a:rPr>
              <a:t>A</a:t>
            </a:r>
          </a:p>
        </p:txBody>
      </p:sp>
      <p:sp>
        <p:nvSpPr>
          <p:cNvPr id="42" name="TextBox 41"/>
          <p:cNvSpPr txBox="1"/>
          <p:nvPr/>
        </p:nvSpPr>
        <p:spPr>
          <a:xfrm>
            <a:off x="8412480" y="2487168"/>
            <a:ext cx="3017520" cy="228600"/>
          </a:xfrm>
          <a:prstGeom prst="rect">
            <a:avLst/>
          </a:prstGeom>
          <a:noFill/>
        </p:spPr>
        <p:txBody>
          <a:bodyPr wrap="square" lIns="0" tIns="0" rIns="0" bIns="0" anchor="t">
            <a:spAutoFit/>
          </a:bodyPr>
          <a:lstStyle/>
          <a:p>
            <a:pPr algn="l"/>
            <a:r>
              <a:rPr sz="1000" b="0">
                <a:solidFill>
                  <a:srgbClr val="4ADE80"/>
                </a:solidFill>
                <a:latin typeface="Consolas"/>
              </a:rPr>
              <a:t>LAMPS LIGHT</a:t>
            </a:r>
          </a:p>
        </p:txBody>
      </p:sp>
      <p:sp>
        <p:nvSpPr>
          <p:cNvPr id="43" name="Rounded Rectangle 42"/>
          <p:cNvSpPr/>
          <p:nvPr/>
        </p:nvSpPr>
        <p:spPr>
          <a:xfrm>
            <a:off x="8412480" y="2743200"/>
            <a:ext cx="502920" cy="50292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412480" y="2743200"/>
            <a:ext cx="502920" cy="502920"/>
          </a:xfrm>
          <a:prstGeom prst="rect">
            <a:avLst/>
          </a:prstGeom>
          <a:noFill/>
        </p:spPr>
        <p:txBody>
          <a:bodyPr wrap="square" lIns="0" tIns="0" rIns="0" bIns="0" anchor="ctr">
            <a:spAutoFit/>
          </a:bodyPr>
          <a:lstStyle/>
          <a:p>
            <a:pPr algn="ctr"/>
            <a:r>
              <a:rPr sz="1500" b="1">
                <a:solidFill>
                  <a:srgbClr val="FBBF24"/>
                </a:solidFill>
                <a:latin typeface="Consolas"/>
              </a:rPr>
              <a:t>B</a:t>
            </a:r>
          </a:p>
        </p:txBody>
      </p:sp>
      <p:sp>
        <p:nvSpPr>
          <p:cNvPr id="45" name="Rounded Rectangle 44"/>
          <p:cNvSpPr/>
          <p:nvPr/>
        </p:nvSpPr>
        <p:spPr>
          <a:xfrm>
            <a:off x="9015984" y="2743200"/>
            <a:ext cx="502920" cy="50292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015984" y="2743200"/>
            <a:ext cx="502920" cy="502920"/>
          </a:xfrm>
          <a:prstGeom prst="rect">
            <a:avLst/>
          </a:prstGeom>
          <a:noFill/>
        </p:spPr>
        <p:txBody>
          <a:bodyPr wrap="square" lIns="0" tIns="0" rIns="0" bIns="0" anchor="ctr">
            <a:spAutoFit/>
          </a:bodyPr>
          <a:lstStyle/>
          <a:p>
            <a:pPr algn="ctr"/>
            <a:r>
              <a:rPr sz="1500" b="1">
                <a:solidFill>
                  <a:srgbClr val="FBBF24"/>
                </a:solidFill>
                <a:latin typeface="Consolas"/>
              </a:rPr>
              <a:t>D</a:t>
            </a:r>
          </a:p>
        </p:txBody>
      </p:sp>
      <p:sp>
        <p:nvSpPr>
          <p:cNvPr id="47" name="Rounded Rectangle 46"/>
          <p:cNvSpPr/>
          <p:nvPr/>
        </p:nvSpPr>
        <p:spPr>
          <a:xfrm>
            <a:off x="9619488" y="2743200"/>
            <a:ext cx="502920" cy="50292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619488" y="2743200"/>
            <a:ext cx="502920" cy="502920"/>
          </a:xfrm>
          <a:prstGeom prst="rect">
            <a:avLst/>
          </a:prstGeom>
          <a:noFill/>
        </p:spPr>
        <p:txBody>
          <a:bodyPr wrap="square" lIns="0" tIns="0" rIns="0" bIns="0" anchor="ctr">
            <a:spAutoFit/>
          </a:bodyPr>
          <a:lstStyle/>
          <a:p>
            <a:pPr algn="ctr"/>
            <a:r>
              <a:rPr sz="1500" b="1">
                <a:solidFill>
                  <a:srgbClr val="FBBF24"/>
                </a:solidFill>
                <a:latin typeface="Consolas"/>
              </a:rPr>
              <a:t>Z</a:t>
            </a:r>
          </a:p>
        </p:txBody>
      </p:sp>
      <p:sp>
        <p:nvSpPr>
          <p:cNvPr id="49" name="Rounded Rectangle 48"/>
          <p:cNvSpPr/>
          <p:nvPr/>
        </p:nvSpPr>
        <p:spPr>
          <a:xfrm>
            <a:off x="10222992" y="2743200"/>
            <a:ext cx="502920" cy="50292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222992" y="2743200"/>
            <a:ext cx="502920" cy="502920"/>
          </a:xfrm>
          <a:prstGeom prst="rect">
            <a:avLst/>
          </a:prstGeom>
          <a:noFill/>
        </p:spPr>
        <p:txBody>
          <a:bodyPr wrap="square" lIns="0" tIns="0" rIns="0" bIns="0" anchor="ctr">
            <a:spAutoFit/>
          </a:bodyPr>
          <a:lstStyle/>
          <a:p>
            <a:pPr algn="ctr"/>
            <a:r>
              <a:rPr sz="1500" b="1">
                <a:solidFill>
                  <a:srgbClr val="FBBF24"/>
                </a:solidFill>
                <a:latin typeface="Consolas"/>
              </a:rPr>
              <a:t>G</a:t>
            </a:r>
          </a:p>
        </p:txBody>
      </p:sp>
      <p:sp>
        <p:nvSpPr>
          <p:cNvPr id="51" name="Rounded Rectangle 50"/>
          <p:cNvSpPr/>
          <p:nvPr/>
        </p:nvSpPr>
        <p:spPr>
          <a:xfrm>
            <a:off x="10826496" y="2743200"/>
            <a:ext cx="502920" cy="502920"/>
          </a:xfrm>
          <a:prstGeom prst="roundRect">
            <a:avLst>
              <a:gd name="adj" fmla="val 10000"/>
            </a:avLst>
          </a:prstGeom>
          <a:solidFill>
            <a:srgbClr val="3A2F10"/>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826496" y="2743200"/>
            <a:ext cx="502920" cy="502920"/>
          </a:xfrm>
          <a:prstGeom prst="rect">
            <a:avLst/>
          </a:prstGeom>
          <a:noFill/>
        </p:spPr>
        <p:txBody>
          <a:bodyPr wrap="square" lIns="0" tIns="0" rIns="0" bIns="0" anchor="ctr">
            <a:spAutoFit/>
          </a:bodyPr>
          <a:lstStyle/>
          <a:p>
            <a:pPr algn="ctr"/>
            <a:r>
              <a:rPr sz="1500" b="1">
                <a:solidFill>
                  <a:srgbClr val="FBBF24"/>
                </a:solidFill>
                <a:latin typeface="Consolas"/>
              </a:rPr>
              <a:t>O</a:t>
            </a:r>
          </a:p>
        </p:txBody>
      </p:sp>
      <p:sp>
        <p:nvSpPr>
          <p:cNvPr id="53" name="TextBox 52"/>
          <p:cNvSpPr txBox="1"/>
          <p:nvPr/>
        </p:nvSpPr>
        <p:spPr>
          <a:xfrm>
            <a:off x="8412480" y="3429000"/>
            <a:ext cx="3017520" cy="640080"/>
          </a:xfrm>
          <a:prstGeom prst="rect">
            <a:avLst/>
          </a:prstGeom>
          <a:noFill/>
        </p:spPr>
        <p:txBody>
          <a:bodyPr wrap="square" lIns="0" tIns="0" rIns="0" bIns="0" anchor="t">
            <a:spAutoFit/>
          </a:bodyPr>
          <a:lstStyle/>
          <a:p>
            <a:pPr algn="l"/>
            <a:r>
              <a:rPr sz="1300" b="0">
                <a:solidFill>
                  <a:srgbClr val="F1F5F9"/>
                </a:solidFill>
                <a:latin typeface="Calibri"/>
              </a:rPr>
              <a:t>Same key, different letter each time. And a letter never turns into itself.</a:t>
            </a:r>
          </a:p>
        </p:txBody>
      </p:sp>
      <p:sp>
        <p:nvSpPr>
          <p:cNvPr id="54" name="Rounded Rectangle 53"/>
          <p:cNvSpPr/>
          <p:nvPr/>
        </p:nvSpPr>
        <p:spPr>
          <a:xfrm>
            <a:off x="548640" y="4343400"/>
            <a:ext cx="5440680" cy="182880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77240" y="4498848"/>
            <a:ext cx="4937760" cy="320040"/>
          </a:xfrm>
          <a:prstGeom prst="rect">
            <a:avLst/>
          </a:prstGeom>
          <a:noFill/>
        </p:spPr>
        <p:txBody>
          <a:bodyPr wrap="square" lIns="0" tIns="0" rIns="0" bIns="0" anchor="t">
            <a:spAutoFit/>
          </a:bodyPr>
          <a:lstStyle/>
          <a:p>
            <a:pPr algn="l"/>
            <a:r>
              <a:rPr sz="1500" b="1">
                <a:solidFill>
                  <a:srgbClr val="4ADE80"/>
                </a:solidFill>
                <a:latin typeface="Consolas"/>
              </a:rPr>
              <a:t>Why it was clever</a:t>
            </a:r>
          </a:p>
        </p:txBody>
      </p:sp>
      <p:sp>
        <p:nvSpPr>
          <p:cNvPr id="56" name="TextBox 55"/>
          <p:cNvSpPr txBox="1"/>
          <p:nvPr/>
        </p:nvSpPr>
        <p:spPr>
          <a:xfrm>
            <a:off x="777240" y="4937760"/>
            <a:ext cx="4983480" cy="1188720"/>
          </a:xfrm>
          <a:prstGeom prst="rect">
            <a:avLst/>
          </a:prstGeom>
          <a:noFill/>
        </p:spPr>
        <p:txBody>
          <a:bodyPr wrap="square" lIns="0" tIns="0" rIns="0" bIns="0" anchor="t">
            <a:spAutoFit/>
          </a:bodyPr>
          <a:lstStyle/>
          <a:p>
            <a:pPr algn="l"/>
            <a:r>
              <a:rPr sz="1400" b="0">
                <a:solidFill>
                  <a:srgbClr val="F1F5F9"/>
                </a:solidFill>
                <a:latin typeface="Calibri"/>
              </a:rPr>
              <a:t>Rotor order, start positions and plugboard cables gave about 159 quintillion possible settings. To decrypt, you type the secret message into a machine with the same settings.</a:t>
            </a:r>
          </a:p>
        </p:txBody>
      </p:sp>
      <p:sp>
        <p:nvSpPr>
          <p:cNvPr id="57" name="Rounded Rectangle 56"/>
          <p:cNvSpPr/>
          <p:nvPr/>
        </p:nvSpPr>
        <p:spPr>
          <a:xfrm>
            <a:off x="6199632" y="4343400"/>
            <a:ext cx="5440680" cy="182880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28232" y="4498848"/>
            <a:ext cx="4937760" cy="320040"/>
          </a:xfrm>
          <a:prstGeom prst="rect">
            <a:avLst/>
          </a:prstGeom>
          <a:noFill/>
        </p:spPr>
        <p:txBody>
          <a:bodyPr wrap="square" lIns="0" tIns="0" rIns="0" bIns="0" anchor="t">
            <a:spAutoFit/>
          </a:bodyPr>
          <a:lstStyle/>
          <a:p>
            <a:pPr algn="l"/>
            <a:r>
              <a:rPr sz="1500" b="1">
                <a:solidFill>
                  <a:srgbClr val="F87171"/>
                </a:solidFill>
                <a:latin typeface="Consolas"/>
              </a:rPr>
              <a:t>Why it still fell</a:t>
            </a:r>
          </a:p>
        </p:txBody>
      </p:sp>
      <p:sp>
        <p:nvSpPr>
          <p:cNvPr id="59" name="TextBox 58"/>
          <p:cNvSpPr txBox="1"/>
          <p:nvPr/>
        </p:nvSpPr>
        <p:spPr>
          <a:xfrm>
            <a:off x="6428232" y="4937760"/>
            <a:ext cx="4983480" cy="1188720"/>
          </a:xfrm>
          <a:prstGeom prst="rect">
            <a:avLst/>
          </a:prstGeom>
          <a:noFill/>
        </p:spPr>
        <p:txBody>
          <a:bodyPr wrap="square" lIns="0" tIns="0" rIns="0" bIns="0" anchor="t">
            <a:spAutoFit/>
          </a:bodyPr>
          <a:lstStyle/>
          <a:p>
            <a:pPr algn="l"/>
            <a:r>
              <a:rPr sz="1400" b="0">
                <a:solidFill>
                  <a:srgbClr val="F1F5F9"/>
                </a:solidFill>
                <a:latin typeface="Calibri"/>
              </a:rPr>
              <a:t>A letter never became itself, and operators repeated predictable phrases. Polish mathematicians, then Alan Turing's team at Bletchley Park, built machines to test settings quickly.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a:t>
            </a:r>
            <a:r>
              <a:rPr lang="en-US" sz="1200" kern="0" spc="200">
                <a:solidFill>
                  <a:srgbClr val="22D3EE"/>
                </a:solidFill>
                <a:latin typeface="Consolas" pitchFamily="34" charset="0"/>
                <a:ea typeface="Consolas" pitchFamily="34" charset="-122"/>
                <a:cs typeface="Consolas" pitchFamily="34" charset="-120"/>
              </a:rPr>
              <a:t>FOUNDATIONS 06</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Hashing is not encryption</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08</a:t>
            </a:r>
            <a:endParaRPr lang="en-US" sz="1000" dirty="0"/>
          </a:p>
        </p:txBody>
      </p:sp>
      <p:sp>
        <p:nvSpPr>
          <p:cNvPr id="6" name="Shape 4"/>
          <p:cNvSpPr/>
          <p:nvPr/>
        </p:nvSpPr>
        <p:spPr>
          <a:xfrm>
            <a:off x="548640" y="1463040"/>
            <a:ext cx="5440680" cy="2331720"/>
          </a:xfrm>
          <a:prstGeom prst="roundRect">
            <a:avLst>
              <a:gd name="adj" fmla="val 3137"/>
            </a:avLst>
          </a:prstGeom>
          <a:solidFill>
            <a:srgbClr val="111A2F"/>
          </a:solidFill>
          <a:ln w="12700">
            <a:solidFill>
              <a:srgbClr val="2A3E68"/>
            </a:solidFill>
            <a:prstDash val="solid"/>
          </a:ln>
        </p:spPr>
      </p:sp>
      <p:sp>
        <p:nvSpPr>
          <p:cNvPr id="7" name="Text 5"/>
          <p:cNvSpPr/>
          <p:nvPr/>
        </p:nvSpPr>
        <p:spPr>
          <a:xfrm>
            <a:off x="822960" y="1600200"/>
            <a:ext cx="4937760" cy="274320"/>
          </a:xfrm>
          <a:prstGeom prst="rect">
            <a:avLst/>
          </a:prstGeom>
          <a:noFill/>
          <a:ln/>
        </p:spPr>
        <p:txBody>
          <a:bodyPr wrap="square" lIns="0" tIns="0" rIns="0" bIns="0" rtlCol="0" anchor="t"/>
          <a:lstStyle/>
          <a:p>
            <a:pPr marL="0" indent="0">
              <a:buNone/>
            </a:pPr>
            <a:r>
              <a:rPr lang="en-US" sz="1300" b="1" dirty="0">
                <a:solidFill>
                  <a:srgbClr val="22D3EE"/>
                </a:solidFill>
                <a:latin typeface="Consolas" pitchFamily="34" charset="0"/>
                <a:ea typeface="Consolas" pitchFamily="34" charset="-122"/>
                <a:cs typeface="Consolas" pitchFamily="34" charset="-120"/>
              </a:rPr>
              <a:t>HASHING  ·  a one-way fingerprint</a:t>
            </a:r>
            <a:endParaRPr lang="en-US" sz="1300" dirty="0"/>
          </a:p>
        </p:txBody>
      </p:sp>
      <p:sp>
        <p:nvSpPr>
          <p:cNvPr id="8" name="Shape 6"/>
          <p:cNvSpPr/>
          <p:nvPr/>
        </p:nvSpPr>
        <p:spPr>
          <a:xfrm>
            <a:off x="914400" y="2057400"/>
            <a:ext cx="1325880" cy="685800"/>
          </a:xfrm>
          <a:prstGeom prst="roundRect">
            <a:avLst>
              <a:gd name="adj" fmla="val 10667"/>
            </a:avLst>
          </a:prstGeom>
          <a:solidFill>
            <a:srgbClr val="172544"/>
          </a:solidFill>
          <a:ln w="19050">
            <a:solidFill>
              <a:srgbClr val="22D3EE"/>
            </a:solidFill>
            <a:prstDash val="solid"/>
          </a:ln>
        </p:spPr>
      </p:sp>
      <p:sp>
        <p:nvSpPr>
          <p:cNvPr id="9" name="Text 7"/>
          <p:cNvSpPr/>
          <p:nvPr/>
        </p:nvSpPr>
        <p:spPr>
          <a:xfrm>
            <a:off x="914400" y="2057400"/>
            <a:ext cx="1325880" cy="68580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any input</a:t>
            </a:r>
            <a:endParaRPr lang="en-US" sz="1300" dirty="0"/>
          </a:p>
        </p:txBody>
      </p:sp>
      <p:sp>
        <p:nvSpPr>
          <p:cNvPr id="10" name="Shape 8"/>
          <p:cNvSpPr/>
          <p:nvPr/>
        </p:nvSpPr>
        <p:spPr>
          <a:xfrm>
            <a:off x="2286000" y="2400300"/>
            <a:ext cx="320040" cy="0"/>
          </a:xfrm>
          <a:prstGeom prst="line">
            <a:avLst/>
          </a:prstGeom>
          <a:noFill/>
          <a:ln w="25400">
            <a:solidFill>
              <a:srgbClr val="22D3EE"/>
            </a:solidFill>
            <a:prstDash val="solid"/>
            <a:tailEnd type="triangle"/>
          </a:ln>
        </p:spPr>
      </p:sp>
      <p:sp>
        <p:nvSpPr>
          <p:cNvPr id="11" name="Shape 9"/>
          <p:cNvSpPr/>
          <p:nvPr/>
        </p:nvSpPr>
        <p:spPr>
          <a:xfrm>
            <a:off x="2651760" y="2057400"/>
            <a:ext cx="1325880" cy="685800"/>
          </a:xfrm>
          <a:prstGeom prst="roundRect">
            <a:avLst>
              <a:gd name="adj" fmla="val 10667"/>
            </a:avLst>
          </a:prstGeom>
          <a:solidFill>
            <a:srgbClr val="172544"/>
          </a:solidFill>
          <a:ln w="19050">
            <a:solidFill>
              <a:srgbClr val="A78BFA"/>
            </a:solidFill>
            <a:prstDash val="solid"/>
          </a:ln>
        </p:spPr>
      </p:sp>
      <p:sp>
        <p:nvSpPr>
          <p:cNvPr id="12" name="Text 10"/>
          <p:cNvSpPr/>
          <p:nvPr/>
        </p:nvSpPr>
        <p:spPr>
          <a:xfrm>
            <a:off x="2651760" y="2057400"/>
            <a:ext cx="1325880" cy="68580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SHA-256</a:t>
            </a:r>
            <a:endParaRPr lang="en-US" sz="1300" dirty="0"/>
          </a:p>
        </p:txBody>
      </p:sp>
      <p:sp>
        <p:nvSpPr>
          <p:cNvPr id="13" name="Shape 11"/>
          <p:cNvSpPr/>
          <p:nvPr/>
        </p:nvSpPr>
        <p:spPr>
          <a:xfrm>
            <a:off x="4023360" y="2400300"/>
            <a:ext cx="320040" cy="0"/>
          </a:xfrm>
          <a:prstGeom prst="line">
            <a:avLst/>
          </a:prstGeom>
          <a:noFill/>
          <a:ln w="25400">
            <a:solidFill>
              <a:srgbClr val="22D3EE"/>
            </a:solidFill>
            <a:prstDash val="solid"/>
            <a:tailEnd type="triangle"/>
          </a:ln>
        </p:spPr>
      </p:sp>
      <p:sp>
        <p:nvSpPr>
          <p:cNvPr id="14" name="Shape 12"/>
          <p:cNvSpPr/>
          <p:nvPr/>
        </p:nvSpPr>
        <p:spPr>
          <a:xfrm>
            <a:off x="4389120" y="2057400"/>
            <a:ext cx="1325880" cy="685800"/>
          </a:xfrm>
          <a:prstGeom prst="roundRect">
            <a:avLst>
              <a:gd name="adj" fmla="val 10667"/>
            </a:avLst>
          </a:prstGeom>
          <a:solidFill>
            <a:srgbClr val="172544"/>
          </a:solidFill>
          <a:ln w="19050">
            <a:solidFill>
              <a:srgbClr val="22D3EE"/>
            </a:solidFill>
            <a:prstDash val="solid"/>
          </a:ln>
        </p:spPr>
      </p:sp>
      <p:sp>
        <p:nvSpPr>
          <p:cNvPr id="15" name="Text 13"/>
          <p:cNvSpPr/>
          <p:nvPr/>
        </p:nvSpPr>
        <p:spPr>
          <a:xfrm>
            <a:off x="4389120" y="2057400"/>
            <a:ext cx="1325880" cy="68580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fixed </a:t>
            </a:r>
            <a:r>
              <a:rPr lang="en-US" sz="1300" b="1">
                <a:solidFill>
                  <a:srgbClr val="F1F5F9"/>
                </a:solidFill>
                <a:latin typeface="Consolas" pitchFamily="34" charset="0"/>
                <a:ea typeface="Consolas" pitchFamily="34" charset="-122"/>
                <a:cs typeface="Consolas" pitchFamily="34" charset="-120"/>
              </a:rPr>
              <a:t>hash</a:t>
            </a:r>
            <a:endParaRPr lang="en-US" sz="1300" dirty="0"/>
          </a:p>
        </p:txBody>
      </p:sp>
      <p:pic>
        <p:nvPicPr>
          <p:cNvPr id="16" name="Image 0" descr="/agent/turn1/workspace/output/_anthropic_assets/icon-dismiss-circle-54c1800b.png"/>
          <p:cNvPicPr>
            <a:picLocks noChangeAspect="1"/>
          </p:cNvPicPr>
          <p:nvPr/>
        </p:nvPicPr>
        <p:blipFill>
          <a:blip r:embed="rId3"/>
          <a:stretch>
            <a:fillRect/>
          </a:stretch>
        </p:blipFill>
        <p:spPr>
          <a:xfrm>
            <a:off x="914400" y="3017520"/>
            <a:ext cx="292608" cy="292608"/>
          </a:xfrm>
          <a:prstGeom prst="rect">
            <a:avLst/>
          </a:prstGeom>
        </p:spPr>
      </p:pic>
      <p:sp>
        <p:nvSpPr>
          <p:cNvPr id="17" name="Text 14"/>
          <p:cNvSpPr/>
          <p:nvPr/>
        </p:nvSpPr>
        <p:spPr>
          <a:xfrm>
            <a:off x="1325880" y="3026664"/>
            <a:ext cx="4572000" cy="27432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No way back: the </a:t>
            </a:r>
            <a:r>
              <a:rPr lang="en-US" sz="1400">
                <a:solidFill>
                  <a:srgbClr val="F1F5F9"/>
                </a:solidFill>
                <a:latin typeface="Calibri" pitchFamily="34" charset="0"/>
                <a:ea typeface="Calibri" pitchFamily="34" charset="-122"/>
                <a:cs typeface="Calibri" pitchFamily="34" charset="-120"/>
              </a:rPr>
              <a:t>hash (</a:t>
            </a:r>
            <a:r>
              <a:rPr lang="en-US" sz="1400" dirty="0">
                <a:solidFill>
                  <a:srgbClr val="F1F5F9"/>
                </a:solidFill>
                <a:latin typeface="Calibri" pitchFamily="34" charset="0"/>
                <a:ea typeface="Calibri" pitchFamily="34" charset="-122"/>
                <a:cs typeface="Calibri" pitchFamily="34" charset="-120"/>
              </a:rPr>
              <a:t>digest</a:t>
            </a:r>
            <a:r>
              <a:rPr lang="en-US" sz="1400">
                <a:solidFill>
                  <a:srgbClr val="F1F5F9"/>
                </a:solidFill>
                <a:latin typeface="Calibri" pitchFamily="34" charset="0"/>
                <a:ea typeface="Calibri" pitchFamily="34" charset="-122"/>
                <a:cs typeface="Calibri" pitchFamily="34" charset="-120"/>
              </a:rPr>
              <a:t>)</a:t>
            </a:r>
            <a:r>
              <a:rPr lang="en-US" sz="1400" dirty="0">
                <a:solidFill>
                  <a:srgbClr val="F1F5F9"/>
                </a:solidFill>
                <a:latin typeface="Calibri" pitchFamily="34" charset="0"/>
                <a:ea typeface="Calibri" pitchFamily="34" charset="-122"/>
                <a:cs typeface="Calibri" pitchFamily="34" charset="-120"/>
              </a:rPr>
              <a:t> cannot be turned into the input</a:t>
            </a:r>
            <a:endParaRPr lang="en-US" sz="1400" dirty="0"/>
          </a:p>
        </p:txBody>
      </p:sp>
      <p:sp>
        <p:nvSpPr>
          <p:cNvPr id="18" name="Text 15"/>
          <p:cNvSpPr/>
          <p:nvPr/>
        </p:nvSpPr>
        <p:spPr>
          <a:xfrm>
            <a:off x="1325880" y="3383280"/>
            <a:ext cx="4572000" cy="274320"/>
          </a:xfrm>
          <a:prstGeom prst="rect">
            <a:avLst/>
          </a:prstGeom>
          <a:noFill/>
          <a:ln/>
        </p:spPr>
        <p:txBody>
          <a:bodyPr wrap="square" lIns="0" tIns="0" rIns="0" bIns="0" rtlCol="0" anchor="ctr"/>
          <a:lstStyle/>
          <a:p>
            <a:pPr marL="0" indent="0">
              <a:buNone/>
            </a:pPr>
            <a:r>
              <a:rPr lang="en-US" sz="1400" dirty="0">
                <a:solidFill>
                  <a:srgbClr val="9FB0CC"/>
                </a:solidFill>
                <a:latin typeface="Calibri" pitchFamily="34" charset="0"/>
                <a:ea typeface="Calibri" pitchFamily="34" charset="-122"/>
                <a:cs typeface="Calibri" pitchFamily="34" charset="-120"/>
              </a:rPr>
              <a:t>Same input always gives the same </a:t>
            </a:r>
            <a:r>
              <a:rPr lang="en-US" sz="1400">
                <a:solidFill>
                  <a:srgbClr val="9FB0CC"/>
                </a:solidFill>
                <a:latin typeface="Calibri" pitchFamily="34" charset="0"/>
                <a:ea typeface="Calibri" pitchFamily="34" charset="-122"/>
                <a:cs typeface="Calibri" pitchFamily="34" charset="-120"/>
              </a:rPr>
              <a:t>hash</a:t>
            </a:r>
            <a:endParaRPr lang="en-US" sz="1400" dirty="0"/>
          </a:p>
        </p:txBody>
      </p:sp>
      <p:sp>
        <p:nvSpPr>
          <p:cNvPr id="19" name="Shape 16"/>
          <p:cNvSpPr/>
          <p:nvPr/>
        </p:nvSpPr>
        <p:spPr>
          <a:xfrm>
            <a:off x="6199632" y="1463040"/>
            <a:ext cx="5440680" cy="2331720"/>
          </a:xfrm>
          <a:prstGeom prst="roundRect">
            <a:avLst>
              <a:gd name="adj" fmla="val 3137"/>
            </a:avLst>
          </a:prstGeom>
          <a:solidFill>
            <a:srgbClr val="111A2F"/>
          </a:solidFill>
          <a:ln w="12700">
            <a:solidFill>
              <a:srgbClr val="2A3E68"/>
            </a:solidFill>
            <a:prstDash val="solid"/>
          </a:ln>
        </p:spPr>
      </p:sp>
      <p:sp>
        <p:nvSpPr>
          <p:cNvPr id="20" name="Text 17"/>
          <p:cNvSpPr/>
          <p:nvPr/>
        </p:nvSpPr>
        <p:spPr>
          <a:xfrm>
            <a:off x="6473952" y="1600200"/>
            <a:ext cx="4937760" cy="274320"/>
          </a:xfrm>
          <a:prstGeom prst="rect">
            <a:avLst/>
          </a:prstGeom>
          <a:noFill/>
          <a:ln/>
        </p:spPr>
        <p:txBody>
          <a:bodyPr wrap="square" lIns="0" tIns="0" rIns="0" bIns="0" rtlCol="0" anchor="t"/>
          <a:lstStyle/>
          <a:p>
            <a:pPr marL="0" indent="0">
              <a:buNone/>
            </a:pPr>
            <a:r>
              <a:rPr lang="en-US" sz="1300" b="1" dirty="0">
                <a:solidFill>
                  <a:srgbClr val="4ADE80"/>
                </a:solidFill>
                <a:latin typeface="Consolas" pitchFamily="34" charset="0"/>
                <a:ea typeface="Consolas" pitchFamily="34" charset="-122"/>
                <a:cs typeface="Consolas" pitchFamily="34" charset="-120"/>
              </a:rPr>
              <a:t>ENCRYPTION  ·  a reversible lock</a:t>
            </a:r>
            <a:endParaRPr lang="en-US" sz="1300" dirty="0"/>
          </a:p>
        </p:txBody>
      </p:sp>
      <p:sp>
        <p:nvSpPr>
          <p:cNvPr id="21" name="Shape 18"/>
          <p:cNvSpPr/>
          <p:nvPr/>
        </p:nvSpPr>
        <p:spPr>
          <a:xfrm>
            <a:off x="6565392" y="2057400"/>
            <a:ext cx="1325880" cy="685800"/>
          </a:xfrm>
          <a:prstGeom prst="roundRect">
            <a:avLst>
              <a:gd name="adj" fmla="val 10667"/>
            </a:avLst>
          </a:prstGeom>
          <a:solidFill>
            <a:srgbClr val="172544"/>
          </a:solidFill>
          <a:ln w="19050">
            <a:solidFill>
              <a:srgbClr val="4ADE80"/>
            </a:solidFill>
            <a:prstDash val="solid"/>
          </a:ln>
        </p:spPr>
      </p:sp>
      <p:sp>
        <p:nvSpPr>
          <p:cNvPr id="22" name="Text 19"/>
          <p:cNvSpPr/>
          <p:nvPr/>
        </p:nvSpPr>
        <p:spPr>
          <a:xfrm>
            <a:off x="6565392" y="2057400"/>
            <a:ext cx="1325880" cy="68580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plaintext</a:t>
            </a:r>
            <a:endParaRPr lang="en-US" sz="1300" dirty="0"/>
          </a:p>
        </p:txBody>
      </p:sp>
      <p:sp>
        <p:nvSpPr>
          <p:cNvPr id="23" name="Shape 20"/>
          <p:cNvSpPr/>
          <p:nvPr/>
        </p:nvSpPr>
        <p:spPr>
          <a:xfrm>
            <a:off x="7936992" y="2400300"/>
            <a:ext cx="320040" cy="0"/>
          </a:xfrm>
          <a:prstGeom prst="line">
            <a:avLst/>
          </a:prstGeom>
          <a:noFill/>
          <a:ln w="25400">
            <a:solidFill>
              <a:srgbClr val="22D3EE"/>
            </a:solidFill>
            <a:prstDash val="solid"/>
            <a:tailEnd type="triangle"/>
          </a:ln>
        </p:spPr>
      </p:sp>
      <p:sp>
        <p:nvSpPr>
          <p:cNvPr id="24" name="Shape 21"/>
          <p:cNvSpPr/>
          <p:nvPr/>
        </p:nvSpPr>
        <p:spPr>
          <a:xfrm>
            <a:off x="8302752" y="2057400"/>
            <a:ext cx="1325880" cy="685800"/>
          </a:xfrm>
          <a:prstGeom prst="roundRect">
            <a:avLst>
              <a:gd name="adj" fmla="val 10667"/>
            </a:avLst>
          </a:prstGeom>
          <a:solidFill>
            <a:srgbClr val="172544"/>
          </a:solidFill>
          <a:ln w="19050">
            <a:solidFill>
              <a:srgbClr val="A78BFA"/>
            </a:solidFill>
            <a:prstDash val="solid"/>
          </a:ln>
        </p:spPr>
      </p:sp>
      <p:sp>
        <p:nvSpPr>
          <p:cNvPr id="25" name="Text 22"/>
          <p:cNvSpPr/>
          <p:nvPr/>
        </p:nvSpPr>
        <p:spPr>
          <a:xfrm>
            <a:off x="8302752" y="2057400"/>
            <a:ext cx="1325880" cy="68580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AES + key</a:t>
            </a:r>
            <a:endParaRPr lang="en-US" sz="1300" dirty="0"/>
          </a:p>
        </p:txBody>
      </p:sp>
      <p:sp>
        <p:nvSpPr>
          <p:cNvPr id="26" name="Shape 23"/>
          <p:cNvSpPr/>
          <p:nvPr/>
        </p:nvSpPr>
        <p:spPr>
          <a:xfrm>
            <a:off x="9674352" y="2400300"/>
            <a:ext cx="320040" cy="0"/>
          </a:xfrm>
          <a:prstGeom prst="line">
            <a:avLst/>
          </a:prstGeom>
          <a:noFill/>
          <a:ln w="25400">
            <a:solidFill>
              <a:srgbClr val="22D3EE"/>
            </a:solidFill>
            <a:prstDash val="solid"/>
            <a:tailEnd type="triangle"/>
          </a:ln>
        </p:spPr>
      </p:sp>
      <p:sp>
        <p:nvSpPr>
          <p:cNvPr id="27" name="Shape 24"/>
          <p:cNvSpPr/>
          <p:nvPr/>
        </p:nvSpPr>
        <p:spPr>
          <a:xfrm>
            <a:off x="10040112" y="2057400"/>
            <a:ext cx="1325880" cy="685800"/>
          </a:xfrm>
          <a:prstGeom prst="roundRect">
            <a:avLst>
              <a:gd name="adj" fmla="val 10667"/>
            </a:avLst>
          </a:prstGeom>
          <a:solidFill>
            <a:srgbClr val="172544"/>
          </a:solidFill>
          <a:ln w="19050">
            <a:solidFill>
              <a:srgbClr val="4ADE80"/>
            </a:solidFill>
            <a:prstDash val="solid"/>
          </a:ln>
        </p:spPr>
      </p:sp>
      <p:sp>
        <p:nvSpPr>
          <p:cNvPr id="28" name="Text 25"/>
          <p:cNvSpPr/>
          <p:nvPr/>
        </p:nvSpPr>
        <p:spPr>
          <a:xfrm>
            <a:off x="10040112" y="2057400"/>
            <a:ext cx="1325880" cy="68580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ciphertext</a:t>
            </a:r>
            <a:endParaRPr lang="en-US" sz="1300" dirty="0"/>
          </a:p>
        </p:txBody>
      </p:sp>
      <p:pic>
        <p:nvPicPr>
          <p:cNvPr id="29" name="Image 1" descr="/agent/turn1/workspace/output/_anthropic_assets/icon-checkmark-circle-2703a2fa.png"/>
          <p:cNvPicPr>
            <a:picLocks noChangeAspect="1"/>
          </p:cNvPicPr>
          <p:nvPr/>
        </p:nvPicPr>
        <p:blipFill>
          <a:blip r:embed="rId4"/>
          <a:stretch>
            <a:fillRect/>
          </a:stretch>
        </p:blipFill>
        <p:spPr>
          <a:xfrm>
            <a:off x="6565392" y="3017520"/>
            <a:ext cx="292608" cy="292608"/>
          </a:xfrm>
          <a:prstGeom prst="rect">
            <a:avLst/>
          </a:prstGeom>
        </p:spPr>
      </p:pic>
      <p:sp>
        <p:nvSpPr>
          <p:cNvPr id="30" name="Text 26"/>
          <p:cNvSpPr/>
          <p:nvPr/>
        </p:nvSpPr>
        <p:spPr>
          <a:xfrm>
            <a:off x="6976872" y="3026664"/>
            <a:ext cx="4572000" cy="274320"/>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Reversible: the right key recovers the plaintext</a:t>
            </a:r>
            <a:endParaRPr lang="en-US" sz="1400" dirty="0"/>
          </a:p>
        </p:txBody>
      </p:sp>
      <p:sp>
        <p:nvSpPr>
          <p:cNvPr id="31" name="Text 27"/>
          <p:cNvSpPr/>
          <p:nvPr/>
        </p:nvSpPr>
        <p:spPr>
          <a:xfrm>
            <a:off x="6976872" y="3383280"/>
            <a:ext cx="4572000" cy="274320"/>
          </a:xfrm>
          <a:prstGeom prst="rect">
            <a:avLst/>
          </a:prstGeom>
          <a:noFill/>
          <a:ln/>
        </p:spPr>
        <p:txBody>
          <a:bodyPr wrap="square" lIns="0" tIns="0" rIns="0" bIns="0" rtlCol="0" anchor="ctr"/>
          <a:lstStyle/>
          <a:p>
            <a:pPr marL="0" indent="0">
              <a:buNone/>
            </a:pPr>
            <a:r>
              <a:rPr lang="en-US" sz="1400" dirty="0">
                <a:solidFill>
                  <a:srgbClr val="9FB0CC"/>
                </a:solidFill>
                <a:latin typeface="Calibri" pitchFamily="34" charset="0"/>
                <a:ea typeface="Calibri" pitchFamily="34" charset="-122"/>
                <a:cs typeface="Calibri" pitchFamily="34" charset="-120"/>
              </a:rPr>
              <a:t>Output is about as long as the input</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91672" cy="2194560"/>
        </p:xfrm>
        <a:graphic>
          <a:graphicData uri="http://schemas.openxmlformats.org/drawingml/2006/table">
            <a:tbl>
              <a:tblPr/>
              <a:tblGrid>
                <a:gridCol w="1947672">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65760">
                <a:tc>
                  <a:txBody>
                    <a:bodyPr/>
                    <a:lstStyle/>
                    <a:p>
                      <a:pPr marL="0" indent="0">
                        <a:buNone/>
                      </a:pP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Hashing</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Encryption</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Reversible?</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dirty="0">
                          <a:solidFill>
                            <a:srgbClr val="F1F5F9"/>
                          </a:solidFill>
                          <a:latin typeface="Calibri" pitchFamily="34" charset="0"/>
                          <a:ea typeface="Calibri" pitchFamily="34" charset="-122"/>
                          <a:cs typeface="Calibri" pitchFamily="34" charset="-120"/>
                        </a:rPr>
                        <a:t>No, one-way by design</a:t>
                      </a:r>
                      <a:endParaRPr lang="en-US" sz="14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dirty="0">
                          <a:solidFill>
                            <a:srgbClr val="F1F5F9"/>
                          </a:solidFill>
                          <a:latin typeface="Calibri" pitchFamily="34" charset="0"/>
                          <a:ea typeface="Calibri" pitchFamily="34" charset="-122"/>
                          <a:cs typeface="Calibri" pitchFamily="34" charset="-120"/>
                        </a:rPr>
                        <a:t>Yes, with the key</a:t>
                      </a:r>
                      <a:endParaRPr lang="en-US" sz="14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Key needed?</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dirty="0">
                          <a:solidFill>
                            <a:srgbClr val="F1F5F9"/>
                          </a:solidFill>
                          <a:latin typeface="Calibri" pitchFamily="34" charset="0"/>
                          <a:ea typeface="Calibri" pitchFamily="34" charset="-122"/>
                          <a:cs typeface="Calibri" pitchFamily="34" charset="-120"/>
                        </a:rPr>
                        <a:t>No (salt and pepper are optional extras)</a:t>
                      </a:r>
                      <a:endParaRPr lang="en-US" sz="14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dirty="0">
                          <a:solidFill>
                            <a:srgbClr val="F1F5F9"/>
                          </a:solidFill>
                          <a:latin typeface="Calibri" pitchFamily="34" charset="0"/>
                          <a:ea typeface="Calibri" pitchFamily="34" charset="-122"/>
                          <a:cs typeface="Calibri" pitchFamily="34" charset="-120"/>
                        </a:rPr>
                        <a:t>Yes, the key is the secret</a:t>
                      </a:r>
                      <a:endParaRPr lang="en-US" sz="14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Output size</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a:solidFill>
                            <a:srgbClr val="F1F5F9"/>
                          </a:solidFill>
                          <a:latin typeface="Calibri" pitchFamily="34" charset="0"/>
                          <a:ea typeface="Calibri" pitchFamily="34" charset="-122"/>
                          <a:cs typeface="Calibri" pitchFamily="34" charset="-120"/>
                        </a:rPr>
                        <a:t>Always the same size (e.g. 256 bits)</a:t>
                      </a:r>
                      <a:endParaRPr lang="en-US" sz="14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dirty="0">
                          <a:solidFill>
                            <a:srgbClr val="F1F5F9"/>
                          </a:solidFill>
                          <a:latin typeface="Calibri" pitchFamily="34" charset="0"/>
                          <a:ea typeface="Calibri" pitchFamily="34" charset="-122"/>
                          <a:cs typeface="Calibri" pitchFamily="34" charset="-120"/>
                        </a:rPr>
                        <a:t>About the same size as the input</a:t>
                      </a:r>
                      <a:endParaRPr lang="en-US" sz="14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Goal</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a:solidFill>
                            <a:srgbClr val="F1F5F9"/>
                          </a:solidFill>
                          <a:latin typeface="Calibri" pitchFamily="34" charset="0"/>
                          <a:ea typeface="Calibri" pitchFamily="34" charset="-122"/>
                          <a:cs typeface="Calibri" pitchFamily="34" charset="-120"/>
                        </a:rPr>
                        <a:t>Checking data is unchanged, storing passwords</a:t>
                      </a:r>
                      <a:endParaRPr lang="en-US" sz="14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a:solidFill>
                            <a:srgbClr val="F1F5F9"/>
                          </a:solidFill>
                          <a:latin typeface="Calibri" pitchFamily="34" charset="0"/>
                          <a:ea typeface="Calibri" pitchFamily="34" charset="-122"/>
                          <a:cs typeface="Calibri" pitchFamily="34" charset="-120"/>
                        </a:rPr>
                        <a:t>Keeping data private</a:t>
                      </a:r>
                      <a:endParaRPr lang="en-US" sz="14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4"/>
                  </a:ext>
                </a:extLst>
              </a:tr>
              <a:tr h="365760">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Examples</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dirty="0">
                          <a:solidFill>
                            <a:srgbClr val="F1F5F9"/>
                          </a:solidFill>
                          <a:latin typeface="Calibri" pitchFamily="34" charset="0"/>
                          <a:ea typeface="Calibri" pitchFamily="34" charset="-122"/>
                          <a:cs typeface="Calibri" pitchFamily="34" charset="-120"/>
                        </a:rPr>
                        <a:t>SHA-256, bcrypt, Argon2</a:t>
                      </a:r>
                      <a:endParaRPr lang="en-US" sz="14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dirty="0">
                          <a:solidFill>
                            <a:srgbClr val="F1F5F9"/>
                          </a:solidFill>
                          <a:latin typeface="Calibri" pitchFamily="34" charset="0"/>
                          <a:ea typeface="Calibri" pitchFamily="34" charset="-122"/>
                          <a:cs typeface="Calibri" pitchFamily="34" charset="-120"/>
                        </a:rPr>
                        <a:t>AES, RSA, ChaCha20</a:t>
                      </a:r>
                      <a:endParaRPr lang="en-US" sz="14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CHECKPOINT 1  ·  5 MIN</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Pause and discuss</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09</a:t>
            </a:r>
            <a:endParaRPr lang="en-US" sz="1000"/>
          </a:p>
        </p:txBody>
      </p:sp>
      <p:sp>
        <p:nvSpPr>
          <p:cNvPr id="6" name="Rounded Rectangle 5"/>
          <p:cNvSpPr/>
          <p:nvPr/>
        </p:nvSpPr>
        <p:spPr>
          <a:xfrm>
            <a:off x="548640" y="1417320"/>
            <a:ext cx="3291840" cy="475488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con-chat-help-cc840707.png"/>
          <p:cNvPicPr>
            <a:picLocks noChangeAspect="1"/>
          </p:cNvPicPr>
          <p:nvPr/>
        </p:nvPicPr>
        <p:blipFill>
          <a:blip r:embed="rId3"/>
          <a:stretch>
            <a:fillRect/>
          </a:stretch>
        </p:blipFill>
        <p:spPr>
          <a:xfrm>
            <a:off x="822960" y="1691640"/>
            <a:ext cx="822960" cy="822960"/>
          </a:xfrm>
          <a:prstGeom prst="rect">
            <a:avLst/>
          </a:prstGeom>
        </p:spPr>
      </p:pic>
      <p:sp>
        <p:nvSpPr>
          <p:cNvPr id="8" name="TextBox 7"/>
          <p:cNvSpPr txBox="1"/>
          <p:nvPr/>
        </p:nvSpPr>
        <p:spPr>
          <a:xfrm>
            <a:off x="822960" y="2743200"/>
            <a:ext cx="2743200" cy="274320"/>
          </a:xfrm>
          <a:prstGeom prst="rect">
            <a:avLst/>
          </a:prstGeom>
          <a:noFill/>
        </p:spPr>
        <p:txBody>
          <a:bodyPr wrap="square" lIns="0" tIns="0" rIns="0" bIns="0" anchor="t">
            <a:spAutoFit/>
          </a:bodyPr>
          <a:lstStyle/>
          <a:p>
            <a:pPr algn="l"/>
            <a:r>
              <a:rPr sz="1400" b="1" i="0">
                <a:solidFill>
                  <a:srgbClr val="FBBF24"/>
                </a:solidFill>
                <a:latin typeface="Consolas"/>
              </a:rPr>
              <a:t>CHECKPOINT 1</a:t>
            </a:r>
          </a:p>
        </p:txBody>
      </p:sp>
      <p:sp>
        <p:nvSpPr>
          <p:cNvPr id="9" name="TextBox 8"/>
          <p:cNvSpPr txBox="1"/>
          <p:nvPr/>
        </p:nvSpPr>
        <p:spPr>
          <a:xfrm>
            <a:off x="822960" y="3108960"/>
            <a:ext cx="2743200" cy="548640"/>
          </a:xfrm>
          <a:prstGeom prst="rect">
            <a:avLst/>
          </a:prstGeom>
          <a:noFill/>
        </p:spPr>
        <p:txBody>
          <a:bodyPr wrap="square" lIns="0" tIns="0" rIns="0" bIns="0" anchor="t">
            <a:spAutoFit/>
          </a:bodyPr>
          <a:lstStyle/>
          <a:p>
            <a:pPr algn="l"/>
            <a:r>
              <a:rPr sz="2600" b="1" i="0">
                <a:solidFill>
                  <a:srgbClr val="F1F5F9"/>
                </a:solidFill>
                <a:latin typeface="Consolas"/>
              </a:rPr>
              <a:t>5 minutes</a:t>
            </a:r>
          </a:p>
        </p:txBody>
      </p:sp>
      <p:sp>
        <p:nvSpPr>
          <p:cNvPr id="10" name="TextBox 9"/>
          <p:cNvSpPr txBox="1"/>
          <p:nvPr/>
        </p:nvSpPr>
        <p:spPr>
          <a:xfrm>
            <a:off x="822960" y="3840480"/>
            <a:ext cx="2743200" cy="2103120"/>
          </a:xfrm>
          <a:prstGeom prst="rect">
            <a:avLst/>
          </a:prstGeom>
          <a:noFill/>
        </p:spPr>
        <p:txBody>
          <a:bodyPr wrap="square" lIns="0" tIns="0" rIns="0" bIns="0" anchor="t">
            <a:spAutoFit/>
          </a:bodyPr>
          <a:lstStyle/>
          <a:p>
            <a:pPr algn="l"/>
            <a:r>
              <a:rPr sz="1400" b="0" i="0">
                <a:solidFill>
                  <a:srgbClr val="9FB0CC"/>
                </a:solidFill>
                <a:latin typeface="Calibri"/>
              </a:rPr>
              <a:t>Talk with a neighbour for a couple of minutes, then we share answers. Guesses are welcome: there are no wrong answers yet.</a:t>
            </a:r>
          </a:p>
        </p:txBody>
      </p:sp>
      <p:sp>
        <p:nvSpPr>
          <p:cNvPr id="11" name="Rounded Rectangle 10"/>
          <p:cNvSpPr/>
          <p:nvPr/>
        </p:nvSpPr>
        <p:spPr>
          <a:xfrm>
            <a:off x="4023360" y="141732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51960" y="164592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51960" y="164592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1</a:t>
            </a:r>
          </a:p>
        </p:txBody>
      </p:sp>
      <p:sp>
        <p:nvSpPr>
          <p:cNvPr id="14" name="TextBox 13"/>
          <p:cNvSpPr txBox="1"/>
          <p:nvPr/>
        </p:nvSpPr>
        <p:spPr>
          <a:xfrm>
            <a:off x="4983480" y="1600200"/>
            <a:ext cx="6400800" cy="777240"/>
          </a:xfrm>
          <a:prstGeom prst="rect">
            <a:avLst/>
          </a:prstGeom>
          <a:noFill/>
        </p:spPr>
        <p:txBody>
          <a:bodyPr wrap="square" lIns="0" tIns="0" rIns="0" bIns="0" anchor="t">
            <a:spAutoFit/>
          </a:bodyPr>
          <a:lstStyle/>
          <a:p>
            <a:pPr algn="l"/>
            <a:r>
              <a:rPr sz="1800" b="0" i="0">
                <a:solidFill>
                  <a:srgbClr val="F1F5F9"/>
                </a:solidFill>
                <a:latin typeface="Calibri"/>
              </a:rPr>
              <a:t>Name something you did today that used cryptography. Which of the four goals did it need?</a:t>
            </a:r>
          </a:p>
        </p:txBody>
      </p:sp>
      <p:sp>
        <p:nvSpPr>
          <p:cNvPr id="15" name="TextBox 14"/>
          <p:cNvSpPr txBox="1"/>
          <p:nvPr/>
        </p:nvSpPr>
        <p:spPr>
          <a:xfrm>
            <a:off x="4983480" y="242316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logging in, messaging, paying, streaming.</a:t>
            </a:r>
          </a:p>
        </p:txBody>
      </p:sp>
      <p:sp>
        <p:nvSpPr>
          <p:cNvPr id="16" name="Rounded Rectangle 15"/>
          <p:cNvSpPr/>
          <p:nvPr/>
        </p:nvSpPr>
        <p:spPr>
          <a:xfrm>
            <a:off x="4023360" y="306324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51960" y="329184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329184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2</a:t>
            </a:r>
          </a:p>
        </p:txBody>
      </p:sp>
      <p:sp>
        <p:nvSpPr>
          <p:cNvPr id="19" name="TextBox 18"/>
          <p:cNvSpPr txBox="1"/>
          <p:nvPr/>
        </p:nvSpPr>
        <p:spPr>
          <a:xfrm>
            <a:off x="4983480" y="3246120"/>
            <a:ext cx="6400800" cy="777240"/>
          </a:xfrm>
          <a:prstGeom prst="rect">
            <a:avLst/>
          </a:prstGeom>
          <a:noFill/>
        </p:spPr>
        <p:txBody>
          <a:bodyPr wrap="square" lIns="0" tIns="0" rIns="0" bIns="0" anchor="t">
            <a:spAutoFit/>
          </a:bodyPr>
          <a:lstStyle/>
          <a:p>
            <a:pPr algn="l"/>
            <a:r>
              <a:rPr sz="1800" b="0" i="0">
                <a:solidFill>
                  <a:srgbClr val="F1F5F9"/>
                </a:solidFill>
                <a:latin typeface="Calibri"/>
              </a:rPr>
              <a:t>Why might a website prefer to hash your password instead of encrypting it?</a:t>
            </a:r>
          </a:p>
        </p:txBody>
      </p:sp>
      <p:sp>
        <p:nvSpPr>
          <p:cNvPr id="20" name="TextBox 19"/>
          <p:cNvSpPr txBox="1"/>
          <p:nvPr/>
        </p:nvSpPr>
        <p:spPr>
          <a:xfrm>
            <a:off x="4983480" y="406908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who would hold the key if it were encrypted?</a:t>
            </a:r>
          </a:p>
        </p:txBody>
      </p:sp>
      <p:sp>
        <p:nvSpPr>
          <p:cNvPr id="21" name="Rounded Rectangle 20"/>
          <p:cNvSpPr/>
          <p:nvPr/>
        </p:nvSpPr>
        <p:spPr>
          <a:xfrm>
            <a:off x="4023360" y="470916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251960" y="493776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51960" y="493776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3</a:t>
            </a:r>
          </a:p>
        </p:txBody>
      </p:sp>
      <p:sp>
        <p:nvSpPr>
          <p:cNvPr id="24" name="TextBox 23"/>
          <p:cNvSpPr txBox="1"/>
          <p:nvPr/>
        </p:nvSpPr>
        <p:spPr>
          <a:xfrm>
            <a:off x="4983480" y="4892040"/>
            <a:ext cx="6400800" cy="777240"/>
          </a:xfrm>
          <a:prstGeom prst="rect">
            <a:avLst/>
          </a:prstGeom>
          <a:noFill/>
        </p:spPr>
        <p:txBody>
          <a:bodyPr wrap="square" lIns="0" tIns="0" rIns="0" bIns="0" anchor="t">
            <a:spAutoFit/>
          </a:bodyPr>
          <a:lstStyle/>
          <a:p>
            <a:pPr algn="l"/>
            <a:r>
              <a:rPr sz="1800" b="0" i="0">
                <a:solidFill>
                  <a:srgbClr val="F1F5F9"/>
                </a:solidFill>
                <a:latin typeface="Calibri"/>
              </a:rPr>
              <a:t>A Caesar cipher has 25 keys. Roughly how many keys would make guessing hopeless?</a:t>
            </a:r>
          </a:p>
        </p:txBody>
      </p:sp>
      <p:sp>
        <p:nvSpPr>
          <p:cNvPr id="25" name="TextBox 24"/>
          <p:cNvSpPr txBox="1"/>
          <p:nvPr/>
        </p:nvSpPr>
        <p:spPr>
          <a:xfrm>
            <a:off x="4983480" y="571500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how many guesses can a computer make per second?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HASHING 01</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How hashing works</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10</a:t>
            </a:r>
            <a:endParaRPr lang="en-US" sz="1000" dirty="0"/>
          </a:p>
        </p:txBody>
      </p:sp>
      <p:sp>
        <p:nvSpPr>
          <p:cNvPr id="6" name="Shape 4"/>
          <p:cNvSpPr/>
          <p:nvPr/>
        </p:nvSpPr>
        <p:spPr>
          <a:xfrm>
            <a:off x="548640" y="1463040"/>
            <a:ext cx="5212080" cy="850392"/>
          </a:xfrm>
          <a:prstGeom prst="roundRect">
            <a:avLst>
              <a:gd name="adj" fmla="val 8602"/>
            </a:avLst>
          </a:prstGeom>
          <a:solidFill>
            <a:srgbClr val="111A2F"/>
          </a:solidFill>
          <a:ln w="12700">
            <a:solidFill>
              <a:srgbClr val="2A3E68"/>
            </a:solidFill>
            <a:prstDash val="solid"/>
          </a:ln>
        </p:spPr>
      </p:sp>
      <p:sp>
        <p:nvSpPr>
          <p:cNvPr id="7" name="Text 5"/>
          <p:cNvSpPr/>
          <p:nvPr/>
        </p:nvSpPr>
        <p:spPr>
          <a:xfrm>
            <a:off x="777240" y="1554480"/>
            <a:ext cx="4754880" cy="256032"/>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Deterministic and fast</a:t>
            </a:r>
            <a:endParaRPr lang="en-US" sz="1400" dirty="0"/>
          </a:p>
        </p:txBody>
      </p:sp>
      <p:sp>
        <p:nvSpPr>
          <p:cNvPr id="8" name="Text 6"/>
          <p:cNvSpPr/>
          <p:nvPr/>
        </p:nvSpPr>
        <p:spPr>
          <a:xfrm>
            <a:off x="777240" y="1828800"/>
            <a:ext cx="4800600" cy="457200"/>
          </a:xfrm>
          <a:prstGeom prst="rect">
            <a:avLst/>
          </a:prstGeom>
          <a:noFill/>
          <a:ln/>
        </p:spPr>
        <p:txBody>
          <a:bodyPr wrap="square" lIns="0" tIns="0" rIns="0" bIns="0" rtlCol="0" anchor="t"/>
          <a:lstStyle/>
          <a:p>
            <a:pPr marL="0" indent="0">
              <a:buNone/>
            </a:pPr>
            <a:r>
              <a:rPr lang="en-US" sz="1300" dirty="0">
                <a:solidFill>
                  <a:srgbClr val="F1F5F9"/>
                </a:solidFill>
                <a:latin typeface="Calibri" pitchFamily="34" charset="0"/>
                <a:ea typeface="Calibri" pitchFamily="34" charset="-122"/>
                <a:cs typeface="Calibri" pitchFamily="34" charset="-120"/>
              </a:rPr>
              <a:t>Same input</a:t>
            </a:r>
            <a:r>
              <a:rPr lang="en-US" sz="1300">
                <a:solidFill>
                  <a:srgbClr val="F1F5F9"/>
                </a:solidFill>
                <a:latin typeface="Calibri" pitchFamily="34" charset="0"/>
                <a:ea typeface="Calibri" pitchFamily="34" charset="-122"/>
                <a:cs typeface="Calibri" pitchFamily="34" charset="-120"/>
              </a:rPr>
              <a:t> always gives the </a:t>
            </a:r>
            <a:r>
              <a:rPr lang="en-US" sz="1300" dirty="0">
                <a:solidFill>
                  <a:srgbClr val="F1F5F9"/>
                </a:solidFill>
                <a:latin typeface="Calibri" pitchFamily="34" charset="0"/>
                <a:ea typeface="Calibri" pitchFamily="34" charset="-122"/>
                <a:cs typeface="Calibri" pitchFamily="34" charset="-120"/>
              </a:rPr>
              <a:t>same </a:t>
            </a:r>
            <a:r>
              <a:rPr lang="en-US" sz="1300">
                <a:solidFill>
                  <a:srgbClr val="F1F5F9"/>
                </a:solidFill>
                <a:latin typeface="Calibri" pitchFamily="34" charset="0"/>
                <a:ea typeface="Calibri" pitchFamily="34" charset="-122"/>
                <a:cs typeface="Calibri" pitchFamily="34" charset="-120"/>
              </a:rPr>
              <a:t>hash</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Quick</a:t>
            </a:r>
            <a:r>
              <a:rPr lang="en-US" sz="1300" dirty="0">
                <a:solidFill>
                  <a:srgbClr val="F1F5F9"/>
                </a:solidFill>
                <a:latin typeface="Calibri" pitchFamily="34" charset="0"/>
                <a:ea typeface="Calibri" pitchFamily="34" charset="-122"/>
                <a:cs typeface="Calibri" pitchFamily="34" charset="-120"/>
              </a:rPr>
              <a:t> to compute.</a:t>
            </a:r>
            <a:endParaRPr lang="en-US" sz="1300" dirty="0"/>
          </a:p>
        </p:txBody>
      </p:sp>
      <p:sp>
        <p:nvSpPr>
          <p:cNvPr id="9" name="Shape 7"/>
          <p:cNvSpPr/>
          <p:nvPr/>
        </p:nvSpPr>
        <p:spPr>
          <a:xfrm>
            <a:off x="548640" y="2404872"/>
            <a:ext cx="5212080" cy="850392"/>
          </a:xfrm>
          <a:prstGeom prst="roundRect">
            <a:avLst>
              <a:gd name="adj" fmla="val 8602"/>
            </a:avLst>
          </a:prstGeom>
          <a:solidFill>
            <a:srgbClr val="111A2F"/>
          </a:solidFill>
          <a:ln w="12700">
            <a:solidFill>
              <a:srgbClr val="2A3E68"/>
            </a:solidFill>
            <a:prstDash val="solid"/>
          </a:ln>
        </p:spPr>
      </p:sp>
      <p:sp>
        <p:nvSpPr>
          <p:cNvPr id="10" name="Text 8"/>
          <p:cNvSpPr/>
          <p:nvPr/>
        </p:nvSpPr>
        <p:spPr>
          <a:xfrm>
            <a:off x="777240" y="2496312"/>
            <a:ext cx="4754880" cy="256032"/>
          </a:xfrm>
          <a:prstGeom prst="rect">
            <a:avLst/>
          </a:prstGeom>
          <a:noFill/>
          <a:ln/>
        </p:spPr>
        <p:txBody>
          <a:bodyPr wrap="square" lIns="0" tIns="0" rIns="0" bIns="0" rtlCol="0" anchor="t"/>
          <a:lstStyle/>
          <a:p>
            <a:pPr marL="0" indent="0">
              <a:buNone/>
            </a:pPr>
            <a:r>
              <a:rPr lang="en-US" sz="1400" b="1" dirty="0">
                <a:solidFill>
                  <a:srgbClr val="4ADE80"/>
                </a:solidFill>
                <a:latin typeface="Consolas" pitchFamily="34" charset="0"/>
                <a:ea typeface="Consolas" pitchFamily="34" charset="-122"/>
                <a:cs typeface="Consolas" pitchFamily="34" charset="-120"/>
              </a:rPr>
              <a:t>Fixed-size output</a:t>
            </a:r>
            <a:endParaRPr lang="en-US" sz="1400" dirty="0"/>
          </a:p>
        </p:txBody>
      </p:sp>
      <p:sp>
        <p:nvSpPr>
          <p:cNvPr id="11" name="Text 9"/>
          <p:cNvSpPr/>
          <p:nvPr/>
        </p:nvSpPr>
        <p:spPr>
          <a:xfrm>
            <a:off x="777240" y="2770632"/>
            <a:ext cx="4800600" cy="457200"/>
          </a:xfrm>
          <a:prstGeom prst="rect">
            <a:avLst/>
          </a:prstGeom>
          <a:noFill/>
          <a:ln/>
        </p:spPr>
        <p:txBody>
          <a:bodyPr wrap="square" lIns="0" tIns="0" rIns="0" bIns="0" rtlCol="0" anchor="t"/>
          <a:lstStyle/>
          <a:p>
            <a:pPr marL="0" indent="0">
              <a:buNone/>
            </a:pPr>
            <a:r>
              <a:rPr lang="en-US" sz="1300" dirty="0">
                <a:solidFill>
                  <a:srgbClr val="F1F5F9"/>
                </a:solidFill>
                <a:latin typeface="Calibri" pitchFamily="34" charset="0"/>
                <a:ea typeface="Calibri" pitchFamily="34" charset="-122"/>
                <a:cs typeface="Calibri" pitchFamily="34" charset="-120"/>
              </a:rPr>
              <a:t>A single letter or a whole movie both give 256 bits.</a:t>
            </a:r>
            <a:endParaRPr lang="en-US" sz="1300" dirty="0"/>
          </a:p>
        </p:txBody>
      </p:sp>
      <p:sp>
        <p:nvSpPr>
          <p:cNvPr id="12" name="Shape 10"/>
          <p:cNvSpPr/>
          <p:nvPr/>
        </p:nvSpPr>
        <p:spPr>
          <a:xfrm>
            <a:off x="548640" y="3346704"/>
            <a:ext cx="5212080" cy="850392"/>
          </a:xfrm>
          <a:prstGeom prst="roundRect">
            <a:avLst>
              <a:gd name="adj" fmla="val 8602"/>
            </a:avLst>
          </a:prstGeom>
          <a:solidFill>
            <a:srgbClr val="111A2F"/>
          </a:solidFill>
          <a:ln w="12700">
            <a:solidFill>
              <a:srgbClr val="2A3E68"/>
            </a:solidFill>
            <a:prstDash val="solid"/>
          </a:ln>
        </p:spPr>
      </p:sp>
      <p:sp>
        <p:nvSpPr>
          <p:cNvPr id="13" name="Text 11"/>
          <p:cNvSpPr/>
          <p:nvPr/>
        </p:nvSpPr>
        <p:spPr>
          <a:xfrm>
            <a:off x="777240" y="3438144"/>
            <a:ext cx="4754880" cy="256032"/>
          </a:xfrm>
          <a:prstGeom prst="rect">
            <a:avLst/>
          </a:prstGeom>
          <a:noFill/>
          <a:ln/>
        </p:spPr>
        <p:txBody>
          <a:bodyPr wrap="square" lIns="0" tIns="0" rIns="0" bIns="0" rtlCol="0" anchor="t"/>
          <a:lstStyle/>
          <a:p>
            <a:pPr marL="0" indent="0">
              <a:buNone/>
            </a:pPr>
            <a:r>
              <a:rPr lang="en-US" sz="1400" b="1" dirty="0">
                <a:solidFill>
                  <a:srgbClr val="FBBF24"/>
                </a:solidFill>
                <a:latin typeface="Consolas" pitchFamily="34" charset="0"/>
                <a:ea typeface="Consolas" pitchFamily="34" charset="-122"/>
                <a:cs typeface="Consolas" pitchFamily="34" charset="-120"/>
              </a:rPr>
              <a:t>Avalanche effect</a:t>
            </a:r>
            <a:endParaRPr lang="en-US" sz="1400" dirty="0"/>
          </a:p>
        </p:txBody>
      </p:sp>
      <p:sp>
        <p:nvSpPr>
          <p:cNvPr id="14" name="Text 12"/>
          <p:cNvSpPr/>
          <p:nvPr/>
        </p:nvSpPr>
        <p:spPr>
          <a:xfrm>
            <a:off x="777240" y="3712464"/>
            <a:ext cx="4800600" cy="45720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Change </a:t>
            </a:r>
            <a:r>
              <a:rPr lang="en-US" sz="1300" dirty="0">
                <a:solidFill>
                  <a:srgbClr val="F1F5F9"/>
                </a:solidFill>
                <a:latin typeface="Calibri" pitchFamily="34" charset="0"/>
                <a:ea typeface="Calibri" pitchFamily="34" charset="-122"/>
                <a:cs typeface="Calibri" pitchFamily="34" charset="-120"/>
              </a:rPr>
              <a:t>one input bit and about half the output bits </a:t>
            </a:r>
            <a:r>
              <a:rPr lang="en-US" sz="1300">
                <a:solidFill>
                  <a:srgbClr val="F1F5F9"/>
                </a:solidFill>
                <a:latin typeface="Calibri" pitchFamily="34" charset="0"/>
                <a:ea typeface="Calibri" pitchFamily="34" charset="-122"/>
                <a:cs typeface="Calibri" pitchFamily="34" charset="-120"/>
              </a:rPr>
              <a:t>change</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548640" y="4288536"/>
            <a:ext cx="5212080" cy="850392"/>
          </a:xfrm>
          <a:prstGeom prst="roundRect">
            <a:avLst>
              <a:gd name="adj" fmla="val 8602"/>
            </a:avLst>
          </a:prstGeom>
          <a:solidFill>
            <a:srgbClr val="111A2F"/>
          </a:solidFill>
          <a:ln w="12700">
            <a:solidFill>
              <a:srgbClr val="2A3E68"/>
            </a:solidFill>
            <a:prstDash val="solid"/>
          </a:ln>
        </p:spPr>
      </p:sp>
      <p:sp>
        <p:nvSpPr>
          <p:cNvPr id="16" name="Text 14"/>
          <p:cNvSpPr/>
          <p:nvPr/>
        </p:nvSpPr>
        <p:spPr>
          <a:xfrm>
            <a:off x="777240" y="4379976"/>
            <a:ext cx="4754880" cy="256032"/>
          </a:xfrm>
          <a:prstGeom prst="rect">
            <a:avLst/>
          </a:prstGeom>
          <a:noFill/>
          <a:ln/>
        </p:spPr>
        <p:txBody>
          <a:bodyPr wrap="square" lIns="0" tIns="0" rIns="0" bIns="0" rtlCol="0" anchor="t"/>
          <a:lstStyle/>
          <a:p>
            <a:pPr marL="0" indent="0">
              <a:buNone/>
            </a:pPr>
            <a:r>
              <a:rPr lang="en-US" sz="1400" b="1">
                <a:solidFill>
                  <a:srgbClr val="A78BFA"/>
                </a:solidFill>
                <a:latin typeface="Consolas" pitchFamily="34" charset="0"/>
                <a:ea typeface="Consolas" pitchFamily="34" charset="-122"/>
                <a:cs typeface="Consolas" pitchFamily="34" charset="-120"/>
              </a:rPr>
              <a:t>One-way (preimage </a:t>
            </a:r>
            <a:r>
              <a:rPr lang="en-US" sz="1400" b="1" dirty="0">
                <a:solidFill>
                  <a:srgbClr val="A78BFA"/>
                </a:solidFill>
                <a:latin typeface="Consolas" pitchFamily="34" charset="0"/>
                <a:ea typeface="Consolas" pitchFamily="34" charset="-122"/>
                <a:cs typeface="Consolas" pitchFamily="34" charset="-120"/>
              </a:rPr>
              <a:t>resistance</a:t>
            </a:r>
            <a:r>
              <a:rPr lang="en-US" sz="1400" b="1">
                <a:solidFill>
                  <a:srgbClr val="A78BFA"/>
                </a:solidFill>
                <a:latin typeface="Consolas" pitchFamily="34" charset="0"/>
                <a:ea typeface="Consolas" pitchFamily="34" charset="-122"/>
                <a:cs typeface="Consolas" pitchFamily="34" charset="-120"/>
              </a:rPr>
              <a:t>)</a:t>
            </a:r>
            <a:endParaRPr lang="en-US" sz="1400" dirty="0"/>
          </a:p>
        </p:txBody>
      </p:sp>
      <p:sp>
        <p:nvSpPr>
          <p:cNvPr id="17" name="Text 15"/>
          <p:cNvSpPr/>
          <p:nvPr/>
        </p:nvSpPr>
        <p:spPr>
          <a:xfrm>
            <a:off x="777240" y="4654296"/>
            <a:ext cx="4800600" cy="457200"/>
          </a:xfrm>
          <a:prstGeom prst="rect">
            <a:avLst/>
          </a:prstGeom>
          <a:noFill/>
          <a:ln/>
        </p:spPr>
        <p:txBody>
          <a:bodyPr wrap="square" lIns="0" tIns="0" rIns="0" bIns="0" rtlCol="0" anchor="t"/>
          <a:lstStyle/>
          <a:p>
            <a:pPr marL="0" indent="0">
              <a:buNone/>
            </a:pPr>
            <a:r>
              <a:rPr lang="en-US" sz="1300" dirty="0">
                <a:solidFill>
                  <a:srgbClr val="F1F5F9"/>
                </a:solidFill>
                <a:latin typeface="Calibri" pitchFamily="34" charset="0"/>
                <a:ea typeface="Calibri" pitchFamily="34" charset="-122"/>
                <a:cs typeface="Calibri" pitchFamily="34" charset="-120"/>
              </a:rPr>
              <a:t>Given </a:t>
            </a:r>
            <a:r>
              <a:rPr lang="en-US" sz="1300">
                <a:solidFill>
                  <a:srgbClr val="F1F5F9"/>
                </a:solidFill>
                <a:latin typeface="Calibri" pitchFamily="34" charset="0"/>
                <a:ea typeface="Calibri" pitchFamily="34" charset="-122"/>
                <a:cs typeface="Calibri" pitchFamily="34" charset="-120"/>
              </a:rPr>
              <a:t>a hash</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the only way to find the input is to guess</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548640" y="5230368"/>
            <a:ext cx="5212080" cy="850392"/>
          </a:xfrm>
          <a:prstGeom prst="roundRect">
            <a:avLst>
              <a:gd name="adj" fmla="val 8602"/>
            </a:avLst>
          </a:prstGeom>
          <a:solidFill>
            <a:srgbClr val="111A2F"/>
          </a:solidFill>
          <a:ln w="12700">
            <a:solidFill>
              <a:srgbClr val="2A3E68"/>
            </a:solidFill>
            <a:prstDash val="solid"/>
          </a:ln>
        </p:spPr>
      </p:sp>
      <p:sp>
        <p:nvSpPr>
          <p:cNvPr id="19" name="Text 17"/>
          <p:cNvSpPr/>
          <p:nvPr/>
        </p:nvSpPr>
        <p:spPr>
          <a:xfrm>
            <a:off x="777240" y="5321808"/>
            <a:ext cx="4754880" cy="256032"/>
          </a:xfrm>
          <a:prstGeom prst="rect">
            <a:avLst/>
          </a:prstGeom>
          <a:noFill/>
          <a:ln/>
        </p:spPr>
        <p:txBody>
          <a:bodyPr wrap="square" lIns="0" tIns="0" rIns="0" bIns="0" rtlCol="0" anchor="t"/>
          <a:lstStyle/>
          <a:p>
            <a:pPr marL="0" indent="0">
              <a:buNone/>
            </a:pPr>
            <a:r>
              <a:rPr lang="en-US" sz="1400" b="1">
                <a:solidFill>
                  <a:srgbClr val="F87171"/>
                </a:solidFill>
                <a:latin typeface="Consolas" pitchFamily="34" charset="0"/>
                <a:ea typeface="Consolas" pitchFamily="34" charset="-122"/>
                <a:cs typeface="Consolas" pitchFamily="34" charset="-120"/>
              </a:rPr>
              <a:t>No twins (collision </a:t>
            </a:r>
            <a:r>
              <a:rPr lang="en-US" sz="1400" b="1" dirty="0">
                <a:solidFill>
                  <a:srgbClr val="F87171"/>
                </a:solidFill>
                <a:latin typeface="Consolas" pitchFamily="34" charset="0"/>
                <a:ea typeface="Consolas" pitchFamily="34" charset="-122"/>
                <a:cs typeface="Consolas" pitchFamily="34" charset="-120"/>
              </a:rPr>
              <a:t>resistance</a:t>
            </a:r>
            <a:r>
              <a:rPr lang="en-US" sz="1400" b="1">
                <a:solidFill>
                  <a:srgbClr val="F87171"/>
                </a:solidFill>
                <a:latin typeface="Consolas" pitchFamily="34" charset="0"/>
                <a:ea typeface="Consolas" pitchFamily="34" charset="-122"/>
                <a:cs typeface="Consolas" pitchFamily="34" charset="-120"/>
              </a:rPr>
              <a:t>)</a:t>
            </a:r>
            <a:endParaRPr lang="en-US" sz="1400" dirty="0"/>
          </a:p>
        </p:txBody>
      </p:sp>
      <p:sp>
        <p:nvSpPr>
          <p:cNvPr id="20" name="Text 18"/>
          <p:cNvSpPr/>
          <p:nvPr/>
        </p:nvSpPr>
        <p:spPr>
          <a:xfrm>
            <a:off x="777240" y="5596128"/>
            <a:ext cx="4800600" cy="45720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It should be practically impossible to find </a:t>
            </a:r>
            <a:r>
              <a:rPr lang="en-US" sz="1300" dirty="0">
                <a:solidFill>
                  <a:srgbClr val="F1F5F9"/>
                </a:solidFill>
                <a:latin typeface="Calibri" pitchFamily="34" charset="0"/>
                <a:ea typeface="Calibri" pitchFamily="34" charset="-122"/>
                <a:cs typeface="Calibri" pitchFamily="34" charset="-120"/>
              </a:rPr>
              <a:t>two inputs with </a:t>
            </a:r>
            <a:r>
              <a:rPr lang="en-US" sz="1300">
                <a:solidFill>
                  <a:srgbClr val="F1F5F9"/>
                </a:solidFill>
                <a:latin typeface="Calibri" pitchFamily="34" charset="0"/>
                <a:ea typeface="Calibri" pitchFamily="34" charset="-122"/>
                <a:cs typeface="Calibri" pitchFamily="34" charset="-120"/>
              </a:rPr>
              <a:t>the same hash.</a:t>
            </a:r>
            <a:endParaRPr lang="en-US" sz="1300" dirty="0"/>
          </a:p>
        </p:txBody>
      </p:sp>
      <p:sp>
        <p:nvSpPr>
          <p:cNvPr id="21" name="Shape 19"/>
          <p:cNvSpPr/>
          <p:nvPr/>
        </p:nvSpPr>
        <p:spPr>
          <a:xfrm>
            <a:off x="6035040" y="1463040"/>
            <a:ext cx="5605272" cy="4617720"/>
          </a:xfrm>
          <a:prstGeom prst="roundRect">
            <a:avLst>
              <a:gd name="adj" fmla="val 1584"/>
            </a:avLst>
          </a:prstGeom>
          <a:solidFill>
            <a:srgbClr val="111A2F"/>
          </a:solidFill>
          <a:ln w="12700">
            <a:solidFill>
              <a:srgbClr val="2A3E68"/>
            </a:solidFill>
            <a:prstDash val="solid"/>
          </a:ln>
        </p:spPr>
      </p:sp>
      <p:sp>
        <p:nvSpPr>
          <p:cNvPr id="22" name="Text 20"/>
          <p:cNvSpPr/>
          <p:nvPr/>
        </p:nvSpPr>
        <p:spPr>
          <a:xfrm>
            <a:off x="6263640" y="1600200"/>
            <a:ext cx="5212080" cy="274320"/>
          </a:xfrm>
          <a:prstGeom prst="rect">
            <a:avLst/>
          </a:prstGeom>
          <a:noFill/>
          <a:ln/>
        </p:spPr>
        <p:txBody>
          <a:bodyPr wrap="square" lIns="0" tIns="0" rIns="0" bIns="0" rtlCol="0" anchor="t"/>
          <a:lstStyle/>
          <a:p>
            <a:pPr marL="0" indent="0">
              <a:buNone/>
            </a:pPr>
            <a:r>
              <a:rPr lang="en-US" sz="1300" b="1">
                <a:solidFill>
                  <a:srgbClr val="22D3EE"/>
                </a:solidFill>
                <a:latin typeface="Consolas" pitchFamily="34" charset="0"/>
                <a:ea typeface="Consolas" pitchFamily="34" charset="-122"/>
                <a:cs typeface="Consolas" pitchFamily="34" charset="-120"/>
              </a:rPr>
              <a:t>How </a:t>
            </a:r>
            <a:r>
              <a:rPr lang="en-US" sz="1300" b="1" dirty="0">
                <a:solidFill>
                  <a:srgbClr val="22D3EE"/>
                </a:solidFill>
                <a:latin typeface="Consolas" pitchFamily="34" charset="0"/>
                <a:ea typeface="Consolas" pitchFamily="34" charset="-122"/>
                <a:cs typeface="Consolas" pitchFamily="34" charset="-120"/>
              </a:rPr>
              <a:t>MD5, SHA-1</a:t>
            </a:r>
            <a:r>
              <a:rPr lang="en-US" sz="1300" b="1">
                <a:solidFill>
                  <a:srgbClr val="22D3EE"/>
                </a:solidFill>
                <a:latin typeface="Consolas" pitchFamily="34" charset="0"/>
                <a:ea typeface="Consolas" pitchFamily="34" charset="-122"/>
                <a:cs typeface="Consolas" pitchFamily="34" charset="-120"/>
              </a:rPr>
              <a:t> and </a:t>
            </a:r>
            <a:r>
              <a:rPr lang="en-US" sz="1300" b="1" dirty="0">
                <a:solidFill>
                  <a:srgbClr val="22D3EE"/>
                </a:solidFill>
                <a:latin typeface="Consolas" pitchFamily="34" charset="0"/>
                <a:ea typeface="Consolas" pitchFamily="34" charset="-122"/>
                <a:cs typeface="Consolas" pitchFamily="34" charset="-120"/>
              </a:rPr>
              <a:t>SHA-2</a:t>
            </a:r>
            <a:r>
              <a:rPr lang="en-US" sz="1300" b="1">
                <a:solidFill>
                  <a:srgbClr val="22D3EE"/>
                </a:solidFill>
                <a:latin typeface="Consolas" pitchFamily="34" charset="0"/>
                <a:ea typeface="Consolas" pitchFamily="34" charset="-122"/>
                <a:cs typeface="Consolas" pitchFamily="34" charset="-120"/>
              </a:rPr>
              <a:t> process a message</a:t>
            </a:r>
            <a:endParaRPr lang="en-US" sz="1300" dirty="0"/>
          </a:p>
        </p:txBody>
      </p:sp>
      <p:sp>
        <p:nvSpPr>
          <p:cNvPr id="23" name="Shape 21"/>
          <p:cNvSpPr/>
          <p:nvPr/>
        </p:nvSpPr>
        <p:spPr>
          <a:xfrm>
            <a:off x="7178040" y="2148840"/>
            <a:ext cx="822960" cy="457200"/>
          </a:xfrm>
          <a:prstGeom prst="roundRect">
            <a:avLst>
              <a:gd name="adj" fmla="val 16000"/>
            </a:avLst>
          </a:prstGeom>
          <a:solidFill>
            <a:srgbClr val="172544"/>
          </a:solidFill>
          <a:ln w="19050">
            <a:solidFill>
              <a:srgbClr val="4ADE80"/>
            </a:solidFill>
            <a:prstDash val="solid"/>
          </a:ln>
        </p:spPr>
      </p:sp>
      <p:sp>
        <p:nvSpPr>
          <p:cNvPr id="24" name="Text 22"/>
          <p:cNvSpPr/>
          <p:nvPr/>
        </p:nvSpPr>
        <p:spPr>
          <a:xfrm>
            <a:off x="7178040" y="2148840"/>
            <a:ext cx="822960" cy="45720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M1</a:t>
            </a:r>
            <a:endParaRPr lang="en-US" sz="1300" dirty="0"/>
          </a:p>
        </p:txBody>
      </p:sp>
      <p:sp>
        <p:nvSpPr>
          <p:cNvPr id="25" name="Shape 23"/>
          <p:cNvSpPr/>
          <p:nvPr/>
        </p:nvSpPr>
        <p:spPr>
          <a:xfrm>
            <a:off x="7589520" y="2633472"/>
            <a:ext cx="0" cy="530352"/>
          </a:xfrm>
          <a:prstGeom prst="line">
            <a:avLst/>
          </a:prstGeom>
          <a:noFill/>
          <a:ln w="25400">
            <a:solidFill>
              <a:srgbClr val="4ADE80"/>
            </a:solidFill>
            <a:prstDash val="solid"/>
            <a:tailEnd type="triangle"/>
          </a:ln>
        </p:spPr>
      </p:sp>
      <p:sp>
        <p:nvSpPr>
          <p:cNvPr id="26" name="Shape 24"/>
          <p:cNvSpPr/>
          <p:nvPr/>
        </p:nvSpPr>
        <p:spPr>
          <a:xfrm>
            <a:off x="7132320" y="3200400"/>
            <a:ext cx="914400" cy="731520"/>
          </a:xfrm>
          <a:prstGeom prst="roundRect">
            <a:avLst>
              <a:gd name="adj" fmla="val 10000"/>
            </a:avLst>
          </a:prstGeom>
          <a:solidFill>
            <a:srgbClr val="172544"/>
          </a:solidFill>
          <a:ln w="19050">
            <a:solidFill>
              <a:srgbClr val="A78BFA"/>
            </a:solidFill>
            <a:prstDash val="solid"/>
          </a:ln>
        </p:spPr>
      </p:sp>
      <p:sp>
        <p:nvSpPr>
          <p:cNvPr id="27" name="Text 25"/>
          <p:cNvSpPr/>
          <p:nvPr/>
        </p:nvSpPr>
        <p:spPr>
          <a:xfrm>
            <a:off x="7132320" y="3200400"/>
            <a:ext cx="914400" cy="731520"/>
          </a:xfrm>
          <a:prstGeom prst="rect">
            <a:avLst/>
          </a:prstGeom>
          <a:noFill/>
          <a:ln/>
        </p:spPr>
        <p:txBody>
          <a:bodyPr wrap="square" lIns="635" tIns="635" rIns="635" bIns="635" rtlCol="0" anchor="ctr"/>
          <a:lstStyle/>
          <a:p>
            <a:pPr marL="0" indent="0" algn="ctr">
              <a:buNone/>
            </a:pPr>
            <a:r>
              <a:rPr lang="en-US" sz="1800" b="1" dirty="0">
                <a:solidFill>
                  <a:srgbClr val="F1F5F9"/>
                </a:solidFill>
                <a:latin typeface="Consolas" pitchFamily="34" charset="0"/>
                <a:ea typeface="Consolas" pitchFamily="34" charset="-122"/>
                <a:cs typeface="Consolas" pitchFamily="34" charset="-120"/>
              </a:rPr>
              <a:t>f</a:t>
            </a:r>
            <a:endParaRPr lang="en-US" sz="1800" dirty="0"/>
          </a:p>
        </p:txBody>
      </p:sp>
      <p:sp>
        <p:nvSpPr>
          <p:cNvPr id="28" name="Shape 26"/>
          <p:cNvSpPr/>
          <p:nvPr/>
        </p:nvSpPr>
        <p:spPr>
          <a:xfrm>
            <a:off x="8366760" y="2148840"/>
            <a:ext cx="822960" cy="457200"/>
          </a:xfrm>
          <a:prstGeom prst="roundRect">
            <a:avLst>
              <a:gd name="adj" fmla="val 16000"/>
            </a:avLst>
          </a:prstGeom>
          <a:solidFill>
            <a:srgbClr val="172544"/>
          </a:solidFill>
          <a:ln w="19050">
            <a:solidFill>
              <a:srgbClr val="4ADE80"/>
            </a:solidFill>
            <a:prstDash val="solid"/>
          </a:ln>
        </p:spPr>
      </p:sp>
      <p:sp>
        <p:nvSpPr>
          <p:cNvPr id="29" name="Text 27"/>
          <p:cNvSpPr/>
          <p:nvPr/>
        </p:nvSpPr>
        <p:spPr>
          <a:xfrm>
            <a:off x="8366760" y="2148840"/>
            <a:ext cx="822960" cy="45720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M2</a:t>
            </a:r>
            <a:endParaRPr lang="en-US" sz="1300" dirty="0"/>
          </a:p>
        </p:txBody>
      </p:sp>
      <p:sp>
        <p:nvSpPr>
          <p:cNvPr id="30" name="Shape 28"/>
          <p:cNvSpPr/>
          <p:nvPr/>
        </p:nvSpPr>
        <p:spPr>
          <a:xfrm>
            <a:off x="8778240" y="2633472"/>
            <a:ext cx="0" cy="530352"/>
          </a:xfrm>
          <a:prstGeom prst="line">
            <a:avLst/>
          </a:prstGeom>
          <a:noFill/>
          <a:ln w="25400">
            <a:solidFill>
              <a:srgbClr val="4ADE80"/>
            </a:solidFill>
            <a:prstDash val="solid"/>
            <a:tailEnd type="triangle"/>
          </a:ln>
        </p:spPr>
      </p:sp>
      <p:sp>
        <p:nvSpPr>
          <p:cNvPr id="31" name="Shape 29"/>
          <p:cNvSpPr/>
          <p:nvPr/>
        </p:nvSpPr>
        <p:spPr>
          <a:xfrm>
            <a:off x="8321040" y="3200400"/>
            <a:ext cx="914400" cy="731520"/>
          </a:xfrm>
          <a:prstGeom prst="roundRect">
            <a:avLst>
              <a:gd name="adj" fmla="val 10000"/>
            </a:avLst>
          </a:prstGeom>
          <a:solidFill>
            <a:srgbClr val="172544"/>
          </a:solidFill>
          <a:ln w="19050">
            <a:solidFill>
              <a:srgbClr val="A78BFA"/>
            </a:solidFill>
            <a:prstDash val="solid"/>
          </a:ln>
        </p:spPr>
      </p:sp>
      <p:sp>
        <p:nvSpPr>
          <p:cNvPr id="32" name="Text 30"/>
          <p:cNvSpPr/>
          <p:nvPr/>
        </p:nvSpPr>
        <p:spPr>
          <a:xfrm>
            <a:off x="8321040" y="3200400"/>
            <a:ext cx="914400" cy="731520"/>
          </a:xfrm>
          <a:prstGeom prst="rect">
            <a:avLst/>
          </a:prstGeom>
          <a:noFill/>
          <a:ln/>
        </p:spPr>
        <p:txBody>
          <a:bodyPr wrap="square" lIns="635" tIns="635" rIns="635" bIns="635" rtlCol="0" anchor="ctr"/>
          <a:lstStyle/>
          <a:p>
            <a:pPr marL="0" indent="0" algn="ctr">
              <a:buNone/>
            </a:pPr>
            <a:r>
              <a:rPr lang="en-US" sz="1800" b="1" dirty="0">
                <a:solidFill>
                  <a:srgbClr val="F1F5F9"/>
                </a:solidFill>
                <a:latin typeface="Consolas" pitchFamily="34" charset="0"/>
                <a:ea typeface="Consolas" pitchFamily="34" charset="-122"/>
                <a:cs typeface="Consolas" pitchFamily="34" charset="-120"/>
              </a:rPr>
              <a:t>f</a:t>
            </a:r>
            <a:endParaRPr lang="en-US" sz="1800" dirty="0"/>
          </a:p>
        </p:txBody>
      </p:sp>
      <p:sp>
        <p:nvSpPr>
          <p:cNvPr id="33" name="Shape 31"/>
          <p:cNvSpPr/>
          <p:nvPr/>
        </p:nvSpPr>
        <p:spPr>
          <a:xfrm>
            <a:off x="9555480" y="2148840"/>
            <a:ext cx="822960" cy="457200"/>
          </a:xfrm>
          <a:prstGeom prst="roundRect">
            <a:avLst>
              <a:gd name="adj" fmla="val 16000"/>
            </a:avLst>
          </a:prstGeom>
          <a:solidFill>
            <a:srgbClr val="172544"/>
          </a:solidFill>
          <a:ln w="19050">
            <a:solidFill>
              <a:srgbClr val="4ADE80"/>
            </a:solidFill>
            <a:prstDash val="solid"/>
          </a:ln>
        </p:spPr>
      </p:sp>
      <p:sp>
        <p:nvSpPr>
          <p:cNvPr id="34" name="Text 32"/>
          <p:cNvSpPr/>
          <p:nvPr/>
        </p:nvSpPr>
        <p:spPr>
          <a:xfrm>
            <a:off x="9555480" y="2148840"/>
            <a:ext cx="822960" cy="45720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M3</a:t>
            </a:r>
            <a:endParaRPr lang="en-US" sz="1300" dirty="0"/>
          </a:p>
        </p:txBody>
      </p:sp>
      <p:sp>
        <p:nvSpPr>
          <p:cNvPr id="35" name="Shape 33"/>
          <p:cNvSpPr/>
          <p:nvPr/>
        </p:nvSpPr>
        <p:spPr>
          <a:xfrm>
            <a:off x="9966960" y="2633472"/>
            <a:ext cx="0" cy="530352"/>
          </a:xfrm>
          <a:prstGeom prst="line">
            <a:avLst/>
          </a:prstGeom>
          <a:noFill/>
          <a:ln w="25400">
            <a:solidFill>
              <a:srgbClr val="4ADE80"/>
            </a:solidFill>
            <a:prstDash val="solid"/>
            <a:tailEnd type="triangle"/>
          </a:ln>
        </p:spPr>
      </p:sp>
      <p:sp>
        <p:nvSpPr>
          <p:cNvPr id="36" name="Shape 34"/>
          <p:cNvSpPr/>
          <p:nvPr/>
        </p:nvSpPr>
        <p:spPr>
          <a:xfrm>
            <a:off x="9509760" y="3200400"/>
            <a:ext cx="914400" cy="731520"/>
          </a:xfrm>
          <a:prstGeom prst="roundRect">
            <a:avLst>
              <a:gd name="adj" fmla="val 10000"/>
            </a:avLst>
          </a:prstGeom>
          <a:solidFill>
            <a:srgbClr val="172544"/>
          </a:solidFill>
          <a:ln w="19050">
            <a:solidFill>
              <a:srgbClr val="A78BFA"/>
            </a:solidFill>
            <a:prstDash val="solid"/>
          </a:ln>
        </p:spPr>
      </p:sp>
      <p:sp>
        <p:nvSpPr>
          <p:cNvPr id="37" name="Text 35"/>
          <p:cNvSpPr/>
          <p:nvPr/>
        </p:nvSpPr>
        <p:spPr>
          <a:xfrm>
            <a:off x="9509760" y="3200400"/>
            <a:ext cx="914400" cy="731520"/>
          </a:xfrm>
          <a:prstGeom prst="rect">
            <a:avLst/>
          </a:prstGeom>
          <a:noFill/>
          <a:ln/>
        </p:spPr>
        <p:txBody>
          <a:bodyPr wrap="square" lIns="635" tIns="635" rIns="635" bIns="635" rtlCol="0" anchor="ctr"/>
          <a:lstStyle/>
          <a:p>
            <a:pPr marL="0" indent="0" algn="ctr">
              <a:buNone/>
            </a:pPr>
            <a:r>
              <a:rPr lang="en-US" sz="1800" b="1" dirty="0">
                <a:solidFill>
                  <a:srgbClr val="F1F5F9"/>
                </a:solidFill>
                <a:latin typeface="Consolas" pitchFamily="34" charset="0"/>
                <a:ea typeface="Consolas" pitchFamily="34" charset="-122"/>
                <a:cs typeface="Consolas" pitchFamily="34" charset="-120"/>
              </a:rPr>
              <a:t>f</a:t>
            </a:r>
            <a:endParaRPr lang="en-US" sz="1800" dirty="0"/>
          </a:p>
        </p:txBody>
      </p:sp>
      <p:sp>
        <p:nvSpPr>
          <p:cNvPr id="38" name="Shape 36"/>
          <p:cNvSpPr/>
          <p:nvPr/>
        </p:nvSpPr>
        <p:spPr>
          <a:xfrm>
            <a:off x="6217920" y="3291840"/>
            <a:ext cx="640080" cy="548640"/>
          </a:xfrm>
          <a:prstGeom prst="roundRect">
            <a:avLst>
              <a:gd name="adj" fmla="val 13333"/>
            </a:avLst>
          </a:prstGeom>
          <a:solidFill>
            <a:srgbClr val="172544"/>
          </a:solidFill>
          <a:ln w="19050">
            <a:solidFill>
              <a:srgbClr val="FBBF24"/>
            </a:solidFill>
            <a:prstDash val="solid"/>
          </a:ln>
        </p:spPr>
      </p:sp>
      <p:sp>
        <p:nvSpPr>
          <p:cNvPr id="39" name="Text 37"/>
          <p:cNvSpPr/>
          <p:nvPr/>
        </p:nvSpPr>
        <p:spPr>
          <a:xfrm>
            <a:off x="6217920" y="3291840"/>
            <a:ext cx="640080" cy="54864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IV</a:t>
            </a:r>
            <a:endParaRPr lang="en-US" sz="1300" dirty="0"/>
          </a:p>
        </p:txBody>
      </p:sp>
      <p:sp>
        <p:nvSpPr>
          <p:cNvPr id="40" name="Shape 38"/>
          <p:cNvSpPr/>
          <p:nvPr/>
        </p:nvSpPr>
        <p:spPr>
          <a:xfrm>
            <a:off x="6858000" y="3566160"/>
            <a:ext cx="274320" cy="0"/>
          </a:xfrm>
          <a:prstGeom prst="line">
            <a:avLst/>
          </a:prstGeom>
          <a:noFill/>
          <a:ln w="25400">
            <a:solidFill>
              <a:srgbClr val="22D3EE"/>
            </a:solidFill>
            <a:prstDash val="solid"/>
            <a:tailEnd type="triangle"/>
          </a:ln>
        </p:spPr>
      </p:sp>
      <p:sp>
        <p:nvSpPr>
          <p:cNvPr id="41" name="Shape 39"/>
          <p:cNvSpPr/>
          <p:nvPr/>
        </p:nvSpPr>
        <p:spPr>
          <a:xfrm>
            <a:off x="8046720" y="3566160"/>
            <a:ext cx="274320" cy="0"/>
          </a:xfrm>
          <a:prstGeom prst="line">
            <a:avLst/>
          </a:prstGeom>
          <a:noFill/>
          <a:ln w="25400">
            <a:solidFill>
              <a:srgbClr val="22D3EE"/>
            </a:solidFill>
            <a:prstDash val="solid"/>
            <a:tailEnd type="triangle"/>
          </a:ln>
        </p:spPr>
      </p:sp>
      <p:sp>
        <p:nvSpPr>
          <p:cNvPr id="42" name="Shape 40"/>
          <p:cNvSpPr/>
          <p:nvPr/>
        </p:nvSpPr>
        <p:spPr>
          <a:xfrm>
            <a:off x="9235440" y="3566160"/>
            <a:ext cx="274320" cy="0"/>
          </a:xfrm>
          <a:prstGeom prst="line">
            <a:avLst/>
          </a:prstGeom>
          <a:noFill/>
          <a:ln w="25400">
            <a:solidFill>
              <a:srgbClr val="22D3EE"/>
            </a:solidFill>
            <a:prstDash val="solid"/>
            <a:tailEnd type="triangle"/>
          </a:ln>
        </p:spPr>
      </p:sp>
      <p:sp>
        <p:nvSpPr>
          <p:cNvPr id="43" name="Shape 41"/>
          <p:cNvSpPr/>
          <p:nvPr/>
        </p:nvSpPr>
        <p:spPr>
          <a:xfrm>
            <a:off x="10424160" y="3566160"/>
            <a:ext cx="274320" cy="0"/>
          </a:xfrm>
          <a:prstGeom prst="line">
            <a:avLst/>
          </a:prstGeom>
          <a:noFill/>
          <a:ln w="25400">
            <a:solidFill>
              <a:srgbClr val="22D3EE"/>
            </a:solidFill>
            <a:prstDash val="solid"/>
            <a:tailEnd type="triangle"/>
          </a:ln>
        </p:spPr>
      </p:sp>
      <p:sp>
        <p:nvSpPr>
          <p:cNvPr id="44" name="Shape 42"/>
          <p:cNvSpPr/>
          <p:nvPr/>
        </p:nvSpPr>
        <p:spPr>
          <a:xfrm>
            <a:off x="10698480" y="3291840"/>
            <a:ext cx="731520" cy="548640"/>
          </a:xfrm>
          <a:prstGeom prst="roundRect">
            <a:avLst>
              <a:gd name="adj" fmla="val 13333"/>
            </a:avLst>
          </a:prstGeom>
          <a:solidFill>
            <a:srgbClr val="172544"/>
          </a:solidFill>
          <a:ln w="19050">
            <a:solidFill>
              <a:srgbClr val="22D3EE"/>
            </a:solidFill>
            <a:prstDash val="solid"/>
          </a:ln>
        </p:spPr>
      </p:sp>
      <p:sp>
        <p:nvSpPr>
          <p:cNvPr id="45" name="Text 43"/>
          <p:cNvSpPr/>
          <p:nvPr/>
        </p:nvSpPr>
        <p:spPr>
          <a:xfrm>
            <a:off x="10698480" y="3291840"/>
            <a:ext cx="73152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hash</a:t>
            </a:r>
            <a:endParaRPr lang="en-US" sz="1200" dirty="0"/>
          </a:p>
        </p:txBody>
      </p:sp>
      <p:sp>
        <p:nvSpPr>
          <p:cNvPr id="46" name="Text 44"/>
          <p:cNvSpPr/>
          <p:nvPr/>
        </p:nvSpPr>
        <p:spPr>
          <a:xfrm>
            <a:off x="6263640" y="4160520"/>
            <a:ext cx="5166360" cy="868680"/>
          </a:xfrm>
          <a:prstGeom prst="rect">
            <a:avLst/>
          </a:prstGeom>
          <a:noFill/>
          <a:ln/>
        </p:spPr>
        <p:txBody>
          <a:bodyPr wrap="square" lIns="0" tIns="0" rIns="0" bIns="0" rtlCol="0" anchor="t"/>
          <a:lstStyle/>
          <a:p>
            <a:pPr marL="0" indent="0">
              <a:buNone/>
            </a:pPr>
            <a:r>
              <a:rPr lang="en-US" sz="1400" dirty="0">
                <a:solidFill>
                  <a:srgbClr val="F1F5F9"/>
                </a:solidFill>
                <a:latin typeface="Calibri" pitchFamily="34" charset="0"/>
                <a:ea typeface="Calibri" pitchFamily="34" charset="-122"/>
                <a:cs typeface="Calibri" pitchFamily="34" charset="-120"/>
              </a:rPr>
              <a:t>Pad the message, cut it into </a:t>
            </a:r>
            <a:r>
              <a:rPr lang="en-US" sz="1400">
                <a:solidFill>
                  <a:srgbClr val="F1F5F9"/>
                </a:solidFill>
                <a:latin typeface="Calibri" pitchFamily="34" charset="0"/>
                <a:ea typeface="Calibri" pitchFamily="34" charset="-122"/>
                <a:cs typeface="Calibri" pitchFamily="34" charset="-120"/>
              </a:rPr>
              <a:t>equal-size </a:t>
            </a:r>
            <a:r>
              <a:rPr lang="en-US" sz="1400" dirty="0">
                <a:solidFill>
                  <a:srgbClr val="F1F5F9"/>
                </a:solidFill>
                <a:latin typeface="Calibri" pitchFamily="34" charset="0"/>
                <a:ea typeface="Calibri" pitchFamily="34" charset="-122"/>
                <a:cs typeface="Calibri" pitchFamily="34" charset="-120"/>
              </a:rPr>
              <a:t>blocks, and </a:t>
            </a:r>
            <a:r>
              <a:rPr lang="en-US" sz="1400">
                <a:solidFill>
                  <a:srgbClr val="F1F5F9"/>
                </a:solidFill>
                <a:latin typeface="Calibri" pitchFamily="34" charset="0"/>
                <a:ea typeface="Calibri" pitchFamily="34" charset="-122"/>
                <a:cs typeface="Calibri" pitchFamily="34" charset="-120"/>
              </a:rPr>
              <a:t>mix </a:t>
            </a:r>
            <a:r>
              <a:rPr lang="en-US" sz="1400" dirty="0">
                <a:solidFill>
                  <a:srgbClr val="F1F5F9"/>
                </a:solidFill>
                <a:latin typeface="Calibri" pitchFamily="34" charset="0"/>
                <a:ea typeface="Calibri" pitchFamily="34" charset="-122"/>
                <a:cs typeface="Calibri" pitchFamily="34" charset="-120"/>
              </a:rPr>
              <a:t>each block </a:t>
            </a:r>
            <a:r>
              <a:rPr lang="en-US" sz="1400">
                <a:solidFill>
                  <a:srgbClr val="F1F5F9"/>
                </a:solidFill>
                <a:latin typeface="Calibri" pitchFamily="34" charset="0"/>
                <a:ea typeface="Calibri" pitchFamily="34" charset="-122"/>
                <a:cs typeface="Calibri" pitchFamily="34" charset="-120"/>
              </a:rPr>
              <a:t>into </a:t>
            </a:r>
            <a:r>
              <a:rPr lang="en-US" sz="1400" dirty="0">
                <a:solidFill>
                  <a:srgbClr val="F1F5F9"/>
                </a:solidFill>
                <a:latin typeface="Calibri" pitchFamily="34" charset="0"/>
                <a:ea typeface="Calibri" pitchFamily="34" charset="-122"/>
                <a:cs typeface="Calibri" pitchFamily="34" charset="-120"/>
              </a:rPr>
              <a:t>a </a:t>
            </a:r>
            <a:r>
              <a:rPr lang="en-US" sz="1400">
                <a:solidFill>
                  <a:srgbClr val="F1F5F9"/>
                </a:solidFill>
                <a:latin typeface="Calibri" pitchFamily="34" charset="0"/>
                <a:ea typeface="Calibri" pitchFamily="34" charset="-122"/>
                <a:cs typeface="Calibri" pitchFamily="34" charset="-120"/>
              </a:rPr>
              <a:t>running result</a:t>
            </a:r>
            <a:r>
              <a:rPr lang="en-US" sz="1400" dirty="0">
                <a:solidFill>
                  <a:srgbClr val="F1F5F9"/>
                </a:solidFill>
                <a:latin typeface="Calibri" pitchFamily="34" charset="0"/>
                <a:ea typeface="Calibri" pitchFamily="34" charset="-122"/>
                <a:cs typeface="Calibri" pitchFamily="34" charset="-120"/>
              </a:rPr>
              <a:t>. The </a:t>
            </a:r>
            <a:r>
              <a:rPr lang="en-US" sz="1400">
                <a:solidFill>
                  <a:srgbClr val="F1F5F9"/>
                </a:solidFill>
                <a:latin typeface="Calibri" pitchFamily="34" charset="0"/>
                <a:ea typeface="Calibri" pitchFamily="34" charset="-122"/>
                <a:cs typeface="Calibri" pitchFamily="34" charset="-120"/>
              </a:rPr>
              <a:t>final result </a:t>
            </a:r>
            <a:r>
              <a:rPr lang="en-US" sz="1400" dirty="0">
                <a:solidFill>
                  <a:srgbClr val="F1F5F9"/>
                </a:solidFill>
                <a:latin typeface="Calibri" pitchFamily="34" charset="0"/>
                <a:ea typeface="Calibri" pitchFamily="34" charset="-122"/>
                <a:cs typeface="Calibri" pitchFamily="34" charset="-120"/>
              </a:rPr>
              <a:t>is the </a:t>
            </a:r>
            <a:r>
              <a:rPr lang="en-US" sz="1400">
                <a:solidFill>
                  <a:srgbClr val="F1F5F9"/>
                </a:solidFill>
                <a:latin typeface="Calibri" pitchFamily="34" charset="0"/>
                <a:ea typeface="Calibri" pitchFamily="34" charset="-122"/>
                <a:cs typeface="Calibri" pitchFamily="34" charset="-120"/>
              </a:rPr>
              <a:t>hash</a:t>
            </a: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47" name="Shape 45"/>
          <p:cNvSpPr/>
          <p:nvPr/>
        </p:nvSpPr>
        <p:spPr>
          <a:xfrm>
            <a:off x="6263640" y="5120640"/>
            <a:ext cx="5166360" cy="822960"/>
          </a:xfrm>
          <a:prstGeom prst="roundRect">
            <a:avLst>
              <a:gd name="adj" fmla="val 8889"/>
            </a:avLst>
          </a:prstGeom>
          <a:solidFill>
            <a:srgbClr val="070B14"/>
          </a:solidFill>
          <a:ln w="12700">
            <a:solidFill>
              <a:srgbClr val="2A3E68"/>
            </a:solidFill>
            <a:prstDash val="solid"/>
          </a:ln>
        </p:spPr>
      </p:sp>
      <p:sp>
        <p:nvSpPr>
          <p:cNvPr id="48" name="Shape 46"/>
          <p:cNvSpPr/>
          <p:nvPr/>
        </p:nvSpPr>
        <p:spPr>
          <a:xfrm>
            <a:off x="6428232" y="5248656"/>
            <a:ext cx="100584" cy="100584"/>
          </a:xfrm>
          <a:prstGeom prst="ellipse">
            <a:avLst/>
          </a:prstGeom>
          <a:solidFill>
            <a:srgbClr val="F87171"/>
          </a:solidFill>
          <a:ln w="12700">
            <a:solidFill>
              <a:srgbClr val="F87171"/>
            </a:solidFill>
            <a:prstDash val="solid"/>
          </a:ln>
        </p:spPr>
      </p:sp>
      <p:sp>
        <p:nvSpPr>
          <p:cNvPr id="49" name="Shape 47"/>
          <p:cNvSpPr/>
          <p:nvPr/>
        </p:nvSpPr>
        <p:spPr>
          <a:xfrm>
            <a:off x="6611112" y="5248656"/>
            <a:ext cx="100584" cy="100584"/>
          </a:xfrm>
          <a:prstGeom prst="ellipse">
            <a:avLst/>
          </a:prstGeom>
          <a:solidFill>
            <a:srgbClr val="FBBF24"/>
          </a:solidFill>
          <a:ln w="12700">
            <a:solidFill>
              <a:srgbClr val="FBBF24"/>
            </a:solidFill>
            <a:prstDash val="solid"/>
          </a:ln>
        </p:spPr>
      </p:sp>
      <p:sp>
        <p:nvSpPr>
          <p:cNvPr id="50" name="Shape 48"/>
          <p:cNvSpPr/>
          <p:nvPr/>
        </p:nvSpPr>
        <p:spPr>
          <a:xfrm>
            <a:off x="6793992" y="5248656"/>
            <a:ext cx="100584" cy="100584"/>
          </a:xfrm>
          <a:prstGeom prst="ellipse">
            <a:avLst/>
          </a:prstGeom>
          <a:solidFill>
            <a:srgbClr val="4ADE80"/>
          </a:solidFill>
          <a:ln w="12700">
            <a:solidFill>
              <a:srgbClr val="4ADE80"/>
            </a:solidFill>
            <a:prstDash val="solid"/>
          </a:ln>
        </p:spPr>
      </p:sp>
      <p:sp>
        <p:nvSpPr>
          <p:cNvPr id="51" name="Text 49"/>
          <p:cNvSpPr/>
          <p:nvPr/>
        </p:nvSpPr>
        <p:spPr>
          <a:xfrm>
            <a:off x="6492240" y="5504688"/>
            <a:ext cx="4709160" cy="320040"/>
          </a:xfrm>
          <a:prstGeom prst="rect">
            <a:avLst/>
          </a:prstGeom>
          <a:noFill/>
          <a:ln/>
        </p:spPr>
        <p:txBody>
          <a:bodyPr wrap="square" lIns="0" tIns="0" rIns="0" bIns="0" rtlCol="0" anchor="t"/>
          <a:lstStyle/>
          <a:p>
            <a:pPr marL="0" indent="0">
              <a:spcAft>
                <a:spcPts val="200"/>
              </a:spcAft>
              <a:buNone/>
            </a:pPr>
            <a:r>
              <a:rPr lang="en-US" sz="1200">
                <a:solidFill>
                  <a:srgbClr val="4ADE80"/>
                </a:solidFill>
                <a:latin typeface="Consolas" pitchFamily="34" charset="0"/>
                <a:ea typeface="Consolas" pitchFamily="34" charset="-122"/>
                <a:cs typeface="Consolas" pitchFamily="34" charset="-120"/>
              </a:rPr>
              <a:t>start with a fixed starting value (</a:t>
            </a:r>
            <a:r>
              <a:rPr lang="en-US" sz="1200" dirty="0">
                <a:solidFill>
                  <a:srgbClr val="4ADE80"/>
                </a:solidFill>
                <a:latin typeface="Consolas" pitchFamily="34" charset="0"/>
                <a:ea typeface="Consolas" pitchFamily="34" charset="-122"/>
                <a:cs typeface="Consolas" pitchFamily="34" charset="-120"/>
              </a:rPr>
              <a:t>IV</a:t>
            </a:r>
            <a:r>
              <a:rPr lang="en-US" sz="1200">
                <a:solidFill>
                  <a:srgbClr val="4ADE80"/>
                </a:solidFill>
                <a:latin typeface="Consolas" pitchFamily="34" charset="0"/>
                <a:ea typeface="Consolas" pitchFamily="34" charset="-122"/>
                <a:cs typeface="Consolas" pitchFamily="34" charset="-120"/>
              </a:rPr>
              <a:t>)</a:t>
            </a:r>
            <a:endParaRPr lang="en-US" sz="1200"/>
          </a:p>
          <a:p>
            <a:pPr marL="0" indent="0">
              <a:spcAft>
                <a:spcPts val="200"/>
              </a:spcAft>
              <a:buNone/>
            </a:pPr>
            <a:r>
              <a:rPr lang="en-US" sz="1200">
                <a:solidFill>
                  <a:srgbClr val="4ADE80"/>
                </a:solidFill>
                <a:latin typeface="Consolas" pitchFamily="34" charset="0"/>
                <a:ea typeface="Consolas" pitchFamily="34" charset="-122"/>
                <a:cs typeface="Consolas" pitchFamily="34" charset="-120"/>
              </a:rPr>
              <a:t>mix in each block; </a:t>
            </a:r>
            <a:r>
              <a:rPr lang="en-US" sz="1200" dirty="0">
                <a:solidFill>
                  <a:srgbClr val="4ADE80"/>
                </a:solidFill>
                <a:latin typeface="Consolas" pitchFamily="34" charset="0"/>
                <a:ea typeface="Consolas" pitchFamily="34" charset="-122"/>
                <a:cs typeface="Consolas" pitchFamily="34" charset="-120"/>
              </a:rPr>
              <a:t>last</a:t>
            </a:r>
            <a:r>
              <a:rPr lang="en-US" sz="1200">
                <a:solidFill>
                  <a:srgbClr val="4ADE80"/>
                </a:solidFill>
                <a:latin typeface="Consolas" pitchFamily="34" charset="0"/>
                <a:ea typeface="Consolas" pitchFamily="34" charset="-122"/>
                <a:cs typeface="Consolas" pitchFamily="34" charset="-120"/>
              </a:rPr>
              <a:t> result = hash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HASHING 02</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SHA-256 under the hood</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11</a:t>
            </a:r>
            <a:endParaRPr lang="en-US" sz="1000" dirty="0"/>
          </a:p>
        </p:txBody>
      </p:sp>
      <p:sp>
        <p:nvSpPr>
          <p:cNvPr id="6" name="Shape 4"/>
          <p:cNvSpPr/>
          <p:nvPr/>
        </p:nvSpPr>
        <p:spPr>
          <a:xfrm>
            <a:off x="548640" y="1417320"/>
            <a:ext cx="2651760" cy="914400"/>
          </a:xfrm>
          <a:prstGeom prst="roundRect">
            <a:avLst>
              <a:gd name="adj" fmla="val 8000"/>
            </a:avLst>
          </a:prstGeom>
          <a:solidFill>
            <a:srgbClr val="111A2F"/>
          </a:solidFill>
          <a:ln w="12700">
            <a:solidFill>
              <a:srgbClr val="2A3E68"/>
            </a:solidFill>
            <a:prstDash val="solid"/>
          </a:ln>
        </p:spPr>
      </p:sp>
      <p:sp>
        <p:nvSpPr>
          <p:cNvPr id="7" name="Text 5"/>
          <p:cNvSpPr/>
          <p:nvPr/>
        </p:nvSpPr>
        <p:spPr>
          <a:xfrm>
            <a:off x="731520" y="1508760"/>
            <a:ext cx="2286000" cy="457200"/>
          </a:xfrm>
          <a:prstGeom prst="rect">
            <a:avLst/>
          </a:prstGeom>
          <a:noFill/>
          <a:ln/>
        </p:spPr>
        <p:txBody>
          <a:bodyPr wrap="square" lIns="0" tIns="0" rIns="0" bIns="0" rtlCol="0" anchor="t"/>
          <a:lstStyle/>
          <a:p>
            <a:pPr marL="0" indent="0">
              <a:buNone/>
            </a:pPr>
            <a:r>
              <a:rPr lang="en-US" sz="2400" b="1" dirty="0">
                <a:solidFill>
                  <a:srgbClr val="22D3EE"/>
                </a:solidFill>
                <a:latin typeface="Consolas" pitchFamily="34" charset="0"/>
                <a:ea typeface="Consolas" pitchFamily="34" charset="-122"/>
                <a:cs typeface="Consolas" pitchFamily="34" charset="-120"/>
              </a:rPr>
              <a:t>512-bit</a:t>
            </a:r>
            <a:endParaRPr lang="en-US" sz="2400" dirty="0"/>
          </a:p>
        </p:txBody>
      </p:sp>
      <p:sp>
        <p:nvSpPr>
          <p:cNvPr id="8" name="Text 6"/>
          <p:cNvSpPr/>
          <p:nvPr/>
        </p:nvSpPr>
        <p:spPr>
          <a:xfrm>
            <a:off x="731520" y="1965960"/>
            <a:ext cx="2286000" cy="27432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size</a:t>
            </a:r>
            <a:r>
              <a:rPr lang="en-US" sz="1300">
                <a:solidFill>
                  <a:srgbClr val="9FB0CC"/>
                </a:solidFill>
                <a:latin typeface="Calibri" pitchFamily="34" charset="0"/>
                <a:ea typeface="Calibri" pitchFamily="34" charset="-122"/>
                <a:cs typeface="Calibri" pitchFamily="34" charset="-120"/>
              </a:rPr>
              <a:t> of each input chunk</a:t>
            </a:r>
            <a:endParaRPr lang="en-US" sz="1300" dirty="0"/>
          </a:p>
        </p:txBody>
      </p:sp>
      <p:sp>
        <p:nvSpPr>
          <p:cNvPr id="9" name="Shape 7"/>
          <p:cNvSpPr/>
          <p:nvPr/>
        </p:nvSpPr>
        <p:spPr>
          <a:xfrm>
            <a:off x="3362249" y="1417320"/>
            <a:ext cx="2651760" cy="914400"/>
          </a:xfrm>
          <a:prstGeom prst="roundRect">
            <a:avLst>
              <a:gd name="adj" fmla="val 8000"/>
            </a:avLst>
          </a:prstGeom>
          <a:solidFill>
            <a:srgbClr val="111A2F"/>
          </a:solidFill>
          <a:ln w="12700">
            <a:solidFill>
              <a:srgbClr val="2A3E68"/>
            </a:solidFill>
            <a:prstDash val="solid"/>
          </a:ln>
        </p:spPr>
      </p:sp>
      <p:sp>
        <p:nvSpPr>
          <p:cNvPr id="10" name="Text 8"/>
          <p:cNvSpPr/>
          <p:nvPr/>
        </p:nvSpPr>
        <p:spPr>
          <a:xfrm>
            <a:off x="3545129" y="1508760"/>
            <a:ext cx="2286000" cy="457200"/>
          </a:xfrm>
          <a:prstGeom prst="rect">
            <a:avLst/>
          </a:prstGeom>
          <a:noFill/>
          <a:ln/>
        </p:spPr>
        <p:txBody>
          <a:bodyPr wrap="square" lIns="0" tIns="0" rIns="0" bIns="0" rtlCol="0" anchor="t"/>
          <a:lstStyle/>
          <a:p>
            <a:pPr marL="0" indent="0">
              <a:buNone/>
            </a:pPr>
            <a:r>
              <a:rPr lang="en-US" sz="2400" b="1" dirty="0">
                <a:solidFill>
                  <a:srgbClr val="22D3EE"/>
                </a:solidFill>
                <a:latin typeface="Consolas" pitchFamily="34" charset="0"/>
                <a:ea typeface="Consolas" pitchFamily="34" charset="-122"/>
                <a:cs typeface="Consolas" pitchFamily="34" charset="-120"/>
              </a:rPr>
              <a:t>64</a:t>
            </a:r>
            <a:endParaRPr lang="en-US" sz="2400" dirty="0"/>
          </a:p>
        </p:txBody>
      </p:sp>
      <p:sp>
        <p:nvSpPr>
          <p:cNvPr id="11" name="Text 9"/>
          <p:cNvSpPr/>
          <p:nvPr/>
        </p:nvSpPr>
        <p:spPr>
          <a:xfrm>
            <a:off x="3545129" y="1965960"/>
            <a:ext cx="2286000" cy="274320"/>
          </a:xfrm>
          <a:prstGeom prst="rect">
            <a:avLst/>
          </a:prstGeom>
          <a:noFill/>
          <a:ln/>
        </p:spPr>
        <p:txBody>
          <a:bodyPr wrap="square" lIns="0" tIns="0" rIns="0" bIns="0" rtlCol="0" anchor="t"/>
          <a:lstStyle/>
          <a:p>
            <a:pPr marL="0" indent="0">
              <a:buNone/>
            </a:pPr>
            <a:r>
              <a:rPr lang="en-US" sz="1300">
                <a:solidFill>
                  <a:srgbClr val="9FB0CC"/>
                </a:solidFill>
                <a:latin typeface="Calibri" pitchFamily="34" charset="0"/>
                <a:ea typeface="Calibri" pitchFamily="34" charset="-122"/>
                <a:cs typeface="Calibri" pitchFamily="34" charset="-120"/>
              </a:rPr>
              <a:t>mixing </a:t>
            </a:r>
            <a:r>
              <a:rPr lang="en-US" sz="1300" dirty="0">
                <a:solidFill>
                  <a:srgbClr val="9FB0CC"/>
                </a:solidFill>
                <a:latin typeface="Calibri" pitchFamily="34" charset="0"/>
                <a:ea typeface="Calibri" pitchFamily="34" charset="-122"/>
                <a:cs typeface="Calibri" pitchFamily="34" charset="-120"/>
              </a:rPr>
              <a:t>rounds per block</a:t>
            </a:r>
            <a:endParaRPr lang="en-US" sz="1300" dirty="0"/>
          </a:p>
        </p:txBody>
      </p:sp>
      <p:sp>
        <p:nvSpPr>
          <p:cNvPr id="12" name="Shape 10"/>
          <p:cNvSpPr/>
          <p:nvPr/>
        </p:nvSpPr>
        <p:spPr>
          <a:xfrm>
            <a:off x="6175858" y="1417320"/>
            <a:ext cx="2651760" cy="914400"/>
          </a:xfrm>
          <a:prstGeom prst="roundRect">
            <a:avLst>
              <a:gd name="adj" fmla="val 8000"/>
            </a:avLst>
          </a:prstGeom>
          <a:solidFill>
            <a:srgbClr val="111A2F"/>
          </a:solidFill>
          <a:ln w="12700">
            <a:solidFill>
              <a:srgbClr val="2A3E68"/>
            </a:solidFill>
            <a:prstDash val="solid"/>
          </a:ln>
        </p:spPr>
      </p:sp>
      <p:sp>
        <p:nvSpPr>
          <p:cNvPr id="13" name="Text 11"/>
          <p:cNvSpPr/>
          <p:nvPr/>
        </p:nvSpPr>
        <p:spPr>
          <a:xfrm>
            <a:off x="6358738" y="1508760"/>
            <a:ext cx="2286000" cy="457200"/>
          </a:xfrm>
          <a:prstGeom prst="rect">
            <a:avLst/>
          </a:prstGeom>
          <a:noFill/>
          <a:ln/>
        </p:spPr>
        <p:txBody>
          <a:bodyPr wrap="square" lIns="0" tIns="0" rIns="0" bIns="0" rtlCol="0" anchor="t"/>
          <a:lstStyle/>
          <a:p>
            <a:pPr marL="0" indent="0">
              <a:buNone/>
            </a:pPr>
            <a:r>
              <a:rPr lang="en-US" sz="2400" b="1" dirty="0">
                <a:solidFill>
                  <a:srgbClr val="22D3EE"/>
                </a:solidFill>
                <a:latin typeface="Consolas" pitchFamily="34" charset="0"/>
                <a:ea typeface="Consolas" pitchFamily="34" charset="-122"/>
                <a:cs typeface="Consolas" pitchFamily="34" charset="-120"/>
              </a:rPr>
              <a:t>8 x 32-bit</a:t>
            </a:r>
            <a:endParaRPr lang="en-US" sz="2400" dirty="0"/>
          </a:p>
        </p:txBody>
      </p:sp>
      <p:sp>
        <p:nvSpPr>
          <p:cNvPr id="14" name="Text 12"/>
          <p:cNvSpPr/>
          <p:nvPr/>
        </p:nvSpPr>
        <p:spPr>
          <a:xfrm>
            <a:off x="6358738" y="1965960"/>
            <a:ext cx="2286000" cy="27432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internal </a:t>
            </a:r>
            <a:r>
              <a:rPr lang="en-US" sz="1300">
                <a:solidFill>
                  <a:srgbClr val="9FB0CC"/>
                </a:solidFill>
                <a:latin typeface="Calibri" pitchFamily="34" charset="0"/>
                <a:ea typeface="Calibri" pitchFamily="34" charset="-122"/>
                <a:cs typeface="Calibri" pitchFamily="34" charset="-120"/>
              </a:rPr>
              <a:t>values it tracks</a:t>
            </a:r>
            <a:endParaRPr lang="en-US" sz="1300" dirty="0"/>
          </a:p>
        </p:txBody>
      </p:sp>
      <p:sp>
        <p:nvSpPr>
          <p:cNvPr id="15" name="Shape 13"/>
          <p:cNvSpPr/>
          <p:nvPr/>
        </p:nvSpPr>
        <p:spPr>
          <a:xfrm>
            <a:off x="8989466" y="1417320"/>
            <a:ext cx="2651760" cy="914400"/>
          </a:xfrm>
          <a:prstGeom prst="roundRect">
            <a:avLst>
              <a:gd name="adj" fmla="val 8000"/>
            </a:avLst>
          </a:prstGeom>
          <a:solidFill>
            <a:srgbClr val="111A2F"/>
          </a:solidFill>
          <a:ln w="12700">
            <a:solidFill>
              <a:srgbClr val="2A3E68"/>
            </a:solidFill>
            <a:prstDash val="solid"/>
          </a:ln>
        </p:spPr>
      </p:sp>
      <p:sp>
        <p:nvSpPr>
          <p:cNvPr id="16" name="Text 14"/>
          <p:cNvSpPr/>
          <p:nvPr/>
        </p:nvSpPr>
        <p:spPr>
          <a:xfrm>
            <a:off x="9172346" y="1508760"/>
            <a:ext cx="2286000" cy="457200"/>
          </a:xfrm>
          <a:prstGeom prst="rect">
            <a:avLst/>
          </a:prstGeom>
          <a:noFill/>
          <a:ln/>
        </p:spPr>
        <p:txBody>
          <a:bodyPr wrap="square" lIns="0" tIns="0" rIns="0" bIns="0" rtlCol="0" anchor="t"/>
          <a:lstStyle/>
          <a:p>
            <a:pPr marL="0" indent="0">
              <a:buNone/>
            </a:pPr>
            <a:r>
              <a:rPr lang="en-US" sz="2400" b="1" dirty="0">
                <a:solidFill>
                  <a:srgbClr val="22D3EE"/>
                </a:solidFill>
                <a:latin typeface="Consolas" pitchFamily="34" charset="0"/>
                <a:ea typeface="Consolas" pitchFamily="34" charset="-122"/>
                <a:cs typeface="Consolas" pitchFamily="34" charset="-120"/>
              </a:rPr>
              <a:t>256-bit</a:t>
            </a:r>
            <a:endParaRPr lang="en-US" sz="2400" dirty="0"/>
          </a:p>
        </p:txBody>
      </p:sp>
      <p:sp>
        <p:nvSpPr>
          <p:cNvPr id="17" name="Text 15"/>
          <p:cNvSpPr/>
          <p:nvPr/>
        </p:nvSpPr>
        <p:spPr>
          <a:xfrm>
            <a:off x="9172346" y="1965960"/>
            <a:ext cx="2286000" cy="27432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final </a:t>
            </a:r>
            <a:r>
              <a:rPr lang="en-US" sz="1300">
                <a:solidFill>
                  <a:srgbClr val="9FB0CC"/>
                </a:solidFill>
                <a:latin typeface="Calibri" pitchFamily="34" charset="0"/>
                <a:ea typeface="Calibri" pitchFamily="34" charset="-122"/>
                <a:cs typeface="Calibri" pitchFamily="34" charset="-120"/>
              </a:rPr>
              <a:t>hash</a:t>
            </a:r>
            <a:endParaRPr lang="en-US" sz="1300" dirty="0"/>
          </a:p>
        </p:txBody>
      </p:sp>
      <p:sp>
        <p:nvSpPr>
          <p:cNvPr id="18" name="Shape 16"/>
          <p:cNvSpPr/>
          <p:nvPr/>
        </p:nvSpPr>
        <p:spPr>
          <a:xfrm>
            <a:off x="548640" y="2560320"/>
            <a:ext cx="6766560" cy="3566160"/>
          </a:xfrm>
          <a:prstGeom prst="roundRect">
            <a:avLst>
              <a:gd name="adj" fmla="val 2051"/>
            </a:avLst>
          </a:prstGeom>
          <a:solidFill>
            <a:srgbClr val="070B14"/>
          </a:solidFill>
          <a:ln w="12700">
            <a:solidFill>
              <a:srgbClr val="2A3E68"/>
            </a:solidFill>
            <a:prstDash val="solid"/>
          </a:ln>
        </p:spPr>
      </p:sp>
      <p:sp>
        <p:nvSpPr>
          <p:cNvPr id="19" name="Shape 17"/>
          <p:cNvSpPr/>
          <p:nvPr/>
        </p:nvSpPr>
        <p:spPr>
          <a:xfrm>
            <a:off x="713232" y="2688336"/>
            <a:ext cx="100584" cy="100584"/>
          </a:xfrm>
          <a:prstGeom prst="ellipse">
            <a:avLst/>
          </a:prstGeom>
          <a:solidFill>
            <a:srgbClr val="F87171"/>
          </a:solidFill>
          <a:ln w="12700">
            <a:solidFill>
              <a:srgbClr val="F87171"/>
            </a:solidFill>
            <a:prstDash val="solid"/>
          </a:ln>
        </p:spPr>
      </p:sp>
      <p:sp>
        <p:nvSpPr>
          <p:cNvPr id="20" name="Shape 18"/>
          <p:cNvSpPr/>
          <p:nvPr/>
        </p:nvSpPr>
        <p:spPr>
          <a:xfrm>
            <a:off x="896112" y="2688336"/>
            <a:ext cx="100584" cy="100584"/>
          </a:xfrm>
          <a:prstGeom prst="ellipse">
            <a:avLst/>
          </a:prstGeom>
          <a:solidFill>
            <a:srgbClr val="FBBF24"/>
          </a:solidFill>
          <a:ln w="12700">
            <a:solidFill>
              <a:srgbClr val="FBBF24"/>
            </a:solidFill>
            <a:prstDash val="solid"/>
          </a:ln>
        </p:spPr>
      </p:sp>
      <p:sp>
        <p:nvSpPr>
          <p:cNvPr id="21" name="Shape 19"/>
          <p:cNvSpPr/>
          <p:nvPr/>
        </p:nvSpPr>
        <p:spPr>
          <a:xfrm>
            <a:off x="1078992" y="2688336"/>
            <a:ext cx="100584" cy="100584"/>
          </a:xfrm>
          <a:prstGeom prst="ellipse">
            <a:avLst/>
          </a:prstGeom>
          <a:solidFill>
            <a:srgbClr val="4ADE80"/>
          </a:solidFill>
          <a:ln w="12700">
            <a:solidFill>
              <a:srgbClr val="4ADE80"/>
            </a:solidFill>
            <a:prstDash val="solid"/>
          </a:ln>
        </p:spPr>
      </p:sp>
      <p:sp>
        <p:nvSpPr>
          <p:cNvPr id="22" name="Text 20"/>
          <p:cNvSpPr/>
          <p:nvPr/>
        </p:nvSpPr>
        <p:spPr>
          <a:xfrm>
            <a:off x="1325880" y="2633472"/>
            <a:ext cx="5852160" cy="201168"/>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hashing "abc" step by step</a:t>
            </a:r>
            <a:endParaRPr lang="en-US" sz="1000" dirty="0"/>
          </a:p>
        </p:txBody>
      </p:sp>
      <p:sp>
        <p:nvSpPr>
          <p:cNvPr id="23" name="Text 21"/>
          <p:cNvSpPr/>
          <p:nvPr/>
        </p:nvSpPr>
        <p:spPr>
          <a:xfrm>
            <a:off x="777240" y="2944368"/>
            <a:ext cx="6309360" cy="3063240"/>
          </a:xfrm>
          <a:prstGeom prst="rect">
            <a:avLst/>
          </a:prstGeom>
          <a:noFill/>
          <a:ln/>
        </p:spPr>
        <p:txBody>
          <a:bodyPr wrap="square" lIns="0" tIns="0" rIns="0" bIns="0" rtlCol="0" anchor="t"/>
          <a:lstStyle/>
          <a:p>
            <a:pPr marL="0" indent="0">
              <a:spcAft>
                <a:spcPts val="200"/>
              </a:spcAft>
              <a:buNone/>
            </a:pPr>
            <a:r>
              <a:rPr lang="en-US" sz="1400">
                <a:solidFill>
                  <a:srgbClr val="4ADE80"/>
                </a:solidFill>
                <a:latin typeface="Consolas" pitchFamily="34" charset="0"/>
                <a:ea typeface="Consolas" pitchFamily="34" charset="-122"/>
                <a:cs typeface="Consolas" pitchFamily="34" charset="-120"/>
              </a:rPr>
              <a:t>Input     "abc"</a:t>
            </a:r>
            <a:endParaRPr lang="en-US" sz="1400" dirty="0"/>
          </a:p>
          <a:p>
            <a:pPr marL="0" indent="0">
              <a:spcAft>
                <a:spcPts val="200"/>
              </a:spcAft>
              <a:buNone/>
            </a:pPr>
            <a:r>
              <a:rPr lang="en-US" sz="1400">
                <a:solidFill>
                  <a:srgbClr val="4ADE80"/>
                </a:solidFill>
                <a:latin typeface="Consolas" pitchFamily="34" charset="0"/>
                <a:ea typeface="Consolas" pitchFamily="34" charset="-122"/>
                <a:cs typeface="Consolas" pitchFamily="34" charset="-120"/>
              </a:rPr>
              <a:t>As bytes  61 62 63</a:t>
            </a:r>
            <a:endParaRPr lang="en-US" sz="1400" dirty="0"/>
          </a:p>
          <a:p>
            <a:pPr marL="0" indent="0">
              <a:spcAft>
                <a:spcPts val="200"/>
              </a:spcAft>
              <a:buNone/>
            </a:pPr>
            <a:r>
              <a:rPr lang="en-US" sz="1400">
                <a:solidFill>
                  <a:srgbClr val="4ADE80"/>
                </a:solidFill>
                <a:latin typeface="Consolas" pitchFamily="34" charset="0"/>
                <a:ea typeface="Consolas" pitchFamily="34" charset="-122"/>
                <a:cs typeface="Consolas" pitchFamily="34" charset="-120"/>
              </a:rPr>
              <a:t>Padded    61 62 63 80 00 ... 00 18</a:t>
            </a:r>
            <a:endParaRPr lang="en-US" sz="1400" dirty="0"/>
          </a:p>
          <a:p>
            <a:pPr marL="0" indent="0">
              <a:spcAft>
                <a:spcPts val="200"/>
              </a:spcAft>
              <a:buNone/>
            </a:pPr>
            <a:endParaRPr lang="en-US" sz="1400" dirty="0"/>
          </a:p>
          <a:p>
            <a:pPr marL="0" indent="0">
              <a:spcAft>
                <a:spcPts val="200"/>
              </a:spcAft>
              <a:buNone/>
            </a:pPr>
            <a:r>
              <a:rPr lang="en-US" sz="1400">
                <a:solidFill>
                  <a:srgbClr val="22D3EE"/>
                </a:solidFill>
                <a:latin typeface="Consolas" pitchFamily="34" charset="0"/>
                <a:ea typeface="Consolas" pitchFamily="34" charset="-122"/>
                <a:cs typeface="Consolas" pitchFamily="34" charset="-120"/>
              </a:rPr>
              <a:t>Mix the bits through 64 rounds</a:t>
            </a:r>
            <a:endParaRPr lang="en-US" sz="1400" dirty="0"/>
          </a:p>
          <a:p>
            <a:pPr marL="0" indent="0">
              <a:spcAft>
                <a:spcPts val="200"/>
              </a:spcAft>
              <a:buNone/>
            </a:pPr>
            <a:r>
              <a:rPr lang="en-US" sz="1400" dirty="0">
                <a:solidFill>
                  <a:srgbClr val="22D3EE"/>
                </a:solidFill>
                <a:latin typeface="Consolas" pitchFamily="34" charset="0"/>
                <a:ea typeface="Consolas" pitchFamily="34" charset="-122"/>
                <a:cs typeface="Consolas" pitchFamily="34" charset="-120"/>
              </a:rPr>
              <a:t>(</a:t>
            </a:r>
            <a:r>
              <a:rPr lang="en-US" sz="1400">
                <a:solidFill>
                  <a:srgbClr val="22D3EE"/>
                </a:solidFill>
                <a:latin typeface="Consolas" pitchFamily="34" charset="0"/>
                <a:ea typeface="Consolas" pitchFamily="34" charset="-122"/>
                <a:cs typeface="Consolas" pitchFamily="34" charset="-120"/>
              </a:rPr>
              <a:t>shift</a:t>
            </a:r>
            <a:r>
              <a:rPr lang="en-US" sz="1400" dirty="0">
                <a:solidFill>
                  <a:srgbClr val="22D3EE"/>
                </a:solidFill>
                <a:latin typeface="Consolas" pitchFamily="34" charset="0"/>
                <a:ea typeface="Consolas" pitchFamily="34" charset="-122"/>
                <a:cs typeface="Consolas" pitchFamily="34" charset="-120"/>
              </a:rPr>
              <a:t>,</a:t>
            </a:r>
            <a:r>
              <a:rPr lang="en-US" sz="1400">
                <a:solidFill>
                  <a:srgbClr val="22D3EE"/>
                </a:solidFill>
                <a:latin typeface="Consolas" pitchFamily="34" charset="0"/>
                <a:ea typeface="Consolas" pitchFamily="34" charset="-122"/>
                <a:cs typeface="Consolas" pitchFamily="34" charset="-120"/>
              </a:rPr>
              <a:t> flip and add bits to scramble</a:t>
            </a:r>
            <a:r>
              <a:rPr lang="en-US" sz="1400" dirty="0">
                <a:solidFill>
                  <a:srgbClr val="22D3EE"/>
                </a:solidFill>
                <a:latin typeface="Consolas" pitchFamily="34" charset="0"/>
                <a:ea typeface="Consolas" pitchFamily="34" charset="-122"/>
                <a:cs typeface="Consolas" pitchFamily="34" charset="-120"/>
              </a:rPr>
              <a:t>)</a:t>
            </a:r>
            <a:endParaRPr lang="en-US" sz="1400" dirty="0"/>
          </a:p>
          <a:p>
            <a:pPr marL="0" indent="0">
              <a:spcAft>
                <a:spcPts val="200"/>
              </a:spcAft>
              <a:buNone/>
            </a:pPr>
            <a:endParaRPr lang="en-US" sz="1400" dirty="0"/>
          </a:p>
          <a:p>
            <a:pPr marL="0" indent="0">
              <a:spcAft>
                <a:spcPts val="200"/>
              </a:spcAft>
              <a:buNone/>
            </a:pPr>
            <a:r>
              <a:rPr lang="en-US" sz="1400">
                <a:solidFill>
                  <a:srgbClr val="FBBF24"/>
                </a:solidFill>
                <a:latin typeface="Consolas" pitchFamily="34" charset="0"/>
                <a:ea typeface="Consolas" pitchFamily="34" charset="-122"/>
                <a:cs typeface="Consolas" pitchFamily="34" charset="-120"/>
              </a:rPr>
              <a:t>ba7816bf 8f01cfea 414140de 5dae2223</a:t>
            </a:r>
            <a:endParaRPr lang="en-US" sz="1400"/>
          </a:p>
          <a:p>
            <a:pPr marL="0" indent="0">
              <a:spcAft>
                <a:spcPts val="200"/>
              </a:spcAft>
              <a:buNone/>
            </a:pPr>
            <a:r>
              <a:rPr lang="en-US" sz="1400">
                <a:solidFill>
                  <a:srgbClr val="FBBF24"/>
                </a:solidFill>
                <a:latin typeface="Consolas" pitchFamily="34" charset="0"/>
                <a:ea typeface="Consolas" pitchFamily="34" charset="-122"/>
                <a:cs typeface="Consolas" pitchFamily="34" charset="-120"/>
              </a:rPr>
              <a:t>b00361a3 96177a9c b410ff61 f20015ad</a:t>
            </a:r>
            <a:endParaRPr lang="en-US" sz="1400" dirty="0"/>
          </a:p>
          <a:p>
            <a:pPr marL="0" indent="0">
              <a:spcAft>
                <a:spcPts val="200"/>
              </a:spcAft>
              <a:buNone/>
            </a:pPr>
            <a:r>
              <a:rPr lang="en-US" sz="1400" dirty="0">
                <a:solidFill>
                  <a:srgbClr val="FBBF24"/>
                </a:solidFill>
                <a:latin typeface="Consolas" pitchFamily="34" charset="0"/>
                <a:ea typeface="Consolas" pitchFamily="34" charset="-122"/>
                <a:cs typeface="Consolas" pitchFamily="34" charset="-120"/>
              </a:rPr>
              <a:t>= </a:t>
            </a:r>
            <a:r>
              <a:rPr lang="en-US" sz="1400">
                <a:solidFill>
                  <a:srgbClr val="FBBF24"/>
                </a:solidFill>
                <a:latin typeface="Consolas" pitchFamily="34" charset="0"/>
                <a:ea typeface="Consolas" pitchFamily="34" charset="-122"/>
                <a:cs typeface="Consolas" pitchFamily="34" charset="-120"/>
              </a:rPr>
              <a:t>the SHA-256 digest of "abc"</a:t>
            </a:r>
            <a:endParaRPr lang="en-US" sz="1400" dirty="0"/>
          </a:p>
        </p:txBody>
      </p:sp>
      <p:sp>
        <p:nvSpPr>
          <p:cNvPr id="24" name="Shape 22"/>
          <p:cNvSpPr/>
          <p:nvPr/>
        </p:nvSpPr>
        <p:spPr>
          <a:xfrm>
            <a:off x="7543800" y="2560320"/>
            <a:ext cx="4096512" cy="3566160"/>
          </a:xfrm>
          <a:prstGeom prst="roundRect">
            <a:avLst>
              <a:gd name="adj" fmla="val 2051"/>
            </a:avLst>
          </a:prstGeom>
          <a:solidFill>
            <a:srgbClr val="111A2F"/>
          </a:solidFill>
          <a:ln w="12700">
            <a:solidFill>
              <a:srgbClr val="2A3E68"/>
            </a:solidFill>
            <a:prstDash val="solid"/>
          </a:ln>
        </p:spPr>
      </p:sp>
      <p:sp>
        <p:nvSpPr>
          <p:cNvPr id="25" name="Text 23"/>
          <p:cNvSpPr/>
          <p:nvPr/>
        </p:nvSpPr>
        <p:spPr>
          <a:xfrm>
            <a:off x="7772400" y="2697480"/>
            <a:ext cx="365760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Why it is hard to reverse</a:t>
            </a:r>
            <a:endParaRPr lang="en-US" sz="1400" dirty="0"/>
          </a:p>
        </p:txBody>
      </p:sp>
      <p:sp>
        <p:nvSpPr>
          <p:cNvPr id="26" name="Text 24"/>
          <p:cNvSpPr/>
          <p:nvPr/>
        </p:nvSpPr>
        <p:spPr>
          <a:xfrm>
            <a:off x="7772400" y="3108960"/>
            <a:ext cx="3657600" cy="2926080"/>
          </a:xfrm>
          <a:prstGeom prst="rect">
            <a:avLst/>
          </a:prstGeom>
          <a:noFill/>
          <a:ln/>
        </p:spPr>
        <p:txBody>
          <a:bodyPr wrap="square" lIns="0" tIns="0" rIns="0" bIns="0" rtlCol="0" anchor="t"/>
          <a:lstStyle/>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Each round scrambles the bits so </a:t>
            </a:r>
            <a:r>
              <a:rPr lang="en-US" sz="1300" dirty="0">
                <a:solidFill>
                  <a:srgbClr val="F1F5F9"/>
                </a:solidFill>
                <a:latin typeface="Calibri" pitchFamily="34" charset="0"/>
                <a:ea typeface="Calibri" pitchFamily="34" charset="-122"/>
                <a:cs typeface="Calibri" pitchFamily="34" charset="-120"/>
              </a:rPr>
              <a:t>every input bit </a:t>
            </a:r>
            <a:r>
              <a:rPr lang="en-US" sz="1300">
                <a:solidFill>
                  <a:srgbClr val="F1F5F9"/>
                </a:solidFill>
                <a:latin typeface="Calibri" pitchFamily="34" charset="0"/>
                <a:ea typeface="Calibri" pitchFamily="34" charset="-122"/>
                <a:cs typeface="Calibri" pitchFamily="34" charset="-120"/>
              </a:rPr>
              <a:t>affects the whole output</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The mixing is too tangled to run backwards</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Change "abc" to "abd" and the hash looks completely different</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Longer input just means more chunks through </a:t>
            </a:r>
            <a:r>
              <a:rPr lang="en-US" sz="1300" dirty="0">
                <a:solidFill>
                  <a:srgbClr val="F1F5F9"/>
                </a:solidFill>
                <a:latin typeface="Calibri" pitchFamily="34" charset="0"/>
                <a:ea typeface="Calibri" pitchFamily="34" charset="-122"/>
                <a:cs typeface="Calibri" pitchFamily="34" charset="-120"/>
              </a:rPr>
              <a:t>the </a:t>
            </a:r>
            <a:r>
              <a:rPr lang="en-US" sz="1300">
                <a:solidFill>
                  <a:srgbClr val="F1F5F9"/>
                </a:solidFill>
                <a:latin typeface="Calibri" pitchFamily="34" charset="0"/>
                <a:ea typeface="Calibri" pitchFamily="34" charset="-122"/>
                <a:cs typeface="Calibri" pitchFamily="34" charset="-120"/>
              </a:rPr>
              <a:t>same </a:t>
            </a:r>
            <a:r>
              <a:rPr lang="en-US" sz="1300" dirty="0">
                <a:solidFill>
                  <a:srgbClr val="F1F5F9"/>
                </a:solidFill>
                <a:latin typeface="Calibri" pitchFamily="34" charset="0"/>
                <a:ea typeface="Calibri" pitchFamily="34" charset="-122"/>
                <a:cs typeface="Calibri" pitchFamily="34" charset="-120"/>
              </a:rPr>
              <a:t>64 </a:t>
            </a:r>
            <a:r>
              <a:rPr lang="en-US" sz="1300">
                <a:solidFill>
                  <a:srgbClr val="F1F5F9"/>
                </a:solidFill>
                <a:latin typeface="Calibri" pitchFamily="34" charset="0"/>
                <a:ea typeface="Calibri" pitchFamily="34" charset="-122"/>
                <a:cs typeface="Calibri" pitchFamily="34" charset="-120"/>
              </a:rPr>
              <a:t>rounds</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Caution</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SHA-256 alone can be extended by attackers; </a:t>
            </a:r>
            <a:r>
              <a:rPr lang="en-US" sz="1300" dirty="0">
                <a:solidFill>
                  <a:srgbClr val="F1F5F9"/>
                </a:solidFill>
                <a:latin typeface="Calibri" pitchFamily="34" charset="0"/>
                <a:ea typeface="Calibri" pitchFamily="34" charset="-122"/>
                <a:cs typeface="Calibri" pitchFamily="34" charset="-120"/>
              </a:rPr>
              <a:t>HMAC or SHA-3 </a:t>
            </a:r>
            <a:r>
              <a:rPr lang="en-US" sz="1300">
                <a:solidFill>
                  <a:srgbClr val="F1F5F9"/>
                </a:solidFill>
                <a:latin typeface="Calibri" pitchFamily="34" charset="0"/>
                <a:ea typeface="Calibri" pitchFamily="34" charset="-122"/>
                <a:cs typeface="Calibri" pitchFamily="34" charset="-120"/>
              </a:rPr>
              <a:t>avoids that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HASHING 03</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Known issues: MD5 and SHA-1 are broken</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12</a:t>
            </a:r>
            <a:endParaRPr lang="en-US" sz="1000" dirty="0"/>
          </a:p>
        </p:txBody>
      </p:sp>
      <p:sp>
        <p:nvSpPr>
          <p:cNvPr id="6" name="Shape 4"/>
          <p:cNvSpPr/>
          <p:nvPr/>
        </p:nvSpPr>
        <p:spPr>
          <a:xfrm>
            <a:off x="1472946" y="1965960"/>
            <a:ext cx="9243060" cy="0"/>
          </a:xfrm>
          <a:prstGeom prst="line">
            <a:avLst/>
          </a:prstGeom>
          <a:noFill/>
          <a:ln w="25400">
            <a:solidFill>
              <a:srgbClr val="2A3E68"/>
            </a:solidFill>
            <a:prstDash val="solid"/>
          </a:ln>
        </p:spPr>
      </p:sp>
      <p:sp>
        <p:nvSpPr>
          <p:cNvPr id="7" name="Text 5"/>
          <p:cNvSpPr/>
          <p:nvPr/>
        </p:nvSpPr>
        <p:spPr>
          <a:xfrm>
            <a:off x="649986" y="1417320"/>
            <a:ext cx="1645920" cy="274320"/>
          </a:xfrm>
          <a:prstGeom prst="rect">
            <a:avLst/>
          </a:prstGeom>
          <a:noFill/>
          <a:ln/>
        </p:spPr>
        <p:txBody>
          <a:bodyPr wrap="square" lIns="0" tIns="0" rIns="0" bIns="0" rtlCol="0" anchor="t"/>
          <a:lstStyle/>
          <a:p>
            <a:pPr marL="0" indent="0" algn="ctr">
              <a:buNone/>
            </a:pPr>
            <a:r>
              <a:rPr lang="en-US" sz="1600" b="1" dirty="0">
                <a:solidFill>
                  <a:srgbClr val="22D3EE"/>
                </a:solidFill>
                <a:latin typeface="Consolas" pitchFamily="34" charset="0"/>
                <a:ea typeface="Consolas" pitchFamily="34" charset="-122"/>
                <a:cs typeface="Consolas" pitchFamily="34" charset="-120"/>
              </a:rPr>
              <a:t>1995</a:t>
            </a:r>
            <a:endParaRPr lang="en-US" sz="1600" dirty="0"/>
          </a:p>
        </p:txBody>
      </p:sp>
      <p:sp>
        <p:nvSpPr>
          <p:cNvPr id="8" name="Shape 6"/>
          <p:cNvSpPr/>
          <p:nvPr/>
        </p:nvSpPr>
        <p:spPr>
          <a:xfrm>
            <a:off x="1372362" y="1865376"/>
            <a:ext cx="201168" cy="201168"/>
          </a:xfrm>
          <a:prstGeom prst="ellipse">
            <a:avLst/>
          </a:prstGeom>
          <a:solidFill>
            <a:srgbClr val="22D3EE"/>
          </a:solidFill>
          <a:ln w="25400">
            <a:solidFill>
              <a:srgbClr val="0A0F1C"/>
            </a:solidFill>
            <a:prstDash val="solid"/>
          </a:ln>
        </p:spPr>
      </p:sp>
      <p:sp>
        <p:nvSpPr>
          <p:cNvPr id="9" name="Text 7"/>
          <p:cNvSpPr/>
          <p:nvPr/>
        </p:nvSpPr>
        <p:spPr>
          <a:xfrm>
            <a:off x="649986" y="2194560"/>
            <a:ext cx="1645920" cy="868680"/>
          </a:xfrm>
          <a:prstGeom prst="rect">
            <a:avLst/>
          </a:prstGeom>
          <a:noFill/>
          <a:ln/>
        </p:spPr>
        <p:txBody>
          <a:bodyPr wrap="square" lIns="0" tIns="0" rIns="0" bIns="0" rtlCol="0" anchor="t"/>
          <a:lstStyle/>
          <a:p>
            <a:pPr marL="0" indent="0" algn="ctr">
              <a:buNone/>
            </a:pPr>
            <a:r>
              <a:rPr lang="en-US" sz="1300" dirty="0">
                <a:solidFill>
                  <a:srgbClr val="F1F5F9"/>
                </a:solidFill>
                <a:latin typeface="Calibri" pitchFamily="34" charset="0"/>
                <a:ea typeface="Calibri" pitchFamily="34" charset="-122"/>
                <a:cs typeface="Calibri" pitchFamily="34" charset="-120"/>
              </a:rPr>
              <a:t>SHA-1 </a:t>
            </a:r>
            <a:r>
              <a:rPr lang="en-US" sz="1300">
                <a:solidFill>
                  <a:srgbClr val="F1F5F9"/>
                </a:solidFill>
                <a:latin typeface="Calibri" pitchFamily="34" charset="0"/>
                <a:ea typeface="Calibri" pitchFamily="34" charset="-122"/>
                <a:cs typeface="Calibri" pitchFamily="34" charset="-120"/>
              </a:rPr>
              <a:t>becomes a US standard</a:t>
            </a:r>
            <a:endParaRPr lang="en-US" sz="1300" dirty="0"/>
          </a:p>
        </p:txBody>
      </p:sp>
      <p:sp>
        <p:nvSpPr>
          <p:cNvPr id="10" name="Text 8"/>
          <p:cNvSpPr/>
          <p:nvPr/>
        </p:nvSpPr>
        <p:spPr>
          <a:xfrm>
            <a:off x="2498598" y="1417320"/>
            <a:ext cx="1645920" cy="274320"/>
          </a:xfrm>
          <a:prstGeom prst="rect">
            <a:avLst/>
          </a:prstGeom>
          <a:noFill/>
          <a:ln/>
        </p:spPr>
        <p:txBody>
          <a:bodyPr wrap="square" lIns="0" tIns="0" rIns="0" bIns="0" rtlCol="0" anchor="t"/>
          <a:lstStyle/>
          <a:p>
            <a:pPr marL="0" indent="0" algn="ctr">
              <a:buNone/>
            </a:pPr>
            <a:r>
              <a:rPr lang="en-US" sz="1600" b="1" dirty="0">
                <a:solidFill>
                  <a:srgbClr val="F87171"/>
                </a:solidFill>
                <a:latin typeface="Consolas" pitchFamily="34" charset="0"/>
                <a:ea typeface="Consolas" pitchFamily="34" charset="-122"/>
                <a:cs typeface="Consolas" pitchFamily="34" charset="-120"/>
              </a:rPr>
              <a:t>2004</a:t>
            </a:r>
            <a:endParaRPr lang="en-US" sz="1600" dirty="0"/>
          </a:p>
        </p:txBody>
      </p:sp>
      <p:sp>
        <p:nvSpPr>
          <p:cNvPr id="11" name="Shape 9"/>
          <p:cNvSpPr/>
          <p:nvPr/>
        </p:nvSpPr>
        <p:spPr>
          <a:xfrm>
            <a:off x="3220974" y="1865376"/>
            <a:ext cx="201168" cy="201168"/>
          </a:xfrm>
          <a:prstGeom prst="ellipse">
            <a:avLst/>
          </a:prstGeom>
          <a:solidFill>
            <a:srgbClr val="F87171"/>
          </a:solidFill>
          <a:ln w="25400">
            <a:solidFill>
              <a:srgbClr val="0A0F1C"/>
            </a:solidFill>
            <a:prstDash val="solid"/>
          </a:ln>
        </p:spPr>
      </p:sp>
      <p:sp>
        <p:nvSpPr>
          <p:cNvPr id="12" name="Text 10"/>
          <p:cNvSpPr/>
          <p:nvPr/>
        </p:nvSpPr>
        <p:spPr>
          <a:xfrm>
            <a:off x="2498598" y="2194560"/>
            <a:ext cx="1645920" cy="868680"/>
          </a:xfrm>
          <a:prstGeom prst="rect">
            <a:avLst/>
          </a:prstGeom>
          <a:noFill/>
          <a:ln/>
        </p:spPr>
        <p:txBody>
          <a:bodyPr wrap="square" lIns="0" tIns="0" rIns="0" bIns="0" rtlCol="0" anchor="t"/>
          <a:lstStyle/>
          <a:p>
            <a:pPr marL="0" indent="0" algn="ctr">
              <a:buNone/>
            </a:pPr>
            <a:r>
              <a:rPr lang="en-US" sz="1300">
                <a:solidFill>
                  <a:srgbClr val="F1F5F9"/>
                </a:solidFill>
                <a:latin typeface="Calibri" pitchFamily="34" charset="0"/>
                <a:ea typeface="Calibri" pitchFamily="34" charset="-122"/>
                <a:cs typeface="Calibri" pitchFamily="34" charset="-120"/>
              </a:rPr>
              <a:t>Researchers find two inputs with the same </a:t>
            </a:r>
            <a:r>
              <a:rPr lang="en-US" sz="1300" dirty="0">
                <a:solidFill>
                  <a:srgbClr val="F1F5F9"/>
                </a:solidFill>
                <a:latin typeface="Calibri" pitchFamily="34" charset="0"/>
                <a:ea typeface="Calibri" pitchFamily="34" charset="-122"/>
                <a:cs typeface="Calibri" pitchFamily="34" charset="-120"/>
              </a:rPr>
              <a:t>MD5 </a:t>
            </a:r>
            <a:r>
              <a:rPr lang="en-US" sz="1300">
                <a:solidFill>
                  <a:srgbClr val="F1F5F9"/>
                </a:solidFill>
                <a:latin typeface="Calibri" pitchFamily="34" charset="0"/>
                <a:ea typeface="Calibri" pitchFamily="34" charset="-122"/>
                <a:cs typeface="Calibri" pitchFamily="34" charset="-120"/>
              </a:rPr>
              <a:t>hash</a:t>
            </a:r>
            <a:endParaRPr lang="en-US" sz="1300" dirty="0"/>
          </a:p>
        </p:txBody>
      </p:sp>
      <p:sp>
        <p:nvSpPr>
          <p:cNvPr id="13" name="Text 11"/>
          <p:cNvSpPr/>
          <p:nvPr/>
        </p:nvSpPr>
        <p:spPr>
          <a:xfrm>
            <a:off x="4347210" y="1417320"/>
            <a:ext cx="1645920" cy="274320"/>
          </a:xfrm>
          <a:prstGeom prst="rect">
            <a:avLst/>
          </a:prstGeom>
          <a:noFill/>
          <a:ln/>
        </p:spPr>
        <p:txBody>
          <a:bodyPr wrap="square" lIns="0" tIns="0" rIns="0" bIns="0" rtlCol="0" anchor="t"/>
          <a:lstStyle/>
          <a:p>
            <a:pPr marL="0" indent="0" algn="ctr">
              <a:buNone/>
            </a:pPr>
            <a:r>
              <a:rPr lang="en-US" sz="1600" b="1" dirty="0">
                <a:solidFill>
                  <a:srgbClr val="F87171"/>
                </a:solidFill>
                <a:latin typeface="Consolas" pitchFamily="34" charset="0"/>
                <a:ea typeface="Consolas" pitchFamily="34" charset="-122"/>
                <a:cs typeface="Consolas" pitchFamily="34" charset="-120"/>
              </a:rPr>
              <a:t>2008</a:t>
            </a:r>
            <a:endParaRPr lang="en-US" sz="1600" dirty="0"/>
          </a:p>
        </p:txBody>
      </p:sp>
      <p:sp>
        <p:nvSpPr>
          <p:cNvPr id="14" name="Shape 12"/>
          <p:cNvSpPr/>
          <p:nvPr/>
        </p:nvSpPr>
        <p:spPr>
          <a:xfrm>
            <a:off x="5069586" y="1865376"/>
            <a:ext cx="201168" cy="201168"/>
          </a:xfrm>
          <a:prstGeom prst="ellipse">
            <a:avLst/>
          </a:prstGeom>
          <a:solidFill>
            <a:srgbClr val="F87171"/>
          </a:solidFill>
          <a:ln w="25400">
            <a:solidFill>
              <a:srgbClr val="0A0F1C"/>
            </a:solidFill>
            <a:prstDash val="solid"/>
          </a:ln>
        </p:spPr>
      </p:sp>
      <p:sp>
        <p:nvSpPr>
          <p:cNvPr id="15" name="Text 13"/>
          <p:cNvSpPr/>
          <p:nvPr/>
        </p:nvSpPr>
        <p:spPr>
          <a:xfrm>
            <a:off x="4347210" y="2194560"/>
            <a:ext cx="1645920" cy="868680"/>
          </a:xfrm>
          <a:prstGeom prst="rect">
            <a:avLst/>
          </a:prstGeom>
          <a:noFill/>
          <a:ln/>
        </p:spPr>
        <p:txBody>
          <a:bodyPr wrap="square" lIns="0" tIns="0" rIns="0" bIns="0" rtlCol="0" anchor="t"/>
          <a:lstStyle/>
          <a:p>
            <a:pPr marL="0" indent="0" algn="ctr">
              <a:buNone/>
            </a:pPr>
            <a:r>
              <a:rPr lang="en-US" sz="1300">
                <a:solidFill>
                  <a:srgbClr val="F1F5F9"/>
                </a:solidFill>
                <a:latin typeface="Calibri" pitchFamily="34" charset="0"/>
                <a:ea typeface="Calibri" pitchFamily="34" charset="-122"/>
                <a:cs typeface="Calibri" pitchFamily="34" charset="-120"/>
              </a:rPr>
              <a:t>Fake website </a:t>
            </a:r>
            <a:r>
              <a:rPr lang="en-US" sz="1300" dirty="0">
                <a:solidFill>
                  <a:srgbClr val="F1F5F9"/>
                </a:solidFill>
                <a:latin typeface="Calibri" pitchFamily="34" charset="0"/>
                <a:ea typeface="Calibri" pitchFamily="34" charset="-122"/>
                <a:cs typeface="Calibri" pitchFamily="34" charset="-120"/>
              </a:rPr>
              <a:t>certificate </a:t>
            </a:r>
            <a:r>
              <a:rPr lang="en-US" sz="1300">
                <a:solidFill>
                  <a:srgbClr val="F1F5F9"/>
                </a:solidFill>
                <a:latin typeface="Calibri" pitchFamily="34" charset="0"/>
                <a:ea typeface="Calibri" pitchFamily="34" charset="-122"/>
                <a:cs typeface="Calibri" pitchFamily="34" charset="-120"/>
              </a:rPr>
              <a:t>made </a:t>
            </a:r>
            <a:r>
              <a:rPr lang="en-US" sz="1300" dirty="0">
                <a:solidFill>
                  <a:srgbClr val="F1F5F9"/>
                </a:solidFill>
                <a:latin typeface="Calibri" pitchFamily="34" charset="0"/>
                <a:ea typeface="Calibri" pitchFamily="34" charset="-122"/>
                <a:cs typeface="Calibri" pitchFamily="34" charset="-120"/>
              </a:rPr>
              <a:t>using </a:t>
            </a:r>
            <a:r>
              <a:rPr lang="en-US" sz="1300">
                <a:solidFill>
                  <a:srgbClr val="F1F5F9"/>
                </a:solidFill>
                <a:latin typeface="Calibri" pitchFamily="34" charset="0"/>
                <a:ea typeface="Calibri" pitchFamily="34" charset="-122"/>
                <a:cs typeface="Calibri" pitchFamily="34" charset="-120"/>
              </a:rPr>
              <a:t>the </a:t>
            </a:r>
            <a:r>
              <a:rPr lang="en-US" sz="1300" dirty="0">
                <a:solidFill>
                  <a:srgbClr val="F1F5F9"/>
                </a:solidFill>
                <a:latin typeface="Calibri" pitchFamily="34" charset="0"/>
                <a:ea typeface="Calibri" pitchFamily="34" charset="-122"/>
                <a:cs typeface="Calibri" pitchFamily="34" charset="-120"/>
              </a:rPr>
              <a:t>MD5 </a:t>
            </a:r>
            <a:r>
              <a:rPr lang="en-US" sz="1300">
                <a:solidFill>
                  <a:srgbClr val="F1F5F9"/>
                </a:solidFill>
                <a:latin typeface="Calibri" pitchFamily="34" charset="0"/>
                <a:ea typeface="Calibri" pitchFamily="34" charset="-122"/>
                <a:cs typeface="Calibri" pitchFamily="34" charset="-120"/>
              </a:rPr>
              <a:t>weakness</a:t>
            </a:r>
            <a:endParaRPr lang="en-US" sz="1300" dirty="0"/>
          </a:p>
        </p:txBody>
      </p:sp>
      <p:sp>
        <p:nvSpPr>
          <p:cNvPr id="16" name="Text 14"/>
          <p:cNvSpPr/>
          <p:nvPr/>
        </p:nvSpPr>
        <p:spPr>
          <a:xfrm>
            <a:off x="6195822" y="1417320"/>
            <a:ext cx="1645920" cy="274320"/>
          </a:xfrm>
          <a:prstGeom prst="rect">
            <a:avLst/>
          </a:prstGeom>
          <a:noFill/>
          <a:ln/>
        </p:spPr>
        <p:txBody>
          <a:bodyPr wrap="square" lIns="0" tIns="0" rIns="0" bIns="0" rtlCol="0" anchor="t"/>
          <a:lstStyle/>
          <a:p>
            <a:pPr marL="0" indent="0" algn="ctr">
              <a:buNone/>
            </a:pPr>
            <a:r>
              <a:rPr lang="en-US" sz="1600" b="1" dirty="0">
                <a:solidFill>
                  <a:srgbClr val="F87171"/>
                </a:solidFill>
                <a:latin typeface="Consolas" pitchFamily="34" charset="0"/>
                <a:ea typeface="Consolas" pitchFamily="34" charset="-122"/>
                <a:cs typeface="Consolas" pitchFamily="34" charset="-120"/>
              </a:rPr>
              <a:t>2012</a:t>
            </a:r>
            <a:endParaRPr lang="en-US" sz="1600" dirty="0"/>
          </a:p>
        </p:txBody>
      </p:sp>
      <p:sp>
        <p:nvSpPr>
          <p:cNvPr id="17" name="Shape 15"/>
          <p:cNvSpPr/>
          <p:nvPr/>
        </p:nvSpPr>
        <p:spPr>
          <a:xfrm>
            <a:off x="6918198" y="1865376"/>
            <a:ext cx="201168" cy="201168"/>
          </a:xfrm>
          <a:prstGeom prst="ellipse">
            <a:avLst/>
          </a:prstGeom>
          <a:solidFill>
            <a:srgbClr val="F87171"/>
          </a:solidFill>
          <a:ln w="25400">
            <a:solidFill>
              <a:srgbClr val="0A0F1C"/>
            </a:solidFill>
            <a:prstDash val="solid"/>
          </a:ln>
        </p:spPr>
      </p:sp>
      <p:sp>
        <p:nvSpPr>
          <p:cNvPr id="18" name="Text 16"/>
          <p:cNvSpPr/>
          <p:nvPr/>
        </p:nvSpPr>
        <p:spPr>
          <a:xfrm>
            <a:off x="6195822" y="2194560"/>
            <a:ext cx="1645920" cy="868680"/>
          </a:xfrm>
          <a:prstGeom prst="rect">
            <a:avLst/>
          </a:prstGeom>
          <a:noFill/>
          <a:ln/>
        </p:spPr>
        <p:txBody>
          <a:bodyPr wrap="square" lIns="0" tIns="0" rIns="0" bIns="0" rtlCol="0" anchor="t"/>
          <a:lstStyle/>
          <a:p>
            <a:pPr marL="0" indent="0" algn="ctr">
              <a:buNone/>
            </a:pPr>
            <a:r>
              <a:rPr lang="en-US" sz="1300" dirty="0">
                <a:solidFill>
                  <a:srgbClr val="F1F5F9"/>
                </a:solidFill>
                <a:latin typeface="Calibri" pitchFamily="34" charset="0"/>
                <a:ea typeface="Calibri" pitchFamily="34" charset="-122"/>
                <a:cs typeface="Calibri" pitchFamily="34" charset="-120"/>
              </a:rPr>
              <a:t>Flame malware </a:t>
            </a:r>
            <a:r>
              <a:rPr lang="en-US" sz="1300">
                <a:solidFill>
                  <a:srgbClr val="F1F5F9"/>
                </a:solidFill>
                <a:latin typeface="Calibri" pitchFamily="34" charset="0"/>
                <a:ea typeface="Calibri" pitchFamily="34" charset="-122"/>
                <a:cs typeface="Calibri" pitchFamily="34" charset="-120"/>
              </a:rPr>
              <a:t>fakes </a:t>
            </a:r>
            <a:r>
              <a:rPr lang="en-US" sz="1300" dirty="0">
                <a:solidFill>
                  <a:srgbClr val="F1F5F9"/>
                </a:solidFill>
                <a:latin typeface="Calibri" pitchFamily="34" charset="0"/>
                <a:ea typeface="Calibri" pitchFamily="34" charset="-122"/>
                <a:cs typeface="Calibri" pitchFamily="34" charset="-120"/>
              </a:rPr>
              <a:t>a </a:t>
            </a:r>
            <a:r>
              <a:rPr lang="en-US" sz="1300">
                <a:solidFill>
                  <a:srgbClr val="F1F5F9"/>
                </a:solidFill>
                <a:latin typeface="Calibri" pitchFamily="34" charset="0"/>
                <a:ea typeface="Calibri" pitchFamily="34" charset="-122"/>
                <a:cs typeface="Calibri" pitchFamily="34" charset="-120"/>
              </a:rPr>
              <a:t>trusted software signature (</a:t>
            </a:r>
            <a:r>
              <a:rPr lang="en-US" sz="1300" dirty="0">
                <a:solidFill>
                  <a:srgbClr val="F1F5F9"/>
                </a:solidFill>
                <a:latin typeface="Calibri" pitchFamily="34" charset="0"/>
                <a:ea typeface="Calibri" pitchFamily="34" charset="-122"/>
                <a:cs typeface="Calibri" pitchFamily="34" charset="-120"/>
              </a:rPr>
              <a:t>MD5</a:t>
            </a:r>
            <a:r>
              <a:rPr lang="en-US" sz="1300">
                <a:solidFill>
                  <a:srgbClr val="F1F5F9"/>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8044434" y="1417320"/>
            <a:ext cx="1645920" cy="274320"/>
          </a:xfrm>
          <a:prstGeom prst="rect">
            <a:avLst/>
          </a:prstGeom>
          <a:noFill/>
          <a:ln/>
        </p:spPr>
        <p:txBody>
          <a:bodyPr wrap="square" lIns="0" tIns="0" rIns="0" bIns="0" rtlCol="0" anchor="t"/>
          <a:lstStyle/>
          <a:p>
            <a:pPr marL="0" indent="0" algn="ctr">
              <a:buNone/>
            </a:pPr>
            <a:r>
              <a:rPr lang="en-US" sz="1600" b="1" dirty="0">
                <a:solidFill>
                  <a:srgbClr val="FBBF24"/>
                </a:solidFill>
                <a:latin typeface="Consolas" pitchFamily="34" charset="0"/>
                <a:ea typeface="Consolas" pitchFamily="34" charset="-122"/>
                <a:cs typeface="Consolas" pitchFamily="34" charset="-120"/>
              </a:rPr>
              <a:t>2017</a:t>
            </a:r>
            <a:endParaRPr lang="en-US" sz="1600" dirty="0"/>
          </a:p>
        </p:txBody>
      </p:sp>
      <p:sp>
        <p:nvSpPr>
          <p:cNvPr id="20" name="Shape 18"/>
          <p:cNvSpPr/>
          <p:nvPr/>
        </p:nvSpPr>
        <p:spPr>
          <a:xfrm>
            <a:off x="8766810" y="1865376"/>
            <a:ext cx="201168" cy="201168"/>
          </a:xfrm>
          <a:prstGeom prst="ellipse">
            <a:avLst/>
          </a:prstGeom>
          <a:solidFill>
            <a:srgbClr val="FBBF24"/>
          </a:solidFill>
          <a:ln w="25400">
            <a:solidFill>
              <a:srgbClr val="0A0F1C"/>
            </a:solidFill>
            <a:prstDash val="solid"/>
          </a:ln>
        </p:spPr>
      </p:sp>
      <p:sp>
        <p:nvSpPr>
          <p:cNvPr id="21" name="Text 19"/>
          <p:cNvSpPr/>
          <p:nvPr/>
        </p:nvSpPr>
        <p:spPr>
          <a:xfrm>
            <a:off x="8044434" y="2194560"/>
            <a:ext cx="1645920" cy="868680"/>
          </a:xfrm>
          <a:prstGeom prst="rect">
            <a:avLst/>
          </a:prstGeom>
          <a:noFill/>
          <a:ln/>
        </p:spPr>
        <p:txBody>
          <a:bodyPr wrap="square" lIns="0" tIns="0" rIns="0" bIns="0" rtlCol="0" anchor="t"/>
          <a:lstStyle/>
          <a:p>
            <a:pPr marL="0" indent="0" algn="ctr">
              <a:buNone/>
            </a:pPr>
            <a:r>
              <a:rPr lang="en-US" sz="1300" dirty="0">
                <a:solidFill>
                  <a:srgbClr val="F1F5F9"/>
                </a:solidFill>
                <a:latin typeface="Calibri" pitchFamily="34" charset="0"/>
                <a:ea typeface="Calibri" pitchFamily="34" charset="-122"/>
                <a:cs typeface="Calibri" pitchFamily="34" charset="-120"/>
              </a:rPr>
              <a:t>SHAttered: first SHA-1 collision, </a:t>
            </a:r>
            <a:r>
              <a:rPr lang="en-US" sz="1300">
                <a:solidFill>
                  <a:srgbClr val="F1F5F9"/>
                </a:solidFill>
                <a:latin typeface="Calibri" pitchFamily="34" charset="0"/>
                <a:ea typeface="Calibri" pitchFamily="34" charset="-122"/>
                <a:cs typeface="Calibri" pitchFamily="34" charset="-120"/>
              </a:rPr>
              <a:t>found by Google</a:t>
            </a:r>
            <a:endParaRPr lang="en-US" sz="1300" dirty="0"/>
          </a:p>
        </p:txBody>
      </p:sp>
      <p:sp>
        <p:nvSpPr>
          <p:cNvPr id="22" name="Text 20"/>
          <p:cNvSpPr/>
          <p:nvPr/>
        </p:nvSpPr>
        <p:spPr>
          <a:xfrm>
            <a:off x="9893046" y="1417320"/>
            <a:ext cx="1645920" cy="274320"/>
          </a:xfrm>
          <a:prstGeom prst="rect">
            <a:avLst/>
          </a:prstGeom>
          <a:noFill/>
          <a:ln/>
        </p:spPr>
        <p:txBody>
          <a:bodyPr wrap="square" lIns="0" tIns="0" rIns="0" bIns="0" rtlCol="0" anchor="t"/>
          <a:lstStyle/>
          <a:p>
            <a:pPr marL="0" indent="0" algn="ctr">
              <a:buNone/>
            </a:pPr>
            <a:r>
              <a:rPr lang="en-US" sz="1600" b="1" dirty="0">
                <a:solidFill>
                  <a:srgbClr val="FBBF24"/>
                </a:solidFill>
                <a:latin typeface="Consolas" pitchFamily="34" charset="0"/>
                <a:ea typeface="Consolas" pitchFamily="34" charset="-122"/>
                <a:cs typeface="Consolas" pitchFamily="34" charset="-120"/>
              </a:rPr>
              <a:t>2020</a:t>
            </a:r>
            <a:endParaRPr lang="en-US" sz="1600" dirty="0"/>
          </a:p>
        </p:txBody>
      </p:sp>
      <p:sp>
        <p:nvSpPr>
          <p:cNvPr id="23" name="Shape 21"/>
          <p:cNvSpPr/>
          <p:nvPr/>
        </p:nvSpPr>
        <p:spPr>
          <a:xfrm>
            <a:off x="10615422" y="1865376"/>
            <a:ext cx="201168" cy="201168"/>
          </a:xfrm>
          <a:prstGeom prst="ellipse">
            <a:avLst/>
          </a:prstGeom>
          <a:solidFill>
            <a:srgbClr val="FBBF24"/>
          </a:solidFill>
          <a:ln w="25400">
            <a:solidFill>
              <a:srgbClr val="0A0F1C"/>
            </a:solidFill>
            <a:prstDash val="solid"/>
          </a:ln>
        </p:spPr>
      </p:sp>
      <p:sp>
        <p:nvSpPr>
          <p:cNvPr id="24" name="Text 22"/>
          <p:cNvSpPr/>
          <p:nvPr/>
        </p:nvSpPr>
        <p:spPr>
          <a:xfrm>
            <a:off x="9893046" y="2194560"/>
            <a:ext cx="1645920" cy="868680"/>
          </a:xfrm>
          <a:prstGeom prst="rect">
            <a:avLst/>
          </a:prstGeom>
          <a:noFill/>
          <a:ln/>
        </p:spPr>
        <p:txBody>
          <a:bodyPr wrap="square" lIns="0" tIns="0" rIns="0" bIns="0" rtlCol="0" anchor="t"/>
          <a:lstStyle/>
          <a:p>
            <a:pPr marL="0" indent="0" algn="ctr">
              <a:buNone/>
            </a:pPr>
            <a:r>
              <a:rPr lang="en-US" sz="1300">
                <a:solidFill>
                  <a:srgbClr val="F1F5F9"/>
                </a:solidFill>
                <a:latin typeface="Calibri" pitchFamily="34" charset="0"/>
                <a:ea typeface="Calibri" pitchFamily="34" charset="-122"/>
                <a:cs typeface="Calibri" pitchFamily="34" charset="-120"/>
              </a:rPr>
              <a:t>Faster </a:t>
            </a:r>
            <a:r>
              <a:rPr lang="en-US" sz="1300" dirty="0">
                <a:solidFill>
                  <a:srgbClr val="F1F5F9"/>
                </a:solidFill>
                <a:latin typeface="Calibri" pitchFamily="34" charset="0"/>
                <a:ea typeface="Calibri" pitchFamily="34" charset="-122"/>
                <a:cs typeface="Calibri" pitchFamily="34" charset="-120"/>
              </a:rPr>
              <a:t>SHA-1 </a:t>
            </a:r>
            <a:r>
              <a:rPr lang="en-US" sz="1300">
                <a:solidFill>
                  <a:srgbClr val="F1F5F9"/>
                </a:solidFill>
                <a:latin typeface="Calibri" pitchFamily="34" charset="0"/>
                <a:ea typeface="Calibri" pitchFamily="34" charset="-122"/>
                <a:cs typeface="Calibri" pitchFamily="34" charset="-120"/>
              </a:rPr>
              <a:t>attack</a:t>
            </a:r>
            <a:r>
              <a:rPr lang="en-US" sz="1300" dirty="0">
                <a:solidFill>
                  <a:srgbClr val="F1F5F9"/>
                </a:solidFill>
                <a:latin typeface="Calibri" pitchFamily="34" charset="0"/>
                <a:ea typeface="Calibri" pitchFamily="34" charset="-122"/>
                <a:cs typeface="Calibri" pitchFamily="34" charset="-120"/>
              </a:rPr>
              <a:t>: "SHA-1 is a Shambles"</a:t>
            </a:r>
            <a:endParaRPr lang="en-US" sz="1300" dirty="0"/>
          </a:p>
        </p:txBody>
      </p:sp>
      <p:sp>
        <p:nvSpPr>
          <p:cNvPr id="25" name="Shape 23"/>
          <p:cNvSpPr/>
          <p:nvPr/>
        </p:nvSpPr>
        <p:spPr>
          <a:xfrm>
            <a:off x="548640" y="3337560"/>
            <a:ext cx="3566160" cy="2788920"/>
          </a:xfrm>
          <a:prstGeom prst="roundRect">
            <a:avLst>
              <a:gd name="adj" fmla="val 2623"/>
            </a:avLst>
          </a:prstGeom>
          <a:solidFill>
            <a:srgbClr val="111A2F"/>
          </a:solidFill>
          <a:ln w="12700">
            <a:solidFill>
              <a:srgbClr val="F87171"/>
            </a:solidFill>
            <a:prstDash val="solid"/>
          </a:ln>
        </p:spPr>
      </p:sp>
      <p:pic>
        <p:nvPicPr>
          <p:cNvPr id="26" name="Image 0" descr="/agent/turn1/workspace/output/_anthropic_assets/icon-warning-06b553b1.png"/>
          <p:cNvPicPr>
            <a:picLocks noChangeAspect="1"/>
          </p:cNvPicPr>
          <p:nvPr/>
        </p:nvPicPr>
        <p:blipFill>
          <a:blip r:embed="rId3"/>
          <a:stretch>
            <a:fillRect/>
          </a:stretch>
        </p:blipFill>
        <p:spPr>
          <a:xfrm>
            <a:off x="777240" y="3520440"/>
            <a:ext cx="411480" cy="411480"/>
          </a:xfrm>
          <a:prstGeom prst="rect">
            <a:avLst/>
          </a:prstGeom>
        </p:spPr>
      </p:pic>
      <p:sp>
        <p:nvSpPr>
          <p:cNvPr id="27" name="Text 24"/>
          <p:cNvSpPr/>
          <p:nvPr/>
        </p:nvSpPr>
        <p:spPr>
          <a:xfrm>
            <a:off x="1325880" y="3520440"/>
            <a:ext cx="2651760" cy="411480"/>
          </a:xfrm>
          <a:prstGeom prst="rect">
            <a:avLst/>
          </a:prstGeom>
          <a:noFill/>
          <a:ln/>
        </p:spPr>
        <p:txBody>
          <a:bodyPr wrap="square" lIns="0" tIns="0" rIns="0" bIns="0" rtlCol="0" anchor="ctr"/>
          <a:lstStyle/>
          <a:p>
            <a:pPr marL="0" indent="0">
              <a:buNone/>
            </a:pPr>
            <a:r>
              <a:rPr lang="en-US" sz="1500" b="1" dirty="0">
                <a:solidFill>
                  <a:srgbClr val="F87171"/>
                </a:solidFill>
                <a:latin typeface="Consolas" pitchFamily="34" charset="0"/>
                <a:ea typeface="Consolas" pitchFamily="34" charset="-122"/>
                <a:cs typeface="Consolas" pitchFamily="34" charset="-120"/>
              </a:rPr>
              <a:t>MD5  (128-bit)</a:t>
            </a:r>
            <a:endParaRPr lang="en-US" sz="1500" dirty="0"/>
          </a:p>
        </p:txBody>
      </p:sp>
      <p:sp>
        <p:nvSpPr>
          <p:cNvPr id="28" name="Text 25"/>
          <p:cNvSpPr/>
          <p:nvPr/>
        </p:nvSpPr>
        <p:spPr>
          <a:xfrm>
            <a:off x="777240" y="4114800"/>
            <a:ext cx="3154680" cy="1965960"/>
          </a:xfrm>
          <a:prstGeom prst="rect">
            <a:avLst/>
          </a:prstGeom>
          <a:noFill/>
          <a:ln/>
        </p:spPr>
        <p:txBody>
          <a:bodyPr wrap="square" lIns="0" tIns="0" rIns="0" bIns="0" rtlCol="0" anchor="t"/>
          <a:lstStyle/>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Two different inputs can be made to match </a:t>
            </a:r>
            <a:r>
              <a:rPr lang="en-US" sz="1300" dirty="0">
                <a:solidFill>
                  <a:srgbClr val="F1F5F9"/>
                </a:solidFill>
                <a:latin typeface="Calibri" pitchFamily="34" charset="0"/>
                <a:ea typeface="Calibri" pitchFamily="34" charset="-122"/>
                <a:cs typeface="Calibri" pitchFamily="34" charset="-120"/>
              </a:rPr>
              <a:t>in seconds</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Cannot be trusted for signatures or certificates</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A graphics card tries billions </a:t>
            </a:r>
            <a:r>
              <a:rPr lang="en-US" sz="1300" dirty="0">
                <a:solidFill>
                  <a:srgbClr val="F1F5F9"/>
                </a:solidFill>
                <a:latin typeface="Calibri" pitchFamily="34" charset="0"/>
                <a:ea typeface="Calibri" pitchFamily="34" charset="-122"/>
                <a:cs typeface="Calibri" pitchFamily="34" charset="-120"/>
              </a:rPr>
              <a:t>per second</a:t>
            </a:r>
            <a:r>
              <a:rPr lang="en-US" sz="1300">
                <a:solidFill>
                  <a:srgbClr val="F1F5F9"/>
                </a:solidFill>
                <a:latin typeface="Calibri" pitchFamily="34" charset="0"/>
                <a:ea typeface="Calibri" pitchFamily="34" charset="-122"/>
                <a:cs typeface="Calibri" pitchFamily="34" charset="-120"/>
              </a:rPr>
              <a:t>, so it is</a:t>
            </a:r>
            <a:r>
              <a:rPr lang="en-US" sz="1300" dirty="0">
                <a:solidFill>
                  <a:srgbClr val="F1F5F9"/>
                </a:solidFill>
                <a:latin typeface="Calibri" pitchFamily="34" charset="0"/>
                <a:ea typeface="Calibri" pitchFamily="34" charset="-122"/>
                <a:cs typeface="Calibri" pitchFamily="34" charset="-120"/>
              </a:rPr>
              <a:t> useless for passwords</a:t>
            </a:r>
            <a:endParaRPr lang="en-US" sz="1300" dirty="0"/>
          </a:p>
        </p:txBody>
      </p:sp>
      <p:sp>
        <p:nvSpPr>
          <p:cNvPr id="29" name="Shape 26"/>
          <p:cNvSpPr/>
          <p:nvPr/>
        </p:nvSpPr>
        <p:spPr>
          <a:xfrm>
            <a:off x="4311396" y="3337560"/>
            <a:ext cx="3566160" cy="2788920"/>
          </a:xfrm>
          <a:prstGeom prst="roundRect">
            <a:avLst>
              <a:gd name="adj" fmla="val 2623"/>
            </a:avLst>
          </a:prstGeom>
          <a:solidFill>
            <a:srgbClr val="111A2F"/>
          </a:solidFill>
          <a:ln w="12700">
            <a:solidFill>
              <a:srgbClr val="FBBF24"/>
            </a:solidFill>
            <a:prstDash val="solid"/>
          </a:ln>
        </p:spPr>
      </p:sp>
      <p:pic>
        <p:nvPicPr>
          <p:cNvPr id="30" name="Image 1" descr="/agent/turn1/workspace/output/_anthropic_assets/icon-warning-06b553b1.png"/>
          <p:cNvPicPr>
            <a:picLocks noChangeAspect="1"/>
          </p:cNvPicPr>
          <p:nvPr/>
        </p:nvPicPr>
        <p:blipFill>
          <a:blip r:embed="rId3"/>
          <a:stretch>
            <a:fillRect/>
          </a:stretch>
        </p:blipFill>
        <p:spPr>
          <a:xfrm>
            <a:off x="4539996" y="3520440"/>
            <a:ext cx="411480" cy="411480"/>
          </a:xfrm>
          <a:prstGeom prst="rect">
            <a:avLst/>
          </a:prstGeom>
        </p:spPr>
      </p:pic>
      <p:sp>
        <p:nvSpPr>
          <p:cNvPr id="31" name="Text 27"/>
          <p:cNvSpPr/>
          <p:nvPr/>
        </p:nvSpPr>
        <p:spPr>
          <a:xfrm>
            <a:off x="5088636" y="3520440"/>
            <a:ext cx="2651760" cy="411480"/>
          </a:xfrm>
          <a:prstGeom prst="rect">
            <a:avLst/>
          </a:prstGeom>
          <a:noFill/>
          <a:ln/>
        </p:spPr>
        <p:txBody>
          <a:bodyPr wrap="square" lIns="0" tIns="0" rIns="0" bIns="0" rtlCol="0" anchor="ctr"/>
          <a:lstStyle/>
          <a:p>
            <a:pPr marL="0" indent="0">
              <a:buNone/>
            </a:pPr>
            <a:r>
              <a:rPr lang="en-US" sz="1500" b="1" dirty="0">
                <a:solidFill>
                  <a:srgbClr val="FBBF24"/>
                </a:solidFill>
                <a:latin typeface="Consolas" pitchFamily="34" charset="0"/>
                <a:ea typeface="Consolas" pitchFamily="34" charset="-122"/>
                <a:cs typeface="Consolas" pitchFamily="34" charset="-120"/>
              </a:rPr>
              <a:t>SHA-1  (160-bit)</a:t>
            </a:r>
            <a:endParaRPr lang="en-US" sz="1500" dirty="0"/>
          </a:p>
        </p:txBody>
      </p:sp>
      <p:sp>
        <p:nvSpPr>
          <p:cNvPr id="32" name="Text 28"/>
          <p:cNvSpPr/>
          <p:nvPr/>
        </p:nvSpPr>
        <p:spPr>
          <a:xfrm>
            <a:off x="4539996" y="4114800"/>
            <a:ext cx="3154680" cy="1965960"/>
          </a:xfrm>
          <a:prstGeom prst="rect">
            <a:avLst/>
          </a:prstGeom>
          <a:noFill/>
          <a:ln/>
        </p:spPr>
        <p:txBody>
          <a:bodyPr wrap="square" lIns="0" tIns="0" rIns="0" bIns="0" rtlCol="0" anchor="t"/>
          <a:lstStyle/>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Should take huge effort to break</a:t>
            </a:r>
            <a:r>
              <a:rPr lang="en-US" sz="1300" dirty="0">
                <a:solidFill>
                  <a:srgbClr val="F1F5F9"/>
                </a:solidFill>
                <a:latin typeface="Calibri" pitchFamily="34" charset="0"/>
                <a:ea typeface="Calibri" pitchFamily="34" charset="-122"/>
                <a:cs typeface="Calibri" pitchFamily="34" charset="-120"/>
              </a:rPr>
              <a:t>; attacks </a:t>
            </a:r>
            <a:r>
              <a:rPr lang="en-US" sz="1300">
                <a:solidFill>
                  <a:srgbClr val="F1F5F9"/>
                </a:solidFill>
                <a:latin typeface="Calibri" pitchFamily="34" charset="0"/>
                <a:ea typeface="Calibri" pitchFamily="34" charset="-122"/>
                <a:cs typeface="Calibri" pitchFamily="34" charset="-120"/>
              </a:rPr>
              <a:t>have made </a:t>
            </a:r>
            <a:r>
              <a:rPr lang="en-US" sz="1300" dirty="0">
                <a:solidFill>
                  <a:srgbClr val="F1F5F9"/>
                </a:solidFill>
                <a:latin typeface="Calibri" pitchFamily="34" charset="0"/>
                <a:ea typeface="Calibri" pitchFamily="34" charset="-122"/>
                <a:cs typeface="Calibri" pitchFamily="34" charset="-120"/>
              </a:rPr>
              <a:t>it </a:t>
            </a:r>
            <a:r>
              <a:rPr lang="en-US" sz="1300">
                <a:solidFill>
                  <a:srgbClr val="F1F5F9"/>
                </a:solidFill>
                <a:latin typeface="Calibri" pitchFamily="34" charset="0"/>
                <a:ea typeface="Calibri" pitchFamily="34" charset="-122"/>
                <a:cs typeface="Calibri" pitchFamily="34" charset="-120"/>
              </a:rPr>
              <a:t>much cheaper</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Two different PDFs with the same SHA-1</a:t>
            </a:r>
            <a:r>
              <a:rPr lang="en-US" sz="1300">
                <a:solidFill>
                  <a:srgbClr val="F1F5F9"/>
                </a:solidFill>
                <a:latin typeface="Calibri" pitchFamily="34" charset="0"/>
                <a:ea typeface="Calibri" pitchFamily="34" charset="-122"/>
                <a:cs typeface="Calibri" pitchFamily="34" charset="-120"/>
              </a:rPr>
              <a:t> hash</a:t>
            </a:r>
            <a:r>
              <a:rPr lang="en-US" sz="1300" dirty="0">
                <a:solidFill>
                  <a:srgbClr val="F1F5F9"/>
                </a:solidFill>
                <a:latin typeface="Calibri" pitchFamily="34" charset="0"/>
                <a:ea typeface="Calibri" pitchFamily="34" charset="-122"/>
                <a:cs typeface="Calibri" pitchFamily="34" charset="-120"/>
              </a:rPr>
              <a:t> were published in 2017</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Browsers and certificate authorities have dropped it</a:t>
            </a:r>
            <a:endParaRPr lang="en-US" sz="1300" dirty="0"/>
          </a:p>
        </p:txBody>
      </p:sp>
      <p:sp>
        <p:nvSpPr>
          <p:cNvPr id="33" name="Shape 29"/>
          <p:cNvSpPr/>
          <p:nvPr/>
        </p:nvSpPr>
        <p:spPr>
          <a:xfrm>
            <a:off x="8074152" y="3337560"/>
            <a:ext cx="3566160" cy="2788920"/>
          </a:xfrm>
          <a:prstGeom prst="roundRect">
            <a:avLst>
              <a:gd name="adj" fmla="val 2623"/>
            </a:avLst>
          </a:prstGeom>
          <a:solidFill>
            <a:srgbClr val="111A2F"/>
          </a:solidFill>
          <a:ln w="12700">
            <a:solidFill>
              <a:srgbClr val="4ADE80"/>
            </a:solidFill>
            <a:prstDash val="solid"/>
          </a:ln>
        </p:spPr>
      </p:sp>
      <p:pic>
        <p:nvPicPr>
          <p:cNvPr id="34" name="Image 2" descr="/agent/turn1/workspace/output/_anthropic_assets/icon-checkmark-circle-2703a2fa.png"/>
          <p:cNvPicPr>
            <a:picLocks noChangeAspect="1"/>
          </p:cNvPicPr>
          <p:nvPr/>
        </p:nvPicPr>
        <p:blipFill>
          <a:blip r:embed="rId4"/>
          <a:stretch>
            <a:fillRect/>
          </a:stretch>
        </p:blipFill>
        <p:spPr>
          <a:xfrm>
            <a:off x="8302752" y="3520440"/>
            <a:ext cx="411480" cy="411480"/>
          </a:xfrm>
          <a:prstGeom prst="rect">
            <a:avLst/>
          </a:prstGeom>
        </p:spPr>
      </p:pic>
      <p:sp>
        <p:nvSpPr>
          <p:cNvPr id="35" name="Text 30"/>
          <p:cNvSpPr/>
          <p:nvPr/>
        </p:nvSpPr>
        <p:spPr>
          <a:xfrm>
            <a:off x="8851392" y="3520440"/>
            <a:ext cx="2651760" cy="411480"/>
          </a:xfrm>
          <a:prstGeom prst="rect">
            <a:avLst/>
          </a:prstGeom>
          <a:noFill/>
          <a:ln/>
        </p:spPr>
        <p:txBody>
          <a:bodyPr wrap="square" lIns="0" tIns="0" rIns="0" bIns="0" rtlCol="0" anchor="ctr"/>
          <a:lstStyle/>
          <a:p>
            <a:pPr marL="0" indent="0">
              <a:buNone/>
            </a:pPr>
            <a:r>
              <a:rPr lang="en-US" sz="1500" b="1" dirty="0">
                <a:solidFill>
                  <a:srgbClr val="4ADE80"/>
                </a:solidFill>
                <a:latin typeface="Consolas" pitchFamily="34" charset="0"/>
                <a:ea typeface="Consolas" pitchFamily="34" charset="-122"/>
                <a:cs typeface="Consolas" pitchFamily="34" charset="-120"/>
              </a:rPr>
              <a:t>Use instead</a:t>
            </a:r>
            <a:endParaRPr lang="en-US" sz="1500" dirty="0"/>
          </a:p>
        </p:txBody>
      </p:sp>
      <p:sp>
        <p:nvSpPr>
          <p:cNvPr id="36" name="Text 31"/>
          <p:cNvSpPr/>
          <p:nvPr/>
        </p:nvSpPr>
        <p:spPr>
          <a:xfrm>
            <a:off x="8302752" y="4114800"/>
            <a:ext cx="3154680" cy="1965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SHA-256, SHA-384 or SHA-512 (</a:t>
            </a:r>
            <a:r>
              <a:rPr lang="en-US" sz="1300">
                <a:solidFill>
                  <a:srgbClr val="F1F5F9"/>
                </a:solidFill>
                <a:latin typeface="Calibri" pitchFamily="34" charset="0"/>
                <a:ea typeface="Calibri" pitchFamily="34" charset="-122"/>
                <a:cs typeface="Calibri" pitchFamily="34" charset="-120"/>
              </a:rPr>
              <a:t>the </a:t>
            </a:r>
            <a:r>
              <a:rPr lang="en-US" sz="1300" dirty="0">
                <a:solidFill>
                  <a:srgbClr val="F1F5F9"/>
                </a:solidFill>
                <a:latin typeface="Calibri" pitchFamily="34" charset="0"/>
                <a:ea typeface="Calibri" pitchFamily="34" charset="-122"/>
                <a:cs typeface="Calibri" pitchFamily="34" charset="-120"/>
              </a:rPr>
              <a:t>SHA-2 family)</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SHA-3 (</a:t>
            </a:r>
            <a:r>
              <a:rPr lang="en-US" sz="1300">
                <a:solidFill>
                  <a:srgbClr val="F1F5F9"/>
                </a:solidFill>
                <a:latin typeface="Calibri" pitchFamily="34" charset="0"/>
                <a:ea typeface="Calibri" pitchFamily="34" charset="-122"/>
                <a:cs typeface="Calibri" pitchFamily="34" charset="-120"/>
              </a:rPr>
              <a:t>a newer</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different design</a:t>
            </a:r>
            <a:r>
              <a:rPr lang="en-US" sz="1300" dirty="0">
                <a:solidFill>
                  <a:srgbClr val="F1F5F9"/>
                </a:solidFill>
                <a:latin typeface="Calibri" pitchFamily="34" charset="0"/>
                <a:ea typeface="Calibri" pitchFamily="34" charset="-122"/>
                <a:cs typeface="Calibri" pitchFamily="34" charset="-120"/>
              </a:rPr>
              <a:t>)</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BLAKE2 / BLAKE3 for speed</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For passwords: Argon2id, bcrypt, scrypt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HASHING 04</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Salt and pepper</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13</a:t>
            </a:r>
            <a:endParaRPr lang="en-US" sz="1000" dirty="0"/>
          </a:p>
        </p:txBody>
      </p:sp>
      <p:sp>
        <p:nvSpPr>
          <p:cNvPr id="6" name="Shape 4"/>
          <p:cNvSpPr/>
          <p:nvPr/>
        </p:nvSpPr>
        <p:spPr>
          <a:xfrm>
            <a:off x="548640" y="1463040"/>
            <a:ext cx="5440680" cy="3063240"/>
          </a:xfrm>
          <a:prstGeom prst="roundRect">
            <a:avLst>
              <a:gd name="adj" fmla="val 2388"/>
            </a:avLst>
          </a:prstGeom>
          <a:solidFill>
            <a:srgbClr val="111A2F"/>
          </a:solidFill>
          <a:ln w="12700">
            <a:solidFill>
              <a:srgbClr val="2A3E68"/>
            </a:solidFill>
            <a:prstDash val="solid"/>
          </a:ln>
        </p:spPr>
      </p:sp>
      <p:pic>
        <p:nvPicPr>
          <p:cNvPr id="7" name="Image 0" descr="/agent/turn1/workspace/output/_anthropic_assets/icon-database-3fd67198.png"/>
          <p:cNvPicPr>
            <a:picLocks noChangeAspect="1"/>
          </p:cNvPicPr>
          <p:nvPr/>
        </p:nvPicPr>
        <p:blipFill>
          <a:blip r:embed="rId3"/>
          <a:stretch>
            <a:fillRect/>
          </a:stretch>
        </p:blipFill>
        <p:spPr>
          <a:xfrm>
            <a:off x="777240" y="1627632"/>
            <a:ext cx="457200" cy="457200"/>
          </a:xfrm>
          <a:prstGeom prst="rect">
            <a:avLst/>
          </a:prstGeom>
        </p:spPr>
      </p:pic>
      <p:sp>
        <p:nvSpPr>
          <p:cNvPr id="8" name="Text 5"/>
          <p:cNvSpPr/>
          <p:nvPr/>
        </p:nvSpPr>
        <p:spPr>
          <a:xfrm>
            <a:off x="1371600" y="1627632"/>
            <a:ext cx="4114800" cy="274320"/>
          </a:xfrm>
          <a:prstGeom prst="rect">
            <a:avLst/>
          </a:prstGeom>
          <a:noFill/>
          <a:ln/>
        </p:spPr>
        <p:txBody>
          <a:bodyPr wrap="square" lIns="0" tIns="0" rIns="0" bIns="0" rtlCol="0" anchor="t"/>
          <a:lstStyle/>
          <a:p>
            <a:pPr marL="0" indent="0">
              <a:buNone/>
            </a:pPr>
            <a:r>
              <a:rPr lang="en-US" sz="1800" b="1" dirty="0">
                <a:solidFill>
                  <a:srgbClr val="22D3EE"/>
                </a:solidFill>
                <a:latin typeface="Consolas" pitchFamily="34" charset="0"/>
                <a:ea typeface="Consolas" pitchFamily="34" charset="-122"/>
                <a:cs typeface="Consolas" pitchFamily="34" charset="-120"/>
              </a:rPr>
              <a:t>SALT</a:t>
            </a:r>
            <a:endParaRPr lang="en-US" sz="1800" dirty="0"/>
          </a:p>
        </p:txBody>
      </p:sp>
      <p:sp>
        <p:nvSpPr>
          <p:cNvPr id="9" name="Text 6"/>
          <p:cNvSpPr/>
          <p:nvPr/>
        </p:nvSpPr>
        <p:spPr>
          <a:xfrm>
            <a:off x="1371600" y="1920240"/>
            <a:ext cx="4389120" cy="22860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random, unique, stored beside the hash</a:t>
            </a:r>
            <a:endParaRPr lang="en-US" sz="1300" dirty="0"/>
          </a:p>
        </p:txBody>
      </p:sp>
      <p:sp>
        <p:nvSpPr>
          <p:cNvPr id="10" name="Text 7"/>
          <p:cNvSpPr/>
          <p:nvPr/>
        </p:nvSpPr>
        <p:spPr>
          <a:xfrm>
            <a:off x="777240" y="2423160"/>
            <a:ext cx="4983480" cy="2103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F1F5F9"/>
                </a:solidFill>
                <a:latin typeface="Calibri" pitchFamily="34" charset="0"/>
                <a:ea typeface="Calibri" pitchFamily="34" charset="-122"/>
                <a:cs typeface="Calibri" pitchFamily="34" charset="-120"/>
              </a:rPr>
              <a:t>A fresh random value for every password</a:t>
            </a:r>
            <a:endParaRPr lang="en-US" sz="1400" dirty="0"/>
          </a:p>
          <a:p>
            <a:pPr marL="177800" indent="-177800">
              <a:spcAft>
                <a:spcPts val="600"/>
              </a:spcAft>
              <a:buSzPct val="100000"/>
              <a:buChar char="•"/>
            </a:pPr>
            <a:r>
              <a:rPr lang="en-US" sz="1400" dirty="0">
                <a:solidFill>
                  <a:srgbClr val="F1F5F9"/>
                </a:solidFill>
                <a:latin typeface="Calibri" pitchFamily="34" charset="0"/>
                <a:ea typeface="Calibri" pitchFamily="34" charset="-122"/>
                <a:cs typeface="Calibri" pitchFamily="34" charset="-120"/>
              </a:rPr>
              <a:t>Two users with the same password get different hashes</a:t>
            </a:r>
            <a:endParaRPr lang="en-US" sz="1400" dirty="0"/>
          </a:p>
          <a:p>
            <a:pPr marL="177800" indent="-177800">
              <a:spcAft>
                <a:spcPts val="600"/>
              </a:spcAft>
              <a:buSzPct val="100000"/>
              <a:buChar char="•"/>
            </a:pPr>
            <a:r>
              <a:rPr lang="en-US" sz="1400" dirty="0">
                <a:solidFill>
                  <a:srgbClr val="F1F5F9"/>
                </a:solidFill>
                <a:latin typeface="Calibri" pitchFamily="34" charset="0"/>
                <a:ea typeface="Calibri" pitchFamily="34" charset="-122"/>
                <a:cs typeface="Calibri" pitchFamily="34" charset="-120"/>
              </a:rPr>
              <a:t>Defeats rainbow tables</a:t>
            </a:r>
            <a:r>
              <a:rPr lang="en-US" sz="1400">
                <a:solidFill>
                  <a:srgbClr val="F1F5F9"/>
                </a:solidFill>
                <a:latin typeface="Calibri" pitchFamily="34" charset="0"/>
                <a:ea typeface="Calibri" pitchFamily="34" charset="-122"/>
                <a:cs typeface="Calibri" pitchFamily="34" charset="-120"/>
              </a:rPr>
              <a:t> (huge lists of pre-computed hashes)</a:t>
            </a:r>
            <a:endParaRPr lang="en-US" sz="1400" dirty="0"/>
          </a:p>
          <a:p>
            <a:pPr marL="177800" indent="-177800">
              <a:spcAft>
                <a:spcPts val="600"/>
              </a:spcAft>
              <a:buSzPct val="100000"/>
              <a:buChar char="•"/>
            </a:pPr>
            <a:r>
              <a:rPr lang="en-US" sz="1400">
                <a:solidFill>
                  <a:srgbClr val="F1F5F9"/>
                </a:solidFill>
                <a:latin typeface="Calibri" pitchFamily="34" charset="0"/>
                <a:ea typeface="Calibri" pitchFamily="34" charset="-122"/>
                <a:cs typeface="Calibri" pitchFamily="34" charset="-120"/>
              </a:rPr>
              <a:t>Attackers </a:t>
            </a:r>
            <a:r>
              <a:rPr lang="en-US" sz="1400" dirty="0">
                <a:solidFill>
                  <a:srgbClr val="F1F5F9"/>
                </a:solidFill>
                <a:latin typeface="Calibri" pitchFamily="34" charset="0"/>
                <a:ea typeface="Calibri" pitchFamily="34" charset="-122"/>
                <a:cs typeface="Calibri" pitchFamily="34" charset="-120"/>
              </a:rPr>
              <a:t>must crack each user separately</a:t>
            </a:r>
            <a:endParaRPr lang="en-US" sz="1400" dirty="0"/>
          </a:p>
          <a:p>
            <a:pPr marL="177800" indent="-177800">
              <a:spcAft>
                <a:spcPts val="600"/>
              </a:spcAft>
              <a:buSzPct val="100000"/>
              <a:buChar char="•"/>
            </a:pPr>
            <a:r>
              <a:rPr lang="en-US" sz="1400" dirty="0">
                <a:solidFill>
                  <a:srgbClr val="F1F5F9"/>
                </a:solidFill>
                <a:latin typeface="Calibri" pitchFamily="34" charset="0"/>
                <a:ea typeface="Calibri" pitchFamily="34" charset="-122"/>
                <a:cs typeface="Calibri" pitchFamily="34" charset="-120"/>
              </a:rPr>
              <a:t>Not secret, so it is </a:t>
            </a:r>
            <a:r>
              <a:rPr lang="en-US" sz="1400">
                <a:solidFill>
                  <a:srgbClr val="F1F5F9"/>
                </a:solidFill>
                <a:latin typeface="Calibri" pitchFamily="34" charset="0"/>
                <a:ea typeface="Calibri" pitchFamily="34" charset="-122"/>
                <a:cs typeface="Calibri" pitchFamily="34" charset="-120"/>
              </a:rPr>
              <a:t>fine </a:t>
            </a:r>
            <a:r>
              <a:rPr lang="en-US" sz="1400" dirty="0">
                <a:solidFill>
                  <a:srgbClr val="F1F5F9"/>
                </a:solidFill>
                <a:latin typeface="Calibri" pitchFamily="34" charset="0"/>
                <a:ea typeface="Calibri" pitchFamily="34" charset="-122"/>
                <a:cs typeface="Calibri" pitchFamily="34" charset="-120"/>
              </a:rPr>
              <a:t>to store</a:t>
            </a:r>
            <a:r>
              <a:rPr lang="en-US" sz="1400">
                <a:solidFill>
                  <a:srgbClr val="F1F5F9"/>
                </a:solidFill>
                <a:latin typeface="Calibri" pitchFamily="34" charset="0"/>
                <a:ea typeface="Calibri" pitchFamily="34" charset="-122"/>
                <a:cs typeface="Calibri" pitchFamily="34" charset="-120"/>
              </a:rPr>
              <a:t> it</a:t>
            </a:r>
            <a:r>
              <a:rPr lang="en-US" sz="1400" dirty="0">
                <a:solidFill>
                  <a:srgbClr val="F1F5F9"/>
                </a:solidFill>
                <a:latin typeface="Calibri" pitchFamily="34" charset="0"/>
                <a:ea typeface="Calibri" pitchFamily="34" charset="-122"/>
                <a:cs typeface="Calibri" pitchFamily="34" charset="-120"/>
              </a:rPr>
              <a:t> in the database</a:t>
            </a:r>
            <a:endParaRPr lang="en-US" sz="1400" dirty="0"/>
          </a:p>
        </p:txBody>
      </p:sp>
      <p:sp>
        <p:nvSpPr>
          <p:cNvPr id="11" name="Shape 8"/>
          <p:cNvSpPr/>
          <p:nvPr/>
        </p:nvSpPr>
        <p:spPr>
          <a:xfrm>
            <a:off x="6199632" y="1463040"/>
            <a:ext cx="5440680" cy="3063240"/>
          </a:xfrm>
          <a:prstGeom prst="roundRect">
            <a:avLst>
              <a:gd name="adj" fmla="val 2388"/>
            </a:avLst>
          </a:prstGeom>
          <a:solidFill>
            <a:srgbClr val="111A2F"/>
          </a:solidFill>
          <a:ln w="12700">
            <a:solidFill>
              <a:srgbClr val="2A3E68"/>
            </a:solidFill>
            <a:prstDash val="solid"/>
          </a:ln>
        </p:spPr>
      </p:sp>
      <p:pic>
        <p:nvPicPr>
          <p:cNvPr id="12" name="Image 1" descr="/agent/turn1/workspace/output/_anthropic_assets/icon-shield-77768ee8.png"/>
          <p:cNvPicPr>
            <a:picLocks noChangeAspect="1"/>
          </p:cNvPicPr>
          <p:nvPr/>
        </p:nvPicPr>
        <p:blipFill>
          <a:blip r:embed="rId4"/>
          <a:stretch>
            <a:fillRect/>
          </a:stretch>
        </p:blipFill>
        <p:spPr>
          <a:xfrm>
            <a:off x="6428232" y="1627632"/>
            <a:ext cx="457200" cy="457200"/>
          </a:xfrm>
          <a:prstGeom prst="rect">
            <a:avLst/>
          </a:prstGeom>
        </p:spPr>
      </p:pic>
      <p:sp>
        <p:nvSpPr>
          <p:cNvPr id="13" name="Text 9"/>
          <p:cNvSpPr/>
          <p:nvPr/>
        </p:nvSpPr>
        <p:spPr>
          <a:xfrm>
            <a:off x="7022592" y="1627632"/>
            <a:ext cx="4114800" cy="274320"/>
          </a:xfrm>
          <a:prstGeom prst="rect">
            <a:avLst/>
          </a:prstGeom>
          <a:noFill/>
          <a:ln/>
        </p:spPr>
        <p:txBody>
          <a:bodyPr wrap="square" lIns="0" tIns="0" rIns="0" bIns="0" rtlCol="0" anchor="t"/>
          <a:lstStyle/>
          <a:p>
            <a:pPr marL="0" indent="0">
              <a:buNone/>
            </a:pPr>
            <a:r>
              <a:rPr lang="en-US" sz="1800" b="1" dirty="0">
                <a:solidFill>
                  <a:srgbClr val="FBBF24"/>
                </a:solidFill>
                <a:latin typeface="Consolas" pitchFamily="34" charset="0"/>
                <a:ea typeface="Consolas" pitchFamily="34" charset="-122"/>
                <a:cs typeface="Consolas" pitchFamily="34" charset="-120"/>
              </a:rPr>
              <a:t>PEPPER</a:t>
            </a:r>
            <a:endParaRPr lang="en-US" sz="1800" dirty="0"/>
          </a:p>
        </p:txBody>
      </p:sp>
      <p:sp>
        <p:nvSpPr>
          <p:cNvPr id="14" name="Text 10"/>
          <p:cNvSpPr/>
          <p:nvPr/>
        </p:nvSpPr>
        <p:spPr>
          <a:xfrm>
            <a:off x="7022592" y="1920240"/>
            <a:ext cx="4389120" cy="22860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secret, shared, stored outside the database</a:t>
            </a:r>
            <a:endParaRPr lang="en-US" sz="1300" dirty="0"/>
          </a:p>
        </p:txBody>
      </p:sp>
      <p:sp>
        <p:nvSpPr>
          <p:cNvPr id="15" name="Text 11"/>
          <p:cNvSpPr/>
          <p:nvPr/>
        </p:nvSpPr>
        <p:spPr>
          <a:xfrm>
            <a:off x="6428232" y="2423160"/>
            <a:ext cx="4983480" cy="2103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F1F5F9"/>
                </a:solidFill>
                <a:latin typeface="Calibri" pitchFamily="34" charset="0"/>
                <a:ea typeface="Calibri" pitchFamily="34" charset="-122"/>
                <a:cs typeface="Calibri" pitchFamily="34" charset="-120"/>
              </a:rPr>
              <a:t>One secret value </a:t>
            </a:r>
            <a:r>
              <a:rPr lang="en-US" sz="1400">
                <a:solidFill>
                  <a:srgbClr val="F1F5F9"/>
                </a:solidFill>
                <a:latin typeface="Calibri" pitchFamily="34" charset="0"/>
                <a:ea typeface="Calibri" pitchFamily="34" charset="-122"/>
                <a:cs typeface="Calibri" pitchFamily="34" charset="-120"/>
              </a:rPr>
              <a:t>shared by </a:t>
            </a:r>
            <a:r>
              <a:rPr lang="en-US" sz="1400" dirty="0">
                <a:solidFill>
                  <a:srgbClr val="F1F5F9"/>
                </a:solidFill>
                <a:latin typeface="Calibri" pitchFamily="34" charset="0"/>
                <a:ea typeface="Calibri" pitchFamily="34" charset="-122"/>
                <a:cs typeface="Calibri" pitchFamily="34" charset="-120"/>
              </a:rPr>
              <a:t>the whole application</a:t>
            </a:r>
            <a:endParaRPr lang="en-US" sz="1400" dirty="0"/>
          </a:p>
          <a:p>
            <a:pPr marL="177800" indent="-177800">
              <a:spcAft>
                <a:spcPts val="600"/>
              </a:spcAft>
              <a:buSzPct val="100000"/>
              <a:buChar char="•"/>
            </a:pPr>
            <a:r>
              <a:rPr lang="en-US" sz="1400" dirty="0">
                <a:solidFill>
                  <a:srgbClr val="F1F5F9"/>
                </a:solidFill>
                <a:latin typeface="Calibri" pitchFamily="34" charset="0"/>
                <a:ea typeface="Calibri" pitchFamily="34" charset="-122"/>
                <a:cs typeface="Calibri" pitchFamily="34" charset="-120"/>
              </a:rPr>
              <a:t>Kept in </a:t>
            </a:r>
            <a:r>
              <a:rPr lang="en-US" sz="1400">
                <a:solidFill>
                  <a:srgbClr val="F1F5F9"/>
                </a:solidFill>
                <a:latin typeface="Calibri" pitchFamily="34" charset="0"/>
                <a:ea typeface="Calibri" pitchFamily="34" charset="-122"/>
                <a:cs typeface="Calibri" pitchFamily="34" charset="-120"/>
              </a:rPr>
              <a:t>a secure </a:t>
            </a:r>
            <a:r>
              <a:rPr lang="en-US" sz="1400" dirty="0">
                <a:solidFill>
                  <a:srgbClr val="F1F5F9"/>
                </a:solidFill>
                <a:latin typeface="Calibri" pitchFamily="34" charset="0"/>
                <a:ea typeface="Calibri" pitchFamily="34" charset="-122"/>
                <a:cs typeface="Calibri" pitchFamily="34" charset="-120"/>
              </a:rPr>
              <a:t>vault, not </a:t>
            </a:r>
            <a:r>
              <a:rPr lang="en-US" sz="1400">
                <a:solidFill>
                  <a:srgbClr val="F1F5F9"/>
                </a:solidFill>
                <a:latin typeface="Calibri" pitchFamily="34" charset="0"/>
                <a:ea typeface="Calibri" pitchFamily="34" charset="-122"/>
                <a:cs typeface="Calibri" pitchFamily="34" charset="-120"/>
              </a:rPr>
              <a:t>in </a:t>
            </a:r>
            <a:r>
              <a:rPr lang="en-US" sz="1400" dirty="0">
                <a:solidFill>
                  <a:srgbClr val="F1F5F9"/>
                </a:solidFill>
                <a:latin typeface="Calibri" pitchFamily="34" charset="0"/>
                <a:ea typeface="Calibri" pitchFamily="34" charset="-122"/>
                <a:cs typeface="Calibri" pitchFamily="34" charset="-120"/>
              </a:rPr>
              <a:t>the </a:t>
            </a:r>
            <a:r>
              <a:rPr lang="en-US" sz="1400">
                <a:solidFill>
                  <a:srgbClr val="F1F5F9"/>
                </a:solidFill>
                <a:latin typeface="Calibri" pitchFamily="34" charset="0"/>
                <a:ea typeface="Calibri" pitchFamily="34" charset="-122"/>
                <a:cs typeface="Calibri" pitchFamily="34" charset="-120"/>
              </a:rPr>
              <a:t>database</a:t>
            </a:r>
            <a:endParaRPr lang="en-US" sz="1400" dirty="0"/>
          </a:p>
          <a:p>
            <a:pPr marL="177800" indent="-177800">
              <a:spcAft>
                <a:spcPts val="600"/>
              </a:spcAft>
              <a:buSzPct val="100000"/>
              <a:buChar char="•"/>
            </a:pPr>
            <a:r>
              <a:rPr lang="en-US" sz="1400" dirty="0">
                <a:solidFill>
                  <a:srgbClr val="F1F5F9"/>
                </a:solidFill>
                <a:latin typeface="Calibri" pitchFamily="34" charset="0"/>
                <a:ea typeface="Calibri" pitchFamily="34" charset="-122"/>
                <a:cs typeface="Calibri" pitchFamily="34" charset="-120"/>
              </a:rPr>
              <a:t>A stolen database alone is </a:t>
            </a:r>
            <a:r>
              <a:rPr lang="en-US" sz="1400">
                <a:solidFill>
                  <a:srgbClr val="F1F5F9"/>
                </a:solidFill>
                <a:latin typeface="Calibri" pitchFamily="34" charset="0"/>
                <a:ea typeface="Calibri" pitchFamily="34" charset="-122"/>
                <a:cs typeface="Calibri" pitchFamily="34" charset="-120"/>
              </a:rPr>
              <a:t>not enough to crack passwords</a:t>
            </a:r>
            <a:endParaRPr lang="en-US" sz="1400"/>
          </a:p>
          <a:p>
            <a:pPr marL="177800" indent="-177800">
              <a:spcAft>
                <a:spcPts val="600"/>
              </a:spcAft>
              <a:buSzPct val="100000"/>
              <a:buChar char="•"/>
            </a:pPr>
            <a:r>
              <a:rPr lang="en-US" sz="1400">
                <a:solidFill>
                  <a:srgbClr val="F1F5F9"/>
                </a:solidFill>
                <a:latin typeface="Calibri" pitchFamily="34" charset="0"/>
                <a:ea typeface="Calibri" pitchFamily="34" charset="-122"/>
                <a:cs typeface="Calibri" pitchFamily="34" charset="-120"/>
              </a:rPr>
              <a:t>Hard to change later</a:t>
            </a:r>
            <a:r>
              <a:rPr lang="en-US" sz="1400" dirty="0">
                <a:solidFill>
                  <a:srgbClr val="F1F5F9"/>
                </a:solidFill>
                <a:latin typeface="Calibri" pitchFamily="34" charset="0"/>
                <a:ea typeface="Calibri" pitchFamily="34" charset="-122"/>
                <a:cs typeface="Calibri" pitchFamily="34" charset="-120"/>
              </a:rPr>
              <a:t>, so </a:t>
            </a:r>
            <a:r>
              <a:rPr lang="en-US" sz="1400">
                <a:solidFill>
                  <a:srgbClr val="F1F5F9"/>
                </a:solidFill>
                <a:latin typeface="Calibri" pitchFamily="34" charset="0"/>
                <a:ea typeface="Calibri" pitchFamily="34" charset="-122"/>
                <a:cs typeface="Calibri" pitchFamily="34" charset="-120"/>
              </a:rPr>
              <a:t>track which </a:t>
            </a:r>
            <a:r>
              <a:rPr lang="en-US" sz="1400" dirty="0">
                <a:solidFill>
                  <a:srgbClr val="F1F5F9"/>
                </a:solidFill>
                <a:latin typeface="Calibri" pitchFamily="34" charset="0"/>
                <a:ea typeface="Calibri" pitchFamily="34" charset="-122"/>
                <a:cs typeface="Calibri" pitchFamily="34" charset="-120"/>
              </a:rPr>
              <a:t>pepper version </a:t>
            </a:r>
            <a:r>
              <a:rPr lang="en-US" sz="1400">
                <a:solidFill>
                  <a:srgbClr val="F1F5F9"/>
                </a:solidFill>
                <a:latin typeface="Calibri" pitchFamily="34" charset="0"/>
                <a:ea typeface="Calibri" pitchFamily="34" charset="-122"/>
                <a:cs typeface="Calibri" pitchFamily="34" charset="-120"/>
              </a:rPr>
              <a:t>was used</a:t>
            </a:r>
            <a:endParaRPr lang="en-US" sz="1400" dirty="0"/>
          </a:p>
          <a:p>
            <a:pPr marL="177800" indent="-177800">
              <a:spcAft>
                <a:spcPts val="600"/>
              </a:spcAft>
              <a:buSzPct val="100000"/>
              <a:buChar char="•"/>
            </a:pPr>
            <a:r>
              <a:rPr lang="en-US" sz="1400">
                <a:solidFill>
                  <a:srgbClr val="F1F5F9"/>
                </a:solidFill>
                <a:latin typeface="Calibri" pitchFamily="34" charset="0"/>
                <a:ea typeface="Calibri" pitchFamily="34" charset="-122"/>
                <a:cs typeface="Calibri" pitchFamily="34" charset="-120"/>
              </a:rPr>
              <a:t>Mixed in with the </a:t>
            </a:r>
            <a:r>
              <a:rPr lang="en-US" sz="1400" dirty="0">
                <a:solidFill>
                  <a:srgbClr val="F1F5F9"/>
                </a:solidFill>
                <a:latin typeface="Calibri" pitchFamily="34" charset="0"/>
                <a:ea typeface="Calibri" pitchFamily="34" charset="-122"/>
                <a:cs typeface="Calibri" pitchFamily="34" charset="-120"/>
              </a:rPr>
              <a:t>password before hashing</a:t>
            </a:r>
            <a:endParaRPr lang="en-US" sz="1400" dirty="0"/>
          </a:p>
        </p:txBody>
      </p:sp>
      <p:sp>
        <p:nvSpPr>
          <p:cNvPr id="16" name="Shape 12"/>
          <p:cNvSpPr/>
          <p:nvPr/>
        </p:nvSpPr>
        <p:spPr>
          <a:xfrm>
            <a:off x="548640" y="4754880"/>
            <a:ext cx="11091672" cy="1371600"/>
          </a:xfrm>
          <a:prstGeom prst="roundRect">
            <a:avLst>
              <a:gd name="adj" fmla="val 5333"/>
            </a:avLst>
          </a:prstGeom>
          <a:solidFill>
            <a:srgbClr val="070B14"/>
          </a:solidFill>
          <a:ln w="12700">
            <a:solidFill>
              <a:srgbClr val="2A3E68"/>
            </a:solidFill>
            <a:prstDash val="solid"/>
          </a:ln>
        </p:spPr>
      </p:sp>
      <p:sp>
        <p:nvSpPr>
          <p:cNvPr id="17" name="Shape 13"/>
          <p:cNvSpPr/>
          <p:nvPr/>
        </p:nvSpPr>
        <p:spPr>
          <a:xfrm>
            <a:off x="713232" y="4882896"/>
            <a:ext cx="100584" cy="100584"/>
          </a:xfrm>
          <a:prstGeom prst="ellipse">
            <a:avLst/>
          </a:prstGeom>
          <a:solidFill>
            <a:srgbClr val="F87171"/>
          </a:solidFill>
          <a:ln w="12700">
            <a:solidFill>
              <a:srgbClr val="F87171"/>
            </a:solidFill>
            <a:prstDash val="solid"/>
          </a:ln>
        </p:spPr>
      </p:sp>
      <p:sp>
        <p:nvSpPr>
          <p:cNvPr id="18" name="Shape 14"/>
          <p:cNvSpPr/>
          <p:nvPr/>
        </p:nvSpPr>
        <p:spPr>
          <a:xfrm>
            <a:off x="896112" y="4882896"/>
            <a:ext cx="100584" cy="100584"/>
          </a:xfrm>
          <a:prstGeom prst="ellipse">
            <a:avLst/>
          </a:prstGeom>
          <a:solidFill>
            <a:srgbClr val="FBBF24"/>
          </a:solidFill>
          <a:ln w="12700">
            <a:solidFill>
              <a:srgbClr val="FBBF24"/>
            </a:solidFill>
            <a:prstDash val="solid"/>
          </a:ln>
        </p:spPr>
      </p:sp>
      <p:sp>
        <p:nvSpPr>
          <p:cNvPr id="19" name="Shape 15"/>
          <p:cNvSpPr/>
          <p:nvPr/>
        </p:nvSpPr>
        <p:spPr>
          <a:xfrm>
            <a:off x="1078992" y="4882896"/>
            <a:ext cx="100584" cy="100584"/>
          </a:xfrm>
          <a:prstGeom prst="ellipse">
            <a:avLst/>
          </a:prstGeom>
          <a:solidFill>
            <a:srgbClr val="4ADE80"/>
          </a:solidFill>
          <a:ln w="12700">
            <a:solidFill>
              <a:srgbClr val="4ADE80"/>
            </a:solidFill>
            <a:prstDash val="solid"/>
          </a:ln>
        </p:spPr>
      </p:sp>
      <p:sp>
        <p:nvSpPr>
          <p:cNvPr id="20" name="Text 16"/>
          <p:cNvSpPr/>
          <p:nvPr/>
        </p:nvSpPr>
        <p:spPr>
          <a:xfrm>
            <a:off x="1325880" y="4828032"/>
            <a:ext cx="10177272" cy="201168"/>
          </a:xfrm>
          <a:prstGeom prst="rect">
            <a:avLst/>
          </a:prstGeom>
          <a:noFill/>
          <a:ln/>
        </p:spPr>
        <p:txBody>
          <a:bodyPr wrap="square" lIns="0" tIns="0" rIns="0" bIns="0" rtlCol="0" anchor="ctr"/>
          <a:lstStyle/>
          <a:p>
            <a:pPr marL="0" indent="0">
              <a:buNone/>
            </a:pPr>
            <a:r>
              <a:rPr lang="en-US" sz="1000" dirty="0">
                <a:solidFill>
                  <a:srgbClr val="9FB0CC"/>
                </a:solidFill>
                <a:latin typeface="Consolas" pitchFamily="34" charset="0"/>
                <a:ea typeface="Consolas" pitchFamily="34" charset="-122"/>
                <a:cs typeface="Consolas" pitchFamily="34" charset="-120"/>
              </a:rPr>
              <a:t>storage format</a:t>
            </a:r>
            <a:endParaRPr lang="en-US" sz="1000" dirty="0"/>
          </a:p>
        </p:txBody>
      </p:sp>
      <p:sp>
        <p:nvSpPr>
          <p:cNvPr id="21" name="Text 17"/>
          <p:cNvSpPr/>
          <p:nvPr/>
        </p:nvSpPr>
        <p:spPr>
          <a:xfrm>
            <a:off x="777240" y="5138928"/>
            <a:ext cx="10634472" cy="868680"/>
          </a:xfrm>
          <a:prstGeom prst="rect">
            <a:avLst/>
          </a:prstGeom>
          <a:noFill/>
          <a:ln/>
        </p:spPr>
        <p:txBody>
          <a:bodyPr wrap="square" lIns="0" tIns="0" rIns="0" bIns="0" rtlCol="0" anchor="t"/>
          <a:lstStyle/>
          <a:p>
            <a:pPr marL="0" indent="0">
              <a:spcAft>
                <a:spcPts val="200"/>
              </a:spcAft>
              <a:buNone/>
            </a:pPr>
            <a:r>
              <a:rPr lang="en-US" sz="1400" dirty="0">
                <a:solidFill>
                  <a:srgbClr val="9FB0CC"/>
                </a:solidFill>
                <a:latin typeface="Consolas" pitchFamily="34" charset="0"/>
                <a:ea typeface="Consolas" pitchFamily="34" charset="-122"/>
                <a:cs typeface="Consolas" pitchFamily="34" charset="-120"/>
              </a:rPr>
              <a:t># salt: random per user, stored with the hash</a:t>
            </a:r>
            <a:endParaRPr lang="en-US" sz="1400" dirty="0"/>
          </a:p>
          <a:p>
            <a:pPr marL="0" indent="0">
              <a:spcAft>
                <a:spcPts val="200"/>
              </a:spcAft>
              <a:buNone/>
            </a:pPr>
            <a:r>
              <a:rPr lang="en-US" sz="1400">
                <a:solidFill>
                  <a:srgbClr val="4ADE80"/>
                </a:solidFill>
                <a:latin typeface="Consolas" pitchFamily="34" charset="0"/>
                <a:ea typeface="Consolas" pitchFamily="34" charset="-122"/>
                <a:cs typeface="Consolas" pitchFamily="34" charset="-120"/>
              </a:rPr>
              <a:t>stored </a:t>
            </a:r>
            <a:r>
              <a:rPr lang="en-US" sz="1400" dirty="0">
                <a:solidFill>
                  <a:srgbClr val="4ADE80"/>
                </a:solidFill>
                <a:latin typeface="Consolas" pitchFamily="34" charset="0"/>
                <a:ea typeface="Consolas" pitchFamily="34" charset="-122"/>
                <a:cs typeface="Consolas" pitchFamily="34" charset="-120"/>
              </a:rPr>
              <a:t>= salt + </a:t>
            </a:r>
            <a:r>
              <a:rPr lang="en-US" sz="1400">
                <a:solidFill>
                  <a:srgbClr val="4ADE80"/>
                </a:solidFill>
                <a:latin typeface="Consolas" pitchFamily="34" charset="0"/>
                <a:ea typeface="Consolas" pitchFamily="34" charset="-122"/>
                <a:cs typeface="Consolas" pitchFamily="34" charset="-120"/>
              </a:rPr>
              <a:t>hash</a:t>
            </a:r>
            <a:r>
              <a:rPr lang="en-US" sz="1400" dirty="0">
                <a:solidFill>
                  <a:srgbClr val="4ADE80"/>
                </a:solidFill>
                <a:latin typeface="Consolas" pitchFamily="34" charset="0"/>
                <a:ea typeface="Consolas" pitchFamily="34" charset="-122"/>
                <a:cs typeface="Consolas" pitchFamily="34" charset="-120"/>
              </a:rPr>
              <a:t>(salt + password)</a:t>
            </a:r>
            <a:endParaRPr lang="en-US" sz="1400" dirty="0"/>
          </a:p>
          <a:p>
            <a:pPr marL="0" indent="0">
              <a:spcAft>
                <a:spcPts val="200"/>
              </a:spcAft>
              <a:buNone/>
            </a:pPr>
            <a:r>
              <a:rPr lang="en-US" sz="1400" dirty="0">
                <a:solidFill>
                  <a:srgbClr val="9FB0CC"/>
                </a:solidFill>
                <a:latin typeface="Consolas" pitchFamily="34" charset="0"/>
                <a:ea typeface="Consolas" pitchFamily="34" charset="-122"/>
                <a:cs typeface="Consolas" pitchFamily="34" charset="-120"/>
              </a:rPr>
              <a:t># add pepper: one secret </a:t>
            </a:r>
            <a:r>
              <a:rPr lang="en-US" sz="1400">
                <a:solidFill>
                  <a:srgbClr val="9FB0CC"/>
                </a:solidFill>
                <a:latin typeface="Consolas" pitchFamily="34" charset="0"/>
                <a:ea typeface="Consolas" pitchFamily="34" charset="-122"/>
                <a:cs typeface="Consolas" pitchFamily="34" charset="-120"/>
              </a:rPr>
              <a:t>for the </a:t>
            </a:r>
            <a:r>
              <a:rPr lang="en-US" sz="1400" dirty="0">
                <a:solidFill>
                  <a:srgbClr val="9FB0CC"/>
                </a:solidFill>
                <a:latin typeface="Consolas" pitchFamily="34" charset="0"/>
                <a:ea typeface="Consolas" pitchFamily="34" charset="-122"/>
                <a:cs typeface="Consolas" pitchFamily="34" charset="-120"/>
              </a:rPr>
              <a:t>app, </a:t>
            </a:r>
            <a:r>
              <a:rPr lang="en-US" sz="1400">
                <a:solidFill>
                  <a:srgbClr val="9FB0CC"/>
                </a:solidFill>
                <a:latin typeface="Consolas" pitchFamily="34" charset="0"/>
                <a:ea typeface="Consolas" pitchFamily="34" charset="-122"/>
                <a:cs typeface="Consolas" pitchFamily="34" charset="-120"/>
              </a:rPr>
              <a:t>kept </a:t>
            </a:r>
            <a:r>
              <a:rPr lang="en-US" sz="1400" dirty="0">
                <a:solidFill>
                  <a:srgbClr val="9FB0CC"/>
                </a:solidFill>
                <a:latin typeface="Consolas" pitchFamily="34" charset="0"/>
                <a:ea typeface="Consolas" pitchFamily="34" charset="-122"/>
                <a:cs typeface="Consolas" pitchFamily="34" charset="-120"/>
              </a:rPr>
              <a:t>elsewhere</a:t>
            </a:r>
            <a:r>
              <a:rPr lang="en-US" sz="1400">
                <a:solidFill>
                  <a:srgbClr val="9FB0CC"/>
                </a:solidFill>
                <a:latin typeface="Consolas" pitchFamily="34" charset="0"/>
                <a:ea typeface="Consolas" pitchFamily="34" charset="-122"/>
                <a:cs typeface="Consolas" pitchFamily="34" charset="-120"/>
              </a:rPr>
              <a:t> (simplified)</a:t>
            </a:r>
            <a:endParaRPr lang="en-US" sz="1400" dirty="0"/>
          </a:p>
          <a:p>
            <a:pPr marL="0" indent="0">
              <a:spcAft>
                <a:spcPts val="200"/>
              </a:spcAft>
              <a:buNone/>
            </a:pPr>
            <a:r>
              <a:rPr lang="en-US" sz="1400">
                <a:solidFill>
                  <a:srgbClr val="22D3EE"/>
                </a:solidFill>
                <a:latin typeface="Consolas" pitchFamily="34" charset="0"/>
                <a:ea typeface="Consolas" pitchFamily="34" charset="-122"/>
                <a:cs typeface="Consolas" pitchFamily="34" charset="-120"/>
              </a:rPr>
              <a:t>stored </a:t>
            </a:r>
            <a:r>
              <a:rPr lang="en-US" sz="1400" dirty="0">
                <a:solidFill>
                  <a:srgbClr val="22D3EE"/>
                </a:solidFill>
                <a:latin typeface="Consolas" pitchFamily="34" charset="0"/>
                <a:ea typeface="Consolas" pitchFamily="34" charset="-122"/>
                <a:cs typeface="Consolas" pitchFamily="34" charset="-120"/>
              </a:rPr>
              <a:t>= salt + </a:t>
            </a:r>
            <a:r>
              <a:rPr lang="en-US" sz="1400">
                <a:solidFill>
                  <a:srgbClr val="22D3EE"/>
                </a:solidFill>
                <a:latin typeface="Consolas" pitchFamily="34" charset="0"/>
                <a:ea typeface="Consolas" pitchFamily="34" charset="-122"/>
                <a:cs typeface="Consolas" pitchFamily="34" charset="-120"/>
              </a:rPr>
              <a:t>hash</a:t>
            </a:r>
            <a:r>
              <a:rPr lang="en-US" sz="1400" dirty="0">
                <a:solidFill>
                  <a:srgbClr val="22D3EE"/>
                </a:solidFill>
                <a:latin typeface="Consolas" pitchFamily="34" charset="0"/>
                <a:ea typeface="Consolas" pitchFamily="34" charset="-122"/>
                <a:cs typeface="Consolas" pitchFamily="34" charset="-120"/>
              </a:rPr>
              <a:t>(salt + pepper</a:t>
            </a:r>
            <a:r>
              <a:rPr lang="en-US" sz="1400">
                <a:solidFill>
                  <a:srgbClr val="22D3EE"/>
                </a:solidFill>
                <a:latin typeface="Consolas" pitchFamily="34" charset="0"/>
                <a:ea typeface="Consolas" pitchFamily="34" charset="-122"/>
                <a:cs typeface="Consolas" pitchFamily="34" charset="-120"/>
              </a:rPr>
              <a:t> + </a:t>
            </a:r>
            <a:r>
              <a:rPr lang="en-US" sz="1400" dirty="0">
                <a:solidFill>
                  <a:srgbClr val="22D3EE"/>
                </a:solidFill>
                <a:latin typeface="Consolas" pitchFamily="34" charset="0"/>
                <a:ea typeface="Consolas" pitchFamily="34" charset="-122"/>
                <a:cs typeface="Consolas" pitchFamily="34" charset="-120"/>
              </a:rPr>
              <a:t>password</a:t>
            </a:r>
            <a:r>
              <a:rPr lang="en-US" sz="1400">
                <a:solidFill>
                  <a:srgbClr val="22D3EE"/>
                </a:solidFill>
                <a:latin typeface="Consolas" pitchFamily="34" charset="0"/>
                <a:ea typeface="Consolas" pitchFamily="34" charset="-122"/>
                <a:cs typeface="Consolas" pitchFamily="34" charset="-120"/>
              </a:rPr>
              <a: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HASHING 05</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Hashing methods for storing passwords</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14</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401568"/>
        </p:xfrm>
        <a:graphic>
          <a:graphicData uri="http://schemas.openxmlformats.org/drawingml/2006/table">
            <a:tbl>
              <a:tblPr/>
              <a:tblGrid>
                <a:gridCol w="18288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tblGrid>
              <a:tr h="566928">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Method</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How it slows attackers</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a:solidFill>
                            <a:srgbClr val="0A0F1C"/>
                          </a:solidFill>
                          <a:latin typeface="Consolas" pitchFamily="34" charset="0"/>
                          <a:ea typeface="Consolas" pitchFamily="34" charset="-122"/>
                          <a:cs typeface="Consolas" pitchFamily="34" charset="-120"/>
                        </a:rPr>
                        <a:t>Settings you choose</a:t>
                      </a:r>
                      <a:endParaRPr lang="en-US" sz="130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a:solidFill>
                            <a:srgbClr val="0A0F1C"/>
                          </a:solidFill>
                          <a:latin typeface="Consolas" pitchFamily="34" charset="0"/>
                          <a:ea typeface="Consolas" pitchFamily="34" charset="-122"/>
                          <a:cs typeface="Consolas" pitchFamily="34" charset="-120"/>
                        </a:rPr>
                        <a:t>Recommended setting</a:t>
                      </a:r>
                      <a:endParaRPr lang="en-US" sz="130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Verdict</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F87171"/>
                          </a:solidFill>
                          <a:latin typeface="Consolas" pitchFamily="34" charset="0"/>
                          <a:ea typeface="Consolas" pitchFamily="34" charset="-122"/>
                          <a:cs typeface="Consolas" pitchFamily="34" charset="-120"/>
                        </a:rPr>
                        <a:t>SHA-256 / MD5</a:t>
                      </a:r>
                      <a:endParaRPr lang="en-US" sz="14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It doesn't: it is built to be fast</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Never use alone for passwords</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F87171"/>
                          </a:solidFill>
                          <a:latin typeface="Consolas" pitchFamily="34" charset="0"/>
                          <a:ea typeface="Consolas" pitchFamily="34" charset="-122"/>
                          <a:cs typeface="Consolas" pitchFamily="34" charset="-120"/>
                        </a:rPr>
                        <a:t>Avoid</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22D3EE"/>
                          </a:solidFill>
                          <a:latin typeface="Consolas" pitchFamily="34" charset="0"/>
                          <a:ea typeface="Consolas" pitchFamily="34" charset="-122"/>
                          <a:cs typeface="Consolas" pitchFamily="34" charset="-120"/>
                        </a:rPr>
                        <a:t>PBKDF2</a:t>
                      </a:r>
                      <a:endParaRPr lang="en-US" sz="14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Repeats the hash many times</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repeat count</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600,000+ repeats (HMAC-SHA256)</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FBBF24"/>
                          </a:solidFill>
                          <a:latin typeface="Consolas" pitchFamily="34" charset="0"/>
                          <a:ea typeface="Consolas" pitchFamily="34" charset="-122"/>
                          <a:cs typeface="Consolas" pitchFamily="34" charset="-120"/>
                        </a:rPr>
                        <a:t>Okay</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22D3EE"/>
                          </a:solidFill>
                          <a:latin typeface="Consolas" pitchFamily="34" charset="0"/>
                          <a:ea typeface="Consolas" pitchFamily="34" charset="-122"/>
                          <a:cs typeface="Consolas" pitchFamily="34" charset="-120"/>
                        </a:rPr>
                        <a:t>bcrypt</a:t>
                      </a:r>
                      <a:endParaRPr lang="en-US" sz="14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Deliberately slow; each +1 doubles the work</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cost</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cost 10 or higher; 72-byte password limit</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4ADE80"/>
                          </a:solidFill>
                          <a:latin typeface="Consolas" pitchFamily="34" charset="0"/>
                          <a:ea typeface="Consolas" pitchFamily="34" charset="-122"/>
                          <a:cs typeface="Consolas" pitchFamily="34" charset="-120"/>
                        </a:rPr>
                        <a:t>Good</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22D3EE"/>
                          </a:solidFill>
                          <a:latin typeface="Consolas" pitchFamily="34" charset="0"/>
                          <a:ea typeface="Consolas" pitchFamily="34" charset="-122"/>
                          <a:cs typeface="Consolas" pitchFamily="34" charset="-120"/>
                        </a:rPr>
                        <a:t>scrypt</a:t>
                      </a:r>
                      <a:endParaRPr lang="en-US" sz="14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Needs lots of memory for each guess</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memory and CPU</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Use your library's recommended settings</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4ADE80"/>
                          </a:solidFill>
                          <a:latin typeface="Consolas" pitchFamily="34" charset="0"/>
                          <a:ea typeface="Consolas" pitchFamily="34" charset="-122"/>
                          <a:cs typeface="Consolas" pitchFamily="34" charset="-120"/>
                        </a:rPr>
                        <a:t>Good</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22D3EE"/>
                          </a:solidFill>
                          <a:latin typeface="Consolas" pitchFamily="34" charset="0"/>
                          <a:ea typeface="Consolas" pitchFamily="34" charset="-122"/>
                          <a:cs typeface="Consolas" pitchFamily="34" charset="-120"/>
                        </a:rPr>
                        <a:t>Argon2id</a:t>
                      </a:r>
                      <a:endParaRPr lang="en-US" sz="14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Needs lots of memory and time</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memory, time, threads</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at least 19 MiB, 2 passes, 1 thread</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4ADE80"/>
                          </a:solidFill>
                          <a:latin typeface="Consolas" pitchFamily="34" charset="0"/>
                          <a:ea typeface="Consolas" pitchFamily="34" charset="-122"/>
                          <a:cs typeface="Consolas" pitchFamily="34" charset="-120"/>
                        </a:rPr>
                        <a:t>Best</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5"/>
                  </a:ext>
                </a:extLst>
              </a:tr>
            </a:tbl>
          </a:graphicData>
        </a:graphic>
      </p:graphicFrame>
      <p:sp>
        <p:nvSpPr>
          <p:cNvPr id="7" name="Shape 4"/>
          <p:cNvSpPr/>
          <p:nvPr/>
        </p:nvSpPr>
        <p:spPr>
          <a:xfrm>
            <a:off x="548640" y="5212080"/>
            <a:ext cx="11091672" cy="914400"/>
          </a:xfrm>
          <a:prstGeom prst="roundRect">
            <a:avLst>
              <a:gd name="adj" fmla="val 8000"/>
            </a:avLst>
          </a:prstGeom>
          <a:solidFill>
            <a:srgbClr val="172544"/>
          </a:solidFill>
          <a:ln w="12700">
            <a:solidFill>
              <a:srgbClr val="2A3E68"/>
            </a:solidFill>
            <a:prstDash val="solid"/>
          </a:ln>
        </p:spPr>
      </p:sp>
      <p:sp>
        <p:nvSpPr>
          <p:cNvPr id="8" name="Text 5"/>
          <p:cNvSpPr/>
          <p:nvPr/>
        </p:nvSpPr>
        <p:spPr>
          <a:xfrm>
            <a:off x="822960" y="5321808"/>
            <a:ext cx="2743200" cy="274320"/>
          </a:xfrm>
          <a:prstGeom prst="rect">
            <a:avLst/>
          </a:prstGeom>
          <a:noFill/>
          <a:ln/>
        </p:spPr>
        <p:txBody>
          <a:bodyPr wrap="square" lIns="0" tIns="0" rIns="0" bIns="0" rtlCol="0" anchor="t"/>
          <a:lstStyle/>
          <a:p>
            <a:pPr marL="0" indent="0">
              <a:buNone/>
            </a:pPr>
            <a:r>
              <a:rPr lang="en-US" sz="1300" b="1" dirty="0">
                <a:solidFill>
                  <a:srgbClr val="22D3EE"/>
                </a:solidFill>
                <a:latin typeface="Consolas" pitchFamily="34" charset="0"/>
                <a:ea typeface="Consolas" pitchFamily="34" charset="-122"/>
                <a:cs typeface="Consolas" pitchFamily="34" charset="-120"/>
              </a:rPr>
              <a:t>Rule of thumb</a:t>
            </a:r>
            <a:endParaRPr lang="en-US" sz="1300" dirty="0"/>
          </a:p>
        </p:txBody>
      </p:sp>
      <p:sp>
        <p:nvSpPr>
          <p:cNvPr id="6" name="Text 6"/>
          <p:cNvSpPr/>
          <p:nvPr/>
        </p:nvSpPr>
        <p:spPr>
          <a:xfrm>
            <a:off x="822960" y="5596128"/>
            <a:ext cx="10607040" cy="502920"/>
          </a:xfrm>
          <a:prstGeom prst="rect">
            <a:avLst/>
          </a:prstGeom>
          <a:noFill/>
          <a:ln/>
        </p:spPr>
        <p:txBody>
          <a:bodyPr wrap="square" lIns="0" tIns="0" rIns="0" bIns="0" rtlCol="0" anchor="t"/>
          <a:lstStyle/>
          <a:p>
            <a:pPr marL="0" indent="0">
              <a:buNone/>
            </a:pPr>
            <a:r>
              <a:rPr lang="en-US" sz="1400" dirty="0">
                <a:solidFill>
                  <a:srgbClr val="F1F5F9"/>
                </a:solidFill>
                <a:latin typeface="Calibri" pitchFamily="34" charset="0"/>
                <a:ea typeface="Calibri" pitchFamily="34" charset="-122"/>
                <a:cs typeface="Calibri" pitchFamily="34" charset="-120"/>
              </a:rPr>
              <a:t>Use Argon2id </a:t>
            </a:r>
            <a:r>
              <a:rPr lang="en-US" sz="1400">
                <a:solidFill>
                  <a:srgbClr val="F1F5F9"/>
                </a:solidFill>
                <a:latin typeface="Calibri" pitchFamily="34" charset="0"/>
                <a:ea typeface="Calibri" pitchFamily="34" charset="-122"/>
                <a:cs typeface="Calibri" pitchFamily="34" charset="-120"/>
              </a:rPr>
              <a:t>if you can</a:t>
            </a:r>
            <a:r>
              <a:rPr lang="en-US" sz="1400" dirty="0">
                <a:solidFill>
                  <a:srgbClr val="F1F5F9"/>
                </a:solidFill>
                <a:latin typeface="Calibri" pitchFamily="34" charset="0"/>
                <a:ea typeface="Calibri" pitchFamily="34" charset="-122"/>
                <a:cs typeface="Calibri" pitchFamily="34" charset="-120"/>
              </a:rPr>
              <a:t>, </a:t>
            </a:r>
            <a:r>
              <a:rPr lang="en-US" sz="1400">
                <a:solidFill>
                  <a:srgbClr val="F1F5F9"/>
                </a:solidFill>
                <a:latin typeface="Calibri" pitchFamily="34" charset="0"/>
                <a:ea typeface="Calibri" pitchFamily="34" charset="-122"/>
                <a:cs typeface="Calibri" pitchFamily="34" charset="-120"/>
              </a:rPr>
              <a:t>otherwise </a:t>
            </a:r>
            <a:r>
              <a:rPr lang="en-US" sz="1400" dirty="0">
                <a:solidFill>
                  <a:srgbClr val="F1F5F9"/>
                </a:solidFill>
                <a:latin typeface="Calibri" pitchFamily="34" charset="0"/>
                <a:ea typeface="Calibri" pitchFamily="34" charset="-122"/>
                <a:cs typeface="Calibri" pitchFamily="34" charset="-120"/>
              </a:rPr>
              <a:t>bcrypt. Pick </a:t>
            </a:r>
            <a:r>
              <a:rPr lang="en-US" sz="1400">
                <a:solidFill>
                  <a:srgbClr val="F1F5F9"/>
                </a:solidFill>
                <a:latin typeface="Calibri" pitchFamily="34" charset="0"/>
                <a:ea typeface="Calibri" pitchFamily="34" charset="-122"/>
                <a:cs typeface="Calibri" pitchFamily="34" charset="-120"/>
              </a:rPr>
              <a:t>settings </a:t>
            </a:r>
            <a:r>
              <a:rPr lang="en-US" sz="1400" dirty="0">
                <a:solidFill>
                  <a:srgbClr val="F1F5F9"/>
                </a:solidFill>
                <a:latin typeface="Calibri" pitchFamily="34" charset="0"/>
                <a:ea typeface="Calibri" pitchFamily="34" charset="-122"/>
                <a:cs typeface="Calibri" pitchFamily="34" charset="-120"/>
              </a:rPr>
              <a:t>so one hash takes about 0.2 to 0.5 seconds on your server, and </a:t>
            </a:r>
            <a:r>
              <a:rPr lang="en-US" sz="1400">
                <a:solidFill>
                  <a:srgbClr val="F1F5F9"/>
                </a:solidFill>
                <a:latin typeface="Calibri" pitchFamily="34" charset="0"/>
                <a:ea typeface="Calibri" pitchFamily="34" charset="-122"/>
                <a:cs typeface="Calibri" pitchFamily="34" charset="-120"/>
              </a:rPr>
              <a:t>raise them </a:t>
            </a:r>
            <a:r>
              <a:rPr lang="en-US" sz="1400" dirty="0">
                <a:solidFill>
                  <a:srgbClr val="F1F5F9"/>
                </a:solidFill>
                <a:latin typeface="Calibri" pitchFamily="34" charset="0"/>
                <a:ea typeface="Calibri" pitchFamily="34" charset="-122"/>
                <a:cs typeface="Calibri" pitchFamily="34" charset="-120"/>
              </a:rPr>
              <a:t>as </a:t>
            </a:r>
            <a:r>
              <a:rPr lang="en-US" sz="1400">
                <a:solidFill>
                  <a:srgbClr val="F1F5F9"/>
                </a:solidFill>
                <a:latin typeface="Calibri" pitchFamily="34" charset="0"/>
                <a:ea typeface="Calibri" pitchFamily="34" charset="-122"/>
                <a:cs typeface="Calibri" pitchFamily="34" charset="-120"/>
              </a:rPr>
              <a:t>computers get faster</a:t>
            </a:r>
            <a:r>
              <a:rPr lang="en-US" sz="1400" dirty="0">
                <a:solidFill>
                  <a:srgbClr val="F1F5F9"/>
                </a:solidFill>
                <a:latin typeface="Calibri" pitchFamily="34" charset="0"/>
                <a:ea typeface="Calibri" pitchFamily="34" charset="-122"/>
                <a:cs typeface="Calibri" pitchFamily="34" charset="-120"/>
              </a:rPr>
              <a:t>. Always </a:t>
            </a:r>
            <a:r>
              <a:rPr lang="en-US" sz="1400">
                <a:solidFill>
                  <a:srgbClr val="F1F5F9"/>
                </a:solidFill>
                <a:latin typeface="Calibri" pitchFamily="34" charset="0"/>
                <a:ea typeface="Calibri" pitchFamily="34" charset="-122"/>
                <a:cs typeface="Calibri" pitchFamily="34" charset="-120"/>
              </a:rPr>
              <a:t>add</a:t>
            </a:r>
            <a:r>
              <a:rPr lang="en-US" sz="1400" dirty="0">
                <a:solidFill>
                  <a:srgbClr val="F1F5F9"/>
                </a:solidFill>
                <a:latin typeface="Calibri" pitchFamily="34" charset="0"/>
                <a:ea typeface="Calibri" pitchFamily="34" charset="-122"/>
                <a:cs typeface="Calibri" pitchFamily="34" charset="-120"/>
              </a:rPr>
              <a:t> a unique salt.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HASHING 06</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Why </a:t>
            </a:r>
            <a:r>
              <a:rPr lang="en-US" sz="2800" b="1" dirty="0">
                <a:solidFill>
                  <a:srgbClr val="F1F5F9"/>
                </a:solidFill>
                <a:latin typeface="Consolas" pitchFamily="34" charset="0"/>
                <a:ea typeface="Consolas" pitchFamily="34" charset="-122"/>
                <a:cs typeface="Consolas" pitchFamily="34" charset="-120"/>
              </a:rPr>
              <a:t>slow hashing</a:t>
            </a:r>
            <a:r>
              <a:rPr lang="en-US" sz="2800" b="1">
                <a:solidFill>
                  <a:srgbClr val="F1F5F9"/>
                </a:solidFill>
                <a:latin typeface="Consolas" pitchFamily="34" charset="0"/>
                <a:ea typeface="Consolas" pitchFamily="34" charset="-122"/>
                <a:cs typeface="Consolas" pitchFamily="34" charset="-120"/>
              </a:rPr>
              <a:t> helps</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15</a:t>
            </a:r>
            <a:endParaRPr lang="en-US" sz="1000" dirty="0"/>
          </a:p>
        </p:txBody>
      </p:sp>
      <p:sp>
        <p:nvSpPr>
          <p:cNvPr id="6" name="Shape 4"/>
          <p:cNvSpPr/>
          <p:nvPr/>
        </p:nvSpPr>
        <p:spPr>
          <a:xfrm>
            <a:off x="548640" y="1417320"/>
            <a:ext cx="3566160" cy="3063240"/>
          </a:xfrm>
          <a:prstGeom prst="roundRect">
            <a:avLst>
              <a:gd name="adj" fmla="val 2388"/>
            </a:avLst>
          </a:prstGeom>
          <a:solidFill>
            <a:srgbClr val="111A2F"/>
          </a:solidFill>
          <a:ln w="12700">
            <a:solidFill>
              <a:srgbClr val="2A3E68"/>
            </a:solidFill>
            <a:prstDash val="solid"/>
          </a:ln>
        </p:spPr>
      </p:sp>
      <p:sp>
        <p:nvSpPr>
          <p:cNvPr id="7" name="Text 5"/>
          <p:cNvSpPr/>
          <p:nvPr/>
        </p:nvSpPr>
        <p:spPr>
          <a:xfrm>
            <a:off x="777240" y="1554480"/>
            <a:ext cx="3108960" cy="320040"/>
          </a:xfrm>
          <a:prstGeom prst="rect">
            <a:avLst/>
          </a:prstGeom>
          <a:noFill/>
          <a:ln/>
        </p:spPr>
        <p:txBody>
          <a:bodyPr wrap="square" lIns="0" tIns="0" rIns="0" bIns="0" rtlCol="0" anchor="t"/>
          <a:lstStyle/>
          <a:p>
            <a:pPr marL="0" indent="0">
              <a:buNone/>
            </a:pPr>
            <a:r>
              <a:rPr lang="en-US" sz="1800" b="1" dirty="0">
                <a:solidFill>
                  <a:srgbClr val="22D3EE"/>
                </a:solidFill>
                <a:latin typeface="Consolas" pitchFamily="34" charset="0"/>
                <a:ea typeface="Consolas" pitchFamily="34" charset="-122"/>
                <a:cs typeface="Consolas" pitchFamily="34" charset="-120"/>
              </a:rPr>
              <a:t>PBKDF2</a:t>
            </a:r>
            <a:endParaRPr lang="en-US" sz="1800" dirty="0"/>
          </a:p>
        </p:txBody>
      </p:sp>
      <p:sp>
        <p:nvSpPr>
          <p:cNvPr id="8" name="Shape 6"/>
          <p:cNvSpPr/>
          <p:nvPr/>
        </p:nvSpPr>
        <p:spPr>
          <a:xfrm>
            <a:off x="731520" y="1965960"/>
            <a:ext cx="3200400" cy="1051560"/>
          </a:xfrm>
          <a:prstGeom prst="roundRect">
            <a:avLst>
              <a:gd name="adj" fmla="val 5217"/>
            </a:avLst>
          </a:prstGeom>
          <a:solidFill>
            <a:srgbClr val="070B14"/>
          </a:solidFill>
          <a:ln w="12700">
            <a:solidFill>
              <a:srgbClr val="2A3E68"/>
            </a:solidFill>
            <a:prstDash val="solid"/>
          </a:ln>
        </p:spPr>
      </p:sp>
      <p:sp>
        <p:nvSpPr>
          <p:cNvPr id="9" name="Text 7"/>
          <p:cNvSpPr/>
          <p:nvPr/>
        </p:nvSpPr>
        <p:spPr>
          <a:xfrm>
            <a:off x="822960" y="2029968"/>
            <a:ext cx="3063240" cy="914400"/>
          </a:xfrm>
          <a:prstGeom prst="rect">
            <a:avLst/>
          </a:prstGeom>
          <a:noFill/>
          <a:ln/>
        </p:spPr>
        <p:txBody>
          <a:bodyPr wrap="square" lIns="0" tIns="0" rIns="0" bIns="0" rtlCol="0" anchor="ctr"/>
          <a:lstStyle/>
          <a:p>
            <a:pPr marL="0" indent="0">
              <a:spcAft>
                <a:spcPts val="100"/>
              </a:spcAft>
              <a:buNone/>
            </a:pPr>
            <a:r>
              <a:rPr lang="en-US" sz="1200">
                <a:solidFill>
                  <a:srgbClr val="22D3EE"/>
                </a:solidFill>
                <a:latin typeface="Consolas" pitchFamily="34" charset="0"/>
                <a:ea typeface="Consolas" pitchFamily="34" charset="-122"/>
                <a:cs typeface="Consolas" pitchFamily="34" charset="-120"/>
              </a:rPr>
              <a:t>hash </a:t>
            </a:r>
            <a:r>
              <a:rPr lang="en-US" sz="1200" dirty="0">
                <a:solidFill>
                  <a:srgbClr val="22D3EE"/>
                </a:solidFill>
                <a:latin typeface="Consolas" pitchFamily="34" charset="0"/>
                <a:ea typeface="Consolas" pitchFamily="34" charset="-122"/>
                <a:cs typeface="Consolas" pitchFamily="34" charset="-120"/>
              </a:rPr>
              <a:t>= </a:t>
            </a:r>
            <a:r>
              <a:rPr lang="en-US" sz="1200">
                <a:solidFill>
                  <a:srgbClr val="22D3EE"/>
                </a:solidFill>
                <a:latin typeface="Consolas" pitchFamily="34" charset="0"/>
                <a:ea typeface="Consolas" pitchFamily="34" charset="-122"/>
                <a:cs typeface="Consolas" pitchFamily="34" charset="-120"/>
              </a:rPr>
              <a:t>hash</a:t>
            </a:r>
            <a:r>
              <a:rPr lang="en-US" sz="1200" dirty="0">
                <a:solidFill>
                  <a:srgbClr val="22D3EE"/>
                </a:solidFill>
                <a:latin typeface="Consolas" pitchFamily="34" charset="0"/>
                <a:ea typeface="Consolas" pitchFamily="34" charset="-122"/>
                <a:cs typeface="Consolas" pitchFamily="34" charset="-120"/>
              </a:rPr>
              <a:t>(</a:t>
            </a:r>
            <a:r>
              <a:rPr lang="en-US" sz="1200">
                <a:solidFill>
                  <a:srgbClr val="22D3EE"/>
                </a:solidFill>
                <a:latin typeface="Consolas" pitchFamily="34" charset="0"/>
                <a:ea typeface="Consolas" pitchFamily="34" charset="-122"/>
                <a:cs typeface="Consolas" pitchFamily="34" charset="-120"/>
              </a:rPr>
              <a:t>password + </a:t>
            </a:r>
            <a:r>
              <a:rPr lang="en-US" sz="1200" dirty="0">
                <a:solidFill>
                  <a:srgbClr val="22D3EE"/>
                </a:solidFill>
                <a:latin typeface="Consolas" pitchFamily="34" charset="0"/>
                <a:ea typeface="Consolas" pitchFamily="34" charset="-122"/>
                <a:cs typeface="Consolas" pitchFamily="34" charset="-120"/>
              </a:rPr>
              <a:t>salt)</a:t>
            </a:r>
            <a:endParaRPr lang="en-US" sz="1200" dirty="0"/>
          </a:p>
          <a:p>
            <a:pPr marL="0" indent="0">
              <a:spcAft>
                <a:spcPts val="100"/>
              </a:spcAft>
              <a:buNone/>
            </a:pPr>
            <a:r>
              <a:rPr lang="en-US" sz="1200">
                <a:solidFill>
                  <a:srgbClr val="22D3EE"/>
                </a:solidFill>
                <a:latin typeface="Consolas" pitchFamily="34" charset="0"/>
                <a:ea typeface="Consolas" pitchFamily="34" charset="-122"/>
                <a:cs typeface="Consolas" pitchFamily="34" charset="-120"/>
              </a:rPr>
              <a:t>hash </a:t>
            </a:r>
            <a:r>
              <a:rPr lang="en-US" sz="1200" dirty="0">
                <a:solidFill>
                  <a:srgbClr val="22D3EE"/>
                </a:solidFill>
                <a:latin typeface="Consolas" pitchFamily="34" charset="0"/>
                <a:ea typeface="Consolas" pitchFamily="34" charset="-122"/>
                <a:cs typeface="Consolas" pitchFamily="34" charset="-120"/>
              </a:rPr>
              <a:t>= </a:t>
            </a:r>
            <a:r>
              <a:rPr lang="en-US" sz="1200">
                <a:solidFill>
                  <a:srgbClr val="22D3EE"/>
                </a:solidFill>
                <a:latin typeface="Consolas" pitchFamily="34" charset="0"/>
                <a:ea typeface="Consolas" pitchFamily="34" charset="-122"/>
                <a:cs typeface="Consolas" pitchFamily="34" charset="-120"/>
              </a:rPr>
              <a:t>hash</a:t>
            </a:r>
            <a:r>
              <a:rPr lang="en-US" sz="1200" dirty="0">
                <a:solidFill>
                  <a:srgbClr val="22D3EE"/>
                </a:solidFill>
                <a:latin typeface="Consolas" pitchFamily="34" charset="0"/>
                <a:ea typeface="Consolas" pitchFamily="34" charset="-122"/>
                <a:cs typeface="Consolas" pitchFamily="34" charset="-120"/>
              </a:rPr>
              <a:t>(</a:t>
            </a:r>
            <a:r>
              <a:rPr lang="en-US" sz="1200">
                <a:solidFill>
                  <a:srgbClr val="22D3EE"/>
                </a:solidFill>
                <a:latin typeface="Consolas" pitchFamily="34" charset="0"/>
                <a:ea typeface="Consolas" pitchFamily="34" charset="-122"/>
                <a:cs typeface="Consolas" pitchFamily="34" charset="-120"/>
              </a:rPr>
              <a:t>hash)</a:t>
            </a:r>
            <a:endParaRPr lang="en-US" sz="1200" dirty="0"/>
          </a:p>
          <a:p>
            <a:pPr marL="0" indent="0">
              <a:spcAft>
                <a:spcPts val="100"/>
              </a:spcAft>
              <a:buNone/>
            </a:pPr>
            <a:r>
              <a:rPr lang="en-US" sz="1200" dirty="0">
                <a:solidFill>
                  <a:srgbClr val="22D3EE"/>
                </a:solidFill>
                <a:latin typeface="Consolas" pitchFamily="34" charset="0"/>
                <a:ea typeface="Consolas" pitchFamily="34" charset="-122"/>
                <a:cs typeface="Consolas" pitchFamily="34" charset="-120"/>
              </a:rPr>
              <a:t>... </a:t>
            </a:r>
            <a:r>
              <a:rPr lang="en-US" sz="1200">
                <a:solidFill>
                  <a:srgbClr val="22D3EE"/>
                </a:solidFill>
                <a:latin typeface="Consolas" pitchFamily="34" charset="0"/>
                <a:ea typeface="Consolas" pitchFamily="34" charset="-122"/>
                <a:cs typeface="Consolas" pitchFamily="34" charset="-120"/>
              </a:rPr>
              <a:t>repeat 600,000 times</a:t>
            </a:r>
            <a:endParaRPr lang="en-US" sz="1200" dirty="0"/>
          </a:p>
          <a:p>
            <a:pPr marL="0" indent="0">
              <a:spcAft>
                <a:spcPts val="100"/>
              </a:spcAft>
              <a:buNone/>
            </a:pPr>
            <a:r>
              <a:rPr lang="en-US" sz="1200">
                <a:solidFill>
                  <a:srgbClr val="22D3EE"/>
                </a:solidFill>
                <a:latin typeface="Consolas" pitchFamily="34" charset="0"/>
                <a:ea typeface="Consolas" pitchFamily="34" charset="-122"/>
                <a:cs typeface="Consolas" pitchFamily="34" charset="-120"/>
              </a:rPr>
              <a:t>keep the final result</a:t>
            </a:r>
            <a:endParaRPr lang="en-US" sz="1200" dirty="0"/>
          </a:p>
        </p:txBody>
      </p:sp>
      <p:sp>
        <p:nvSpPr>
          <p:cNvPr id="10" name="Text 8"/>
          <p:cNvSpPr/>
          <p:nvPr/>
        </p:nvSpPr>
        <p:spPr>
          <a:xfrm>
            <a:off x="777240" y="3154680"/>
            <a:ext cx="3108960" cy="123444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Hash the result again and again. Each </a:t>
            </a:r>
            <a:r>
              <a:rPr lang="en-US" sz="1300" dirty="0">
                <a:solidFill>
                  <a:srgbClr val="F1F5F9"/>
                </a:solidFill>
                <a:latin typeface="Calibri" pitchFamily="34" charset="0"/>
                <a:ea typeface="Calibri" pitchFamily="34" charset="-122"/>
                <a:cs typeface="Calibri" pitchFamily="34" charset="-120"/>
              </a:rPr>
              <a:t>guess costs </a:t>
            </a:r>
            <a:r>
              <a:rPr lang="en-US" sz="1300">
                <a:solidFill>
                  <a:srgbClr val="F1F5F9"/>
                </a:solidFill>
                <a:latin typeface="Calibri" pitchFamily="34" charset="0"/>
                <a:ea typeface="Calibri" pitchFamily="34" charset="-122"/>
                <a:cs typeface="Calibri" pitchFamily="34" charset="-120"/>
              </a:rPr>
              <a:t>600,000 hashes</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but a graphics card can </a:t>
            </a:r>
            <a:r>
              <a:rPr lang="en-US" sz="1300" dirty="0">
                <a:solidFill>
                  <a:srgbClr val="F1F5F9"/>
                </a:solidFill>
                <a:latin typeface="Calibri" pitchFamily="34" charset="0"/>
                <a:ea typeface="Calibri" pitchFamily="34" charset="-122"/>
                <a:cs typeface="Calibri" pitchFamily="34" charset="-120"/>
              </a:rPr>
              <a:t>still </a:t>
            </a:r>
            <a:r>
              <a:rPr lang="en-US" sz="1300">
                <a:solidFill>
                  <a:srgbClr val="F1F5F9"/>
                </a:solidFill>
                <a:latin typeface="Calibri" pitchFamily="34" charset="0"/>
                <a:ea typeface="Calibri" pitchFamily="34" charset="-122"/>
                <a:cs typeface="Calibri" pitchFamily="34" charset="-120"/>
              </a:rPr>
              <a:t>try many guesses at once</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4311396" y="1417320"/>
            <a:ext cx="3566160" cy="3063240"/>
          </a:xfrm>
          <a:prstGeom prst="roundRect">
            <a:avLst>
              <a:gd name="adj" fmla="val 2388"/>
            </a:avLst>
          </a:prstGeom>
          <a:solidFill>
            <a:srgbClr val="111A2F"/>
          </a:solidFill>
          <a:ln w="12700">
            <a:solidFill>
              <a:srgbClr val="2A3E68"/>
            </a:solidFill>
            <a:prstDash val="solid"/>
          </a:ln>
        </p:spPr>
      </p:sp>
      <p:sp>
        <p:nvSpPr>
          <p:cNvPr id="12" name="Text 10"/>
          <p:cNvSpPr/>
          <p:nvPr/>
        </p:nvSpPr>
        <p:spPr>
          <a:xfrm>
            <a:off x="4539996" y="1554480"/>
            <a:ext cx="3108960" cy="320040"/>
          </a:xfrm>
          <a:prstGeom prst="rect">
            <a:avLst/>
          </a:prstGeom>
          <a:noFill/>
          <a:ln/>
        </p:spPr>
        <p:txBody>
          <a:bodyPr wrap="square" lIns="0" tIns="0" rIns="0" bIns="0" rtlCol="0" anchor="t"/>
          <a:lstStyle/>
          <a:p>
            <a:pPr marL="0" indent="0">
              <a:buNone/>
            </a:pPr>
            <a:r>
              <a:rPr lang="en-US" sz="1800" b="1" dirty="0">
                <a:solidFill>
                  <a:srgbClr val="4ADE80"/>
                </a:solidFill>
                <a:latin typeface="Consolas" pitchFamily="34" charset="0"/>
                <a:ea typeface="Consolas" pitchFamily="34" charset="-122"/>
                <a:cs typeface="Consolas" pitchFamily="34" charset="-120"/>
              </a:rPr>
              <a:t>bcrypt</a:t>
            </a:r>
            <a:endParaRPr lang="en-US" sz="1800" dirty="0"/>
          </a:p>
        </p:txBody>
      </p:sp>
      <p:sp>
        <p:nvSpPr>
          <p:cNvPr id="13" name="Shape 11"/>
          <p:cNvSpPr/>
          <p:nvPr/>
        </p:nvSpPr>
        <p:spPr>
          <a:xfrm>
            <a:off x="4494276" y="1965960"/>
            <a:ext cx="3200400" cy="1051560"/>
          </a:xfrm>
          <a:prstGeom prst="roundRect">
            <a:avLst>
              <a:gd name="adj" fmla="val 5217"/>
            </a:avLst>
          </a:prstGeom>
          <a:solidFill>
            <a:srgbClr val="070B14"/>
          </a:solidFill>
          <a:ln w="12700">
            <a:solidFill>
              <a:srgbClr val="2A3E68"/>
            </a:solidFill>
            <a:prstDash val="solid"/>
          </a:ln>
        </p:spPr>
      </p:sp>
      <p:sp>
        <p:nvSpPr>
          <p:cNvPr id="14" name="Text 12"/>
          <p:cNvSpPr/>
          <p:nvPr/>
        </p:nvSpPr>
        <p:spPr>
          <a:xfrm>
            <a:off x="4585716" y="2029968"/>
            <a:ext cx="3063240" cy="914400"/>
          </a:xfrm>
          <a:prstGeom prst="rect">
            <a:avLst/>
          </a:prstGeom>
          <a:noFill/>
          <a:ln/>
        </p:spPr>
        <p:txBody>
          <a:bodyPr wrap="square" lIns="0" tIns="0" rIns="0" bIns="0" rtlCol="0" anchor="ctr"/>
          <a:lstStyle/>
          <a:p>
            <a:pPr marL="0" indent="0">
              <a:spcAft>
                <a:spcPts val="100"/>
              </a:spcAft>
              <a:buNone/>
            </a:pPr>
            <a:r>
              <a:rPr lang="en-US" sz="1200">
                <a:solidFill>
                  <a:srgbClr val="4ADE80"/>
                </a:solidFill>
                <a:latin typeface="Consolas" pitchFamily="34" charset="0"/>
                <a:ea typeface="Consolas" pitchFamily="34" charset="-122"/>
                <a:cs typeface="Consolas" pitchFamily="34" charset="-120"/>
              </a:rPr>
              <a:t>start with a slow setup step</a:t>
            </a:r>
            <a:endParaRPr lang="en-US" sz="1200" dirty="0"/>
          </a:p>
          <a:p>
            <a:pPr marL="0" indent="0">
              <a:spcAft>
                <a:spcPts val="100"/>
              </a:spcAft>
              <a:buNone/>
            </a:pPr>
            <a:r>
              <a:rPr lang="en-US" sz="1200" dirty="0">
                <a:solidFill>
                  <a:srgbClr val="4ADE80"/>
                </a:solidFill>
                <a:latin typeface="Consolas" pitchFamily="34" charset="0"/>
                <a:ea typeface="Consolas" pitchFamily="34" charset="-122"/>
                <a:cs typeface="Consolas" pitchFamily="34" charset="-120"/>
              </a:rPr>
              <a:t>repeat 2^cost times:</a:t>
            </a:r>
            <a:endParaRPr lang="en-US" sz="1200" dirty="0"/>
          </a:p>
          <a:p>
            <a:pPr marL="0" indent="0">
              <a:spcAft>
                <a:spcPts val="100"/>
              </a:spcAft>
              <a:buNone/>
            </a:pPr>
            <a:r>
              <a:rPr lang="en-US" sz="1200" dirty="0">
                <a:solidFill>
                  <a:srgbClr val="4ADE80"/>
                </a:solidFill>
                <a:latin typeface="Consolas" pitchFamily="34" charset="0"/>
                <a:ea typeface="Consolas" pitchFamily="34" charset="-122"/>
                <a:cs typeface="Consolas" pitchFamily="34" charset="-120"/>
              </a:rPr>
              <a:t>  </a:t>
            </a:r>
            <a:r>
              <a:rPr lang="en-US" sz="1200">
                <a:solidFill>
                  <a:srgbClr val="4ADE80"/>
                </a:solidFill>
                <a:latin typeface="Consolas" pitchFamily="34" charset="0"/>
                <a:ea typeface="Consolas" pitchFamily="34" charset="-122"/>
                <a:cs typeface="Consolas" pitchFamily="34" charset="-120"/>
              </a:rPr>
              <a:t>mix in the password</a:t>
            </a:r>
            <a:endParaRPr lang="en-US" sz="1200" dirty="0"/>
          </a:p>
          <a:p>
            <a:pPr marL="0" indent="0">
              <a:spcAft>
                <a:spcPts val="100"/>
              </a:spcAft>
              <a:buNone/>
            </a:pPr>
            <a:r>
              <a:rPr lang="en-US" sz="1200" dirty="0">
                <a:solidFill>
                  <a:srgbClr val="4ADE80"/>
                </a:solidFill>
                <a:latin typeface="Consolas" pitchFamily="34" charset="0"/>
                <a:ea typeface="Consolas" pitchFamily="34" charset="-122"/>
                <a:cs typeface="Consolas" pitchFamily="34" charset="-120"/>
              </a:rPr>
              <a:t>  </a:t>
            </a:r>
            <a:r>
              <a:rPr lang="en-US" sz="1200">
                <a:solidFill>
                  <a:srgbClr val="4ADE80"/>
                </a:solidFill>
                <a:latin typeface="Consolas" pitchFamily="34" charset="0"/>
                <a:ea typeface="Consolas" pitchFamily="34" charset="-122"/>
                <a:cs typeface="Consolas" pitchFamily="34" charset="-120"/>
              </a:rPr>
              <a:t>mix in the </a:t>
            </a:r>
            <a:r>
              <a:rPr lang="en-US" sz="1200" dirty="0">
                <a:solidFill>
                  <a:srgbClr val="4ADE80"/>
                </a:solidFill>
                <a:latin typeface="Consolas" pitchFamily="34" charset="0"/>
                <a:ea typeface="Consolas" pitchFamily="34" charset="-122"/>
                <a:cs typeface="Consolas" pitchFamily="34" charset="-120"/>
              </a:rPr>
              <a:t>salt</a:t>
            </a:r>
            <a:endParaRPr lang="en-US" sz="1200" dirty="0"/>
          </a:p>
        </p:txBody>
      </p:sp>
      <p:sp>
        <p:nvSpPr>
          <p:cNvPr id="15" name="Text 13"/>
          <p:cNvSpPr/>
          <p:nvPr/>
        </p:nvSpPr>
        <p:spPr>
          <a:xfrm>
            <a:off x="4539996" y="3154680"/>
            <a:ext cx="3108960" cy="1234440"/>
          </a:xfrm>
          <a:prstGeom prst="rect">
            <a:avLst/>
          </a:prstGeom>
          <a:noFill/>
          <a:ln/>
        </p:spPr>
        <p:txBody>
          <a:bodyPr wrap="square" lIns="0" tIns="0" rIns="0" bIns="0" rtlCol="0" anchor="t"/>
          <a:lstStyle/>
          <a:p>
            <a:pPr marL="0" indent="0">
              <a:buNone/>
            </a:pPr>
            <a:r>
              <a:rPr lang="en-US" sz="1300" dirty="0">
                <a:solidFill>
                  <a:srgbClr val="F1F5F9"/>
                </a:solidFill>
                <a:latin typeface="Calibri" pitchFamily="34" charset="0"/>
                <a:ea typeface="Calibri" pitchFamily="34" charset="-122"/>
                <a:cs typeface="Calibri" pitchFamily="34" charset="-120"/>
              </a:rPr>
              <a:t>Each +1 on cost doubles the work</a:t>
            </a:r>
            <a:r>
              <a:rPr lang="en-US" sz="1300">
                <a:solidFill>
                  <a:srgbClr val="F1F5F9"/>
                </a:solidFill>
                <a:latin typeface="Calibri" pitchFamily="34" charset="0"/>
                <a:ea typeface="Calibri" pitchFamily="34" charset="-122"/>
                <a:cs typeface="Calibri" pitchFamily="34" charset="-120"/>
              </a:rPr>
              <a:t>, so cost 12 is 4 times slower than cost 10</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Only the first </a:t>
            </a:r>
            <a:r>
              <a:rPr lang="en-US" sz="1300" dirty="0">
                <a:solidFill>
                  <a:srgbClr val="F1F5F9"/>
                </a:solidFill>
                <a:latin typeface="Calibri" pitchFamily="34" charset="0"/>
                <a:ea typeface="Calibri" pitchFamily="34" charset="-122"/>
                <a:cs typeface="Calibri" pitchFamily="34" charset="-120"/>
              </a:rPr>
              <a:t>72 bytes</a:t>
            </a:r>
            <a:r>
              <a:rPr lang="en-US" sz="1300">
                <a:solidFill>
                  <a:srgbClr val="F1F5F9"/>
                </a:solidFill>
                <a:latin typeface="Calibri" pitchFamily="34" charset="0"/>
                <a:ea typeface="Calibri" pitchFamily="34" charset="-122"/>
                <a:cs typeface="Calibri" pitchFamily="34" charset="-120"/>
              </a:rPr>
              <a:t> of a password are used</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8074152" y="1417320"/>
            <a:ext cx="3566160" cy="3063240"/>
          </a:xfrm>
          <a:prstGeom prst="roundRect">
            <a:avLst>
              <a:gd name="adj" fmla="val 2388"/>
            </a:avLst>
          </a:prstGeom>
          <a:solidFill>
            <a:srgbClr val="111A2F"/>
          </a:solidFill>
          <a:ln w="12700">
            <a:solidFill>
              <a:srgbClr val="2A3E68"/>
            </a:solidFill>
            <a:prstDash val="solid"/>
          </a:ln>
        </p:spPr>
      </p:sp>
      <p:sp>
        <p:nvSpPr>
          <p:cNvPr id="17" name="Text 15"/>
          <p:cNvSpPr/>
          <p:nvPr/>
        </p:nvSpPr>
        <p:spPr>
          <a:xfrm>
            <a:off x="8302752" y="1554480"/>
            <a:ext cx="3108960" cy="320040"/>
          </a:xfrm>
          <a:prstGeom prst="rect">
            <a:avLst/>
          </a:prstGeom>
          <a:noFill/>
          <a:ln/>
        </p:spPr>
        <p:txBody>
          <a:bodyPr wrap="square" lIns="0" tIns="0" rIns="0" bIns="0" rtlCol="0" anchor="t"/>
          <a:lstStyle/>
          <a:p>
            <a:pPr marL="0" indent="0">
              <a:buNone/>
            </a:pPr>
            <a:r>
              <a:rPr lang="en-US" sz="1800" b="1" dirty="0">
                <a:solidFill>
                  <a:srgbClr val="FBBF24"/>
                </a:solidFill>
                <a:latin typeface="Consolas" pitchFamily="34" charset="0"/>
                <a:ea typeface="Consolas" pitchFamily="34" charset="-122"/>
                <a:cs typeface="Consolas" pitchFamily="34" charset="-120"/>
              </a:rPr>
              <a:t>Argon2id</a:t>
            </a:r>
            <a:endParaRPr lang="en-US" sz="1800" dirty="0"/>
          </a:p>
        </p:txBody>
      </p:sp>
      <p:sp>
        <p:nvSpPr>
          <p:cNvPr id="18" name="Shape 16"/>
          <p:cNvSpPr/>
          <p:nvPr/>
        </p:nvSpPr>
        <p:spPr>
          <a:xfrm>
            <a:off x="8257032" y="1965960"/>
            <a:ext cx="3200400" cy="1051560"/>
          </a:xfrm>
          <a:prstGeom prst="roundRect">
            <a:avLst>
              <a:gd name="adj" fmla="val 5217"/>
            </a:avLst>
          </a:prstGeom>
          <a:solidFill>
            <a:srgbClr val="070B14"/>
          </a:solidFill>
          <a:ln w="12700">
            <a:solidFill>
              <a:srgbClr val="2A3E68"/>
            </a:solidFill>
            <a:prstDash val="solid"/>
          </a:ln>
        </p:spPr>
      </p:sp>
      <p:sp>
        <p:nvSpPr>
          <p:cNvPr id="19" name="Text 17"/>
          <p:cNvSpPr/>
          <p:nvPr/>
        </p:nvSpPr>
        <p:spPr>
          <a:xfrm>
            <a:off x="8348472" y="2029968"/>
            <a:ext cx="3063240" cy="914400"/>
          </a:xfrm>
          <a:prstGeom prst="rect">
            <a:avLst/>
          </a:prstGeom>
          <a:noFill/>
          <a:ln/>
        </p:spPr>
        <p:txBody>
          <a:bodyPr wrap="square" lIns="0" tIns="0" rIns="0" bIns="0" rtlCol="0" anchor="ctr"/>
          <a:lstStyle/>
          <a:p>
            <a:pPr marL="0" indent="0">
              <a:spcAft>
                <a:spcPts val="100"/>
              </a:spcAft>
              <a:buNone/>
            </a:pPr>
            <a:r>
              <a:rPr lang="en-US" sz="1200">
                <a:solidFill>
                  <a:srgbClr val="FBBF24"/>
                </a:solidFill>
                <a:latin typeface="Consolas" pitchFamily="34" charset="0"/>
                <a:ea typeface="Consolas" pitchFamily="34" charset="-122"/>
                <a:cs typeface="Consolas" pitchFamily="34" charset="-120"/>
              </a:rPr>
              <a:t>fill 19 MiB </a:t>
            </a:r>
            <a:r>
              <a:rPr lang="en-US" sz="1200" dirty="0">
                <a:solidFill>
                  <a:srgbClr val="FBBF24"/>
                </a:solidFill>
                <a:latin typeface="Consolas" pitchFamily="34" charset="0"/>
                <a:ea typeface="Consolas" pitchFamily="34" charset="-122"/>
                <a:cs typeface="Consolas" pitchFamily="34" charset="-120"/>
              </a:rPr>
              <a:t>of memory</a:t>
            </a:r>
            <a:endParaRPr lang="en-US" sz="1200" dirty="0"/>
          </a:p>
          <a:p>
            <a:pPr marL="0" indent="0">
              <a:spcAft>
                <a:spcPts val="100"/>
              </a:spcAft>
              <a:buNone/>
            </a:pPr>
            <a:r>
              <a:rPr lang="en-US" sz="1200">
                <a:solidFill>
                  <a:srgbClr val="FBBF24"/>
                </a:solidFill>
                <a:latin typeface="Consolas" pitchFamily="34" charset="0"/>
                <a:ea typeface="Consolas" pitchFamily="34" charset="-122"/>
                <a:cs typeface="Consolas" pitchFamily="34" charset="-120"/>
              </a:rPr>
              <a:t>each block depends on</a:t>
            </a:r>
            <a:endParaRPr lang="en-US" sz="1200"/>
          </a:p>
          <a:p>
            <a:pPr marL="0" indent="0">
              <a:spcAft>
                <a:spcPts val="100"/>
              </a:spcAft>
              <a:buNone/>
            </a:pPr>
            <a:r>
              <a:rPr lang="en-US" sz="1200">
                <a:solidFill>
                  <a:srgbClr val="FBBF24"/>
                </a:solidFill>
                <a:latin typeface="Consolas" pitchFamily="34" charset="0"/>
                <a:ea typeface="Consolas" pitchFamily="34" charset="-122"/>
                <a:cs typeface="Consolas" pitchFamily="34" charset="-120"/>
              </a:rPr>
              <a:t>earlier blocks</a:t>
            </a:r>
            <a:endParaRPr lang="en-US" sz="1200" dirty="0"/>
          </a:p>
          <a:p>
            <a:pPr marL="0" indent="0">
              <a:spcAft>
                <a:spcPts val="100"/>
              </a:spcAft>
              <a:buNone/>
            </a:pPr>
            <a:r>
              <a:rPr lang="en-US" sz="1200">
                <a:solidFill>
                  <a:srgbClr val="FBBF24"/>
                </a:solidFill>
                <a:latin typeface="Consolas" pitchFamily="34" charset="0"/>
                <a:ea typeface="Consolas" pitchFamily="34" charset="-122"/>
                <a:cs typeface="Consolas" pitchFamily="34" charset="-120"/>
              </a:rPr>
              <a:t>make </a:t>
            </a:r>
            <a:r>
              <a:rPr lang="en-US" sz="1200" dirty="0">
                <a:solidFill>
                  <a:srgbClr val="FBBF24"/>
                </a:solidFill>
                <a:latin typeface="Consolas" pitchFamily="34" charset="0"/>
                <a:ea typeface="Consolas" pitchFamily="34" charset="-122"/>
                <a:cs typeface="Consolas" pitchFamily="34" charset="-120"/>
              </a:rPr>
              <a:t>t passes over </a:t>
            </a:r>
            <a:r>
              <a:rPr lang="en-US" sz="1200">
                <a:solidFill>
                  <a:srgbClr val="FBBF24"/>
                </a:solidFill>
                <a:latin typeface="Consolas" pitchFamily="34" charset="0"/>
                <a:ea typeface="Consolas" pitchFamily="34" charset="-122"/>
                <a:cs typeface="Consolas" pitchFamily="34" charset="-120"/>
              </a:rPr>
              <a:t>it</a:t>
            </a:r>
            <a:endParaRPr lang="en-US" sz="1200" dirty="0"/>
          </a:p>
        </p:txBody>
      </p:sp>
      <p:sp>
        <p:nvSpPr>
          <p:cNvPr id="20" name="Text 18"/>
          <p:cNvSpPr/>
          <p:nvPr/>
        </p:nvSpPr>
        <p:spPr>
          <a:xfrm>
            <a:off x="8302752" y="3154680"/>
            <a:ext cx="3108960" cy="123444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Needs lots of memory for every guess</a:t>
            </a:r>
            <a:r>
              <a:rPr lang="en-US" sz="1300" dirty="0">
                <a:solidFill>
                  <a:srgbClr val="F1F5F9"/>
                </a:solidFill>
                <a:latin typeface="Calibri" pitchFamily="34" charset="0"/>
                <a:ea typeface="Calibri" pitchFamily="34" charset="-122"/>
                <a:cs typeface="Calibri" pitchFamily="34" charset="-120"/>
              </a:rPr>
              <a:t>, so </a:t>
            </a:r>
            <a:r>
              <a:rPr lang="en-US" sz="1300">
                <a:solidFill>
                  <a:srgbClr val="F1F5F9"/>
                </a:solidFill>
                <a:latin typeface="Calibri" pitchFamily="34" charset="0"/>
                <a:ea typeface="Calibri" pitchFamily="34" charset="-122"/>
                <a:cs typeface="Calibri" pitchFamily="34" charset="-120"/>
              </a:rPr>
              <a:t>graphics cards </a:t>
            </a:r>
            <a:r>
              <a:rPr lang="en-US" sz="1300" dirty="0">
                <a:solidFill>
                  <a:srgbClr val="F1F5F9"/>
                </a:solidFill>
                <a:latin typeface="Calibri" pitchFamily="34" charset="0"/>
                <a:ea typeface="Calibri" pitchFamily="34" charset="-122"/>
                <a:cs typeface="Calibri" pitchFamily="34" charset="-120"/>
              </a:rPr>
              <a:t>and </a:t>
            </a:r>
            <a:r>
              <a:rPr lang="en-US" sz="1300">
                <a:solidFill>
                  <a:srgbClr val="F1F5F9"/>
                </a:solidFill>
                <a:latin typeface="Calibri" pitchFamily="34" charset="0"/>
                <a:ea typeface="Calibri" pitchFamily="34" charset="-122"/>
                <a:cs typeface="Calibri" pitchFamily="34" charset="-120"/>
              </a:rPr>
              <a:t>custom chips cannot try millions at once</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548640" y="4663440"/>
            <a:ext cx="11091672" cy="1463040"/>
          </a:xfrm>
          <a:prstGeom prst="roundRect">
            <a:avLst>
              <a:gd name="adj" fmla="val 5000"/>
            </a:avLst>
          </a:prstGeom>
          <a:solidFill>
            <a:srgbClr val="172544"/>
          </a:solidFill>
          <a:ln w="12700">
            <a:solidFill>
              <a:srgbClr val="2A3E68"/>
            </a:solidFill>
            <a:prstDash val="solid"/>
          </a:ln>
        </p:spPr>
      </p:sp>
      <p:sp>
        <p:nvSpPr>
          <p:cNvPr id="22" name="Text 20"/>
          <p:cNvSpPr/>
          <p:nvPr/>
        </p:nvSpPr>
        <p:spPr>
          <a:xfrm>
            <a:off x="822960" y="4754880"/>
            <a:ext cx="7315200" cy="274320"/>
          </a:xfrm>
          <a:prstGeom prst="rect">
            <a:avLst/>
          </a:prstGeom>
          <a:noFill/>
          <a:ln/>
        </p:spPr>
        <p:txBody>
          <a:bodyPr wrap="square" lIns="0" tIns="0" rIns="0" bIns="0" rtlCol="0" anchor="t"/>
          <a:lstStyle/>
          <a:p>
            <a:pPr marL="0" indent="0">
              <a:buNone/>
            </a:pPr>
            <a:r>
              <a:rPr lang="en-US" sz="1300" b="1">
                <a:solidFill>
                  <a:srgbClr val="22D3EE"/>
                </a:solidFill>
                <a:latin typeface="Consolas" pitchFamily="34" charset="0"/>
                <a:ea typeface="Consolas" pitchFamily="34" charset="-122"/>
                <a:cs typeface="Consolas" pitchFamily="34" charset="-120"/>
              </a:rPr>
              <a:t>Example</a:t>
            </a:r>
            <a:r>
              <a:rPr lang="en-US" sz="1300" b="1" dirty="0">
                <a:solidFill>
                  <a:srgbClr val="22D3EE"/>
                </a:solidFill>
                <a:latin typeface="Consolas" pitchFamily="34" charset="0"/>
                <a:ea typeface="Consolas" pitchFamily="34" charset="-122"/>
                <a:cs typeface="Consolas" pitchFamily="34" charset="-120"/>
              </a:rPr>
              <a:t>: </a:t>
            </a:r>
            <a:r>
              <a:rPr lang="en-US" sz="1300" b="1">
                <a:solidFill>
                  <a:srgbClr val="22D3EE"/>
                </a:solidFill>
                <a:latin typeface="Consolas" pitchFamily="34" charset="0"/>
                <a:ea typeface="Consolas" pitchFamily="34" charset="-122"/>
                <a:cs typeface="Consolas" pitchFamily="34" charset="-120"/>
              </a:rPr>
              <a:t>cracking an 8-character password (</a:t>
            </a:r>
            <a:r>
              <a:rPr lang="en-US" sz="1300" b="1" dirty="0">
                <a:solidFill>
                  <a:srgbClr val="22D3EE"/>
                </a:solidFill>
                <a:latin typeface="Consolas" pitchFamily="34" charset="0"/>
                <a:ea typeface="Consolas" pitchFamily="34" charset="-122"/>
                <a:cs typeface="Consolas" pitchFamily="34" charset="-120"/>
              </a:rPr>
              <a:t>lowercase + digits</a:t>
            </a:r>
            <a:r>
              <a:rPr lang="en-US" sz="1300" b="1">
                <a:solidFill>
                  <a:srgbClr val="22D3EE"/>
                </a:solidFill>
                <a:latin typeface="Consolas" pitchFamily="34" charset="0"/>
                <a:ea typeface="Consolas" pitchFamily="34" charset="-122"/>
                <a:cs typeface="Consolas" pitchFamily="34" charset="-120"/>
              </a:rPr>
              <a:t>)</a:t>
            </a:r>
            <a:endParaRPr lang="en-US" sz="1300" dirty="0"/>
          </a:p>
        </p:txBody>
      </p:sp>
      <p:sp>
        <p:nvSpPr>
          <p:cNvPr id="23" name="Text 21"/>
          <p:cNvSpPr/>
          <p:nvPr/>
        </p:nvSpPr>
        <p:spPr>
          <a:xfrm>
            <a:off x="822960" y="5120640"/>
            <a:ext cx="3474720" cy="457200"/>
          </a:xfrm>
          <a:prstGeom prst="rect">
            <a:avLst/>
          </a:prstGeom>
          <a:noFill/>
          <a:ln/>
        </p:spPr>
        <p:txBody>
          <a:bodyPr wrap="square" lIns="0" tIns="0" rIns="0" bIns="0" rtlCol="0" anchor="t"/>
          <a:lstStyle/>
          <a:p>
            <a:pPr marL="0" indent="0">
              <a:buNone/>
            </a:pPr>
            <a:r>
              <a:rPr lang="en-US" sz="2200" b="1" dirty="0">
                <a:solidFill>
                  <a:srgbClr val="F1F5F9"/>
                </a:solidFill>
                <a:latin typeface="Consolas" pitchFamily="34" charset="0"/>
                <a:ea typeface="Consolas" pitchFamily="34" charset="-122"/>
                <a:cs typeface="Consolas" pitchFamily="34" charset="-120"/>
              </a:rPr>
              <a:t>2.8 </a:t>
            </a:r>
            <a:r>
              <a:rPr lang="en-US" sz="2200" b="1">
                <a:solidFill>
                  <a:srgbClr val="F1F5F9"/>
                </a:solidFill>
                <a:latin typeface="Consolas" pitchFamily="34" charset="0"/>
                <a:ea typeface="Consolas" pitchFamily="34" charset="-122"/>
                <a:cs typeface="Consolas" pitchFamily="34" charset="-120"/>
              </a:rPr>
              <a:t>trillion</a:t>
            </a:r>
            <a:endParaRPr lang="en-US" sz="2200" dirty="0"/>
          </a:p>
        </p:txBody>
      </p:sp>
      <p:sp>
        <p:nvSpPr>
          <p:cNvPr id="24" name="Text 22"/>
          <p:cNvSpPr/>
          <p:nvPr/>
        </p:nvSpPr>
        <p:spPr>
          <a:xfrm>
            <a:off x="822960" y="5623560"/>
            <a:ext cx="3383280" cy="365760"/>
          </a:xfrm>
          <a:prstGeom prst="rect">
            <a:avLst/>
          </a:prstGeom>
          <a:noFill/>
          <a:ln/>
        </p:spPr>
        <p:txBody>
          <a:bodyPr wrap="square" lIns="0" tIns="0" rIns="0" bIns="0" rtlCol="0" anchor="t"/>
          <a:lstStyle/>
          <a:p>
            <a:pPr marL="0" indent="0">
              <a:buNone/>
            </a:pPr>
            <a:r>
              <a:rPr lang="en-US" sz="1300">
                <a:solidFill>
                  <a:srgbClr val="9FB0CC"/>
                </a:solidFill>
                <a:latin typeface="Calibri" pitchFamily="34" charset="0"/>
                <a:ea typeface="Calibri" pitchFamily="34" charset="-122"/>
                <a:cs typeface="Calibri" pitchFamily="34" charset="-120"/>
              </a:rPr>
              <a:t>possible passwords </a:t>
            </a:r>
            <a:r>
              <a:rPr lang="en-US" sz="1300" dirty="0">
                <a:solidFill>
                  <a:srgbClr val="9FB0CC"/>
                </a:solidFill>
                <a:latin typeface="Calibri" pitchFamily="34" charset="0"/>
                <a:ea typeface="Calibri" pitchFamily="34" charset="-122"/>
                <a:cs typeface="Calibri" pitchFamily="34" charset="-120"/>
              </a:rPr>
              <a:t>to </a:t>
            </a:r>
            <a:r>
              <a:rPr lang="en-US" sz="1300">
                <a:solidFill>
                  <a:srgbClr val="9FB0CC"/>
                </a:solidFill>
                <a:latin typeface="Calibri" pitchFamily="34" charset="0"/>
                <a:ea typeface="Calibri" pitchFamily="34" charset="-122"/>
                <a:cs typeface="Calibri" pitchFamily="34" charset="-120"/>
              </a:rPr>
              <a:t>try</a:t>
            </a:r>
            <a:endParaRPr lang="en-US" sz="1300" dirty="0"/>
          </a:p>
        </p:txBody>
      </p:sp>
      <p:sp>
        <p:nvSpPr>
          <p:cNvPr id="25" name="Text 23"/>
          <p:cNvSpPr/>
          <p:nvPr/>
        </p:nvSpPr>
        <p:spPr>
          <a:xfrm>
            <a:off x="4434840" y="5120640"/>
            <a:ext cx="3474720" cy="457200"/>
          </a:xfrm>
          <a:prstGeom prst="rect">
            <a:avLst/>
          </a:prstGeom>
          <a:noFill/>
          <a:ln/>
        </p:spPr>
        <p:txBody>
          <a:bodyPr wrap="square" lIns="0" tIns="0" rIns="0" bIns="0" rtlCol="0" anchor="t"/>
          <a:lstStyle/>
          <a:p>
            <a:pPr marL="0" indent="0">
              <a:buNone/>
            </a:pPr>
            <a:r>
              <a:rPr lang="en-US" sz="2200" b="1" dirty="0">
                <a:solidFill>
                  <a:srgbClr val="F87171"/>
                </a:solidFill>
                <a:latin typeface="Consolas" pitchFamily="34" charset="0"/>
                <a:ea typeface="Consolas" pitchFamily="34" charset="-122"/>
                <a:cs typeface="Consolas" pitchFamily="34" charset="-120"/>
              </a:rPr>
              <a:t>~5 minutes</a:t>
            </a:r>
            <a:endParaRPr lang="en-US" sz="2200" dirty="0"/>
          </a:p>
        </p:txBody>
      </p:sp>
      <p:sp>
        <p:nvSpPr>
          <p:cNvPr id="26" name="Text 24"/>
          <p:cNvSpPr/>
          <p:nvPr/>
        </p:nvSpPr>
        <p:spPr>
          <a:xfrm>
            <a:off x="4434840" y="5623560"/>
            <a:ext cx="3383280" cy="36576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fast hash</a:t>
            </a:r>
            <a:r>
              <a:rPr lang="en-US" sz="1300">
                <a:solidFill>
                  <a:srgbClr val="9FB0CC"/>
                </a:solidFill>
                <a:latin typeface="Calibri" pitchFamily="34" charset="0"/>
                <a:ea typeface="Calibri" pitchFamily="34" charset="-122"/>
                <a:cs typeface="Calibri" pitchFamily="34" charset="-120"/>
              </a:rPr>
              <a:t>: 10 billion</a:t>
            </a:r>
            <a:r>
              <a:rPr lang="en-US" sz="1300" dirty="0">
                <a:solidFill>
                  <a:srgbClr val="9FB0CC"/>
                </a:solidFill>
                <a:latin typeface="Calibri" pitchFamily="34" charset="0"/>
                <a:ea typeface="Calibri" pitchFamily="34" charset="-122"/>
                <a:cs typeface="Calibri" pitchFamily="34" charset="-120"/>
              </a:rPr>
              <a:t> guesses</a:t>
            </a:r>
            <a:r>
              <a:rPr lang="en-US" sz="1300">
                <a:solidFill>
                  <a:srgbClr val="9FB0CC"/>
                </a:solidFill>
                <a:latin typeface="Calibri" pitchFamily="34" charset="0"/>
                <a:ea typeface="Calibri" pitchFamily="34" charset="-122"/>
                <a:cs typeface="Calibri" pitchFamily="34" charset="-120"/>
              </a:rPr>
              <a:t> per second</a:t>
            </a:r>
            <a:endParaRPr lang="en-US" sz="1300" dirty="0"/>
          </a:p>
        </p:txBody>
      </p:sp>
      <p:sp>
        <p:nvSpPr>
          <p:cNvPr id="27" name="Text 25"/>
          <p:cNvSpPr/>
          <p:nvPr/>
        </p:nvSpPr>
        <p:spPr>
          <a:xfrm>
            <a:off x="8046720" y="5120640"/>
            <a:ext cx="3474720" cy="457200"/>
          </a:xfrm>
          <a:prstGeom prst="rect">
            <a:avLst/>
          </a:prstGeom>
          <a:noFill/>
          <a:ln/>
        </p:spPr>
        <p:txBody>
          <a:bodyPr wrap="square" lIns="0" tIns="0" rIns="0" bIns="0" rtlCol="0" anchor="t"/>
          <a:lstStyle/>
          <a:p>
            <a:pPr marL="0" indent="0">
              <a:buNone/>
            </a:pPr>
            <a:r>
              <a:rPr lang="en-US" sz="2200" b="1" dirty="0">
                <a:solidFill>
                  <a:srgbClr val="4ADE80"/>
                </a:solidFill>
                <a:latin typeface="Consolas" pitchFamily="34" charset="0"/>
                <a:ea typeface="Consolas" pitchFamily="34" charset="-122"/>
                <a:cs typeface="Consolas" pitchFamily="34" charset="-120"/>
              </a:rPr>
              <a:t>~9 years</a:t>
            </a:r>
            <a:endParaRPr lang="en-US" sz="2200" dirty="0"/>
          </a:p>
        </p:txBody>
      </p:sp>
      <p:sp>
        <p:nvSpPr>
          <p:cNvPr id="28" name="Text 26"/>
          <p:cNvSpPr/>
          <p:nvPr/>
        </p:nvSpPr>
        <p:spPr>
          <a:xfrm>
            <a:off x="8046720" y="5623560"/>
            <a:ext cx="3383280" cy="36576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tuned Argon2id</a:t>
            </a:r>
            <a:r>
              <a:rPr lang="en-US" sz="1300">
                <a:solidFill>
                  <a:srgbClr val="9FB0CC"/>
                </a:solidFill>
                <a:latin typeface="Calibri" pitchFamily="34" charset="0"/>
                <a:ea typeface="Calibri" pitchFamily="34" charset="-122"/>
                <a:cs typeface="Calibri" pitchFamily="34" charset="-120"/>
              </a:rPr>
              <a:t>: 10,000</a:t>
            </a:r>
            <a:r>
              <a:rPr lang="en-US" sz="1300" dirty="0">
                <a:solidFill>
                  <a:srgbClr val="9FB0CC"/>
                </a:solidFill>
                <a:latin typeface="Calibri" pitchFamily="34" charset="0"/>
                <a:ea typeface="Calibri" pitchFamily="34" charset="-122"/>
                <a:cs typeface="Calibri" pitchFamily="34" charset="-120"/>
              </a:rPr>
              <a:t> guesses</a:t>
            </a:r>
            <a:r>
              <a:rPr lang="en-US" sz="1300">
                <a:solidFill>
                  <a:srgbClr val="9FB0CC"/>
                </a:solidFill>
                <a:latin typeface="Calibri" pitchFamily="34" charset="0"/>
                <a:ea typeface="Calibri" pitchFamily="34" charset="-122"/>
                <a:cs typeface="Calibri" pitchFamily="34" charset="-120"/>
              </a:rPr>
              <a:t> per second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CHECKPOINT 2  ·  5 MIN</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Pause and discuss</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16</a:t>
            </a:r>
            <a:endParaRPr lang="en-US" sz="1000"/>
          </a:p>
        </p:txBody>
      </p:sp>
      <p:sp>
        <p:nvSpPr>
          <p:cNvPr id="6" name="Rounded Rectangle 5"/>
          <p:cNvSpPr/>
          <p:nvPr/>
        </p:nvSpPr>
        <p:spPr>
          <a:xfrm>
            <a:off x="548640" y="1417320"/>
            <a:ext cx="3291840" cy="475488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con-chat-help-cc840707.png"/>
          <p:cNvPicPr>
            <a:picLocks noChangeAspect="1"/>
          </p:cNvPicPr>
          <p:nvPr/>
        </p:nvPicPr>
        <p:blipFill>
          <a:blip r:embed="rId3"/>
          <a:stretch>
            <a:fillRect/>
          </a:stretch>
        </p:blipFill>
        <p:spPr>
          <a:xfrm>
            <a:off x="822960" y="1691640"/>
            <a:ext cx="822960" cy="822960"/>
          </a:xfrm>
          <a:prstGeom prst="rect">
            <a:avLst/>
          </a:prstGeom>
        </p:spPr>
      </p:pic>
      <p:sp>
        <p:nvSpPr>
          <p:cNvPr id="8" name="TextBox 7"/>
          <p:cNvSpPr txBox="1"/>
          <p:nvPr/>
        </p:nvSpPr>
        <p:spPr>
          <a:xfrm>
            <a:off x="822960" y="2743200"/>
            <a:ext cx="2743200" cy="274320"/>
          </a:xfrm>
          <a:prstGeom prst="rect">
            <a:avLst/>
          </a:prstGeom>
          <a:noFill/>
        </p:spPr>
        <p:txBody>
          <a:bodyPr wrap="square" lIns="0" tIns="0" rIns="0" bIns="0" anchor="t">
            <a:spAutoFit/>
          </a:bodyPr>
          <a:lstStyle/>
          <a:p>
            <a:pPr algn="l"/>
            <a:r>
              <a:rPr sz="1400" b="1" i="0">
                <a:solidFill>
                  <a:srgbClr val="FBBF24"/>
                </a:solidFill>
                <a:latin typeface="Consolas"/>
              </a:rPr>
              <a:t>CHECKPOINT 2</a:t>
            </a:r>
          </a:p>
        </p:txBody>
      </p:sp>
      <p:sp>
        <p:nvSpPr>
          <p:cNvPr id="9" name="TextBox 8"/>
          <p:cNvSpPr txBox="1"/>
          <p:nvPr/>
        </p:nvSpPr>
        <p:spPr>
          <a:xfrm>
            <a:off x="822960" y="3108960"/>
            <a:ext cx="2743200" cy="548640"/>
          </a:xfrm>
          <a:prstGeom prst="rect">
            <a:avLst/>
          </a:prstGeom>
          <a:noFill/>
        </p:spPr>
        <p:txBody>
          <a:bodyPr wrap="square" lIns="0" tIns="0" rIns="0" bIns="0" anchor="t">
            <a:spAutoFit/>
          </a:bodyPr>
          <a:lstStyle/>
          <a:p>
            <a:pPr algn="l"/>
            <a:r>
              <a:rPr sz="2600" b="1" i="0">
                <a:solidFill>
                  <a:srgbClr val="F1F5F9"/>
                </a:solidFill>
                <a:latin typeface="Consolas"/>
              </a:rPr>
              <a:t>5 minutes</a:t>
            </a:r>
          </a:p>
        </p:txBody>
      </p:sp>
      <p:sp>
        <p:nvSpPr>
          <p:cNvPr id="10" name="TextBox 9"/>
          <p:cNvSpPr txBox="1"/>
          <p:nvPr/>
        </p:nvSpPr>
        <p:spPr>
          <a:xfrm>
            <a:off x="822960" y="3840480"/>
            <a:ext cx="2743200" cy="2103120"/>
          </a:xfrm>
          <a:prstGeom prst="rect">
            <a:avLst/>
          </a:prstGeom>
          <a:noFill/>
        </p:spPr>
        <p:txBody>
          <a:bodyPr wrap="square" lIns="0" tIns="0" rIns="0" bIns="0" anchor="t">
            <a:spAutoFit/>
          </a:bodyPr>
          <a:lstStyle/>
          <a:p>
            <a:pPr algn="l"/>
            <a:r>
              <a:rPr sz="1400" b="0" i="0">
                <a:solidFill>
                  <a:srgbClr val="9FB0CC"/>
                </a:solidFill>
                <a:latin typeface="Calibri"/>
              </a:rPr>
              <a:t>Talk with a neighbour for a couple of minutes, then we share answers. Guesses are welcome: there are no wrong answers yet.</a:t>
            </a:r>
          </a:p>
        </p:txBody>
      </p:sp>
      <p:sp>
        <p:nvSpPr>
          <p:cNvPr id="11" name="Rounded Rectangle 10"/>
          <p:cNvSpPr/>
          <p:nvPr/>
        </p:nvSpPr>
        <p:spPr>
          <a:xfrm>
            <a:off x="4023360" y="141732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51960" y="164592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51960" y="164592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1</a:t>
            </a:r>
          </a:p>
        </p:txBody>
      </p:sp>
      <p:sp>
        <p:nvSpPr>
          <p:cNvPr id="14" name="TextBox 13"/>
          <p:cNvSpPr txBox="1"/>
          <p:nvPr/>
        </p:nvSpPr>
        <p:spPr>
          <a:xfrm>
            <a:off x="4983480" y="1600200"/>
            <a:ext cx="6400800" cy="777240"/>
          </a:xfrm>
          <a:prstGeom prst="rect">
            <a:avLst/>
          </a:prstGeom>
          <a:noFill/>
        </p:spPr>
        <p:txBody>
          <a:bodyPr wrap="square" lIns="0" tIns="0" rIns="0" bIns="0" anchor="t">
            <a:spAutoFit/>
          </a:bodyPr>
          <a:lstStyle/>
          <a:p>
            <a:pPr algn="l"/>
            <a:r>
              <a:rPr sz="1800" b="0" i="0">
                <a:solidFill>
                  <a:srgbClr val="F1F5F9"/>
                </a:solidFill>
                <a:latin typeface="Calibri"/>
              </a:rPr>
              <a:t>Two users have the same unsalted password hash. What does an attacker learn?</a:t>
            </a:r>
          </a:p>
        </p:txBody>
      </p:sp>
      <p:sp>
        <p:nvSpPr>
          <p:cNvPr id="15" name="TextBox 14"/>
          <p:cNvSpPr txBox="1"/>
          <p:nvPr/>
        </p:nvSpPr>
        <p:spPr>
          <a:xfrm>
            <a:off x="4983480" y="242316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cracking one hash cracks both, and rainbow tables work.</a:t>
            </a:r>
          </a:p>
        </p:txBody>
      </p:sp>
      <p:sp>
        <p:nvSpPr>
          <p:cNvPr id="16" name="Rounded Rectangle 15"/>
          <p:cNvSpPr/>
          <p:nvPr/>
        </p:nvSpPr>
        <p:spPr>
          <a:xfrm>
            <a:off x="4023360" y="306324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51960" y="329184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329184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2</a:t>
            </a:r>
          </a:p>
        </p:txBody>
      </p:sp>
      <p:sp>
        <p:nvSpPr>
          <p:cNvPr id="19" name="TextBox 18"/>
          <p:cNvSpPr txBox="1"/>
          <p:nvPr/>
        </p:nvSpPr>
        <p:spPr>
          <a:xfrm>
            <a:off x="4983480" y="3246120"/>
            <a:ext cx="6400800" cy="777240"/>
          </a:xfrm>
          <a:prstGeom prst="rect">
            <a:avLst/>
          </a:prstGeom>
          <a:noFill/>
        </p:spPr>
        <p:txBody>
          <a:bodyPr wrap="square" lIns="0" tIns="0" rIns="0" bIns="0" anchor="t">
            <a:spAutoFit/>
          </a:bodyPr>
          <a:lstStyle/>
          <a:p>
            <a:pPr algn="l"/>
            <a:r>
              <a:rPr sz="1800" b="0" i="0">
                <a:solidFill>
                  <a:srgbClr val="F1F5F9"/>
                </a:solidFill>
                <a:latin typeface="Calibri"/>
              </a:rPr>
              <a:t>Why is a slow hash good for storing passwords, but bad for checking a big file download?</a:t>
            </a:r>
          </a:p>
        </p:txBody>
      </p:sp>
      <p:sp>
        <p:nvSpPr>
          <p:cNvPr id="20" name="TextBox 19"/>
          <p:cNvSpPr txBox="1"/>
          <p:nvPr/>
        </p:nvSpPr>
        <p:spPr>
          <a:xfrm>
            <a:off x="4983480" y="406908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count the hashes an attacker needs versus an honest user.</a:t>
            </a:r>
          </a:p>
        </p:txBody>
      </p:sp>
      <p:sp>
        <p:nvSpPr>
          <p:cNvPr id="21" name="Rounded Rectangle 20"/>
          <p:cNvSpPr/>
          <p:nvPr/>
        </p:nvSpPr>
        <p:spPr>
          <a:xfrm>
            <a:off x="4023360" y="470916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251960" y="493776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51960" y="493776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3</a:t>
            </a:r>
          </a:p>
        </p:txBody>
      </p:sp>
      <p:sp>
        <p:nvSpPr>
          <p:cNvPr id="24" name="TextBox 23"/>
          <p:cNvSpPr txBox="1"/>
          <p:nvPr/>
        </p:nvSpPr>
        <p:spPr>
          <a:xfrm>
            <a:off x="4983480" y="4892040"/>
            <a:ext cx="6400800" cy="777240"/>
          </a:xfrm>
          <a:prstGeom prst="rect">
            <a:avLst/>
          </a:prstGeom>
          <a:noFill/>
        </p:spPr>
        <p:txBody>
          <a:bodyPr wrap="square" lIns="0" tIns="0" rIns="0" bIns="0" anchor="t">
            <a:spAutoFit/>
          </a:bodyPr>
          <a:lstStyle/>
          <a:p>
            <a:pPr algn="l"/>
            <a:r>
              <a:rPr sz="1800" b="0" i="0">
                <a:solidFill>
                  <a:srgbClr val="F1F5F9"/>
                </a:solidFill>
                <a:latin typeface="Calibri"/>
              </a:rPr>
              <a:t>Your database leaks, but the pepper stays safe in a vault. What is still protected?</a:t>
            </a:r>
          </a:p>
        </p:txBody>
      </p:sp>
      <p:sp>
        <p:nvSpPr>
          <p:cNvPr id="25" name="TextBox 24"/>
          <p:cNvSpPr txBox="1"/>
          <p:nvPr/>
        </p:nvSpPr>
        <p:spPr>
          <a:xfrm>
            <a:off x="4983480" y="571500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the attacker has the salts and hashes, but not one ingredient.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ENCRYPTION 01</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How encryption works</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17</a:t>
            </a:r>
            <a:endParaRPr lang="en-US" sz="1000" dirty="0"/>
          </a:p>
        </p:txBody>
      </p:sp>
      <p:sp>
        <p:nvSpPr>
          <p:cNvPr id="6" name="Shape 4"/>
          <p:cNvSpPr/>
          <p:nvPr/>
        </p:nvSpPr>
        <p:spPr>
          <a:xfrm>
            <a:off x="658368" y="2057400"/>
            <a:ext cx="1737360" cy="777240"/>
          </a:xfrm>
          <a:prstGeom prst="roundRect">
            <a:avLst>
              <a:gd name="adj" fmla="val 9412"/>
            </a:avLst>
          </a:prstGeom>
          <a:solidFill>
            <a:srgbClr val="172544"/>
          </a:solidFill>
          <a:ln w="19050">
            <a:solidFill>
              <a:srgbClr val="4ADE80"/>
            </a:solidFill>
            <a:prstDash val="solid"/>
          </a:ln>
        </p:spPr>
      </p:sp>
      <p:sp>
        <p:nvSpPr>
          <p:cNvPr id="7" name="Text 5"/>
          <p:cNvSpPr/>
          <p:nvPr/>
        </p:nvSpPr>
        <p:spPr>
          <a:xfrm>
            <a:off x="658368" y="2057400"/>
            <a:ext cx="1737360" cy="777240"/>
          </a:xfrm>
          <a:prstGeom prst="rect">
            <a:avLst/>
          </a:prstGeom>
          <a:noFill/>
          <a:ln/>
        </p:spPr>
        <p:txBody>
          <a:bodyPr wrap="square" lIns="635" tIns="635" rIns="635" bIns="635" rtlCol="0" anchor="ctr"/>
          <a:lstStyle/>
          <a:p>
            <a:pPr marL="0" indent="0" algn="ctr">
              <a:buNone/>
            </a:pPr>
            <a:r>
              <a:rPr lang="en-US" sz="1400" b="1" dirty="0">
                <a:solidFill>
                  <a:srgbClr val="F1F5F9"/>
                </a:solidFill>
                <a:latin typeface="Consolas" pitchFamily="34" charset="0"/>
                <a:ea typeface="Consolas" pitchFamily="34" charset="-122"/>
                <a:cs typeface="Consolas" pitchFamily="34" charset="-120"/>
              </a:rPr>
              <a:t>plaintext</a:t>
            </a:r>
            <a:endParaRPr lang="en-US" sz="1400" dirty="0"/>
          </a:p>
        </p:txBody>
      </p:sp>
      <p:sp>
        <p:nvSpPr>
          <p:cNvPr id="8" name="Shape 6"/>
          <p:cNvSpPr/>
          <p:nvPr/>
        </p:nvSpPr>
        <p:spPr>
          <a:xfrm>
            <a:off x="2852928" y="2057400"/>
            <a:ext cx="1737360" cy="777240"/>
          </a:xfrm>
          <a:prstGeom prst="roundRect">
            <a:avLst>
              <a:gd name="adj" fmla="val 9412"/>
            </a:avLst>
          </a:prstGeom>
          <a:solidFill>
            <a:srgbClr val="172544"/>
          </a:solidFill>
          <a:ln w="19050">
            <a:solidFill>
              <a:srgbClr val="A78BFA"/>
            </a:solidFill>
            <a:prstDash val="solid"/>
          </a:ln>
        </p:spPr>
      </p:sp>
      <p:sp>
        <p:nvSpPr>
          <p:cNvPr id="9" name="Text 7"/>
          <p:cNvSpPr/>
          <p:nvPr/>
        </p:nvSpPr>
        <p:spPr>
          <a:xfrm>
            <a:off x="2852928" y="2057400"/>
            <a:ext cx="1737360" cy="777240"/>
          </a:xfrm>
          <a:prstGeom prst="rect">
            <a:avLst/>
          </a:prstGeom>
          <a:noFill/>
          <a:ln/>
        </p:spPr>
        <p:txBody>
          <a:bodyPr wrap="square" lIns="635" tIns="635" rIns="635" bIns="635" rtlCol="0" anchor="ctr"/>
          <a:lstStyle/>
          <a:p>
            <a:pPr marL="0" indent="0" algn="ctr">
              <a:buNone/>
            </a:pPr>
            <a:r>
              <a:rPr lang="en-US" sz="1400" b="1" dirty="0">
                <a:solidFill>
                  <a:srgbClr val="F1F5F9"/>
                </a:solidFill>
                <a:latin typeface="Consolas" pitchFamily="34" charset="0"/>
                <a:ea typeface="Consolas" pitchFamily="34" charset="-122"/>
                <a:cs typeface="Consolas" pitchFamily="34" charset="-120"/>
              </a:rPr>
              <a:t>Encrypt</a:t>
            </a:r>
            <a:endParaRPr lang="en-US" sz="1400" dirty="0"/>
          </a:p>
          <a:p>
            <a:pPr marL="0" indent="0" algn="ctr">
              <a:buNone/>
            </a:pPr>
            <a:r>
              <a:rPr lang="en-US" sz="1400" b="1">
                <a:solidFill>
                  <a:srgbClr val="F1F5F9"/>
                </a:solidFill>
                <a:latin typeface="Consolas" pitchFamily="34" charset="0"/>
                <a:ea typeface="Consolas" pitchFamily="34" charset="-122"/>
                <a:cs typeface="Consolas" pitchFamily="34" charset="-120"/>
              </a:rPr>
              <a:t>with key </a:t>
            </a:r>
            <a:r>
              <a:rPr lang="en-US" sz="1400" b="1" dirty="0">
                <a:solidFill>
                  <a:srgbClr val="F1F5F9"/>
                </a:solidFill>
                <a:latin typeface="Consolas" pitchFamily="34" charset="0"/>
                <a:ea typeface="Consolas" pitchFamily="34" charset="-122"/>
                <a:cs typeface="Consolas" pitchFamily="34" charset="-120"/>
              </a:rPr>
              <a:t>K</a:t>
            </a:r>
            <a:endParaRPr lang="en-US" sz="1400" dirty="0"/>
          </a:p>
        </p:txBody>
      </p:sp>
      <p:sp>
        <p:nvSpPr>
          <p:cNvPr id="10" name="Shape 8"/>
          <p:cNvSpPr/>
          <p:nvPr/>
        </p:nvSpPr>
        <p:spPr>
          <a:xfrm>
            <a:off x="5047488" y="2057400"/>
            <a:ext cx="1737360" cy="777240"/>
          </a:xfrm>
          <a:prstGeom prst="roundRect">
            <a:avLst>
              <a:gd name="adj" fmla="val 9412"/>
            </a:avLst>
          </a:prstGeom>
          <a:solidFill>
            <a:srgbClr val="172544"/>
          </a:solidFill>
          <a:ln w="19050">
            <a:solidFill>
              <a:srgbClr val="F87171"/>
            </a:solidFill>
            <a:prstDash val="solid"/>
          </a:ln>
        </p:spPr>
      </p:sp>
      <p:sp>
        <p:nvSpPr>
          <p:cNvPr id="11" name="Text 9"/>
          <p:cNvSpPr/>
          <p:nvPr/>
        </p:nvSpPr>
        <p:spPr>
          <a:xfrm>
            <a:off x="5047488" y="2057400"/>
            <a:ext cx="1737360" cy="777240"/>
          </a:xfrm>
          <a:prstGeom prst="rect">
            <a:avLst/>
          </a:prstGeom>
          <a:noFill/>
          <a:ln/>
        </p:spPr>
        <p:txBody>
          <a:bodyPr wrap="square" lIns="635" tIns="635" rIns="635" bIns="635" rtlCol="0" anchor="ctr"/>
          <a:lstStyle/>
          <a:p>
            <a:pPr marL="0" indent="0" algn="ctr">
              <a:buNone/>
            </a:pPr>
            <a:r>
              <a:rPr lang="en-US" sz="1400" b="1" dirty="0">
                <a:solidFill>
                  <a:srgbClr val="F1F5F9"/>
                </a:solidFill>
                <a:latin typeface="Consolas" pitchFamily="34" charset="0"/>
                <a:ea typeface="Consolas" pitchFamily="34" charset="-122"/>
                <a:cs typeface="Consolas" pitchFamily="34" charset="-120"/>
              </a:rPr>
              <a:t>ciphertext</a:t>
            </a:r>
            <a:endParaRPr lang="en-US" sz="1400" dirty="0"/>
          </a:p>
        </p:txBody>
      </p:sp>
      <p:sp>
        <p:nvSpPr>
          <p:cNvPr id="12" name="Shape 10"/>
          <p:cNvSpPr/>
          <p:nvPr/>
        </p:nvSpPr>
        <p:spPr>
          <a:xfrm>
            <a:off x="7242048" y="2057400"/>
            <a:ext cx="1737360" cy="777240"/>
          </a:xfrm>
          <a:prstGeom prst="roundRect">
            <a:avLst>
              <a:gd name="adj" fmla="val 9412"/>
            </a:avLst>
          </a:prstGeom>
          <a:solidFill>
            <a:srgbClr val="172544"/>
          </a:solidFill>
          <a:ln w="19050">
            <a:solidFill>
              <a:srgbClr val="A78BFA"/>
            </a:solidFill>
            <a:prstDash val="solid"/>
          </a:ln>
        </p:spPr>
      </p:sp>
      <p:sp>
        <p:nvSpPr>
          <p:cNvPr id="13" name="Text 11"/>
          <p:cNvSpPr/>
          <p:nvPr/>
        </p:nvSpPr>
        <p:spPr>
          <a:xfrm>
            <a:off x="7242048" y="2057400"/>
            <a:ext cx="1737360" cy="777240"/>
          </a:xfrm>
          <a:prstGeom prst="rect">
            <a:avLst/>
          </a:prstGeom>
          <a:noFill/>
          <a:ln/>
        </p:spPr>
        <p:txBody>
          <a:bodyPr wrap="square" lIns="635" tIns="635" rIns="635" bIns="635" rtlCol="0" anchor="ctr"/>
          <a:lstStyle/>
          <a:p>
            <a:pPr marL="0" indent="0" algn="ctr">
              <a:buNone/>
            </a:pPr>
            <a:r>
              <a:rPr lang="en-US" sz="1400" b="1" dirty="0">
                <a:solidFill>
                  <a:srgbClr val="F1F5F9"/>
                </a:solidFill>
                <a:latin typeface="Consolas" pitchFamily="34" charset="0"/>
                <a:ea typeface="Consolas" pitchFamily="34" charset="-122"/>
                <a:cs typeface="Consolas" pitchFamily="34" charset="-120"/>
              </a:rPr>
              <a:t>Decrypt</a:t>
            </a:r>
            <a:endParaRPr lang="en-US" sz="1400" dirty="0"/>
          </a:p>
          <a:p>
            <a:pPr marL="0" indent="0" algn="ctr">
              <a:buNone/>
            </a:pPr>
            <a:r>
              <a:rPr lang="en-US" sz="1400" b="1">
                <a:solidFill>
                  <a:srgbClr val="F1F5F9"/>
                </a:solidFill>
                <a:latin typeface="Consolas" pitchFamily="34" charset="0"/>
                <a:ea typeface="Consolas" pitchFamily="34" charset="-122"/>
                <a:cs typeface="Consolas" pitchFamily="34" charset="-120"/>
              </a:rPr>
              <a:t>with key </a:t>
            </a:r>
            <a:r>
              <a:rPr lang="en-US" sz="1400" b="1" dirty="0">
                <a:solidFill>
                  <a:srgbClr val="F1F5F9"/>
                </a:solidFill>
                <a:latin typeface="Consolas" pitchFamily="34" charset="0"/>
                <a:ea typeface="Consolas" pitchFamily="34" charset="-122"/>
                <a:cs typeface="Consolas" pitchFamily="34" charset="-120"/>
              </a:rPr>
              <a:t>K</a:t>
            </a:r>
            <a:endParaRPr lang="en-US" sz="1400" dirty="0"/>
          </a:p>
        </p:txBody>
      </p:sp>
      <p:sp>
        <p:nvSpPr>
          <p:cNvPr id="14" name="Shape 12"/>
          <p:cNvSpPr/>
          <p:nvPr/>
        </p:nvSpPr>
        <p:spPr>
          <a:xfrm>
            <a:off x="9436608" y="2057400"/>
            <a:ext cx="1737360" cy="777240"/>
          </a:xfrm>
          <a:prstGeom prst="roundRect">
            <a:avLst>
              <a:gd name="adj" fmla="val 9412"/>
            </a:avLst>
          </a:prstGeom>
          <a:solidFill>
            <a:srgbClr val="172544"/>
          </a:solidFill>
          <a:ln w="19050">
            <a:solidFill>
              <a:srgbClr val="4ADE80"/>
            </a:solidFill>
            <a:prstDash val="solid"/>
          </a:ln>
        </p:spPr>
      </p:sp>
      <p:sp>
        <p:nvSpPr>
          <p:cNvPr id="15" name="Text 13"/>
          <p:cNvSpPr/>
          <p:nvPr/>
        </p:nvSpPr>
        <p:spPr>
          <a:xfrm>
            <a:off x="9436608" y="2057400"/>
            <a:ext cx="1737360" cy="777240"/>
          </a:xfrm>
          <a:prstGeom prst="rect">
            <a:avLst/>
          </a:prstGeom>
          <a:noFill/>
          <a:ln/>
        </p:spPr>
        <p:txBody>
          <a:bodyPr wrap="square" lIns="635" tIns="635" rIns="635" bIns="635" rtlCol="0" anchor="ctr"/>
          <a:lstStyle/>
          <a:p>
            <a:pPr marL="0" indent="0" algn="ctr">
              <a:buNone/>
            </a:pPr>
            <a:r>
              <a:rPr lang="en-US" sz="1400" b="1" dirty="0">
                <a:solidFill>
                  <a:srgbClr val="F1F5F9"/>
                </a:solidFill>
                <a:latin typeface="Consolas" pitchFamily="34" charset="0"/>
                <a:ea typeface="Consolas" pitchFamily="34" charset="-122"/>
                <a:cs typeface="Consolas" pitchFamily="34" charset="-120"/>
              </a:rPr>
              <a:t>plaintext</a:t>
            </a:r>
            <a:endParaRPr lang="en-US" sz="1400" dirty="0"/>
          </a:p>
        </p:txBody>
      </p:sp>
      <p:sp>
        <p:nvSpPr>
          <p:cNvPr id="16" name="Shape 14"/>
          <p:cNvSpPr/>
          <p:nvPr/>
        </p:nvSpPr>
        <p:spPr>
          <a:xfrm>
            <a:off x="2423160" y="2446020"/>
            <a:ext cx="493776" cy="0"/>
          </a:xfrm>
          <a:prstGeom prst="line">
            <a:avLst/>
          </a:prstGeom>
          <a:noFill/>
          <a:ln w="25400">
            <a:solidFill>
              <a:srgbClr val="22D3EE"/>
            </a:solidFill>
            <a:prstDash val="solid"/>
            <a:tailEnd type="triangle"/>
          </a:ln>
        </p:spPr>
      </p:sp>
      <p:sp>
        <p:nvSpPr>
          <p:cNvPr id="17" name="Shape 15"/>
          <p:cNvSpPr/>
          <p:nvPr/>
        </p:nvSpPr>
        <p:spPr>
          <a:xfrm>
            <a:off x="4617720" y="2446020"/>
            <a:ext cx="493776" cy="0"/>
          </a:xfrm>
          <a:prstGeom prst="line">
            <a:avLst/>
          </a:prstGeom>
          <a:noFill/>
          <a:ln w="25400">
            <a:solidFill>
              <a:srgbClr val="22D3EE"/>
            </a:solidFill>
            <a:prstDash val="solid"/>
            <a:tailEnd type="triangle"/>
          </a:ln>
        </p:spPr>
      </p:sp>
      <p:sp>
        <p:nvSpPr>
          <p:cNvPr id="18" name="Shape 16"/>
          <p:cNvSpPr/>
          <p:nvPr/>
        </p:nvSpPr>
        <p:spPr>
          <a:xfrm>
            <a:off x="6812280" y="2446020"/>
            <a:ext cx="493776" cy="0"/>
          </a:xfrm>
          <a:prstGeom prst="line">
            <a:avLst/>
          </a:prstGeom>
          <a:noFill/>
          <a:ln w="25400">
            <a:solidFill>
              <a:srgbClr val="22D3EE"/>
            </a:solidFill>
            <a:prstDash val="solid"/>
            <a:tailEnd type="triangle"/>
          </a:ln>
        </p:spPr>
      </p:sp>
      <p:sp>
        <p:nvSpPr>
          <p:cNvPr id="19" name="Shape 17"/>
          <p:cNvSpPr/>
          <p:nvPr/>
        </p:nvSpPr>
        <p:spPr>
          <a:xfrm>
            <a:off x="9006840" y="2446020"/>
            <a:ext cx="493776" cy="0"/>
          </a:xfrm>
          <a:prstGeom prst="line">
            <a:avLst/>
          </a:prstGeom>
          <a:noFill/>
          <a:ln w="25400">
            <a:solidFill>
              <a:srgbClr val="22D3EE"/>
            </a:solidFill>
            <a:prstDash val="solid"/>
            <a:tailEnd type="triangle"/>
          </a:ln>
        </p:spPr>
      </p:sp>
      <p:sp>
        <p:nvSpPr>
          <p:cNvPr id="20" name="Shape 18"/>
          <p:cNvSpPr/>
          <p:nvPr/>
        </p:nvSpPr>
        <p:spPr>
          <a:xfrm>
            <a:off x="3264408" y="1417320"/>
            <a:ext cx="914400" cy="347472"/>
          </a:xfrm>
          <a:prstGeom prst="roundRect">
            <a:avLst>
              <a:gd name="adj" fmla="val 21053"/>
            </a:avLst>
          </a:prstGeom>
          <a:solidFill>
            <a:srgbClr val="172544"/>
          </a:solidFill>
          <a:ln w="19050">
            <a:solidFill>
              <a:srgbClr val="FBBF24"/>
            </a:solidFill>
            <a:prstDash val="solid"/>
          </a:ln>
        </p:spPr>
      </p:sp>
      <p:sp>
        <p:nvSpPr>
          <p:cNvPr id="21" name="Text 19"/>
          <p:cNvSpPr/>
          <p:nvPr/>
        </p:nvSpPr>
        <p:spPr>
          <a:xfrm>
            <a:off x="3264408" y="1417320"/>
            <a:ext cx="914400" cy="347472"/>
          </a:xfrm>
          <a:prstGeom prst="rect">
            <a:avLst/>
          </a:prstGeom>
          <a:noFill/>
          <a:ln/>
        </p:spPr>
        <p:txBody>
          <a:bodyPr wrap="square" lIns="635" tIns="635" rIns="635" bIns="635" rtlCol="0" anchor="ctr"/>
          <a:lstStyle/>
          <a:p>
            <a:pPr marL="0" indent="0" algn="ctr">
              <a:buNone/>
            </a:pPr>
            <a:r>
              <a:rPr lang="en-US" sz="1200" b="1" dirty="0">
                <a:solidFill>
                  <a:srgbClr val="FBBF24"/>
                </a:solidFill>
                <a:latin typeface="Consolas" pitchFamily="34" charset="0"/>
                <a:ea typeface="Consolas" pitchFamily="34" charset="-122"/>
                <a:cs typeface="Consolas" pitchFamily="34" charset="-120"/>
              </a:rPr>
              <a:t>key K</a:t>
            </a:r>
            <a:endParaRPr lang="en-US" sz="1200" dirty="0"/>
          </a:p>
        </p:txBody>
      </p:sp>
      <p:sp>
        <p:nvSpPr>
          <p:cNvPr id="22" name="Shape 20"/>
          <p:cNvSpPr/>
          <p:nvPr/>
        </p:nvSpPr>
        <p:spPr>
          <a:xfrm>
            <a:off x="3721608" y="1783080"/>
            <a:ext cx="0" cy="246888"/>
          </a:xfrm>
          <a:prstGeom prst="line">
            <a:avLst/>
          </a:prstGeom>
          <a:noFill/>
          <a:ln w="25400">
            <a:solidFill>
              <a:srgbClr val="FBBF24"/>
            </a:solidFill>
            <a:prstDash val="solid"/>
            <a:tailEnd type="triangle"/>
          </a:ln>
        </p:spPr>
      </p:sp>
      <p:sp>
        <p:nvSpPr>
          <p:cNvPr id="23" name="Shape 21"/>
          <p:cNvSpPr/>
          <p:nvPr/>
        </p:nvSpPr>
        <p:spPr>
          <a:xfrm>
            <a:off x="7653528" y="1417320"/>
            <a:ext cx="914400" cy="347472"/>
          </a:xfrm>
          <a:prstGeom prst="roundRect">
            <a:avLst>
              <a:gd name="adj" fmla="val 21053"/>
            </a:avLst>
          </a:prstGeom>
          <a:solidFill>
            <a:srgbClr val="172544"/>
          </a:solidFill>
          <a:ln w="19050">
            <a:solidFill>
              <a:srgbClr val="FBBF24"/>
            </a:solidFill>
            <a:prstDash val="solid"/>
          </a:ln>
        </p:spPr>
      </p:sp>
      <p:sp>
        <p:nvSpPr>
          <p:cNvPr id="24" name="Text 22"/>
          <p:cNvSpPr/>
          <p:nvPr/>
        </p:nvSpPr>
        <p:spPr>
          <a:xfrm>
            <a:off x="7653528" y="1417320"/>
            <a:ext cx="914400" cy="347472"/>
          </a:xfrm>
          <a:prstGeom prst="rect">
            <a:avLst/>
          </a:prstGeom>
          <a:noFill/>
          <a:ln/>
        </p:spPr>
        <p:txBody>
          <a:bodyPr wrap="square" lIns="635" tIns="635" rIns="635" bIns="635" rtlCol="0" anchor="ctr"/>
          <a:lstStyle/>
          <a:p>
            <a:pPr marL="0" indent="0" algn="ctr">
              <a:buNone/>
            </a:pPr>
            <a:r>
              <a:rPr lang="en-US" sz="1200" b="1" dirty="0">
                <a:solidFill>
                  <a:srgbClr val="FBBF24"/>
                </a:solidFill>
                <a:latin typeface="Consolas" pitchFamily="34" charset="0"/>
                <a:ea typeface="Consolas" pitchFamily="34" charset="-122"/>
                <a:cs typeface="Consolas" pitchFamily="34" charset="-120"/>
              </a:rPr>
              <a:t>key K</a:t>
            </a:r>
            <a:endParaRPr lang="en-US" sz="1200" dirty="0"/>
          </a:p>
        </p:txBody>
      </p:sp>
      <p:sp>
        <p:nvSpPr>
          <p:cNvPr id="25" name="Shape 23"/>
          <p:cNvSpPr/>
          <p:nvPr/>
        </p:nvSpPr>
        <p:spPr>
          <a:xfrm>
            <a:off x="8110728" y="1783080"/>
            <a:ext cx="0" cy="246888"/>
          </a:xfrm>
          <a:prstGeom prst="line">
            <a:avLst/>
          </a:prstGeom>
          <a:noFill/>
          <a:ln w="25400">
            <a:solidFill>
              <a:srgbClr val="FBBF24"/>
            </a:solidFill>
            <a:prstDash val="solid"/>
            <a:tailEnd type="triangle"/>
          </a:ln>
        </p:spPr>
      </p:sp>
      <p:sp>
        <p:nvSpPr>
          <p:cNvPr id="26" name="Shape 24"/>
          <p:cNvSpPr/>
          <p:nvPr/>
        </p:nvSpPr>
        <p:spPr>
          <a:xfrm>
            <a:off x="548640" y="3108960"/>
            <a:ext cx="5852160" cy="3017520"/>
          </a:xfrm>
          <a:prstGeom prst="roundRect">
            <a:avLst>
              <a:gd name="adj" fmla="val 2424"/>
            </a:avLst>
          </a:prstGeom>
          <a:solidFill>
            <a:srgbClr val="070B14"/>
          </a:solidFill>
          <a:ln w="12700">
            <a:solidFill>
              <a:srgbClr val="2A3E68"/>
            </a:solidFill>
            <a:prstDash val="solid"/>
          </a:ln>
        </p:spPr>
      </p:sp>
      <p:sp>
        <p:nvSpPr>
          <p:cNvPr id="27" name="Shape 25"/>
          <p:cNvSpPr/>
          <p:nvPr/>
        </p:nvSpPr>
        <p:spPr>
          <a:xfrm>
            <a:off x="713232" y="3236976"/>
            <a:ext cx="100584" cy="100584"/>
          </a:xfrm>
          <a:prstGeom prst="ellipse">
            <a:avLst/>
          </a:prstGeom>
          <a:solidFill>
            <a:srgbClr val="F87171"/>
          </a:solidFill>
          <a:ln w="12700">
            <a:solidFill>
              <a:srgbClr val="F87171"/>
            </a:solidFill>
            <a:prstDash val="solid"/>
          </a:ln>
        </p:spPr>
      </p:sp>
      <p:sp>
        <p:nvSpPr>
          <p:cNvPr id="28" name="Shape 26"/>
          <p:cNvSpPr/>
          <p:nvPr/>
        </p:nvSpPr>
        <p:spPr>
          <a:xfrm>
            <a:off x="896112" y="3236976"/>
            <a:ext cx="100584" cy="100584"/>
          </a:xfrm>
          <a:prstGeom prst="ellipse">
            <a:avLst/>
          </a:prstGeom>
          <a:solidFill>
            <a:srgbClr val="FBBF24"/>
          </a:solidFill>
          <a:ln w="12700">
            <a:solidFill>
              <a:srgbClr val="FBBF24"/>
            </a:solidFill>
            <a:prstDash val="solid"/>
          </a:ln>
        </p:spPr>
      </p:sp>
      <p:sp>
        <p:nvSpPr>
          <p:cNvPr id="29" name="Shape 27"/>
          <p:cNvSpPr/>
          <p:nvPr/>
        </p:nvSpPr>
        <p:spPr>
          <a:xfrm>
            <a:off x="1078992" y="3236976"/>
            <a:ext cx="100584" cy="100584"/>
          </a:xfrm>
          <a:prstGeom prst="ellipse">
            <a:avLst/>
          </a:prstGeom>
          <a:solidFill>
            <a:srgbClr val="4ADE80"/>
          </a:solidFill>
          <a:ln w="12700">
            <a:solidFill>
              <a:srgbClr val="4ADE80"/>
            </a:solidFill>
            <a:prstDash val="solid"/>
          </a:ln>
        </p:spPr>
      </p:sp>
      <p:sp>
        <p:nvSpPr>
          <p:cNvPr id="30" name="Text 28"/>
          <p:cNvSpPr/>
          <p:nvPr/>
        </p:nvSpPr>
        <p:spPr>
          <a:xfrm>
            <a:off x="1325880" y="3182112"/>
            <a:ext cx="4937760" cy="201168"/>
          </a:xfrm>
          <a:prstGeom prst="rect">
            <a:avLst/>
          </a:prstGeom>
          <a:noFill/>
          <a:ln/>
        </p:spPr>
        <p:txBody>
          <a:bodyPr wrap="square" lIns="0" tIns="0" rIns="0" bIns="0" rtlCol="0" anchor="ctr"/>
          <a:lstStyle/>
          <a:p>
            <a:pPr marL="0" indent="0">
              <a:buNone/>
            </a:pPr>
            <a:r>
              <a:rPr lang="en-US" sz="1000" dirty="0">
                <a:solidFill>
                  <a:srgbClr val="9FB0CC"/>
                </a:solidFill>
                <a:latin typeface="Consolas" pitchFamily="34" charset="0"/>
                <a:ea typeface="Consolas" pitchFamily="34" charset="-122"/>
                <a:cs typeface="Consolas" pitchFamily="34" charset="-120"/>
              </a:rPr>
              <a:t>xor.txt</a:t>
            </a:r>
            <a:endParaRPr lang="en-US" sz="1000" dirty="0"/>
          </a:p>
        </p:txBody>
      </p:sp>
      <p:sp>
        <p:nvSpPr>
          <p:cNvPr id="31" name="Text 29"/>
          <p:cNvSpPr/>
          <p:nvPr/>
        </p:nvSpPr>
        <p:spPr>
          <a:xfrm>
            <a:off x="777240" y="3493008"/>
            <a:ext cx="5394960" cy="2514600"/>
          </a:xfrm>
          <a:prstGeom prst="rect">
            <a:avLst/>
          </a:prstGeom>
          <a:noFill/>
          <a:ln/>
        </p:spPr>
        <p:txBody>
          <a:bodyPr wrap="square" lIns="0" tIns="0" rIns="0" bIns="0" rtlCol="0" anchor="t"/>
          <a:lstStyle/>
          <a:p>
            <a:pPr marL="0" indent="0">
              <a:spcAft>
                <a:spcPts val="200"/>
              </a:spcAft>
              <a:buNone/>
            </a:pPr>
            <a:r>
              <a:rPr lang="en-US" sz="1400" dirty="0">
                <a:solidFill>
                  <a:srgbClr val="9FB0CC"/>
                </a:solidFill>
                <a:latin typeface="Consolas" pitchFamily="34" charset="0"/>
                <a:ea typeface="Consolas" pitchFamily="34" charset="-122"/>
                <a:cs typeface="Consolas" pitchFamily="34" charset="-120"/>
              </a:rPr>
              <a:t>XOR</a:t>
            </a:r>
            <a:r>
              <a:rPr lang="en-US" sz="1400">
                <a:solidFill>
                  <a:srgbClr val="9FB0CC"/>
                </a:solidFill>
                <a:latin typeface="Consolas" pitchFamily="34" charset="0"/>
                <a:ea typeface="Consolas" pitchFamily="34" charset="-122"/>
                <a:cs typeface="Consolas" pitchFamily="34" charset="-120"/>
              </a:rPr>
              <a:t>: flip a bit wherever the key has a 1</a:t>
            </a:r>
            <a:endParaRPr lang="en-US" sz="1400" dirty="0"/>
          </a:p>
          <a:p>
            <a:pPr marL="0" indent="0">
              <a:spcAft>
                <a:spcPts val="200"/>
              </a:spcAft>
              <a:buNone/>
            </a:pPr>
            <a:r>
              <a:rPr lang="en-US" sz="1400" dirty="0">
                <a:solidFill>
                  <a:srgbClr val="4ADE80"/>
                </a:solidFill>
                <a:latin typeface="Consolas" pitchFamily="34" charset="0"/>
                <a:ea typeface="Consolas" pitchFamily="34" charset="-122"/>
                <a:cs typeface="Consolas" pitchFamily="34" charset="-120"/>
              </a:rPr>
              <a:t>P     = 01001000   (letter H)</a:t>
            </a:r>
            <a:endParaRPr lang="en-US" sz="1400" dirty="0"/>
          </a:p>
          <a:p>
            <a:pPr marL="0" indent="0">
              <a:spcAft>
                <a:spcPts val="200"/>
              </a:spcAft>
              <a:buNone/>
            </a:pPr>
            <a:r>
              <a:rPr lang="en-US" sz="1400" dirty="0">
                <a:solidFill>
                  <a:srgbClr val="FBBF24"/>
                </a:solidFill>
                <a:latin typeface="Consolas" pitchFamily="34" charset="0"/>
                <a:ea typeface="Consolas" pitchFamily="34" charset="-122"/>
                <a:cs typeface="Consolas" pitchFamily="34" charset="-120"/>
              </a:rPr>
              <a:t>K     = 00111010   (random key)</a:t>
            </a:r>
            <a:endParaRPr lang="en-US" sz="1400" dirty="0"/>
          </a:p>
          <a:p>
            <a:pPr marL="0" indent="0">
              <a:spcAft>
                <a:spcPts val="200"/>
              </a:spcAft>
              <a:buNone/>
            </a:pPr>
            <a:r>
              <a:rPr lang="en-US" sz="1400" dirty="0">
                <a:solidFill>
                  <a:srgbClr val="F87171"/>
                </a:solidFill>
                <a:latin typeface="Consolas" pitchFamily="34" charset="0"/>
                <a:ea typeface="Consolas" pitchFamily="34" charset="-122"/>
                <a:cs typeface="Consolas" pitchFamily="34" charset="-120"/>
              </a:rPr>
              <a:t>C=P^K = 01110010</a:t>
            </a:r>
            <a:endParaRPr lang="en-US" sz="1400" dirty="0"/>
          </a:p>
          <a:p>
            <a:pPr marL="0" indent="0">
              <a:spcAft>
                <a:spcPts val="200"/>
              </a:spcAft>
              <a:buNone/>
            </a:pPr>
            <a:endParaRPr lang="en-US" sz="1400" dirty="0"/>
          </a:p>
          <a:p>
            <a:pPr marL="0" indent="0">
              <a:spcAft>
                <a:spcPts val="200"/>
              </a:spcAft>
              <a:buNone/>
            </a:pPr>
            <a:r>
              <a:rPr lang="en-US" sz="1400" dirty="0">
                <a:solidFill>
                  <a:srgbClr val="4ADE80"/>
                </a:solidFill>
                <a:latin typeface="Consolas" pitchFamily="34" charset="0"/>
                <a:ea typeface="Consolas" pitchFamily="34" charset="-122"/>
                <a:cs typeface="Consolas" pitchFamily="34" charset="-120"/>
              </a:rPr>
              <a:t>C^K   = 01001000   (H again)</a:t>
            </a:r>
            <a:endParaRPr lang="en-US" sz="1400" dirty="0"/>
          </a:p>
          <a:p>
            <a:pPr marL="0" indent="0">
              <a:spcAft>
                <a:spcPts val="200"/>
              </a:spcAft>
              <a:buNone/>
            </a:pPr>
            <a:endParaRPr lang="en-US" sz="1400" dirty="0"/>
          </a:p>
          <a:p>
            <a:pPr marL="0" indent="0">
              <a:spcAft>
                <a:spcPts val="200"/>
              </a:spcAft>
              <a:buNone/>
            </a:pPr>
            <a:r>
              <a:rPr lang="en-US" sz="1400" dirty="0">
                <a:solidFill>
                  <a:srgbClr val="22D3EE"/>
                </a:solidFill>
                <a:latin typeface="Consolas" pitchFamily="34" charset="0"/>
                <a:ea typeface="Consolas" pitchFamily="34" charset="-122"/>
                <a:cs typeface="Consolas" pitchFamily="34" charset="-120"/>
              </a:rPr>
              <a:t>Why it works: </a:t>
            </a:r>
            <a:r>
              <a:rPr lang="en-US" sz="1400">
                <a:solidFill>
                  <a:srgbClr val="22D3EE"/>
                </a:solidFill>
                <a:latin typeface="Consolas" pitchFamily="34" charset="0"/>
                <a:ea typeface="Consolas" pitchFamily="34" charset="-122"/>
                <a:cs typeface="Consolas" pitchFamily="34" charset="-120"/>
              </a:rPr>
              <a:t>applying the same key</a:t>
            </a:r>
            <a:endParaRPr lang="en-US" sz="1400" dirty="0"/>
          </a:p>
          <a:p>
            <a:pPr marL="0" indent="0">
              <a:spcAft>
                <a:spcPts val="200"/>
              </a:spcAft>
              <a:buNone/>
            </a:pPr>
            <a:r>
              <a:rPr lang="en-US" sz="1400">
                <a:solidFill>
                  <a:srgbClr val="22D3EE"/>
                </a:solidFill>
                <a:latin typeface="Consolas" pitchFamily="34" charset="0"/>
                <a:ea typeface="Consolas" pitchFamily="34" charset="-122"/>
                <a:cs typeface="Consolas" pitchFamily="34" charset="-120"/>
              </a:rPr>
              <a:t>twice flips every bit back</a:t>
            </a:r>
            <a:r>
              <a:rPr lang="en-US" sz="1400" dirty="0">
                <a:solidFill>
                  <a:srgbClr val="22D3EE"/>
                </a:solidFill>
                <a:latin typeface="Consolas" pitchFamily="34" charset="0"/>
                <a:ea typeface="Consolas" pitchFamily="34" charset="-122"/>
                <a:cs typeface="Consolas" pitchFamily="34" charset="-120"/>
              </a:rPr>
              <a:t>.</a:t>
            </a:r>
            <a:endParaRPr lang="en-US" sz="1400" dirty="0"/>
          </a:p>
        </p:txBody>
      </p:sp>
      <p:sp>
        <p:nvSpPr>
          <p:cNvPr id="32" name="Shape 30"/>
          <p:cNvSpPr/>
          <p:nvPr/>
        </p:nvSpPr>
        <p:spPr>
          <a:xfrm>
            <a:off x="6629400" y="3108960"/>
            <a:ext cx="5010912" cy="3017520"/>
          </a:xfrm>
          <a:prstGeom prst="roundRect">
            <a:avLst>
              <a:gd name="adj" fmla="val 2424"/>
            </a:avLst>
          </a:prstGeom>
          <a:solidFill>
            <a:srgbClr val="111A2F"/>
          </a:solidFill>
          <a:ln w="12700">
            <a:solidFill>
              <a:srgbClr val="2A3E68"/>
            </a:solidFill>
            <a:prstDash val="solid"/>
          </a:ln>
        </p:spPr>
      </p:sp>
      <p:sp>
        <p:nvSpPr>
          <p:cNvPr id="33" name="Text 31"/>
          <p:cNvSpPr/>
          <p:nvPr/>
        </p:nvSpPr>
        <p:spPr>
          <a:xfrm>
            <a:off x="6858000" y="3246120"/>
            <a:ext cx="457200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Key ideas</a:t>
            </a:r>
            <a:endParaRPr lang="en-US" sz="1400" dirty="0"/>
          </a:p>
        </p:txBody>
      </p:sp>
      <p:sp>
        <p:nvSpPr>
          <p:cNvPr id="34" name="Text 32"/>
          <p:cNvSpPr/>
          <p:nvPr/>
        </p:nvSpPr>
        <p:spPr>
          <a:xfrm>
            <a:off x="6858000" y="3657600"/>
            <a:ext cx="4572000" cy="2423160"/>
          </a:xfrm>
          <a:prstGeom prst="rect">
            <a:avLst/>
          </a:prstGeom>
          <a:noFill/>
          <a:ln/>
        </p:spPr>
        <p:txBody>
          <a:bodyPr wrap="square" lIns="0" tIns="0" rIns="0" bIns="0" rtlCol="0" anchor="t"/>
          <a:lstStyle/>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Kerckhoffs's principle</a:t>
            </a:r>
            <a:r>
              <a:rPr lang="en-US" sz="1300" dirty="0">
                <a:solidFill>
                  <a:srgbClr val="F1F5F9"/>
                </a:solidFill>
                <a:latin typeface="Calibri" pitchFamily="34" charset="0"/>
                <a:ea typeface="Calibri" pitchFamily="34" charset="-122"/>
                <a:cs typeface="Calibri" pitchFamily="34" charset="-120"/>
              </a:rPr>
              <a:t>: the </a:t>
            </a:r>
            <a:r>
              <a:rPr lang="en-US" sz="1300">
                <a:solidFill>
                  <a:srgbClr val="F1F5F9"/>
                </a:solidFill>
                <a:latin typeface="Calibri" pitchFamily="34" charset="0"/>
                <a:ea typeface="Calibri" pitchFamily="34" charset="-122"/>
                <a:cs typeface="Calibri" pitchFamily="34" charset="-120"/>
              </a:rPr>
              <a:t>method </a:t>
            </a:r>
            <a:r>
              <a:rPr lang="en-US" sz="1300" dirty="0">
                <a:solidFill>
                  <a:srgbClr val="F1F5F9"/>
                </a:solidFill>
                <a:latin typeface="Calibri" pitchFamily="34" charset="0"/>
                <a:ea typeface="Calibri" pitchFamily="34" charset="-122"/>
                <a:cs typeface="Calibri" pitchFamily="34" charset="-120"/>
              </a:rPr>
              <a:t>is public</a:t>
            </a:r>
            <a:r>
              <a:rPr lang="en-US" sz="1300">
                <a:solidFill>
                  <a:srgbClr val="F1F5F9"/>
                </a:solidFill>
                <a:latin typeface="Calibri" pitchFamily="34" charset="0"/>
                <a:ea typeface="Calibri" pitchFamily="34" charset="-122"/>
                <a:cs typeface="Calibri" pitchFamily="34" charset="-120"/>
              </a:rPr>
              <a:t>; </a:t>
            </a:r>
            <a:r>
              <a:rPr lang="en-US" sz="1300" dirty="0">
                <a:solidFill>
                  <a:srgbClr val="F1F5F9"/>
                </a:solidFill>
                <a:latin typeface="Calibri" pitchFamily="34" charset="0"/>
                <a:ea typeface="Calibri" pitchFamily="34" charset="-122"/>
                <a:cs typeface="Calibri" pitchFamily="34" charset="-120"/>
              </a:rPr>
              <a:t>only the key is secret</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A one-time </a:t>
            </a:r>
            <a:r>
              <a:rPr lang="en-US" sz="1300" dirty="0">
                <a:solidFill>
                  <a:srgbClr val="F1F5F9"/>
                </a:solidFill>
                <a:latin typeface="Calibri" pitchFamily="34" charset="0"/>
                <a:ea typeface="Calibri" pitchFamily="34" charset="-122"/>
                <a:cs typeface="Calibri" pitchFamily="34" charset="-120"/>
              </a:rPr>
              <a:t>pad is </a:t>
            </a:r>
            <a:r>
              <a:rPr lang="en-US" sz="1300">
                <a:solidFill>
                  <a:srgbClr val="F1F5F9"/>
                </a:solidFill>
                <a:latin typeface="Calibri" pitchFamily="34" charset="0"/>
                <a:ea typeface="Calibri" pitchFamily="34" charset="-122"/>
                <a:cs typeface="Calibri" pitchFamily="34" charset="-120"/>
              </a:rPr>
              <a:t>unbreakable </a:t>
            </a:r>
            <a:r>
              <a:rPr lang="en-US" sz="1300" dirty="0">
                <a:solidFill>
                  <a:srgbClr val="F1F5F9"/>
                </a:solidFill>
                <a:latin typeface="Calibri" pitchFamily="34" charset="0"/>
                <a:ea typeface="Calibri" pitchFamily="34" charset="-122"/>
                <a:cs typeface="Calibri" pitchFamily="34" charset="-120"/>
              </a:rPr>
              <a:t>if the key is random, as long as the message, and used </a:t>
            </a:r>
            <a:r>
              <a:rPr lang="en-US" sz="1300">
                <a:solidFill>
                  <a:srgbClr val="F1F5F9"/>
                </a:solidFill>
                <a:latin typeface="Calibri" pitchFamily="34" charset="0"/>
                <a:ea typeface="Calibri" pitchFamily="34" charset="-122"/>
                <a:cs typeface="Calibri" pitchFamily="34" charset="-120"/>
              </a:rPr>
              <a:t>only </a:t>
            </a:r>
            <a:r>
              <a:rPr lang="en-US" sz="1300" dirty="0">
                <a:solidFill>
                  <a:srgbClr val="F1F5F9"/>
                </a:solidFill>
                <a:latin typeface="Calibri" pitchFamily="34" charset="0"/>
                <a:ea typeface="Calibri" pitchFamily="34" charset="-122"/>
                <a:cs typeface="Calibri" pitchFamily="34" charset="-120"/>
              </a:rPr>
              <a:t>once</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Real ciphers </a:t>
            </a:r>
            <a:r>
              <a:rPr lang="en-US" sz="1300">
                <a:solidFill>
                  <a:srgbClr val="F1F5F9"/>
                </a:solidFill>
                <a:latin typeface="Calibri" pitchFamily="34" charset="0"/>
                <a:ea typeface="Calibri" pitchFamily="34" charset="-122"/>
                <a:cs typeface="Calibri" pitchFamily="34" charset="-120"/>
              </a:rPr>
              <a:t>turn </a:t>
            </a:r>
            <a:r>
              <a:rPr lang="en-US" sz="1300" dirty="0">
                <a:solidFill>
                  <a:srgbClr val="F1F5F9"/>
                </a:solidFill>
                <a:latin typeface="Calibri" pitchFamily="34" charset="0"/>
                <a:ea typeface="Calibri" pitchFamily="34" charset="-122"/>
                <a:cs typeface="Calibri" pitchFamily="34" charset="-120"/>
              </a:rPr>
              <a:t>a short key (128 to 256 bits) into a </a:t>
            </a:r>
            <a:r>
              <a:rPr lang="en-US" sz="1300">
                <a:solidFill>
                  <a:srgbClr val="F1F5F9"/>
                </a:solidFill>
                <a:latin typeface="Calibri" pitchFamily="34" charset="0"/>
                <a:ea typeface="Calibri" pitchFamily="34" charset="-122"/>
                <a:cs typeface="Calibri" pitchFamily="34" charset="-120"/>
              </a:rPr>
              <a:t>long scrambled stream</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Security = </a:t>
            </a:r>
            <a:r>
              <a:rPr lang="en-US" sz="1300">
                <a:solidFill>
                  <a:srgbClr val="F1F5F9"/>
                </a:solidFill>
                <a:latin typeface="Calibri" pitchFamily="34" charset="0"/>
                <a:ea typeface="Calibri" pitchFamily="34" charset="-122"/>
                <a:cs typeface="Calibri" pitchFamily="34" charset="-120"/>
              </a:rPr>
              <a:t>how hard </a:t>
            </a:r>
            <a:r>
              <a:rPr lang="en-US" sz="1300" dirty="0">
                <a:solidFill>
                  <a:srgbClr val="F1F5F9"/>
                </a:solidFill>
                <a:latin typeface="Calibri" pitchFamily="34" charset="0"/>
                <a:ea typeface="Calibri" pitchFamily="34" charset="-122"/>
                <a:cs typeface="Calibri" pitchFamily="34" charset="-120"/>
              </a:rPr>
              <a:t>the key</a:t>
            </a:r>
            <a:r>
              <a:rPr lang="en-US" sz="1300">
                <a:solidFill>
                  <a:srgbClr val="F1F5F9"/>
                </a:solidFill>
                <a:latin typeface="Calibri" pitchFamily="34" charset="0"/>
                <a:ea typeface="Calibri" pitchFamily="34" charset="-122"/>
                <a:cs typeface="Calibri" pitchFamily="34" charset="-120"/>
              </a:rPr>
              <a:t> is to guess</a:t>
            </a:r>
            <a:r>
              <a:rPr lang="en-US" sz="1300" dirty="0">
                <a:solidFill>
                  <a:srgbClr val="F1F5F9"/>
                </a:solidFill>
                <a:latin typeface="Calibri" pitchFamily="34" charset="0"/>
                <a:ea typeface="Calibri" pitchFamily="34" charset="-122"/>
                <a:cs typeface="Calibri" pitchFamily="34" charset="-120"/>
              </a:rPr>
              <a:t>: a 128-bit key </a:t>
            </a:r>
            <a:r>
              <a:rPr lang="en-US" sz="1300">
                <a:solidFill>
                  <a:srgbClr val="F1F5F9"/>
                </a:solidFill>
                <a:latin typeface="Calibri" pitchFamily="34" charset="0"/>
                <a:ea typeface="Calibri" pitchFamily="34" charset="-122"/>
                <a:cs typeface="Calibri" pitchFamily="34" charset="-120"/>
              </a:rPr>
              <a:t>has more possible values than anyone can try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ENCRYPTION 02</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Symmetric vs asymmetric encryption</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18</a:t>
            </a:r>
            <a:endParaRPr lang="en-US" sz="1000" dirty="0"/>
          </a:p>
        </p:txBody>
      </p:sp>
      <p:sp>
        <p:nvSpPr>
          <p:cNvPr id="6" name="Shape 4"/>
          <p:cNvSpPr/>
          <p:nvPr/>
        </p:nvSpPr>
        <p:spPr>
          <a:xfrm>
            <a:off x="548640" y="1463040"/>
            <a:ext cx="5440680" cy="2194560"/>
          </a:xfrm>
          <a:prstGeom prst="roundRect">
            <a:avLst>
              <a:gd name="adj" fmla="val 3333"/>
            </a:avLst>
          </a:prstGeom>
          <a:solidFill>
            <a:srgbClr val="111A2F"/>
          </a:solidFill>
          <a:ln w="12700">
            <a:solidFill>
              <a:srgbClr val="2A3E68"/>
            </a:solidFill>
            <a:prstDash val="solid"/>
          </a:ln>
        </p:spPr>
      </p:sp>
      <p:sp>
        <p:nvSpPr>
          <p:cNvPr id="7" name="Text 5"/>
          <p:cNvSpPr/>
          <p:nvPr/>
        </p:nvSpPr>
        <p:spPr>
          <a:xfrm>
            <a:off x="822960" y="1572768"/>
            <a:ext cx="4937760" cy="274320"/>
          </a:xfrm>
          <a:prstGeom prst="rect">
            <a:avLst/>
          </a:prstGeom>
          <a:noFill/>
          <a:ln/>
        </p:spPr>
        <p:txBody>
          <a:bodyPr wrap="square" lIns="0" tIns="0" rIns="0" bIns="0" rtlCol="0" anchor="t"/>
          <a:lstStyle/>
          <a:p>
            <a:pPr marL="0" indent="0">
              <a:buNone/>
            </a:pPr>
            <a:r>
              <a:rPr lang="en-US" sz="1300" b="1" dirty="0">
                <a:solidFill>
                  <a:srgbClr val="4ADE80"/>
                </a:solidFill>
                <a:latin typeface="Consolas" pitchFamily="34" charset="0"/>
                <a:ea typeface="Consolas" pitchFamily="34" charset="-122"/>
                <a:cs typeface="Consolas" pitchFamily="34" charset="-120"/>
              </a:rPr>
              <a:t>SYMMETRIC  ·  one shared key</a:t>
            </a:r>
            <a:endParaRPr lang="en-US" sz="1300" dirty="0"/>
          </a:p>
        </p:txBody>
      </p:sp>
      <p:sp>
        <p:nvSpPr>
          <p:cNvPr id="8" name="Shape 6"/>
          <p:cNvSpPr/>
          <p:nvPr/>
        </p:nvSpPr>
        <p:spPr>
          <a:xfrm>
            <a:off x="822960" y="2011680"/>
            <a:ext cx="1005840" cy="640080"/>
          </a:xfrm>
          <a:prstGeom prst="roundRect">
            <a:avLst>
              <a:gd name="adj" fmla="val 11429"/>
            </a:avLst>
          </a:prstGeom>
          <a:solidFill>
            <a:srgbClr val="172544"/>
          </a:solidFill>
          <a:ln w="19050">
            <a:solidFill>
              <a:srgbClr val="4ADE80"/>
            </a:solidFill>
            <a:prstDash val="solid"/>
          </a:ln>
        </p:spPr>
      </p:sp>
      <p:sp>
        <p:nvSpPr>
          <p:cNvPr id="9" name="Text 7"/>
          <p:cNvSpPr/>
          <p:nvPr/>
        </p:nvSpPr>
        <p:spPr>
          <a:xfrm>
            <a:off x="822960" y="2011680"/>
            <a:ext cx="1005840" cy="64008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Alice</a:t>
            </a:r>
            <a:endParaRPr lang="en-US" sz="1300" dirty="0"/>
          </a:p>
        </p:txBody>
      </p:sp>
      <p:sp>
        <p:nvSpPr>
          <p:cNvPr id="10" name="Shape 8"/>
          <p:cNvSpPr/>
          <p:nvPr/>
        </p:nvSpPr>
        <p:spPr>
          <a:xfrm>
            <a:off x="1874520" y="2331720"/>
            <a:ext cx="640080" cy="0"/>
          </a:xfrm>
          <a:prstGeom prst="line">
            <a:avLst/>
          </a:prstGeom>
          <a:noFill/>
          <a:ln w="25400">
            <a:solidFill>
              <a:srgbClr val="22D3EE"/>
            </a:solidFill>
            <a:prstDash val="solid"/>
            <a:tailEnd type="triangle"/>
          </a:ln>
        </p:spPr>
      </p:sp>
      <p:sp>
        <p:nvSpPr>
          <p:cNvPr id="11" name="Shape 9"/>
          <p:cNvSpPr/>
          <p:nvPr/>
        </p:nvSpPr>
        <p:spPr>
          <a:xfrm>
            <a:off x="2560320" y="2011680"/>
            <a:ext cx="1463040" cy="640080"/>
          </a:xfrm>
          <a:prstGeom prst="roundRect">
            <a:avLst>
              <a:gd name="adj" fmla="val 11429"/>
            </a:avLst>
          </a:prstGeom>
          <a:solidFill>
            <a:srgbClr val="172544"/>
          </a:solidFill>
          <a:ln w="19050">
            <a:solidFill>
              <a:srgbClr val="F87171"/>
            </a:solidFill>
            <a:prstDash val="solid"/>
          </a:ln>
        </p:spPr>
      </p:sp>
      <p:sp>
        <p:nvSpPr>
          <p:cNvPr id="12" name="Text 10"/>
          <p:cNvSpPr/>
          <p:nvPr/>
        </p:nvSpPr>
        <p:spPr>
          <a:xfrm>
            <a:off x="2560320" y="2011680"/>
            <a:ext cx="1463040" cy="64008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ciphertext</a:t>
            </a:r>
            <a:endParaRPr lang="en-US" sz="1300" dirty="0"/>
          </a:p>
        </p:txBody>
      </p:sp>
      <p:sp>
        <p:nvSpPr>
          <p:cNvPr id="13" name="Shape 11"/>
          <p:cNvSpPr/>
          <p:nvPr/>
        </p:nvSpPr>
        <p:spPr>
          <a:xfrm>
            <a:off x="4069080" y="2331720"/>
            <a:ext cx="640080" cy="0"/>
          </a:xfrm>
          <a:prstGeom prst="line">
            <a:avLst/>
          </a:prstGeom>
          <a:noFill/>
          <a:ln w="25400">
            <a:solidFill>
              <a:srgbClr val="22D3EE"/>
            </a:solidFill>
            <a:prstDash val="solid"/>
            <a:tailEnd type="triangle"/>
          </a:ln>
        </p:spPr>
      </p:sp>
      <p:sp>
        <p:nvSpPr>
          <p:cNvPr id="14" name="Shape 12"/>
          <p:cNvSpPr/>
          <p:nvPr/>
        </p:nvSpPr>
        <p:spPr>
          <a:xfrm>
            <a:off x="4754880" y="2011680"/>
            <a:ext cx="1005840" cy="640080"/>
          </a:xfrm>
          <a:prstGeom prst="roundRect">
            <a:avLst>
              <a:gd name="adj" fmla="val 11429"/>
            </a:avLst>
          </a:prstGeom>
          <a:solidFill>
            <a:srgbClr val="172544"/>
          </a:solidFill>
          <a:ln w="19050">
            <a:solidFill>
              <a:srgbClr val="4ADE80"/>
            </a:solidFill>
            <a:prstDash val="solid"/>
          </a:ln>
        </p:spPr>
      </p:sp>
      <p:sp>
        <p:nvSpPr>
          <p:cNvPr id="15" name="Text 13"/>
          <p:cNvSpPr/>
          <p:nvPr/>
        </p:nvSpPr>
        <p:spPr>
          <a:xfrm>
            <a:off x="4754880" y="2011680"/>
            <a:ext cx="1005840" cy="64008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Bob</a:t>
            </a:r>
            <a:endParaRPr lang="en-US" sz="1300" dirty="0"/>
          </a:p>
        </p:txBody>
      </p:sp>
      <p:pic>
        <p:nvPicPr>
          <p:cNvPr id="16" name="Image 0" descr="/agent/turn1/workspace/output/_anthropic_assets/icon-key-f524c1ae.png"/>
          <p:cNvPicPr>
            <a:picLocks noChangeAspect="1"/>
          </p:cNvPicPr>
          <p:nvPr/>
        </p:nvPicPr>
        <p:blipFill>
          <a:blip r:embed="rId3"/>
          <a:stretch>
            <a:fillRect/>
          </a:stretch>
        </p:blipFill>
        <p:spPr>
          <a:xfrm>
            <a:off x="822960" y="2880360"/>
            <a:ext cx="310896" cy="310896"/>
          </a:xfrm>
          <a:prstGeom prst="rect">
            <a:avLst/>
          </a:prstGeom>
        </p:spPr>
      </p:pic>
      <p:sp>
        <p:nvSpPr>
          <p:cNvPr id="17" name="Text 14"/>
          <p:cNvSpPr/>
          <p:nvPr/>
        </p:nvSpPr>
        <p:spPr>
          <a:xfrm>
            <a:off x="1234440" y="2880360"/>
            <a:ext cx="4663440" cy="310896"/>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Alice and Bob hold the same secret key K</a:t>
            </a:r>
            <a:endParaRPr lang="en-US" sz="1400" dirty="0"/>
          </a:p>
        </p:txBody>
      </p:sp>
      <p:sp>
        <p:nvSpPr>
          <p:cNvPr id="18" name="Text 15"/>
          <p:cNvSpPr/>
          <p:nvPr/>
        </p:nvSpPr>
        <p:spPr>
          <a:xfrm>
            <a:off x="822960" y="3246120"/>
            <a:ext cx="5029200" cy="27432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Fast, but how do they share K safely in the first place?</a:t>
            </a:r>
            <a:endParaRPr lang="en-US" sz="1300" dirty="0"/>
          </a:p>
        </p:txBody>
      </p:sp>
      <p:sp>
        <p:nvSpPr>
          <p:cNvPr id="19" name="Shape 16"/>
          <p:cNvSpPr/>
          <p:nvPr/>
        </p:nvSpPr>
        <p:spPr>
          <a:xfrm>
            <a:off x="6199632" y="1463040"/>
            <a:ext cx="5440680" cy="2194560"/>
          </a:xfrm>
          <a:prstGeom prst="roundRect">
            <a:avLst>
              <a:gd name="adj" fmla="val 3333"/>
            </a:avLst>
          </a:prstGeom>
          <a:solidFill>
            <a:srgbClr val="111A2F"/>
          </a:solidFill>
          <a:ln w="12700">
            <a:solidFill>
              <a:srgbClr val="2A3E68"/>
            </a:solidFill>
            <a:prstDash val="solid"/>
          </a:ln>
        </p:spPr>
      </p:sp>
      <p:sp>
        <p:nvSpPr>
          <p:cNvPr id="20" name="Text 17"/>
          <p:cNvSpPr/>
          <p:nvPr/>
        </p:nvSpPr>
        <p:spPr>
          <a:xfrm>
            <a:off x="6473952" y="1572768"/>
            <a:ext cx="4937760" cy="274320"/>
          </a:xfrm>
          <a:prstGeom prst="rect">
            <a:avLst/>
          </a:prstGeom>
          <a:noFill/>
          <a:ln/>
        </p:spPr>
        <p:txBody>
          <a:bodyPr wrap="square" lIns="0" tIns="0" rIns="0" bIns="0" rtlCol="0" anchor="t"/>
          <a:lstStyle/>
          <a:p>
            <a:pPr marL="0" indent="0">
              <a:buNone/>
            </a:pPr>
            <a:r>
              <a:rPr lang="en-US" sz="1300" b="1" dirty="0">
                <a:solidFill>
                  <a:srgbClr val="FBBF24"/>
                </a:solidFill>
                <a:latin typeface="Consolas" pitchFamily="34" charset="0"/>
                <a:ea typeface="Consolas" pitchFamily="34" charset="-122"/>
                <a:cs typeface="Consolas" pitchFamily="34" charset="-120"/>
              </a:rPr>
              <a:t>ASYMMETRIC  ·  a key pair</a:t>
            </a:r>
            <a:endParaRPr lang="en-US" sz="1300" dirty="0"/>
          </a:p>
        </p:txBody>
      </p:sp>
      <p:sp>
        <p:nvSpPr>
          <p:cNvPr id="21" name="Shape 18"/>
          <p:cNvSpPr/>
          <p:nvPr/>
        </p:nvSpPr>
        <p:spPr>
          <a:xfrm>
            <a:off x="6473952" y="2011680"/>
            <a:ext cx="1005840" cy="640080"/>
          </a:xfrm>
          <a:prstGeom prst="roundRect">
            <a:avLst>
              <a:gd name="adj" fmla="val 11429"/>
            </a:avLst>
          </a:prstGeom>
          <a:solidFill>
            <a:srgbClr val="172544"/>
          </a:solidFill>
          <a:ln w="19050">
            <a:solidFill>
              <a:srgbClr val="4ADE80"/>
            </a:solidFill>
            <a:prstDash val="solid"/>
          </a:ln>
        </p:spPr>
      </p:sp>
      <p:sp>
        <p:nvSpPr>
          <p:cNvPr id="22" name="Text 19"/>
          <p:cNvSpPr/>
          <p:nvPr/>
        </p:nvSpPr>
        <p:spPr>
          <a:xfrm>
            <a:off x="6473952" y="2011680"/>
            <a:ext cx="1005840" cy="64008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Alice</a:t>
            </a:r>
            <a:endParaRPr lang="en-US" sz="1300" dirty="0"/>
          </a:p>
        </p:txBody>
      </p:sp>
      <p:sp>
        <p:nvSpPr>
          <p:cNvPr id="23" name="Shape 20"/>
          <p:cNvSpPr/>
          <p:nvPr/>
        </p:nvSpPr>
        <p:spPr>
          <a:xfrm>
            <a:off x="7525512" y="2331720"/>
            <a:ext cx="640080" cy="0"/>
          </a:xfrm>
          <a:prstGeom prst="line">
            <a:avLst/>
          </a:prstGeom>
          <a:noFill/>
          <a:ln w="25400">
            <a:solidFill>
              <a:srgbClr val="22D3EE"/>
            </a:solidFill>
            <a:prstDash val="solid"/>
            <a:tailEnd type="triangle"/>
          </a:ln>
        </p:spPr>
      </p:sp>
      <p:sp>
        <p:nvSpPr>
          <p:cNvPr id="24" name="Shape 21"/>
          <p:cNvSpPr/>
          <p:nvPr/>
        </p:nvSpPr>
        <p:spPr>
          <a:xfrm>
            <a:off x="8211312" y="2011680"/>
            <a:ext cx="1463040" cy="640080"/>
          </a:xfrm>
          <a:prstGeom prst="roundRect">
            <a:avLst>
              <a:gd name="adj" fmla="val 11429"/>
            </a:avLst>
          </a:prstGeom>
          <a:solidFill>
            <a:srgbClr val="172544"/>
          </a:solidFill>
          <a:ln w="19050">
            <a:solidFill>
              <a:srgbClr val="F87171"/>
            </a:solidFill>
            <a:prstDash val="solid"/>
          </a:ln>
        </p:spPr>
      </p:sp>
      <p:sp>
        <p:nvSpPr>
          <p:cNvPr id="25" name="Text 22"/>
          <p:cNvSpPr/>
          <p:nvPr/>
        </p:nvSpPr>
        <p:spPr>
          <a:xfrm>
            <a:off x="8211312" y="2011680"/>
            <a:ext cx="1463040" cy="64008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ciphertext</a:t>
            </a:r>
            <a:endParaRPr lang="en-US" sz="1300" dirty="0"/>
          </a:p>
        </p:txBody>
      </p:sp>
      <p:sp>
        <p:nvSpPr>
          <p:cNvPr id="26" name="Shape 23"/>
          <p:cNvSpPr/>
          <p:nvPr/>
        </p:nvSpPr>
        <p:spPr>
          <a:xfrm>
            <a:off x="9720072" y="2331720"/>
            <a:ext cx="640080" cy="0"/>
          </a:xfrm>
          <a:prstGeom prst="line">
            <a:avLst/>
          </a:prstGeom>
          <a:noFill/>
          <a:ln w="25400">
            <a:solidFill>
              <a:srgbClr val="22D3EE"/>
            </a:solidFill>
            <a:prstDash val="solid"/>
            <a:tailEnd type="triangle"/>
          </a:ln>
        </p:spPr>
      </p:sp>
      <p:sp>
        <p:nvSpPr>
          <p:cNvPr id="27" name="Shape 24"/>
          <p:cNvSpPr/>
          <p:nvPr/>
        </p:nvSpPr>
        <p:spPr>
          <a:xfrm>
            <a:off x="10405872" y="2011680"/>
            <a:ext cx="1005840" cy="640080"/>
          </a:xfrm>
          <a:prstGeom prst="roundRect">
            <a:avLst>
              <a:gd name="adj" fmla="val 11429"/>
            </a:avLst>
          </a:prstGeom>
          <a:solidFill>
            <a:srgbClr val="172544"/>
          </a:solidFill>
          <a:ln w="19050">
            <a:solidFill>
              <a:srgbClr val="4ADE80"/>
            </a:solidFill>
            <a:prstDash val="solid"/>
          </a:ln>
        </p:spPr>
      </p:sp>
      <p:sp>
        <p:nvSpPr>
          <p:cNvPr id="28" name="Text 25"/>
          <p:cNvSpPr/>
          <p:nvPr/>
        </p:nvSpPr>
        <p:spPr>
          <a:xfrm>
            <a:off x="10405872" y="2011680"/>
            <a:ext cx="1005840" cy="64008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Bob</a:t>
            </a:r>
            <a:endParaRPr lang="en-US" sz="1300" dirty="0"/>
          </a:p>
        </p:txBody>
      </p:sp>
      <p:pic>
        <p:nvPicPr>
          <p:cNvPr id="29" name="Image 1" descr="/agent/turn1/workspace/output/_anthropic_assets/icon-lock-closed-b79daa82.png"/>
          <p:cNvPicPr>
            <a:picLocks noChangeAspect="1"/>
          </p:cNvPicPr>
          <p:nvPr/>
        </p:nvPicPr>
        <p:blipFill>
          <a:blip r:embed="rId4"/>
          <a:stretch>
            <a:fillRect/>
          </a:stretch>
        </p:blipFill>
        <p:spPr>
          <a:xfrm>
            <a:off x="6473952" y="2880360"/>
            <a:ext cx="310896" cy="310896"/>
          </a:xfrm>
          <a:prstGeom prst="rect">
            <a:avLst/>
          </a:prstGeom>
        </p:spPr>
      </p:pic>
      <p:sp>
        <p:nvSpPr>
          <p:cNvPr id="30" name="Text 26"/>
          <p:cNvSpPr/>
          <p:nvPr/>
        </p:nvSpPr>
        <p:spPr>
          <a:xfrm>
            <a:off x="6885432" y="2880360"/>
            <a:ext cx="4663440" cy="310896"/>
          </a:xfrm>
          <a:prstGeom prst="rect">
            <a:avLst/>
          </a:prstGeom>
          <a:noFill/>
          <a:ln/>
        </p:spPr>
        <p:txBody>
          <a:bodyPr wrap="square" lIns="0" tIns="0" rIns="0" bIns="0" rtlCol="0" anchor="ctr"/>
          <a:lstStyle/>
          <a:p>
            <a:pPr marL="0" indent="0">
              <a:buNone/>
            </a:pPr>
            <a:r>
              <a:rPr lang="en-US" sz="1400" dirty="0">
                <a:solidFill>
                  <a:srgbClr val="F1F5F9"/>
                </a:solidFill>
                <a:latin typeface="Calibri" pitchFamily="34" charset="0"/>
                <a:ea typeface="Calibri" pitchFamily="34" charset="-122"/>
                <a:cs typeface="Calibri" pitchFamily="34" charset="-120"/>
              </a:rPr>
              <a:t>Encrypt with Bob's public key, decrypt with his private key</a:t>
            </a:r>
            <a:endParaRPr lang="en-US" sz="1400" dirty="0"/>
          </a:p>
        </p:txBody>
      </p:sp>
      <p:sp>
        <p:nvSpPr>
          <p:cNvPr id="31" name="Text 27"/>
          <p:cNvSpPr/>
          <p:nvPr/>
        </p:nvSpPr>
        <p:spPr>
          <a:xfrm>
            <a:off x="6473952" y="3246120"/>
            <a:ext cx="5029200" cy="27432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Slower, but no secret has to be shared beforehand</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91672" cy="1828800"/>
        </p:xfrm>
        <a:graphic>
          <a:graphicData uri="http://schemas.openxmlformats.org/drawingml/2006/table">
            <a:tbl>
              <a:tblPr/>
              <a:tblGrid>
                <a:gridCol w="2194560">
                  <a:extLst>
                    <a:ext uri="{9D8B030D-6E8A-4147-A177-3AD203B41FA5}">
                      <a16:colId xmlns:a16="http://schemas.microsoft.com/office/drawing/2014/main" val="20000"/>
                    </a:ext>
                  </a:extLst>
                </a:gridCol>
                <a:gridCol w="4453128">
                  <a:extLst>
                    <a:ext uri="{9D8B030D-6E8A-4147-A177-3AD203B41FA5}">
                      <a16:colId xmlns:a16="http://schemas.microsoft.com/office/drawing/2014/main" val="20001"/>
                    </a:ext>
                  </a:extLst>
                </a:gridCol>
                <a:gridCol w="4443984">
                  <a:extLst>
                    <a:ext uri="{9D8B030D-6E8A-4147-A177-3AD203B41FA5}">
                      <a16:colId xmlns:a16="http://schemas.microsoft.com/office/drawing/2014/main" val="20002"/>
                    </a:ext>
                  </a:extLst>
                </a:gridCol>
              </a:tblGrid>
              <a:tr h="365760">
                <a:tc>
                  <a:txBody>
                    <a:bodyPr/>
                    <a:lstStyle/>
                    <a:p>
                      <a:pPr marL="0" indent="0">
                        <a:buNone/>
                      </a:pP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Symmetric</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Asymmetric</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Speed</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a:solidFill>
                            <a:srgbClr val="F1F5F9"/>
                          </a:solidFill>
                          <a:latin typeface="Calibri" pitchFamily="34" charset="0"/>
                          <a:ea typeface="Calibri" pitchFamily="34" charset="-122"/>
                          <a:cs typeface="Calibri" pitchFamily="34" charset="-120"/>
                        </a:rPr>
                        <a:t>Very fast (built into modern chips)</a:t>
                      </a:r>
                      <a:endParaRPr lang="en-US" sz="14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a:solidFill>
                            <a:srgbClr val="F1F5F9"/>
                          </a:solidFill>
                          <a:latin typeface="Calibri" pitchFamily="34" charset="0"/>
                          <a:ea typeface="Calibri" pitchFamily="34" charset="-122"/>
                          <a:cs typeface="Calibri" pitchFamily="34" charset="-120"/>
                        </a:rPr>
                        <a:t>Much slower (about 100 to 1000 times)</a:t>
                      </a:r>
                      <a:endParaRPr lang="en-US" sz="14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Key sharing</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a:solidFill>
                            <a:srgbClr val="F1F5F9"/>
                          </a:solidFill>
                          <a:latin typeface="Calibri" pitchFamily="34" charset="0"/>
                          <a:ea typeface="Calibri" pitchFamily="34" charset="-122"/>
                          <a:cs typeface="Calibri" pitchFamily="34" charset="-120"/>
                        </a:rPr>
                        <a:t>Must share the key secretly first</a:t>
                      </a:r>
                      <a:endParaRPr lang="en-US" sz="14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dirty="0">
                          <a:solidFill>
                            <a:srgbClr val="F1F5F9"/>
                          </a:solidFill>
                          <a:latin typeface="Calibri" pitchFamily="34" charset="0"/>
                          <a:ea typeface="Calibri" pitchFamily="34" charset="-122"/>
                          <a:cs typeface="Calibri" pitchFamily="34" charset="-120"/>
                        </a:rPr>
                        <a:t>Public key can be shared openly</a:t>
                      </a:r>
                      <a:endParaRPr lang="en-US" sz="14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2"/>
                  </a:ext>
                </a:extLst>
              </a:tr>
              <a:tr h="365760">
                <a:tc>
                  <a:txBody>
                    <a:bodyPr/>
                    <a:lstStyle/>
                    <a:p>
                      <a:pPr marL="0" indent="0">
                        <a:buNone/>
                      </a:pPr>
                      <a:r>
                        <a:rPr lang="en-US" sz="1300" b="1">
                          <a:solidFill>
                            <a:srgbClr val="22D3EE"/>
                          </a:solidFill>
                          <a:latin typeface="Consolas" pitchFamily="34" charset="0"/>
                          <a:ea typeface="Consolas" pitchFamily="34" charset="-122"/>
                          <a:cs typeface="Consolas" pitchFamily="34" charset="-120"/>
                        </a:rPr>
                        <a:t>Keys for a group</a:t>
                      </a:r>
                      <a:endParaRPr lang="en-US" sz="130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a:solidFill>
                            <a:srgbClr val="F1F5F9"/>
                          </a:solidFill>
                          <a:latin typeface="Calibri" pitchFamily="34" charset="0"/>
                          <a:ea typeface="Calibri" pitchFamily="34" charset="-122"/>
                          <a:cs typeface="Calibri" pitchFamily="34" charset="-120"/>
                        </a:rPr>
                        <a:t>Many keys: one per pair of people</a:t>
                      </a:r>
                      <a:endParaRPr lang="en-US" sz="14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a:solidFill>
                            <a:srgbClr val="F1F5F9"/>
                          </a:solidFill>
                          <a:latin typeface="Calibri" pitchFamily="34" charset="0"/>
                          <a:ea typeface="Calibri" pitchFamily="34" charset="-122"/>
                          <a:cs typeface="Calibri" pitchFamily="34" charset="-120"/>
                        </a:rPr>
                        <a:t>Just 2 per person (one key pair)</a:t>
                      </a:r>
                      <a:endParaRPr lang="en-US" sz="14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Algorithms</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dirty="0">
                          <a:solidFill>
                            <a:srgbClr val="F1F5F9"/>
                          </a:solidFill>
                          <a:latin typeface="Calibri" pitchFamily="34" charset="0"/>
                          <a:ea typeface="Calibri" pitchFamily="34" charset="-122"/>
                          <a:cs typeface="Calibri" pitchFamily="34" charset="-120"/>
                        </a:rPr>
                        <a:t>AES, ChaCha20</a:t>
                      </a:r>
                      <a:endParaRPr lang="en-US" sz="14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400">
                          <a:solidFill>
                            <a:srgbClr val="F1F5F9"/>
                          </a:solidFill>
                          <a:latin typeface="Calibri" pitchFamily="34" charset="0"/>
                          <a:ea typeface="Calibri" pitchFamily="34" charset="-122"/>
                          <a:cs typeface="Calibri" pitchFamily="34" charset="-120"/>
                        </a:rPr>
                        <a:t>RSA, ECC, ML-KEM</a:t>
                      </a:r>
                      <a:endParaRPr lang="en-US" sz="14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4"/>
                  </a:ext>
                </a:extLst>
              </a:tr>
            </a:tbl>
          </a:graphicData>
        </a:graphic>
      </p:graphicFrame>
      <p:sp>
        <p:nvSpPr>
          <p:cNvPr id="33" name="Shape 28"/>
          <p:cNvSpPr/>
          <p:nvPr/>
        </p:nvSpPr>
        <p:spPr>
          <a:xfrm>
            <a:off x="548640" y="5852160"/>
            <a:ext cx="11091672" cy="457200"/>
          </a:xfrm>
          <a:prstGeom prst="roundRect">
            <a:avLst>
              <a:gd name="adj" fmla="val 16000"/>
            </a:avLst>
          </a:prstGeom>
          <a:solidFill>
            <a:srgbClr val="172544"/>
          </a:solidFill>
          <a:ln w="12700">
            <a:solidFill>
              <a:srgbClr val="2A3E68"/>
            </a:solidFill>
            <a:prstDash val="solid"/>
          </a:ln>
        </p:spPr>
      </p:sp>
      <p:sp>
        <p:nvSpPr>
          <p:cNvPr id="34" name="Text 29"/>
          <p:cNvSpPr/>
          <p:nvPr/>
        </p:nvSpPr>
        <p:spPr>
          <a:xfrm>
            <a:off x="777240" y="5852160"/>
            <a:ext cx="10698480" cy="45720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In practice, </a:t>
            </a:r>
            <a:r>
              <a:rPr lang="en-US" sz="1400" b="1">
                <a:solidFill>
                  <a:srgbClr val="22D3EE"/>
                </a:solidFill>
                <a:latin typeface="Calibri" pitchFamily="34" charset="0"/>
                <a:ea typeface="Calibri" pitchFamily="34" charset="-122"/>
                <a:cs typeface="Calibri" pitchFamily="34" charset="-120"/>
              </a:rPr>
              <a:t>both together</a:t>
            </a:r>
            <a:r>
              <a:rPr lang="en-US" sz="1400" b="1" dirty="0">
                <a:solidFill>
                  <a:srgbClr val="22D3EE"/>
                </a:solidFill>
                <a:latin typeface="Calibri" pitchFamily="34" charset="0"/>
                <a:ea typeface="Calibri" pitchFamily="34" charset="-122"/>
                <a:cs typeface="Calibri" pitchFamily="34" charset="-120"/>
              </a:rPr>
              <a:t>: </a:t>
            </a:r>
            <a:r>
              <a:rPr lang="en-US" sz="1400" dirty="0">
                <a:solidFill>
                  <a:srgbClr val="F1F5F9"/>
                </a:solidFill>
                <a:latin typeface="Calibri" pitchFamily="34" charset="0"/>
                <a:ea typeface="Calibri" pitchFamily="34" charset="-122"/>
                <a:cs typeface="Calibri" pitchFamily="34" charset="-120"/>
              </a:rPr>
              <a:t>TLS </a:t>
            </a:r>
            <a:r>
              <a:rPr lang="en-US" sz="1400">
                <a:solidFill>
                  <a:srgbClr val="F1F5F9"/>
                </a:solidFill>
                <a:latin typeface="Calibri" pitchFamily="34" charset="0"/>
                <a:ea typeface="Calibri" pitchFamily="34" charset="-122"/>
                <a:cs typeface="Calibri" pitchFamily="34" charset="-120"/>
              </a:rPr>
              <a:t>(the lock in your browser) </a:t>
            </a:r>
            <a:r>
              <a:rPr lang="en-US" sz="1400" dirty="0">
                <a:solidFill>
                  <a:srgbClr val="F1F5F9"/>
                </a:solidFill>
                <a:latin typeface="Calibri" pitchFamily="34" charset="0"/>
                <a:ea typeface="Calibri" pitchFamily="34" charset="-122"/>
                <a:cs typeface="Calibri" pitchFamily="34" charset="-120"/>
              </a:rPr>
              <a:t>uses asymmetric </a:t>
            </a:r>
            <a:r>
              <a:rPr lang="en-US" sz="1400">
                <a:solidFill>
                  <a:srgbClr val="F1F5F9"/>
                </a:solidFill>
                <a:latin typeface="Calibri" pitchFamily="34" charset="0"/>
                <a:ea typeface="Calibri" pitchFamily="34" charset="-122"/>
                <a:cs typeface="Calibri" pitchFamily="34" charset="-120"/>
              </a:rPr>
              <a:t>encryption</a:t>
            </a:r>
            <a:r>
              <a:rPr lang="en-US" sz="1400" dirty="0">
                <a:solidFill>
                  <a:srgbClr val="F1F5F9"/>
                </a:solidFill>
                <a:latin typeface="Calibri" pitchFamily="34" charset="0"/>
                <a:ea typeface="Calibri" pitchFamily="34" charset="-122"/>
                <a:cs typeface="Calibri" pitchFamily="34" charset="-120"/>
              </a:rPr>
              <a:t> to agree on a key, then AES-GCM to encrypt the data.</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ENCRYPTION 03</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AES: the standard symmetric cipher</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19</a:t>
            </a:r>
            <a:endParaRPr lang="en-US" sz="1000" dirty="0"/>
          </a:p>
        </p:txBody>
      </p:sp>
      <p:sp>
        <p:nvSpPr>
          <p:cNvPr id="6" name="Shape 4"/>
          <p:cNvSpPr/>
          <p:nvPr/>
        </p:nvSpPr>
        <p:spPr>
          <a:xfrm>
            <a:off x="3712464" y="1371600"/>
            <a:ext cx="6345936" cy="914400"/>
          </a:xfrm>
          <a:prstGeom prst="roundRect">
            <a:avLst>
              <a:gd name="adj" fmla="val 8000"/>
            </a:avLst>
          </a:prstGeom>
          <a:solidFill>
            <a:srgbClr val="0A0F1C"/>
          </a:solidFill>
          <a:ln w="15875">
            <a:solidFill>
              <a:srgbClr val="FBBF24"/>
            </a:solidFill>
            <a:prstDash val="dash"/>
          </a:ln>
        </p:spPr>
      </p:sp>
      <p:sp>
        <p:nvSpPr>
          <p:cNvPr id="7" name="Shape 5"/>
          <p:cNvSpPr/>
          <p:nvPr/>
        </p:nvSpPr>
        <p:spPr>
          <a:xfrm>
            <a:off x="548640" y="1508760"/>
            <a:ext cx="1280160" cy="640080"/>
          </a:xfrm>
          <a:prstGeom prst="roundRect">
            <a:avLst>
              <a:gd name="adj" fmla="val 11429"/>
            </a:avLst>
          </a:prstGeom>
          <a:solidFill>
            <a:srgbClr val="172544"/>
          </a:solidFill>
          <a:ln w="19050">
            <a:solidFill>
              <a:srgbClr val="4ADE80"/>
            </a:solidFill>
            <a:prstDash val="solid"/>
          </a:ln>
        </p:spPr>
      </p:sp>
      <p:sp>
        <p:nvSpPr>
          <p:cNvPr id="8" name="Text 6"/>
          <p:cNvSpPr/>
          <p:nvPr/>
        </p:nvSpPr>
        <p:spPr>
          <a:xfrm>
            <a:off x="548640" y="1508760"/>
            <a:ext cx="1280160" cy="64008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Plaintext</a:t>
            </a:r>
            <a:endParaRPr lang="en-US" sz="1200" dirty="0"/>
          </a:p>
          <a:p>
            <a:pPr marL="0" indent="0" algn="ctr">
              <a:buNone/>
            </a:pPr>
            <a:r>
              <a:rPr lang="en-US" sz="1200" b="1" dirty="0">
                <a:solidFill>
                  <a:srgbClr val="F1F5F9"/>
                </a:solidFill>
                <a:latin typeface="Consolas" pitchFamily="34" charset="0"/>
                <a:ea typeface="Consolas" pitchFamily="34" charset="-122"/>
                <a:cs typeface="Consolas" pitchFamily="34" charset="-120"/>
              </a:rPr>
              <a:t>128 bits</a:t>
            </a:r>
            <a:endParaRPr lang="en-US" sz="1200" dirty="0"/>
          </a:p>
        </p:txBody>
      </p:sp>
      <p:sp>
        <p:nvSpPr>
          <p:cNvPr id="9" name="Shape 7"/>
          <p:cNvSpPr/>
          <p:nvPr/>
        </p:nvSpPr>
        <p:spPr>
          <a:xfrm>
            <a:off x="2176272" y="1508760"/>
            <a:ext cx="1280160" cy="640080"/>
          </a:xfrm>
          <a:prstGeom prst="roundRect">
            <a:avLst>
              <a:gd name="adj" fmla="val 11429"/>
            </a:avLst>
          </a:prstGeom>
          <a:solidFill>
            <a:srgbClr val="172544"/>
          </a:solidFill>
          <a:ln w="19050">
            <a:solidFill>
              <a:srgbClr val="FBBF24"/>
            </a:solidFill>
            <a:prstDash val="solid"/>
          </a:ln>
        </p:spPr>
      </p:sp>
      <p:sp>
        <p:nvSpPr>
          <p:cNvPr id="10" name="Text 8"/>
          <p:cNvSpPr/>
          <p:nvPr/>
        </p:nvSpPr>
        <p:spPr>
          <a:xfrm>
            <a:off x="2176272" y="1508760"/>
            <a:ext cx="1280160" cy="64008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AddRound</a:t>
            </a:r>
            <a:endParaRPr lang="en-US" sz="1200" dirty="0"/>
          </a:p>
          <a:p>
            <a:pPr marL="0" indent="0" algn="ctr">
              <a:buNone/>
            </a:pPr>
            <a:r>
              <a:rPr lang="en-US" sz="1200" b="1" dirty="0">
                <a:solidFill>
                  <a:srgbClr val="F1F5F9"/>
                </a:solidFill>
                <a:latin typeface="Consolas" pitchFamily="34" charset="0"/>
                <a:ea typeface="Consolas" pitchFamily="34" charset="-122"/>
                <a:cs typeface="Consolas" pitchFamily="34" charset="-120"/>
              </a:rPr>
              <a:t>Key</a:t>
            </a:r>
            <a:endParaRPr lang="en-US" sz="1200" dirty="0"/>
          </a:p>
        </p:txBody>
      </p:sp>
      <p:sp>
        <p:nvSpPr>
          <p:cNvPr id="11" name="Shape 9"/>
          <p:cNvSpPr/>
          <p:nvPr/>
        </p:nvSpPr>
        <p:spPr>
          <a:xfrm>
            <a:off x="3803904" y="1508760"/>
            <a:ext cx="1280160" cy="640080"/>
          </a:xfrm>
          <a:prstGeom prst="roundRect">
            <a:avLst>
              <a:gd name="adj" fmla="val 11429"/>
            </a:avLst>
          </a:prstGeom>
          <a:solidFill>
            <a:srgbClr val="172544"/>
          </a:solidFill>
          <a:ln w="19050">
            <a:solidFill>
              <a:srgbClr val="22D3EE"/>
            </a:solidFill>
            <a:prstDash val="solid"/>
          </a:ln>
        </p:spPr>
      </p:sp>
      <p:sp>
        <p:nvSpPr>
          <p:cNvPr id="12" name="Text 10"/>
          <p:cNvSpPr/>
          <p:nvPr/>
        </p:nvSpPr>
        <p:spPr>
          <a:xfrm>
            <a:off x="3803904" y="1508760"/>
            <a:ext cx="1280160" cy="64008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SubBytes</a:t>
            </a:r>
            <a:endParaRPr lang="en-US" sz="1200" dirty="0"/>
          </a:p>
        </p:txBody>
      </p:sp>
      <p:sp>
        <p:nvSpPr>
          <p:cNvPr id="13" name="Shape 11"/>
          <p:cNvSpPr/>
          <p:nvPr/>
        </p:nvSpPr>
        <p:spPr>
          <a:xfrm>
            <a:off x="5431536" y="1508760"/>
            <a:ext cx="1280160" cy="640080"/>
          </a:xfrm>
          <a:prstGeom prst="roundRect">
            <a:avLst>
              <a:gd name="adj" fmla="val 11429"/>
            </a:avLst>
          </a:prstGeom>
          <a:solidFill>
            <a:srgbClr val="172544"/>
          </a:solidFill>
          <a:ln w="19050">
            <a:solidFill>
              <a:srgbClr val="22D3EE"/>
            </a:solidFill>
            <a:prstDash val="solid"/>
          </a:ln>
        </p:spPr>
      </p:sp>
      <p:sp>
        <p:nvSpPr>
          <p:cNvPr id="14" name="Text 12"/>
          <p:cNvSpPr/>
          <p:nvPr/>
        </p:nvSpPr>
        <p:spPr>
          <a:xfrm>
            <a:off x="5431536" y="1508760"/>
            <a:ext cx="1280160" cy="64008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ShiftRows</a:t>
            </a:r>
            <a:endParaRPr lang="en-US" sz="1200" dirty="0"/>
          </a:p>
        </p:txBody>
      </p:sp>
      <p:sp>
        <p:nvSpPr>
          <p:cNvPr id="15" name="Shape 13"/>
          <p:cNvSpPr/>
          <p:nvPr/>
        </p:nvSpPr>
        <p:spPr>
          <a:xfrm>
            <a:off x="7059168" y="1508760"/>
            <a:ext cx="1280160" cy="640080"/>
          </a:xfrm>
          <a:prstGeom prst="roundRect">
            <a:avLst>
              <a:gd name="adj" fmla="val 11429"/>
            </a:avLst>
          </a:prstGeom>
          <a:solidFill>
            <a:srgbClr val="172544"/>
          </a:solidFill>
          <a:ln w="19050">
            <a:solidFill>
              <a:srgbClr val="22D3EE"/>
            </a:solidFill>
            <a:prstDash val="solid"/>
          </a:ln>
        </p:spPr>
      </p:sp>
      <p:sp>
        <p:nvSpPr>
          <p:cNvPr id="16" name="Text 14"/>
          <p:cNvSpPr/>
          <p:nvPr/>
        </p:nvSpPr>
        <p:spPr>
          <a:xfrm>
            <a:off x="7059168" y="1508760"/>
            <a:ext cx="1280160" cy="64008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MixColumns</a:t>
            </a:r>
            <a:endParaRPr lang="en-US" sz="1200" dirty="0"/>
          </a:p>
        </p:txBody>
      </p:sp>
      <p:sp>
        <p:nvSpPr>
          <p:cNvPr id="17" name="Shape 15"/>
          <p:cNvSpPr/>
          <p:nvPr/>
        </p:nvSpPr>
        <p:spPr>
          <a:xfrm>
            <a:off x="8686800" y="1508760"/>
            <a:ext cx="1280160" cy="640080"/>
          </a:xfrm>
          <a:prstGeom prst="roundRect">
            <a:avLst>
              <a:gd name="adj" fmla="val 11429"/>
            </a:avLst>
          </a:prstGeom>
          <a:solidFill>
            <a:srgbClr val="172544"/>
          </a:solidFill>
          <a:ln w="19050">
            <a:solidFill>
              <a:srgbClr val="FBBF24"/>
            </a:solidFill>
            <a:prstDash val="solid"/>
          </a:ln>
        </p:spPr>
      </p:sp>
      <p:sp>
        <p:nvSpPr>
          <p:cNvPr id="18" name="Text 16"/>
          <p:cNvSpPr/>
          <p:nvPr/>
        </p:nvSpPr>
        <p:spPr>
          <a:xfrm>
            <a:off x="8686800" y="1508760"/>
            <a:ext cx="1280160" cy="64008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AddRound</a:t>
            </a:r>
            <a:endParaRPr lang="en-US" sz="1200" dirty="0"/>
          </a:p>
          <a:p>
            <a:pPr marL="0" indent="0" algn="ctr">
              <a:buNone/>
            </a:pPr>
            <a:r>
              <a:rPr lang="en-US" sz="1200" b="1" dirty="0">
                <a:solidFill>
                  <a:srgbClr val="F1F5F9"/>
                </a:solidFill>
                <a:latin typeface="Consolas" pitchFamily="34" charset="0"/>
                <a:ea typeface="Consolas" pitchFamily="34" charset="-122"/>
                <a:cs typeface="Consolas" pitchFamily="34" charset="-120"/>
              </a:rPr>
              <a:t>Key</a:t>
            </a:r>
            <a:endParaRPr lang="en-US" sz="1200" dirty="0"/>
          </a:p>
        </p:txBody>
      </p:sp>
      <p:sp>
        <p:nvSpPr>
          <p:cNvPr id="19" name="Shape 17"/>
          <p:cNvSpPr/>
          <p:nvPr/>
        </p:nvSpPr>
        <p:spPr>
          <a:xfrm>
            <a:off x="10314432" y="1508760"/>
            <a:ext cx="1280160" cy="640080"/>
          </a:xfrm>
          <a:prstGeom prst="roundRect">
            <a:avLst>
              <a:gd name="adj" fmla="val 11429"/>
            </a:avLst>
          </a:prstGeom>
          <a:solidFill>
            <a:srgbClr val="172544"/>
          </a:solidFill>
          <a:ln w="19050">
            <a:solidFill>
              <a:srgbClr val="F87171"/>
            </a:solidFill>
            <a:prstDash val="solid"/>
          </a:ln>
        </p:spPr>
      </p:sp>
      <p:sp>
        <p:nvSpPr>
          <p:cNvPr id="20" name="Text 18"/>
          <p:cNvSpPr/>
          <p:nvPr/>
        </p:nvSpPr>
        <p:spPr>
          <a:xfrm>
            <a:off x="10314432" y="1508760"/>
            <a:ext cx="1280160" cy="64008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Ciphertext</a:t>
            </a:r>
            <a:endParaRPr lang="en-US" sz="1200" dirty="0"/>
          </a:p>
          <a:p>
            <a:pPr marL="0" indent="0" algn="ctr">
              <a:buNone/>
            </a:pPr>
            <a:r>
              <a:rPr lang="en-US" sz="1200" b="1" dirty="0">
                <a:solidFill>
                  <a:srgbClr val="F1F5F9"/>
                </a:solidFill>
                <a:latin typeface="Consolas" pitchFamily="34" charset="0"/>
                <a:ea typeface="Consolas" pitchFamily="34" charset="-122"/>
                <a:cs typeface="Consolas" pitchFamily="34" charset="-120"/>
              </a:rPr>
              <a:t>128 bits</a:t>
            </a:r>
            <a:endParaRPr lang="en-US" sz="1200" dirty="0"/>
          </a:p>
        </p:txBody>
      </p:sp>
      <p:sp>
        <p:nvSpPr>
          <p:cNvPr id="21" name="Shape 19"/>
          <p:cNvSpPr/>
          <p:nvPr/>
        </p:nvSpPr>
        <p:spPr>
          <a:xfrm>
            <a:off x="1847088" y="1828800"/>
            <a:ext cx="310896" cy="0"/>
          </a:xfrm>
          <a:prstGeom prst="line">
            <a:avLst/>
          </a:prstGeom>
          <a:noFill/>
          <a:ln w="25400">
            <a:solidFill>
              <a:srgbClr val="22D3EE"/>
            </a:solidFill>
            <a:prstDash val="solid"/>
            <a:tailEnd type="triangle"/>
          </a:ln>
        </p:spPr>
      </p:sp>
      <p:sp>
        <p:nvSpPr>
          <p:cNvPr id="22" name="Shape 20"/>
          <p:cNvSpPr/>
          <p:nvPr/>
        </p:nvSpPr>
        <p:spPr>
          <a:xfrm>
            <a:off x="3474720" y="1828800"/>
            <a:ext cx="310896" cy="0"/>
          </a:xfrm>
          <a:prstGeom prst="line">
            <a:avLst/>
          </a:prstGeom>
          <a:noFill/>
          <a:ln w="25400">
            <a:solidFill>
              <a:srgbClr val="22D3EE"/>
            </a:solidFill>
            <a:prstDash val="solid"/>
            <a:tailEnd type="triangle"/>
          </a:ln>
        </p:spPr>
      </p:sp>
      <p:sp>
        <p:nvSpPr>
          <p:cNvPr id="23" name="Shape 21"/>
          <p:cNvSpPr/>
          <p:nvPr/>
        </p:nvSpPr>
        <p:spPr>
          <a:xfrm>
            <a:off x="5102352" y="1828800"/>
            <a:ext cx="310896" cy="0"/>
          </a:xfrm>
          <a:prstGeom prst="line">
            <a:avLst/>
          </a:prstGeom>
          <a:noFill/>
          <a:ln w="25400">
            <a:solidFill>
              <a:srgbClr val="22D3EE"/>
            </a:solidFill>
            <a:prstDash val="solid"/>
            <a:tailEnd type="triangle"/>
          </a:ln>
        </p:spPr>
      </p:sp>
      <p:sp>
        <p:nvSpPr>
          <p:cNvPr id="24" name="Shape 22"/>
          <p:cNvSpPr/>
          <p:nvPr/>
        </p:nvSpPr>
        <p:spPr>
          <a:xfrm>
            <a:off x="6729984" y="1828800"/>
            <a:ext cx="310896" cy="0"/>
          </a:xfrm>
          <a:prstGeom prst="line">
            <a:avLst/>
          </a:prstGeom>
          <a:noFill/>
          <a:ln w="25400">
            <a:solidFill>
              <a:srgbClr val="22D3EE"/>
            </a:solidFill>
            <a:prstDash val="solid"/>
            <a:tailEnd type="triangle"/>
          </a:ln>
        </p:spPr>
      </p:sp>
      <p:sp>
        <p:nvSpPr>
          <p:cNvPr id="25" name="Shape 23"/>
          <p:cNvSpPr/>
          <p:nvPr/>
        </p:nvSpPr>
        <p:spPr>
          <a:xfrm>
            <a:off x="8357616" y="1828800"/>
            <a:ext cx="310896" cy="0"/>
          </a:xfrm>
          <a:prstGeom prst="line">
            <a:avLst/>
          </a:prstGeom>
          <a:noFill/>
          <a:ln w="25400">
            <a:solidFill>
              <a:srgbClr val="22D3EE"/>
            </a:solidFill>
            <a:prstDash val="solid"/>
            <a:tailEnd type="triangle"/>
          </a:ln>
        </p:spPr>
      </p:sp>
      <p:sp>
        <p:nvSpPr>
          <p:cNvPr id="26" name="Shape 24"/>
          <p:cNvSpPr/>
          <p:nvPr/>
        </p:nvSpPr>
        <p:spPr>
          <a:xfrm>
            <a:off x="9985248" y="1828800"/>
            <a:ext cx="310896" cy="0"/>
          </a:xfrm>
          <a:prstGeom prst="line">
            <a:avLst/>
          </a:prstGeom>
          <a:noFill/>
          <a:ln w="25400">
            <a:solidFill>
              <a:srgbClr val="22D3EE"/>
            </a:solidFill>
            <a:prstDash val="solid"/>
            <a:tailEnd type="triangle"/>
          </a:ln>
        </p:spPr>
      </p:sp>
      <p:sp>
        <p:nvSpPr>
          <p:cNvPr id="27" name="Text 25"/>
          <p:cNvSpPr/>
          <p:nvPr/>
        </p:nvSpPr>
        <p:spPr>
          <a:xfrm>
            <a:off x="3712464" y="2377440"/>
            <a:ext cx="6400800" cy="228600"/>
          </a:xfrm>
          <a:prstGeom prst="rect">
            <a:avLst/>
          </a:prstGeom>
          <a:noFill/>
          <a:ln/>
        </p:spPr>
        <p:txBody>
          <a:bodyPr wrap="square" lIns="0" tIns="0" rIns="0" bIns="0" rtlCol="0" anchor="t"/>
          <a:lstStyle/>
          <a:p>
            <a:pPr marL="0" indent="0" algn="ctr">
              <a:buNone/>
            </a:pPr>
            <a:r>
              <a:rPr lang="en-US" sz="1200" dirty="0">
                <a:solidFill>
                  <a:srgbClr val="FBBF24"/>
                </a:solidFill>
                <a:latin typeface="Consolas" pitchFamily="34" charset="0"/>
                <a:ea typeface="Consolas" pitchFamily="34" charset="-122"/>
                <a:cs typeface="Consolas" pitchFamily="34" charset="-120"/>
              </a:rPr>
              <a:t>repeat </a:t>
            </a:r>
            <a:r>
              <a:rPr lang="en-US" sz="1200">
                <a:solidFill>
                  <a:srgbClr val="FBBF24"/>
                </a:solidFill>
                <a:latin typeface="Consolas" pitchFamily="34" charset="0"/>
                <a:ea typeface="Consolas" pitchFamily="34" charset="-122"/>
                <a:cs typeface="Consolas" pitchFamily="34" charset="-120"/>
              </a:rPr>
              <a:t>these steps each round </a:t>
            </a:r>
            <a:r>
              <a:rPr lang="en-US" sz="1200" dirty="0">
                <a:solidFill>
                  <a:srgbClr val="FBBF24"/>
                </a:solidFill>
                <a:latin typeface="Consolas" pitchFamily="34" charset="0"/>
                <a:ea typeface="Consolas" pitchFamily="34" charset="-122"/>
                <a:cs typeface="Consolas" pitchFamily="34" charset="-120"/>
              </a:rPr>
              <a:t>(the </a:t>
            </a:r>
            <a:r>
              <a:rPr lang="en-US" sz="1200">
                <a:solidFill>
                  <a:srgbClr val="FBBF24"/>
                </a:solidFill>
                <a:latin typeface="Consolas" pitchFamily="34" charset="0"/>
                <a:ea typeface="Consolas" pitchFamily="34" charset="-122"/>
                <a:cs typeface="Consolas" pitchFamily="34" charset="-120"/>
              </a:rPr>
              <a:t>last</a:t>
            </a:r>
            <a:r>
              <a:rPr lang="en-US" sz="1200" dirty="0">
                <a:solidFill>
                  <a:srgbClr val="FBBF24"/>
                </a:solidFill>
                <a:latin typeface="Consolas" pitchFamily="34" charset="0"/>
                <a:ea typeface="Consolas" pitchFamily="34" charset="-122"/>
                <a:cs typeface="Consolas" pitchFamily="34" charset="-120"/>
              </a:rPr>
              <a:t> round skips MixColumns)</a:t>
            </a:r>
            <a:endParaRPr lang="en-US" sz="1200" dirty="0"/>
          </a:p>
        </p:txBody>
      </p:sp>
      <p:sp>
        <p:nvSpPr>
          <p:cNvPr id="28" name="Shape 26"/>
          <p:cNvSpPr/>
          <p:nvPr/>
        </p:nvSpPr>
        <p:spPr>
          <a:xfrm>
            <a:off x="548640" y="2788920"/>
            <a:ext cx="3429000" cy="1554480"/>
          </a:xfrm>
          <a:prstGeom prst="roundRect">
            <a:avLst>
              <a:gd name="adj" fmla="val 4706"/>
            </a:avLst>
          </a:prstGeom>
          <a:solidFill>
            <a:srgbClr val="111A2F"/>
          </a:solidFill>
          <a:ln w="12700">
            <a:solidFill>
              <a:srgbClr val="2A3E68"/>
            </a:solidFill>
            <a:prstDash val="solid"/>
          </a:ln>
        </p:spPr>
      </p:sp>
      <p:sp>
        <p:nvSpPr>
          <p:cNvPr id="29" name="Text 27"/>
          <p:cNvSpPr/>
          <p:nvPr/>
        </p:nvSpPr>
        <p:spPr>
          <a:xfrm>
            <a:off x="749808" y="2926080"/>
            <a:ext cx="301752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SubBytes</a:t>
            </a:r>
            <a:endParaRPr lang="en-US" sz="1400" dirty="0"/>
          </a:p>
        </p:txBody>
      </p:sp>
      <p:sp>
        <p:nvSpPr>
          <p:cNvPr id="30" name="Text 28"/>
          <p:cNvSpPr/>
          <p:nvPr/>
        </p:nvSpPr>
        <p:spPr>
          <a:xfrm>
            <a:off x="749808" y="3291840"/>
            <a:ext cx="3063240" cy="960120"/>
          </a:xfrm>
          <a:prstGeom prst="rect">
            <a:avLst/>
          </a:prstGeom>
          <a:noFill/>
          <a:ln/>
        </p:spPr>
        <p:txBody>
          <a:bodyPr wrap="square" lIns="0" tIns="0" rIns="0" bIns="0" rtlCol="0" anchor="t"/>
          <a:lstStyle/>
          <a:p>
            <a:pPr marL="0" indent="0">
              <a:buNone/>
            </a:pPr>
            <a:r>
              <a:rPr lang="en-US" sz="1300" dirty="0">
                <a:solidFill>
                  <a:srgbClr val="F1F5F9"/>
                </a:solidFill>
                <a:latin typeface="Calibri" pitchFamily="34" charset="0"/>
                <a:ea typeface="Calibri" pitchFamily="34" charset="-122"/>
                <a:cs typeface="Calibri" pitchFamily="34" charset="-120"/>
              </a:rPr>
              <a:t>Each byte is swapped </a:t>
            </a:r>
            <a:r>
              <a:rPr lang="en-US" sz="1300">
                <a:solidFill>
                  <a:srgbClr val="F1F5F9"/>
                </a:solidFill>
                <a:latin typeface="Calibri" pitchFamily="34" charset="0"/>
                <a:ea typeface="Calibri" pitchFamily="34" charset="-122"/>
                <a:cs typeface="Calibri" pitchFamily="34" charset="-120"/>
              </a:rPr>
              <a:t>using a fixed lookup table (</a:t>
            </a:r>
            <a:r>
              <a:rPr lang="en-US" sz="1300" dirty="0">
                <a:solidFill>
                  <a:srgbClr val="F1F5F9"/>
                </a:solidFill>
                <a:latin typeface="Calibri" pitchFamily="34" charset="0"/>
                <a:ea typeface="Calibri" pitchFamily="34" charset="-122"/>
                <a:cs typeface="Calibri" pitchFamily="34" charset="-120"/>
              </a:rPr>
              <a:t>the S-box</a:t>
            </a:r>
            <a:r>
              <a:rPr lang="en-US" sz="1300">
                <a:solidFill>
                  <a:srgbClr val="F1F5F9"/>
                </a:solidFill>
                <a:latin typeface="Calibri" pitchFamily="34" charset="0"/>
                <a:ea typeface="Calibri" pitchFamily="34" charset="-122"/>
                <a:cs typeface="Calibri" pitchFamily="34" charset="-120"/>
              </a:rPr>
              <a:t>). This hides patterns</a:t>
            </a:r>
            <a:r>
              <a:rPr lang="en-US" sz="1300" dirty="0">
                <a:solidFill>
                  <a:srgbClr val="F1F5F9"/>
                </a:solidFill>
                <a:latin typeface="Calibri" pitchFamily="34" charset="0"/>
                <a:ea typeface="Calibri" pitchFamily="34" charset="-122"/>
                <a:cs typeface="Calibri" pitchFamily="34" charset="-120"/>
              </a:rPr>
              <a:t>: confusion.</a:t>
            </a:r>
            <a:endParaRPr lang="en-US" sz="1300" dirty="0"/>
          </a:p>
        </p:txBody>
      </p:sp>
      <p:sp>
        <p:nvSpPr>
          <p:cNvPr id="31" name="Shape 29"/>
          <p:cNvSpPr/>
          <p:nvPr/>
        </p:nvSpPr>
        <p:spPr>
          <a:xfrm>
            <a:off x="4114800" y="2788920"/>
            <a:ext cx="3429000" cy="1554480"/>
          </a:xfrm>
          <a:prstGeom prst="roundRect">
            <a:avLst>
              <a:gd name="adj" fmla="val 4706"/>
            </a:avLst>
          </a:prstGeom>
          <a:solidFill>
            <a:srgbClr val="111A2F"/>
          </a:solidFill>
          <a:ln w="12700">
            <a:solidFill>
              <a:srgbClr val="2A3E68"/>
            </a:solidFill>
            <a:prstDash val="solid"/>
          </a:ln>
        </p:spPr>
      </p:sp>
      <p:sp>
        <p:nvSpPr>
          <p:cNvPr id="32" name="Text 30"/>
          <p:cNvSpPr/>
          <p:nvPr/>
        </p:nvSpPr>
        <p:spPr>
          <a:xfrm>
            <a:off x="4315968" y="2926080"/>
            <a:ext cx="301752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ShiftRows</a:t>
            </a:r>
            <a:endParaRPr lang="en-US" sz="1400" dirty="0"/>
          </a:p>
        </p:txBody>
      </p:sp>
      <p:sp>
        <p:nvSpPr>
          <p:cNvPr id="33" name="Text 31"/>
          <p:cNvSpPr/>
          <p:nvPr/>
        </p:nvSpPr>
        <p:spPr>
          <a:xfrm>
            <a:off x="4315968" y="3291840"/>
            <a:ext cx="3063240" cy="96012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Rows are shifted sideways </a:t>
            </a:r>
            <a:r>
              <a:rPr lang="en-US" sz="1300" dirty="0">
                <a:solidFill>
                  <a:srgbClr val="F1F5F9"/>
                </a:solidFill>
                <a:latin typeface="Calibri" pitchFamily="34" charset="0"/>
                <a:ea typeface="Calibri" pitchFamily="34" charset="-122"/>
                <a:cs typeface="Calibri" pitchFamily="34" charset="-120"/>
              </a:rPr>
              <a:t>by </a:t>
            </a:r>
            <a:r>
              <a:rPr lang="en-US" sz="1300">
                <a:solidFill>
                  <a:srgbClr val="F1F5F9"/>
                </a:solidFill>
                <a:latin typeface="Calibri" pitchFamily="34" charset="0"/>
                <a:ea typeface="Calibri" pitchFamily="34" charset="-122"/>
                <a:cs typeface="Calibri" pitchFamily="34" charset="-120"/>
              </a:rPr>
              <a:t>different amounts</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so </a:t>
            </a:r>
            <a:r>
              <a:rPr lang="en-US" sz="1300" dirty="0">
                <a:solidFill>
                  <a:srgbClr val="F1F5F9"/>
                </a:solidFill>
                <a:latin typeface="Calibri" pitchFamily="34" charset="0"/>
                <a:ea typeface="Calibri" pitchFamily="34" charset="-122"/>
                <a:cs typeface="Calibri" pitchFamily="34" charset="-120"/>
              </a:rPr>
              <a:t>bytes</a:t>
            </a:r>
            <a:r>
              <a:rPr lang="en-US" sz="1300">
                <a:solidFill>
                  <a:srgbClr val="F1F5F9"/>
                </a:solidFill>
                <a:latin typeface="Calibri" pitchFamily="34" charset="0"/>
                <a:ea typeface="Calibri" pitchFamily="34" charset="-122"/>
                <a:cs typeface="Calibri" pitchFamily="34" charset="-120"/>
              </a:rPr>
              <a:t> move</a:t>
            </a:r>
            <a:r>
              <a:rPr lang="en-US" sz="1300" dirty="0">
                <a:solidFill>
                  <a:srgbClr val="F1F5F9"/>
                </a:solidFill>
                <a:latin typeface="Calibri" pitchFamily="34" charset="0"/>
                <a:ea typeface="Calibri" pitchFamily="34" charset="-122"/>
                <a:cs typeface="Calibri" pitchFamily="34" charset="-120"/>
              </a:rPr>
              <a:t> between columns.</a:t>
            </a:r>
            <a:endParaRPr lang="en-US" sz="1300" dirty="0"/>
          </a:p>
        </p:txBody>
      </p:sp>
      <p:sp>
        <p:nvSpPr>
          <p:cNvPr id="34" name="Shape 32"/>
          <p:cNvSpPr/>
          <p:nvPr/>
        </p:nvSpPr>
        <p:spPr>
          <a:xfrm>
            <a:off x="548640" y="4480560"/>
            <a:ext cx="3429000" cy="1554480"/>
          </a:xfrm>
          <a:prstGeom prst="roundRect">
            <a:avLst>
              <a:gd name="adj" fmla="val 4706"/>
            </a:avLst>
          </a:prstGeom>
          <a:solidFill>
            <a:srgbClr val="111A2F"/>
          </a:solidFill>
          <a:ln w="12700">
            <a:solidFill>
              <a:srgbClr val="2A3E68"/>
            </a:solidFill>
            <a:prstDash val="solid"/>
          </a:ln>
        </p:spPr>
      </p:sp>
      <p:sp>
        <p:nvSpPr>
          <p:cNvPr id="35" name="Text 33"/>
          <p:cNvSpPr/>
          <p:nvPr/>
        </p:nvSpPr>
        <p:spPr>
          <a:xfrm>
            <a:off x="749808" y="4617720"/>
            <a:ext cx="301752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MixColumns</a:t>
            </a:r>
            <a:endParaRPr lang="en-US" sz="1400" dirty="0"/>
          </a:p>
        </p:txBody>
      </p:sp>
      <p:sp>
        <p:nvSpPr>
          <p:cNvPr id="36" name="Text 34"/>
          <p:cNvSpPr/>
          <p:nvPr/>
        </p:nvSpPr>
        <p:spPr>
          <a:xfrm>
            <a:off x="749808" y="4983480"/>
            <a:ext cx="3063240" cy="960120"/>
          </a:xfrm>
          <a:prstGeom prst="rect">
            <a:avLst/>
          </a:prstGeom>
          <a:noFill/>
          <a:ln/>
        </p:spPr>
        <p:txBody>
          <a:bodyPr wrap="square" lIns="0" tIns="0" rIns="0" bIns="0" rtlCol="0" anchor="t"/>
          <a:lstStyle/>
          <a:p>
            <a:pPr marL="0" indent="0">
              <a:buNone/>
            </a:pPr>
            <a:r>
              <a:rPr lang="en-US" sz="1300" dirty="0">
                <a:solidFill>
                  <a:srgbClr val="F1F5F9"/>
                </a:solidFill>
                <a:latin typeface="Calibri" pitchFamily="34" charset="0"/>
                <a:ea typeface="Calibri" pitchFamily="34" charset="-122"/>
                <a:cs typeface="Calibri" pitchFamily="34" charset="-120"/>
              </a:rPr>
              <a:t>Each column is </a:t>
            </a:r>
            <a:r>
              <a:rPr lang="en-US" sz="1300">
                <a:solidFill>
                  <a:srgbClr val="F1F5F9"/>
                </a:solidFill>
                <a:latin typeface="Calibri" pitchFamily="34" charset="0"/>
                <a:ea typeface="Calibri" pitchFamily="34" charset="-122"/>
                <a:cs typeface="Calibri" pitchFamily="34" charset="-120"/>
              </a:rPr>
              <a:t>blended so every byte affects its neighbours:</a:t>
            </a:r>
            <a:r>
              <a:rPr lang="en-US" sz="1300" dirty="0">
                <a:solidFill>
                  <a:srgbClr val="F1F5F9"/>
                </a:solidFill>
                <a:latin typeface="Calibri" pitchFamily="34" charset="0"/>
                <a:ea typeface="Calibri" pitchFamily="34" charset="-122"/>
                <a:cs typeface="Calibri" pitchFamily="34" charset="-120"/>
              </a:rPr>
              <a:t> diffusion.</a:t>
            </a:r>
            <a:endParaRPr lang="en-US" sz="1300" dirty="0"/>
          </a:p>
        </p:txBody>
      </p:sp>
      <p:sp>
        <p:nvSpPr>
          <p:cNvPr id="37" name="Shape 35"/>
          <p:cNvSpPr/>
          <p:nvPr/>
        </p:nvSpPr>
        <p:spPr>
          <a:xfrm>
            <a:off x="4114800" y="4480560"/>
            <a:ext cx="3429000" cy="1554480"/>
          </a:xfrm>
          <a:prstGeom prst="roundRect">
            <a:avLst>
              <a:gd name="adj" fmla="val 4706"/>
            </a:avLst>
          </a:prstGeom>
          <a:solidFill>
            <a:srgbClr val="111A2F"/>
          </a:solidFill>
          <a:ln w="12700">
            <a:solidFill>
              <a:srgbClr val="2A3E68"/>
            </a:solidFill>
            <a:prstDash val="solid"/>
          </a:ln>
        </p:spPr>
      </p:sp>
      <p:sp>
        <p:nvSpPr>
          <p:cNvPr id="38" name="Text 36"/>
          <p:cNvSpPr/>
          <p:nvPr/>
        </p:nvSpPr>
        <p:spPr>
          <a:xfrm>
            <a:off x="4315968" y="4617720"/>
            <a:ext cx="3017520" cy="274320"/>
          </a:xfrm>
          <a:prstGeom prst="rect">
            <a:avLst/>
          </a:prstGeom>
          <a:noFill/>
          <a:ln/>
        </p:spPr>
        <p:txBody>
          <a:bodyPr wrap="square" lIns="0" tIns="0" rIns="0" bIns="0" rtlCol="0" anchor="t"/>
          <a:lstStyle/>
          <a:p>
            <a:pPr marL="0" indent="0">
              <a:buNone/>
            </a:pPr>
            <a:r>
              <a:rPr lang="en-US" sz="1400" b="1" dirty="0">
                <a:solidFill>
                  <a:srgbClr val="FBBF24"/>
                </a:solidFill>
                <a:latin typeface="Consolas" pitchFamily="34" charset="0"/>
                <a:ea typeface="Consolas" pitchFamily="34" charset="-122"/>
                <a:cs typeface="Consolas" pitchFamily="34" charset="-120"/>
              </a:rPr>
              <a:t>AddRoundKey</a:t>
            </a:r>
            <a:endParaRPr lang="en-US" sz="1400" dirty="0"/>
          </a:p>
        </p:txBody>
      </p:sp>
      <p:sp>
        <p:nvSpPr>
          <p:cNvPr id="39" name="Text 37"/>
          <p:cNvSpPr/>
          <p:nvPr/>
        </p:nvSpPr>
        <p:spPr>
          <a:xfrm>
            <a:off x="4315968" y="4983480"/>
            <a:ext cx="3063240" cy="960120"/>
          </a:xfrm>
          <a:prstGeom prst="rect">
            <a:avLst/>
          </a:prstGeom>
          <a:noFill/>
          <a:ln/>
        </p:spPr>
        <p:txBody>
          <a:bodyPr wrap="square" lIns="0" tIns="0" rIns="0" bIns="0" rtlCol="0" anchor="t"/>
          <a:lstStyle/>
          <a:p>
            <a:pPr marL="0" indent="0">
              <a:buNone/>
            </a:pPr>
            <a:r>
              <a:rPr lang="en-US" sz="1300" dirty="0">
                <a:solidFill>
                  <a:srgbClr val="F1F5F9"/>
                </a:solidFill>
                <a:latin typeface="Calibri" pitchFamily="34" charset="0"/>
                <a:ea typeface="Calibri" pitchFamily="34" charset="-122"/>
                <a:cs typeface="Calibri" pitchFamily="34" charset="-120"/>
              </a:rPr>
              <a:t>The </a:t>
            </a:r>
            <a:r>
              <a:rPr lang="en-US" sz="1300">
                <a:solidFill>
                  <a:srgbClr val="F1F5F9"/>
                </a:solidFill>
                <a:latin typeface="Calibri" pitchFamily="34" charset="0"/>
                <a:ea typeface="Calibri" pitchFamily="34" charset="-122"/>
                <a:cs typeface="Calibri" pitchFamily="34" charset="-120"/>
              </a:rPr>
              <a:t>block </a:t>
            </a:r>
            <a:r>
              <a:rPr lang="en-US" sz="1300" dirty="0">
                <a:solidFill>
                  <a:srgbClr val="F1F5F9"/>
                </a:solidFill>
                <a:latin typeface="Calibri" pitchFamily="34" charset="0"/>
                <a:ea typeface="Calibri" pitchFamily="34" charset="-122"/>
                <a:cs typeface="Calibri" pitchFamily="34" charset="-120"/>
              </a:rPr>
              <a:t>is </a:t>
            </a:r>
            <a:r>
              <a:rPr lang="en-US" sz="1300">
                <a:solidFill>
                  <a:srgbClr val="F1F5F9"/>
                </a:solidFill>
                <a:latin typeface="Calibri" pitchFamily="34" charset="0"/>
                <a:ea typeface="Calibri" pitchFamily="34" charset="-122"/>
                <a:cs typeface="Calibri" pitchFamily="34" charset="-120"/>
              </a:rPr>
              <a:t>combined (XOR) </a:t>
            </a:r>
            <a:r>
              <a:rPr lang="en-US" sz="1300" dirty="0">
                <a:solidFill>
                  <a:srgbClr val="F1F5F9"/>
                </a:solidFill>
                <a:latin typeface="Calibri" pitchFamily="34" charset="0"/>
                <a:ea typeface="Calibri" pitchFamily="34" charset="-122"/>
                <a:cs typeface="Calibri" pitchFamily="34" charset="-120"/>
              </a:rPr>
              <a:t>with the round key. </a:t>
            </a:r>
            <a:r>
              <a:rPr lang="en-US" sz="1300">
                <a:solidFill>
                  <a:srgbClr val="F1F5F9"/>
                </a:solidFill>
                <a:latin typeface="Calibri" pitchFamily="34" charset="0"/>
                <a:ea typeface="Calibri" pitchFamily="34" charset="-122"/>
                <a:cs typeface="Calibri" pitchFamily="34" charset="-120"/>
              </a:rPr>
              <a:t>This is the </a:t>
            </a:r>
            <a:r>
              <a:rPr lang="en-US" sz="1300" dirty="0">
                <a:solidFill>
                  <a:srgbClr val="F1F5F9"/>
                </a:solidFill>
                <a:latin typeface="Calibri" pitchFamily="34" charset="0"/>
                <a:ea typeface="Calibri" pitchFamily="34" charset="-122"/>
                <a:cs typeface="Calibri" pitchFamily="34" charset="-120"/>
              </a:rPr>
              <a:t>only </a:t>
            </a:r>
            <a:r>
              <a:rPr lang="en-US" sz="1300">
                <a:solidFill>
                  <a:srgbClr val="F1F5F9"/>
                </a:solidFill>
                <a:latin typeface="Calibri" pitchFamily="34" charset="0"/>
                <a:ea typeface="Calibri" pitchFamily="34" charset="-122"/>
                <a:cs typeface="Calibri" pitchFamily="34" charset="-120"/>
              </a:rPr>
              <a:t>step that uses the key</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7818120" y="2788920"/>
            <a:ext cx="3822192" cy="3246120"/>
          </a:xfrm>
          <a:prstGeom prst="roundRect">
            <a:avLst>
              <a:gd name="adj" fmla="val 2254"/>
            </a:avLst>
          </a:prstGeom>
          <a:solidFill>
            <a:srgbClr val="111A2F"/>
          </a:solidFill>
          <a:ln w="12700">
            <a:solidFill>
              <a:srgbClr val="2A3E68"/>
            </a:solidFill>
            <a:prstDash val="solid"/>
          </a:ln>
        </p:spPr>
      </p:sp>
      <p:sp>
        <p:nvSpPr>
          <p:cNvPr id="41" name="Text 39"/>
          <p:cNvSpPr/>
          <p:nvPr/>
        </p:nvSpPr>
        <p:spPr>
          <a:xfrm>
            <a:off x="8046720" y="2926080"/>
            <a:ext cx="3383280" cy="274320"/>
          </a:xfrm>
          <a:prstGeom prst="rect">
            <a:avLst/>
          </a:prstGeom>
          <a:noFill/>
          <a:ln/>
        </p:spPr>
        <p:txBody>
          <a:bodyPr wrap="square" lIns="0" tIns="0" rIns="0" bIns="0" rtlCol="0" anchor="t"/>
          <a:lstStyle/>
          <a:p>
            <a:pPr marL="0" indent="0">
              <a:buNone/>
            </a:pPr>
            <a:r>
              <a:rPr lang="en-US" sz="1300" b="1" dirty="0">
                <a:solidFill>
                  <a:srgbClr val="22D3EE"/>
                </a:solidFill>
                <a:latin typeface="Consolas" pitchFamily="34" charset="0"/>
                <a:ea typeface="Consolas" pitchFamily="34" charset="-122"/>
                <a:cs typeface="Consolas" pitchFamily="34" charset="-120"/>
              </a:rPr>
              <a:t>The 4 x 4 </a:t>
            </a:r>
            <a:r>
              <a:rPr lang="en-US" sz="1300" b="1">
                <a:solidFill>
                  <a:srgbClr val="22D3EE"/>
                </a:solidFill>
                <a:latin typeface="Consolas" pitchFamily="34" charset="0"/>
                <a:ea typeface="Consolas" pitchFamily="34" charset="-122"/>
                <a:cs typeface="Consolas" pitchFamily="34" charset="-120"/>
              </a:rPr>
              <a:t>grid of bytes</a:t>
            </a:r>
            <a:endParaRPr lang="en-US" sz="1300" dirty="0"/>
          </a:p>
        </p:txBody>
      </p:sp>
      <p:sp>
        <p:nvSpPr>
          <p:cNvPr id="42" name="Shape 40"/>
          <p:cNvSpPr/>
          <p:nvPr/>
        </p:nvSpPr>
        <p:spPr>
          <a:xfrm>
            <a:off x="8046720" y="3291840"/>
            <a:ext cx="457200" cy="347472"/>
          </a:xfrm>
          <a:prstGeom prst="rect">
            <a:avLst/>
          </a:prstGeom>
          <a:solidFill>
            <a:srgbClr val="172544"/>
          </a:solidFill>
          <a:ln w="9525">
            <a:solidFill>
              <a:srgbClr val="22D3EE"/>
            </a:solidFill>
            <a:prstDash val="solid"/>
          </a:ln>
        </p:spPr>
      </p:sp>
      <p:sp>
        <p:nvSpPr>
          <p:cNvPr id="43" name="Text 41"/>
          <p:cNvSpPr/>
          <p:nvPr/>
        </p:nvSpPr>
        <p:spPr>
          <a:xfrm>
            <a:off x="8046720" y="3291840"/>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b0</a:t>
            </a:r>
            <a:endParaRPr lang="en-US" sz="1100" dirty="0"/>
          </a:p>
        </p:txBody>
      </p:sp>
      <p:sp>
        <p:nvSpPr>
          <p:cNvPr id="44" name="Shape 42"/>
          <p:cNvSpPr/>
          <p:nvPr/>
        </p:nvSpPr>
        <p:spPr>
          <a:xfrm>
            <a:off x="8549640" y="3291840"/>
            <a:ext cx="457200" cy="347472"/>
          </a:xfrm>
          <a:prstGeom prst="rect">
            <a:avLst/>
          </a:prstGeom>
          <a:solidFill>
            <a:srgbClr val="172544"/>
          </a:solidFill>
          <a:ln w="9525">
            <a:solidFill>
              <a:srgbClr val="22D3EE"/>
            </a:solidFill>
            <a:prstDash val="solid"/>
          </a:ln>
        </p:spPr>
      </p:sp>
      <p:sp>
        <p:nvSpPr>
          <p:cNvPr id="45" name="Text 43"/>
          <p:cNvSpPr/>
          <p:nvPr/>
        </p:nvSpPr>
        <p:spPr>
          <a:xfrm>
            <a:off x="8549640" y="3291840"/>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b4</a:t>
            </a:r>
            <a:endParaRPr lang="en-US" sz="1100" dirty="0"/>
          </a:p>
        </p:txBody>
      </p:sp>
      <p:sp>
        <p:nvSpPr>
          <p:cNvPr id="46" name="Shape 44"/>
          <p:cNvSpPr/>
          <p:nvPr/>
        </p:nvSpPr>
        <p:spPr>
          <a:xfrm>
            <a:off x="9052560" y="3291840"/>
            <a:ext cx="457200" cy="347472"/>
          </a:xfrm>
          <a:prstGeom prst="rect">
            <a:avLst/>
          </a:prstGeom>
          <a:solidFill>
            <a:srgbClr val="172544"/>
          </a:solidFill>
          <a:ln w="9525">
            <a:solidFill>
              <a:srgbClr val="22D3EE"/>
            </a:solidFill>
            <a:prstDash val="solid"/>
          </a:ln>
        </p:spPr>
      </p:sp>
      <p:sp>
        <p:nvSpPr>
          <p:cNvPr id="47" name="Text 45"/>
          <p:cNvSpPr/>
          <p:nvPr/>
        </p:nvSpPr>
        <p:spPr>
          <a:xfrm>
            <a:off x="9052560" y="3291840"/>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b8</a:t>
            </a:r>
            <a:endParaRPr lang="en-US" sz="1100" dirty="0"/>
          </a:p>
        </p:txBody>
      </p:sp>
      <p:sp>
        <p:nvSpPr>
          <p:cNvPr id="48" name="Shape 46"/>
          <p:cNvSpPr/>
          <p:nvPr/>
        </p:nvSpPr>
        <p:spPr>
          <a:xfrm>
            <a:off x="9555480" y="3291840"/>
            <a:ext cx="457200" cy="347472"/>
          </a:xfrm>
          <a:prstGeom prst="rect">
            <a:avLst/>
          </a:prstGeom>
          <a:solidFill>
            <a:srgbClr val="172544"/>
          </a:solidFill>
          <a:ln w="9525">
            <a:solidFill>
              <a:srgbClr val="22D3EE"/>
            </a:solidFill>
            <a:prstDash val="solid"/>
          </a:ln>
        </p:spPr>
      </p:sp>
      <p:sp>
        <p:nvSpPr>
          <p:cNvPr id="49" name="Text 47"/>
          <p:cNvSpPr/>
          <p:nvPr/>
        </p:nvSpPr>
        <p:spPr>
          <a:xfrm>
            <a:off x="9555480" y="3291840"/>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b12</a:t>
            </a:r>
            <a:endParaRPr lang="en-US" sz="1100" dirty="0"/>
          </a:p>
        </p:txBody>
      </p:sp>
      <p:sp>
        <p:nvSpPr>
          <p:cNvPr id="50" name="Shape 48"/>
          <p:cNvSpPr/>
          <p:nvPr/>
        </p:nvSpPr>
        <p:spPr>
          <a:xfrm>
            <a:off x="8046720" y="3675888"/>
            <a:ext cx="457200" cy="347472"/>
          </a:xfrm>
          <a:prstGeom prst="rect">
            <a:avLst/>
          </a:prstGeom>
          <a:solidFill>
            <a:srgbClr val="172544"/>
          </a:solidFill>
          <a:ln w="9525">
            <a:solidFill>
              <a:srgbClr val="22D3EE"/>
            </a:solidFill>
            <a:prstDash val="solid"/>
          </a:ln>
        </p:spPr>
      </p:sp>
      <p:sp>
        <p:nvSpPr>
          <p:cNvPr id="51" name="Text 49"/>
          <p:cNvSpPr/>
          <p:nvPr/>
        </p:nvSpPr>
        <p:spPr>
          <a:xfrm>
            <a:off x="8046720" y="3675888"/>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b1</a:t>
            </a:r>
            <a:endParaRPr lang="en-US" sz="1100" dirty="0"/>
          </a:p>
        </p:txBody>
      </p:sp>
      <p:sp>
        <p:nvSpPr>
          <p:cNvPr id="52" name="Shape 50"/>
          <p:cNvSpPr/>
          <p:nvPr/>
        </p:nvSpPr>
        <p:spPr>
          <a:xfrm>
            <a:off x="8549640" y="3675888"/>
            <a:ext cx="457200" cy="347472"/>
          </a:xfrm>
          <a:prstGeom prst="rect">
            <a:avLst/>
          </a:prstGeom>
          <a:solidFill>
            <a:srgbClr val="172544"/>
          </a:solidFill>
          <a:ln w="9525">
            <a:solidFill>
              <a:srgbClr val="22D3EE"/>
            </a:solidFill>
            <a:prstDash val="solid"/>
          </a:ln>
        </p:spPr>
      </p:sp>
      <p:sp>
        <p:nvSpPr>
          <p:cNvPr id="53" name="Text 51"/>
          <p:cNvSpPr/>
          <p:nvPr/>
        </p:nvSpPr>
        <p:spPr>
          <a:xfrm>
            <a:off x="8549640" y="3675888"/>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b5</a:t>
            </a:r>
            <a:endParaRPr lang="en-US" sz="1100" dirty="0"/>
          </a:p>
        </p:txBody>
      </p:sp>
      <p:sp>
        <p:nvSpPr>
          <p:cNvPr id="54" name="Shape 52"/>
          <p:cNvSpPr/>
          <p:nvPr/>
        </p:nvSpPr>
        <p:spPr>
          <a:xfrm>
            <a:off x="9052560" y="3675888"/>
            <a:ext cx="457200" cy="347472"/>
          </a:xfrm>
          <a:prstGeom prst="rect">
            <a:avLst/>
          </a:prstGeom>
          <a:solidFill>
            <a:srgbClr val="172544"/>
          </a:solidFill>
          <a:ln w="9525">
            <a:solidFill>
              <a:srgbClr val="22D3EE"/>
            </a:solidFill>
            <a:prstDash val="solid"/>
          </a:ln>
        </p:spPr>
      </p:sp>
      <p:sp>
        <p:nvSpPr>
          <p:cNvPr id="55" name="Text 53"/>
          <p:cNvSpPr/>
          <p:nvPr/>
        </p:nvSpPr>
        <p:spPr>
          <a:xfrm>
            <a:off x="9052560" y="3675888"/>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b9</a:t>
            </a:r>
            <a:endParaRPr lang="en-US" sz="1100" dirty="0"/>
          </a:p>
        </p:txBody>
      </p:sp>
      <p:sp>
        <p:nvSpPr>
          <p:cNvPr id="56" name="Shape 54"/>
          <p:cNvSpPr/>
          <p:nvPr/>
        </p:nvSpPr>
        <p:spPr>
          <a:xfrm>
            <a:off x="9555480" y="3675888"/>
            <a:ext cx="457200" cy="347472"/>
          </a:xfrm>
          <a:prstGeom prst="rect">
            <a:avLst/>
          </a:prstGeom>
          <a:solidFill>
            <a:srgbClr val="172544"/>
          </a:solidFill>
          <a:ln w="9525">
            <a:solidFill>
              <a:srgbClr val="22D3EE"/>
            </a:solidFill>
            <a:prstDash val="solid"/>
          </a:ln>
        </p:spPr>
      </p:sp>
      <p:sp>
        <p:nvSpPr>
          <p:cNvPr id="57" name="Text 55"/>
          <p:cNvSpPr/>
          <p:nvPr/>
        </p:nvSpPr>
        <p:spPr>
          <a:xfrm>
            <a:off x="9555480" y="3675888"/>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b13</a:t>
            </a:r>
            <a:endParaRPr lang="en-US" sz="1100" dirty="0"/>
          </a:p>
        </p:txBody>
      </p:sp>
      <p:sp>
        <p:nvSpPr>
          <p:cNvPr id="58" name="Shape 56"/>
          <p:cNvSpPr/>
          <p:nvPr/>
        </p:nvSpPr>
        <p:spPr>
          <a:xfrm>
            <a:off x="8046720" y="4059936"/>
            <a:ext cx="457200" cy="347472"/>
          </a:xfrm>
          <a:prstGeom prst="rect">
            <a:avLst/>
          </a:prstGeom>
          <a:solidFill>
            <a:srgbClr val="172544"/>
          </a:solidFill>
          <a:ln w="9525">
            <a:solidFill>
              <a:srgbClr val="22D3EE"/>
            </a:solidFill>
            <a:prstDash val="solid"/>
          </a:ln>
        </p:spPr>
      </p:sp>
      <p:sp>
        <p:nvSpPr>
          <p:cNvPr id="59" name="Text 57"/>
          <p:cNvSpPr/>
          <p:nvPr/>
        </p:nvSpPr>
        <p:spPr>
          <a:xfrm>
            <a:off x="8046720" y="4059936"/>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b2</a:t>
            </a:r>
            <a:endParaRPr lang="en-US" sz="1100" dirty="0"/>
          </a:p>
        </p:txBody>
      </p:sp>
      <p:sp>
        <p:nvSpPr>
          <p:cNvPr id="60" name="Shape 58"/>
          <p:cNvSpPr/>
          <p:nvPr/>
        </p:nvSpPr>
        <p:spPr>
          <a:xfrm>
            <a:off x="8549640" y="4059936"/>
            <a:ext cx="457200" cy="347472"/>
          </a:xfrm>
          <a:prstGeom prst="rect">
            <a:avLst/>
          </a:prstGeom>
          <a:solidFill>
            <a:srgbClr val="172544"/>
          </a:solidFill>
          <a:ln w="9525">
            <a:solidFill>
              <a:srgbClr val="22D3EE"/>
            </a:solidFill>
            <a:prstDash val="solid"/>
          </a:ln>
        </p:spPr>
      </p:sp>
      <p:sp>
        <p:nvSpPr>
          <p:cNvPr id="61" name="Text 59"/>
          <p:cNvSpPr/>
          <p:nvPr/>
        </p:nvSpPr>
        <p:spPr>
          <a:xfrm>
            <a:off x="8549640" y="4059936"/>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b6</a:t>
            </a:r>
            <a:endParaRPr lang="en-US" sz="1100" dirty="0"/>
          </a:p>
        </p:txBody>
      </p:sp>
      <p:sp>
        <p:nvSpPr>
          <p:cNvPr id="62" name="Shape 60"/>
          <p:cNvSpPr/>
          <p:nvPr/>
        </p:nvSpPr>
        <p:spPr>
          <a:xfrm>
            <a:off x="9052560" y="4059936"/>
            <a:ext cx="457200" cy="347472"/>
          </a:xfrm>
          <a:prstGeom prst="rect">
            <a:avLst/>
          </a:prstGeom>
          <a:solidFill>
            <a:srgbClr val="172544"/>
          </a:solidFill>
          <a:ln w="9525">
            <a:solidFill>
              <a:srgbClr val="22D3EE"/>
            </a:solidFill>
            <a:prstDash val="solid"/>
          </a:ln>
        </p:spPr>
      </p:sp>
      <p:sp>
        <p:nvSpPr>
          <p:cNvPr id="63" name="Text 61"/>
          <p:cNvSpPr/>
          <p:nvPr/>
        </p:nvSpPr>
        <p:spPr>
          <a:xfrm>
            <a:off x="9052560" y="4059936"/>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b10</a:t>
            </a:r>
            <a:endParaRPr lang="en-US" sz="1100" dirty="0"/>
          </a:p>
        </p:txBody>
      </p:sp>
      <p:sp>
        <p:nvSpPr>
          <p:cNvPr id="64" name="Shape 62"/>
          <p:cNvSpPr/>
          <p:nvPr/>
        </p:nvSpPr>
        <p:spPr>
          <a:xfrm>
            <a:off x="9555480" y="4059936"/>
            <a:ext cx="457200" cy="347472"/>
          </a:xfrm>
          <a:prstGeom prst="rect">
            <a:avLst/>
          </a:prstGeom>
          <a:solidFill>
            <a:srgbClr val="172544"/>
          </a:solidFill>
          <a:ln w="9525">
            <a:solidFill>
              <a:srgbClr val="22D3EE"/>
            </a:solidFill>
            <a:prstDash val="solid"/>
          </a:ln>
        </p:spPr>
      </p:sp>
      <p:sp>
        <p:nvSpPr>
          <p:cNvPr id="65" name="Text 63"/>
          <p:cNvSpPr/>
          <p:nvPr/>
        </p:nvSpPr>
        <p:spPr>
          <a:xfrm>
            <a:off x="9555480" y="4059936"/>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b14</a:t>
            </a:r>
            <a:endParaRPr lang="en-US" sz="1100" dirty="0"/>
          </a:p>
        </p:txBody>
      </p:sp>
      <p:sp>
        <p:nvSpPr>
          <p:cNvPr id="66" name="Shape 64"/>
          <p:cNvSpPr/>
          <p:nvPr/>
        </p:nvSpPr>
        <p:spPr>
          <a:xfrm>
            <a:off x="8046720" y="4443984"/>
            <a:ext cx="457200" cy="347472"/>
          </a:xfrm>
          <a:prstGeom prst="rect">
            <a:avLst/>
          </a:prstGeom>
          <a:solidFill>
            <a:srgbClr val="172544"/>
          </a:solidFill>
          <a:ln w="9525">
            <a:solidFill>
              <a:srgbClr val="22D3EE"/>
            </a:solidFill>
            <a:prstDash val="solid"/>
          </a:ln>
        </p:spPr>
      </p:sp>
      <p:sp>
        <p:nvSpPr>
          <p:cNvPr id="67" name="Text 65"/>
          <p:cNvSpPr/>
          <p:nvPr/>
        </p:nvSpPr>
        <p:spPr>
          <a:xfrm>
            <a:off x="8046720" y="4443984"/>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b3</a:t>
            </a:r>
            <a:endParaRPr lang="en-US" sz="1100" dirty="0"/>
          </a:p>
        </p:txBody>
      </p:sp>
      <p:sp>
        <p:nvSpPr>
          <p:cNvPr id="68" name="Shape 66"/>
          <p:cNvSpPr/>
          <p:nvPr/>
        </p:nvSpPr>
        <p:spPr>
          <a:xfrm>
            <a:off x="8549640" y="4443984"/>
            <a:ext cx="457200" cy="347472"/>
          </a:xfrm>
          <a:prstGeom prst="rect">
            <a:avLst/>
          </a:prstGeom>
          <a:solidFill>
            <a:srgbClr val="172544"/>
          </a:solidFill>
          <a:ln w="9525">
            <a:solidFill>
              <a:srgbClr val="22D3EE"/>
            </a:solidFill>
            <a:prstDash val="solid"/>
          </a:ln>
        </p:spPr>
      </p:sp>
      <p:sp>
        <p:nvSpPr>
          <p:cNvPr id="69" name="Text 67"/>
          <p:cNvSpPr/>
          <p:nvPr/>
        </p:nvSpPr>
        <p:spPr>
          <a:xfrm>
            <a:off x="8549640" y="4443984"/>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b7</a:t>
            </a:r>
            <a:endParaRPr lang="en-US" sz="1100" dirty="0"/>
          </a:p>
        </p:txBody>
      </p:sp>
      <p:sp>
        <p:nvSpPr>
          <p:cNvPr id="70" name="Shape 68"/>
          <p:cNvSpPr/>
          <p:nvPr/>
        </p:nvSpPr>
        <p:spPr>
          <a:xfrm>
            <a:off x="9052560" y="4443984"/>
            <a:ext cx="457200" cy="347472"/>
          </a:xfrm>
          <a:prstGeom prst="rect">
            <a:avLst/>
          </a:prstGeom>
          <a:solidFill>
            <a:srgbClr val="172544"/>
          </a:solidFill>
          <a:ln w="9525">
            <a:solidFill>
              <a:srgbClr val="22D3EE"/>
            </a:solidFill>
            <a:prstDash val="solid"/>
          </a:ln>
        </p:spPr>
      </p:sp>
      <p:sp>
        <p:nvSpPr>
          <p:cNvPr id="71" name="Text 69"/>
          <p:cNvSpPr/>
          <p:nvPr/>
        </p:nvSpPr>
        <p:spPr>
          <a:xfrm>
            <a:off x="9052560" y="4443984"/>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b11</a:t>
            </a:r>
            <a:endParaRPr lang="en-US" sz="1100" dirty="0"/>
          </a:p>
        </p:txBody>
      </p:sp>
      <p:sp>
        <p:nvSpPr>
          <p:cNvPr id="72" name="Shape 70"/>
          <p:cNvSpPr/>
          <p:nvPr/>
        </p:nvSpPr>
        <p:spPr>
          <a:xfrm>
            <a:off x="9555480" y="4443984"/>
            <a:ext cx="457200" cy="347472"/>
          </a:xfrm>
          <a:prstGeom prst="rect">
            <a:avLst/>
          </a:prstGeom>
          <a:solidFill>
            <a:srgbClr val="172544"/>
          </a:solidFill>
          <a:ln w="9525">
            <a:solidFill>
              <a:srgbClr val="22D3EE"/>
            </a:solidFill>
            <a:prstDash val="solid"/>
          </a:ln>
        </p:spPr>
      </p:sp>
      <p:sp>
        <p:nvSpPr>
          <p:cNvPr id="73" name="Text 71"/>
          <p:cNvSpPr/>
          <p:nvPr/>
        </p:nvSpPr>
        <p:spPr>
          <a:xfrm>
            <a:off x="9555480" y="4443984"/>
            <a:ext cx="457200" cy="347472"/>
          </a:xfrm>
          <a:prstGeom prst="rect">
            <a:avLst/>
          </a:prstGeom>
          <a:noFill/>
          <a:ln/>
        </p:spPr>
        <p:txBody>
          <a:bodyPr wrap="square" lIns="0" tIns="0" rIns="0" bIns="0" rtlCol="0" anchor="ctr"/>
          <a:lstStyle/>
          <a:p>
            <a:pPr marL="0" indent="0" algn="ctr">
              <a:buNone/>
            </a:pPr>
            <a:r>
              <a:rPr lang="en-US" sz="1100" dirty="0">
                <a:solidFill>
                  <a:srgbClr val="F1F5F9"/>
                </a:solidFill>
                <a:latin typeface="Consolas" pitchFamily="34" charset="0"/>
                <a:ea typeface="Consolas" pitchFamily="34" charset="-122"/>
                <a:cs typeface="Consolas" pitchFamily="34" charset="-120"/>
              </a:rPr>
              <a:t>b15</a:t>
            </a:r>
            <a:endParaRPr lang="en-US" sz="1100" dirty="0"/>
          </a:p>
        </p:txBody>
      </p:sp>
      <p:sp>
        <p:nvSpPr>
          <p:cNvPr id="74" name="Text 72"/>
          <p:cNvSpPr/>
          <p:nvPr/>
        </p:nvSpPr>
        <p:spPr>
          <a:xfrm>
            <a:off x="10149840" y="3337560"/>
            <a:ext cx="1371600" cy="822960"/>
          </a:xfrm>
          <a:prstGeom prst="rect">
            <a:avLst/>
          </a:prstGeom>
          <a:noFill/>
          <a:ln/>
        </p:spPr>
        <p:txBody>
          <a:bodyPr wrap="square" lIns="0" tIns="0" rIns="0" bIns="0" rtlCol="0" anchor="t"/>
          <a:lstStyle/>
          <a:p>
            <a:pPr marL="0" indent="0">
              <a:buNone/>
            </a:pPr>
            <a:r>
              <a:rPr lang="en-US" sz="1200" dirty="0">
                <a:solidFill>
                  <a:srgbClr val="9FB0CC"/>
                </a:solidFill>
                <a:latin typeface="Calibri" pitchFamily="34" charset="0"/>
                <a:ea typeface="Calibri" pitchFamily="34" charset="-122"/>
                <a:cs typeface="Calibri" pitchFamily="34" charset="-120"/>
              </a:rPr>
              <a:t>16 bytes, filled column by column</a:t>
            </a:r>
            <a:endParaRPr lang="en-US" sz="1200" dirty="0"/>
          </a:p>
        </p:txBody>
      </p:sp>
      <p:sp>
        <p:nvSpPr>
          <p:cNvPr id="75" name="Text 73"/>
          <p:cNvSpPr/>
          <p:nvPr/>
        </p:nvSpPr>
        <p:spPr>
          <a:xfrm>
            <a:off x="8046720" y="5029200"/>
            <a:ext cx="3383280" cy="868680"/>
          </a:xfrm>
          <a:prstGeom prst="rect">
            <a:avLst/>
          </a:prstGeom>
          <a:noFill/>
          <a:ln/>
        </p:spPr>
        <p:txBody>
          <a:bodyPr wrap="square" lIns="0" tIns="0" rIns="0" bIns="0" rtlCol="0" anchor="t"/>
          <a:lstStyle/>
          <a:p>
            <a:pPr marL="0" indent="0">
              <a:spcAft>
                <a:spcPts val="300"/>
              </a:spcAft>
              <a:buNone/>
            </a:pPr>
            <a:r>
              <a:rPr lang="en-US" sz="1400" b="1" dirty="0">
                <a:solidFill>
                  <a:srgbClr val="4ADE80"/>
                </a:solidFill>
                <a:latin typeface="Consolas" pitchFamily="34" charset="0"/>
                <a:ea typeface="Consolas" pitchFamily="34" charset="-122"/>
                <a:cs typeface="Consolas" pitchFamily="34" charset="-120"/>
              </a:rPr>
              <a:t>AES-128: 10 rounds</a:t>
            </a:r>
            <a:endParaRPr lang="en-US" sz="1400" dirty="0"/>
          </a:p>
          <a:p>
            <a:pPr marL="0" indent="0">
              <a:spcAft>
                <a:spcPts val="300"/>
              </a:spcAft>
              <a:buNone/>
            </a:pPr>
            <a:r>
              <a:rPr lang="en-US" sz="1400" b="1" dirty="0">
                <a:solidFill>
                  <a:srgbClr val="FBBF24"/>
                </a:solidFill>
                <a:latin typeface="Consolas" pitchFamily="34" charset="0"/>
                <a:ea typeface="Consolas" pitchFamily="34" charset="-122"/>
                <a:cs typeface="Consolas" pitchFamily="34" charset="-120"/>
              </a:rPr>
              <a:t>AES-192: 12 rounds</a:t>
            </a:r>
            <a:endParaRPr lang="en-US" sz="1400" dirty="0"/>
          </a:p>
          <a:p>
            <a:pPr marL="0" indent="0">
              <a:spcAft>
                <a:spcPts val="300"/>
              </a:spcAft>
              <a:buNone/>
            </a:pPr>
            <a:r>
              <a:rPr lang="en-US" sz="1400" b="1" dirty="0">
                <a:solidFill>
                  <a:srgbClr val="F87171"/>
                </a:solidFill>
                <a:latin typeface="Consolas" pitchFamily="34" charset="0"/>
                <a:ea typeface="Consolas" pitchFamily="34" charset="-122"/>
                <a:cs typeface="Consolas" pitchFamily="34" charset="-120"/>
              </a:rPr>
              <a:t>AES-256: 14 rounds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ENCRYPTION 04</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AES</a:t>
            </a:r>
            <a:r>
              <a:rPr lang="en-US" sz="2800" b="1">
                <a:solidFill>
                  <a:srgbClr val="F1F5F9"/>
                </a:solidFill>
                <a:latin typeface="Consolas" pitchFamily="34" charset="0"/>
                <a:ea typeface="Consolas" pitchFamily="34" charset="-122"/>
                <a:cs typeface="Consolas" pitchFamily="34" charset="-120"/>
              </a:rPr>
              <a:t> by example</a:t>
            </a:r>
            <a:r>
              <a:rPr lang="en-US" sz="2800" b="1" dirty="0">
                <a:solidFill>
                  <a:srgbClr val="F1F5F9"/>
                </a:solidFill>
                <a:latin typeface="Consolas" pitchFamily="34" charset="0"/>
                <a:ea typeface="Consolas" pitchFamily="34" charset="-122"/>
                <a:cs typeface="Consolas" pitchFamily="34" charset="-120"/>
              </a:rPr>
              <a:t>: </a:t>
            </a:r>
            <a:r>
              <a:rPr lang="en-US" sz="2800" b="1">
                <a:solidFill>
                  <a:srgbClr val="F1F5F9"/>
                </a:solidFill>
                <a:latin typeface="Consolas" pitchFamily="34" charset="0"/>
                <a:ea typeface="Consolas" pitchFamily="34" charset="-122"/>
                <a:cs typeface="Consolas" pitchFamily="34" charset="-120"/>
              </a:rPr>
              <a:t>what each step does</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20</a:t>
            </a:r>
            <a:endParaRPr lang="en-US" sz="1000" dirty="0"/>
          </a:p>
        </p:txBody>
      </p:sp>
      <p:sp>
        <p:nvSpPr>
          <p:cNvPr id="6" name="Shape 4"/>
          <p:cNvSpPr/>
          <p:nvPr/>
        </p:nvSpPr>
        <p:spPr>
          <a:xfrm>
            <a:off x="548640" y="1463040"/>
            <a:ext cx="5486400" cy="4663440"/>
          </a:xfrm>
          <a:prstGeom prst="roundRect">
            <a:avLst>
              <a:gd name="adj" fmla="val 1569"/>
            </a:avLst>
          </a:prstGeom>
          <a:solidFill>
            <a:srgbClr val="070B14"/>
          </a:solidFill>
          <a:ln w="12700">
            <a:solidFill>
              <a:srgbClr val="2A3E68"/>
            </a:solidFill>
            <a:prstDash val="solid"/>
          </a:ln>
        </p:spPr>
      </p:sp>
      <p:sp>
        <p:nvSpPr>
          <p:cNvPr id="7" name="Shape 5"/>
          <p:cNvSpPr/>
          <p:nvPr/>
        </p:nvSpPr>
        <p:spPr>
          <a:xfrm>
            <a:off x="713232" y="1591056"/>
            <a:ext cx="100584" cy="100584"/>
          </a:xfrm>
          <a:prstGeom prst="ellipse">
            <a:avLst/>
          </a:prstGeom>
          <a:solidFill>
            <a:srgbClr val="F87171"/>
          </a:solidFill>
          <a:ln w="12700">
            <a:solidFill>
              <a:srgbClr val="F87171"/>
            </a:solidFill>
            <a:prstDash val="solid"/>
          </a:ln>
        </p:spPr>
      </p:sp>
      <p:sp>
        <p:nvSpPr>
          <p:cNvPr id="8" name="Shape 6"/>
          <p:cNvSpPr/>
          <p:nvPr/>
        </p:nvSpPr>
        <p:spPr>
          <a:xfrm>
            <a:off x="896112" y="1591056"/>
            <a:ext cx="100584" cy="100584"/>
          </a:xfrm>
          <a:prstGeom prst="ellipse">
            <a:avLst/>
          </a:prstGeom>
          <a:solidFill>
            <a:srgbClr val="FBBF24"/>
          </a:solidFill>
          <a:ln w="12700">
            <a:solidFill>
              <a:srgbClr val="FBBF24"/>
            </a:solidFill>
            <a:prstDash val="solid"/>
          </a:ln>
        </p:spPr>
      </p:sp>
      <p:sp>
        <p:nvSpPr>
          <p:cNvPr id="9" name="Shape 7"/>
          <p:cNvSpPr/>
          <p:nvPr/>
        </p:nvSpPr>
        <p:spPr>
          <a:xfrm>
            <a:off x="1078992" y="1591056"/>
            <a:ext cx="100584" cy="100584"/>
          </a:xfrm>
          <a:prstGeom prst="ellipse">
            <a:avLst/>
          </a:prstGeom>
          <a:solidFill>
            <a:srgbClr val="4ADE80"/>
          </a:solidFill>
          <a:ln w="12700">
            <a:solidFill>
              <a:srgbClr val="4ADE80"/>
            </a:solidFill>
            <a:prstDash val="solid"/>
          </a:ln>
        </p:spPr>
      </p:sp>
      <p:sp>
        <p:nvSpPr>
          <p:cNvPr id="10" name="Text 8"/>
          <p:cNvSpPr/>
          <p:nvPr/>
        </p:nvSpPr>
        <p:spPr>
          <a:xfrm>
            <a:off x="1325880" y="1536192"/>
            <a:ext cx="4572000" cy="201168"/>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one round, sample values</a:t>
            </a:r>
            <a:endParaRPr lang="en-US" sz="1000" dirty="0"/>
          </a:p>
        </p:txBody>
      </p:sp>
      <p:sp>
        <p:nvSpPr>
          <p:cNvPr id="11" name="Text 9"/>
          <p:cNvSpPr/>
          <p:nvPr/>
        </p:nvSpPr>
        <p:spPr>
          <a:xfrm>
            <a:off x="777240" y="1847088"/>
            <a:ext cx="5029200" cy="4160520"/>
          </a:xfrm>
          <a:prstGeom prst="rect">
            <a:avLst/>
          </a:prstGeom>
          <a:noFill/>
          <a:ln/>
        </p:spPr>
        <p:txBody>
          <a:bodyPr wrap="square" lIns="0" tIns="0" rIns="0" bIns="0" rtlCol="0" anchor="t"/>
          <a:lstStyle/>
          <a:p>
            <a:pPr marL="0" indent="0">
              <a:spcAft>
                <a:spcPts val="200"/>
              </a:spcAft>
              <a:buNone/>
            </a:pPr>
            <a:r>
              <a:rPr lang="en-US" sz="1300">
                <a:solidFill>
                  <a:srgbClr val="9FB0CC"/>
                </a:solidFill>
                <a:latin typeface="Consolas" pitchFamily="34" charset="0"/>
                <a:ea typeface="Consolas" pitchFamily="34" charset="-122"/>
                <a:cs typeface="Consolas" pitchFamily="34" charset="-120"/>
              </a:rPr>
              <a:t>Follow the steps of one round:</a:t>
            </a:r>
            <a:endParaRPr lang="en-US" sz="1300"/>
          </a:p>
          <a:p>
            <a:pPr marL="0" indent="0">
              <a:spcAft>
                <a:spcPts val="200"/>
              </a:spcAft>
              <a:buNone/>
            </a:pPr>
            <a:endParaRPr lang="en-US" sz="1300" dirty="0"/>
          </a:p>
          <a:p>
            <a:pPr marL="0" indent="0">
              <a:spcAft>
                <a:spcPts val="200"/>
              </a:spcAft>
              <a:buNone/>
            </a:pPr>
            <a:r>
              <a:rPr lang="en-US" sz="1300">
                <a:solidFill>
                  <a:srgbClr val="9FB0CC"/>
                </a:solidFill>
                <a:latin typeface="Consolas" pitchFamily="34" charset="0"/>
                <a:ea typeface="Consolas" pitchFamily="34" charset="-122"/>
                <a:cs typeface="Consolas" pitchFamily="34" charset="-120"/>
              </a:rPr>
              <a:t>1. SubBytes: look each byte up in a table</a:t>
            </a:r>
            <a:endParaRPr lang="en-US" sz="1300" dirty="0"/>
          </a:p>
          <a:p>
            <a:pPr marL="0" indent="0">
              <a:spcAft>
                <a:spcPts val="200"/>
              </a:spcAft>
              <a:buNone/>
            </a:pPr>
            <a:r>
              <a:rPr lang="en-US" sz="1300">
                <a:solidFill>
                  <a:srgbClr val="4ADE80"/>
                </a:solidFill>
                <a:latin typeface="Consolas" pitchFamily="34" charset="0"/>
                <a:ea typeface="Consolas" pitchFamily="34" charset="-122"/>
                <a:cs typeface="Consolas" pitchFamily="34" charset="-120"/>
              </a:rPr>
              <a:t>   0x53  -&gt;  0xED</a:t>
            </a:r>
            <a:endParaRPr lang="en-US" sz="1300" dirty="0"/>
          </a:p>
          <a:p>
            <a:pPr marL="0" indent="0">
              <a:spcAft>
                <a:spcPts val="200"/>
              </a:spcAft>
              <a:buNone/>
            </a:pPr>
            <a:endParaRPr lang="en-US" sz="1300" dirty="0"/>
          </a:p>
          <a:p>
            <a:pPr marL="0" indent="0">
              <a:spcAft>
                <a:spcPts val="200"/>
              </a:spcAft>
              <a:buNone/>
            </a:pPr>
            <a:r>
              <a:rPr lang="en-US" sz="1300">
                <a:solidFill>
                  <a:srgbClr val="9FB0CC"/>
                </a:solidFill>
                <a:latin typeface="Consolas" pitchFamily="34" charset="0"/>
                <a:ea typeface="Consolas" pitchFamily="34" charset="-122"/>
                <a:cs typeface="Consolas" pitchFamily="34" charset="-120"/>
              </a:rPr>
              <a:t>2. ShiftRows: slide row bytes sideways</a:t>
            </a:r>
            <a:endParaRPr lang="en-US" sz="1300" dirty="0"/>
          </a:p>
          <a:p>
            <a:pPr marL="0" indent="0">
              <a:spcAft>
                <a:spcPts val="200"/>
              </a:spcAft>
              <a:buNone/>
            </a:pPr>
            <a:r>
              <a:rPr lang="en-US" sz="1300">
                <a:solidFill>
                  <a:srgbClr val="4ADE80"/>
                </a:solidFill>
                <a:latin typeface="Consolas" pitchFamily="34" charset="0"/>
                <a:ea typeface="Consolas" pitchFamily="34" charset="-122"/>
                <a:cs typeface="Consolas" pitchFamily="34" charset="-120"/>
              </a:rPr>
              <a:t>   row 1:  a b c d  -&gt;  b c d a</a:t>
            </a:r>
            <a:endParaRPr lang="en-US" sz="1300" dirty="0"/>
          </a:p>
          <a:p>
            <a:pPr marL="0" indent="0">
              <a:spcAft>
                <a:spcPts val="200"/>
              </a:spcAft>
              <a:buNone/>
            </a:pPr>
            <a:endParaRPr lang="en-US" sz="1300" dirty="0"/>
          </a:p>
          <a:p>
            <a:pPr marL="0" indent="0">
              <a:spcAft>
                <a:spcPts val="200"/>
              </a:spcAft>
              <a:buNone/>
            </a:pPr>
            <a:r>
              <a:rPr lang="en-US" sz="1300">
                <a:solidFill>
                  <a:srgbClr val="9FB0CC"/>
                </a:solidFill>
                <a:latin typeface="Consolas" pitchFamily="34" charset="0"/>
                <a:ea typeface="Consolas" pitchFamily="34" charset="-122"/>
                <a:cs typeface="Consolas" pitchFamily="34" charset="-120"/>
              </a:rPr>
              <a:t>3. MixColumns: blend </a:t>
            </a:r>
            <a:r>
              <a:rPr lang="en-US" sz="1300" dirty="0">
                <a:solidFill>
                  <a:srgbClr val="9FB0CC"/>
                </a:solidFill>
                <a:latin typeface="Consolas" pitchFamily="34" charset="0"/>
                <a:ea typeface="Consolas" pitchFamily="34" charset="-122"/>
                <a:cs typeface="Consolas" pitchFamily="34" charset="-120"/>
              </a:rPr>
              <a:t>the </a:t>
            </a:r>
            <a:r>
              <a:rPr lang="en-US" sz="1300">
                <a:solidFill>
                  <a:srgbClr val="9FB0CC"/>
                </a:solidFill>
                <a:latin typeface="Consolas" pitchFamily="34" charset="0"/>
                <a:ea typeface="Consolas" pitchFamily="34" charset="-122"/>
                <a:cs typeface="Consolas" pitchFamily="34" charset="-120"/>
              </a:rPr>
              <a:t>4 bytes in a column</a:t>
            </a:r>
            <a:endParaRPr lang="en-US" sz="1300" dirty="0"/>
          </a:p>
          <a:p>
            <a:pPr marL="0" indent="0">
              <a:spcAft>
                <a:spcPts val="200"/>
              </a:spcAft>
              <a:buNone/>
            </a:pPr>
            <a:r>
              <a:rPr lang="en-US" sz="1300">
                <a:solidFill>
                  <a:srgbClr val="22D3EE"/>
                </a:solidFill>
                <a:latin typeface="Consolas" pitchFamily="34" charset="0"/>
                <a:ea typeface="Consolas" pitchFamily="34" charset="-122"/>
                <a:cs typeface="Consolas" pitchFamily="34" charset="-120"/>
              </a:rPr>
              <a:t>   DB 13 53 45  -&gt;  8E 4D A1 BC</a:t>
            </a:r>
            <a:endParaRPr lang="en-US" sz="1300" dirty="0"/>
          </a:p>
          <a:p>
            <a:pPr marL="0" indent="0">
              <a:spcAft>
                <a:spcPts val="200"/>
              </a:spcAft>
              <a:buNone/>
            </a:pPr>
            <a:endParaRPr lang="en-US" sz="1300" dirty="0"/>
          </a:p>
          <a:p>
            <a:pPr marL="0" indent="0">
              <a:spcAft>
                <a:spcPts val="200"/>
              </a:spcAft>
              <a:buNone/>
            </a:pPr>
            <a:r>
              <a:rPr lang="en-US" sz="1300">
                <a:solidFill>
                  <a:srgbClr val="9FB0CC"/>
                </a:solidFill>
                <a:latin typeface="Consolas" pitchFamily="34" charset="0"/>
                <a:ea typeface="Consolas" pitchFamily="34" charset="-122"/>
                <a:cs typeface="Consolas" pitchFamily="34" charset="-120"/>
              </a:rPr>
              <a:t>4. AddRoundKey: mix in the secret round key</a:t>
            </a:r>
            <a:endParaRPr lang="en-US" sz="1300" dirty="0"/>
          </a:p>
          <a:p>
            <a:pPr marL="0" indent="0">
              <a:spcAft>
                <a:spcPts val="200"/>
              </a:spcAft>
              <a:buNone/>
            </a:pPr>
            <a:r>
              <a:rPr lang="en-US" sz="1300">
                <a:solidFill>
                  <a:srgbClr val="FBBF24"/>
                </a:solidFill>
                <a:latin typeface="Consolas" pitchFamily="34" charset="0"/>
                <a:ea typeface="Consolas" pitchFamily="34" charset="-122"/>
                <a:cs typeface="Consolas" pitchFamily="34" charset="-120"/>
              </a:rPr>
              <a:t>   0x8E ^ 0x2B = 0xA5</a:t>
            </a:r>
            <a:endParaRPr lang="en-US" sz="1300" dirty="0"/>
          </a:p>
        </p:txBody>
      </p:sp>
      <p:sp>
        <p:nvSpPr>
          <p:cNvPr id="12" name="Shape 10"/>
          <p:cNvSpPr/>
          <p:nvPr/>
        </p:nvSpPr>
        <p:spPr>
          <a:xfrm>
            <a:off x="6263640" y="1463040"/>
            <a:ext cx="5376672" cy="2148840"/>
          </a:xfrm>
          <a:prstGeom prst="roundRect">
            <a:avLst>
              <a:gd name="adj" fmla="val 3404"/>
            </a:avLst>
          </a:prstGeom>
          <a:solidFill>
            <a:srgbClr val="070B14"/>
          </a:solidFill>
          <a:ln w="12700">
            <a:solidFill>
              <a:srgbClr val="2A3E68"/>
            </a:solidFill>
            <a:prstDash val="solid"/>
          </a:ln>
        </p:spPr>
      </p:sp>
      <p:sp>
        <p:nvSpPr>
          <p:cNvPr id="13" name="Shape 11"/>
          <p:cNvSpPr/>
          <p:nvPr/>
        </p:nvSpPr>
        <p:spPr>
          <a:xfrm>
            <a:off x="6428232" y="1591056"/>
            <a:ext cx="100584" cy="100584"/>
          </a:xfrm>
          <a:prstGeom prst="ellipse">
            <a:avLst/>
          </a:prstGeom>
          <a:solidFill>
            <a:srgbClr val="F87171"/>
          </a:solidFill>
          <a:ln w="12700">
            <a:solidFill>
              <a:srgbClr val="F87171"/>
            </a:solidFill>
            <a:prstDash val="solid"/>
          </a:ln>
        </p:spPr>
      </p:sp>
      <p:sp>
        <p:nvSpPr>
          <p:cNvPr id="14" name="Shape 12"/>
          <p:cNvSpPr/>
          <p:nvPr/>
        </p:nvSpPr>
        <p:spPr>
          <a:xfrm>
            <a:off x="6611112" y="1591056"/>
            <a:ext cx="100584" cy="100584"/>
          </a:xfrm>
          <a:prstGeom prst="ellipse">
            <a:avLst/>
          </a:prstGeom>
          <a:solidFill>
            <a:srgbClr val="FBBF24"/>
          </a:solidFill>
          <a:ln w="12700">
            <a:solidFill>
              <a:srgbClr val="FBBF24"/>
            </a:solidFill>
            <a:prstDash val="solid"/>
          </a:ln>
        </p:spPr>
      </p:sp>
      <p:sp>
        <p:nvSpPr>
          <p:cNvPr id="15" name="Shape 13"/>
          <p:cNvSpPr/>
          <p:nvPr/>
        </p:nvSpPr>
        <p:spPr>
          <a:xfrm>
            <a:off x="6793992" y="1591056"/>
            <a:ext cx="100584" cy="100584"/>
          </a:xfrm>
          <a:prstGeom prst="ellipse">
            <a:avLst/>
          </a:prstGeom>
          <a:solidFill>
            <a:srgbClr val="4ADE80"/>
          </a:solidFill>
          <a:ln w="12700">
            <a:solidFill>
              <a:srgbClr val="4ADE80"/>
            </a:solidFill>
            <a:prstDash val="solid"/>
          </a:ln>
        </p:spPr>
      </p:sp>
      <p:sp>
        <p:nvSpPr>
          <p:cNvPr id="16" name="Text 14"/>
          <p:cNvSpPr/>
          <p:nvPr/>
        </p:nvSpPr>
        <p:spPr>
          <a:xfrm>
            <a:off x="7040880" y="1536192"/>
            <a:ext cx="4462272" cy="201168"/>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avalanche</a:t>
            </a:r>
            <a:endParaRPr lang="en-US" sz="1000" dirty="0"/>
          </a:p>
        </p:txBody>
      </p:sp>
      <p:sp>
        <p:nvSpPr>
          <p:cNvPr id="17" name="Text 15"/>
          <p:cNvSpPr/>
          <p:nvPr/>
        </p:nvSpPr>
        <p:spPr>
          <a:xfrm>
            <a:off x="6492240" y="1847088"/>
            <a:ext cx="4919472" cy="1645920"/>
          </a:xfrm>
          <a:prstGeom prst="rect">
            <a:avLst/>
          </a:prstGeom>
          <a:noFill/>
          <a:ln/>
        </p:spPr>
        <p:txBody>
          <a:bodyPr wrap="square" lIns="0" tIns="0" rIns="0" bIns="0" rtlCol="0" anchor="t"/>
          <a:lstStyle/>
          <a:p>
            <a:pPr marL="0" indent="0">
              <a:spcAft>
                <a:spcPts val="200"/>
              </a:spcAft>
              <a:buNone/>
            </a:pPr>
            <a:r>
              <a:rPr lang="en-US" sz="1300">
                <a:solidFill>
                  <a:srgbClr val="22D3EE"/>
                </a:solidFill>
                <a:latin typeface="Consolas" pitchFamily="34" charset="0"/>
                <a:ea typeface="Consolas" pitchFamily="34" charset="-122"/>
                <a:cs typeface="Consolas" pitchFamily="34" charset="-120"/>
              </a:rPr>
              <a:t>input A   0000 0000 0000 0000</a:t>
            </a:r>
            <a:endParaRPr lang="en-US" sz="1300" dirty="0"/>
          </a:p>
          <a:p>
            <a:pPr marL="0" indent="0">
              <a:spcAft>
                <a:spcPts val="200"/>
              </a:spcAft>
              <a:buNone/>
            </a:pPr>
            <a:r>
              <a:rPr lang="en-US" sz="1300">
                <a:solidFill>
                  <a:srgbClr val="22D3EE"/>
                </a:solidFill>
                <a:latin typeface="Consolas" pitchFamily="34" charset="0"/>
                <a:ea typeface="Consolas" pitchFamily="34" charset="-122"/>
                <a:cs typeface="Consolas" pitchFamily="34" charset="-120"/>
              </a:rPr>
              <a:t>input B   0000 0000 0000 0001</a:t>
            </a:r>
            <a:endParaRPr lang="en-US" sz="1300" dirty="0"/>
          </a:p>
          <a:p>
            <a:pPr marL="0" indent="0">
              <a:spcAft>
                <a:spcPts val="200"/>
              </a:spcAft>
              <a:buNone/>
            </a:pPr>
            <a:r>
              <a:rPr lang="en-US" sz="1300">
                <a:solidFill>
                  <a:srgbClr val="9FB0CC"/>
                </a:solidFill>
                <a:latin typeface="Consolas" pitchFamily="34" charset="0"/>
                <a:ea typeface="Consolas" pitchFamily="34" charset="-122"/>
                <a:cs typeface="Consolas" pitchFamily="34" charset="-120"/>
              </a:rPr>
              <a:t>only 1 bit differs</a:t>
            </a:r>
            <a:endParaRPr lang="en-US" sz="1300" dirty="0"/>
          </a:p>
          <a:p>
            <a:pPr marL="0" indent="0">
              <a:spcAft>
                <a:spcPts val="200"/>
              </a:spcAft>
              <a:buNone/>
            </a:pPr>
            <a:r>
              <a:rPr lang="en-US" sz="1300">
                <a:solidFill>
                  <a:srgbClr val="22D3EE"/>
                </a:solidFill>
                <a:latin typeface="Consolas" pitchFamily="34" charset="0"/>
                <a:ea typeface="Consolas" pitchFamily="34" charset="-122"/>
                <a:cs typeface="Consolas" pitchFamily="34" charset="-120"/>
              </a:rPr>
              <a:t>After 10 rounds the two outputs</a:t>
            </a:r>
            <a:endParaRPr lang="en-US" sz="1300" dirty="0"/>
          </a:p>
          <a:p>
            <a:pPr marL="0" indent="0">
              <a:spcAft>
                <a:spcPts val="200"/>
              </a:spcAft>
              <a:buNone/>
            </a:pPr>
            <a:r>
              <a:rPr lang="en-US" sz="1300">
                <a:solidFill>
                  <a:srgbClr val="22D3EE"/>
                </a:solidFill>
                <a:latin typeface="Consolas" pitchFamily="34" charset="0"/>
                <a:ea typeface="Consolas" pitchFamily="34" charset="-122"/>
                <a:cs typeface="Consolas" pitchFamily="34" charset="-120"/>
              </a:rPr>
              <a:t>look completely unrelated</a:t>
            </a:r>
            <a:endParaRPr lang="en-US" sz="1300" dirty="0"/>
          </a:p>
        </p:txBody>
      </p:sp>
      <p:sp>
        <p:nvSpPr>
          <p:cNvPr id="18" name="Shape 16"/>
          <p:cNvSpPr/>
          <p:nvPr/>
        </p:nvSpPr>
        <p:spPr>
          <a:xfrm>
            <a:off x="6263640" y="3749040"/>
            <a:ext cx="5376672" cy="2377440"/>
          </a:xfrm>
          <a:prstGeom prst="roundRect">
            <a:avLst>
              <a:gd name="adj" fmla="val 3077"/>
            </a:avLst>
          </a:prstGeom>
          <a:solidFill>
            <a:srgbClr val="111A2F"/>
          </a:solidFill>
          <a:ln w="12700">
            <a:solidFill>
              <a:srgbClr val="2A3E68"/>
            </a:solidFill>
            <a:prstDash val="solid"/>
          </a:ln>
        </p:spPr>
      </p:sp>
      <p:sp>
        <p:nvSpPr>
          <p:cNvPr id="19" name="Text 17"/>
          <p:cNvSpPr/>
          <p:nvPr/>
        </p:nvSpPr>
        <p:spPr>
          <a:xfrm>
            <a:off x="6492240" y="3858768"/>
            <a:ext cx="493776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Why these operations?</a:t>
            </a:r>
            <a:endParaRPr lang="en-US" sz="1400" dirty="0"/>
          </a:p>
        </p:txBody>
      </p:sp>
      <p:sp>
        <p:nvSpPr>
          <p:cNvPr id="20" name="Text 18"/>
          <p:cNvSpPr/>
          <p:nvPr/>
        </p:nvSpPr>
        <p:spPr>
          <a:xfrm>
            <a:off x="6492240" y="4224528"/>
            <a:ext cx="4937760" cy="1874520"/>
          </a:xfrm>
          <a:prstGeom prst="rect">
            <a:avLst/>
          </a:prstGeom>
          <a:noFill/>
          <a:ln/>
        </p:spPr>
        <p:txBody>
          <a:bodyPr wrap="square" lIns="0" tIns="0" rIns="0" bIns="0" rtlCol="0" anchor="t"/>
          <a:lstStyle/>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SubBytes swaps each byte using a fixed lookup table, hiding any pattern</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ShiftRows + MixColumns</a:t>
            </a:r>
            <a:r>
              <a:rPr lang="en-US" sz="1300">
                <a:solidFill>
                  <a:srgbClr val="F1F5F9"/>
                </a:solidFill>
                <a:latin typeface="Calibri" pitchFamily="34" charset="0"/>
                <a:ea typeface="Calibri" pitchFamily="34" charset="-122"/>
                <a:cs typeface="Calibri" pitchFamily="34" charset="-120"/>
              </a:rPr>
              <a:t> spread each byte around, so a 1-bit change reaches the whole block within </a:t>
            </a:r>
            <a:r>
              <a:rPr lang="en-US" sz="1300" dirty="0">
                <a:solidFill>
                  <a:srgbClr val="F1F5F9"/>
                </a:solidFill>
                <a:latin typeface="Calibri" pitchFamily="34" charset="0"/>
                <a:ea typeface="Calibri" pitchFamily="34" charset="-122"/>
                <a:cs typeface="Calibri" pitchFamily="34" charset="-120"/>
              </a:rPr>
              <a:t>2 rounds</a:t>
            </a:r>
            <a:endParaRPr lang="en-US" sz="130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Only AddRoundKey uses the secret key;</a:t>
            </a:r>
            <a:r>
              <a:rPr lang="en-US" sz="1300" dirty="0">
                <a:solidFill>
                  <a:srgbClr val="F1F5F9"/>
                </a:solidFill>
                <a:latin typeface="Calibri" pitchFamily="34" charset="0"/>
                <a:ea typeface="Calibri" pitchFamily="34" charset="-122"/>
                <a:cs typeface="Calibri" pitchFamily="34" charset="-120"/>
              </a:rPr>
              <a:t> every </a:t>
            </a:r>
            <a:r>
              <a:rPr lang="en-US" sz="1300">
                <a:solidFill>
                  <a:srgbClr val="F1F5F9"/>
                </a:solidFill>
                <a:latin typeface="Calibri" pitchFamily="34" charset="0"/>
                <a:ea typeface="Calibri" pitchFamily="34" charset="-122"/>
                <a:cs typeface="Calibri" pitchFamily="34" charset="-120"/>
              </a:rPr>
              <a:t>other step is public </a:t>
            </a:r>
            <a:r>
              <a:rPr lang="en-US" sz="1300" dirty="0">
                <a:solidFill>
                  <a:srgbClr val="F1F5F9"/>
                </a:solidFill>
                <a:latin typeface="Calibri" pitchFamily="34" charset="0"/>
                <a:ea typeface="Calibri" pitchFamily="34" charset="-122"/>
                <a:cs typeface="Calibri" pitchFamily="34" charset="-120"/>
              </a:rPr>
              <a:t>and </a:t>
            </a:r>
            <a:r>
              <a:rPr lang="en-US" sz="1300">
                <a:solidFill>
                  <a:srgbClr val="F1F5F9"/>
                </a:solidFill>
                <a:latin typeface="Calibri" pitchFamily="34" charset="0"/>
                <a:ea typeface="Calibri" pitchFamily="34" charset="-122"/>
                <a:cs typeface="Calibri" pitchFamily="34" charset="-120"/>
              </a:rPr>
              <a:t>the same for everyone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ENCRYPTION 05</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AES modes of operation</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21</a:t>
            </a:r>
            <a:endParaRPr lang="en-US" sz="1000" dirty="0"/>
          </a:p>
        </p:txBody>
      </p:sp>
      <p:sp>
        <p:nvSpPr>
          <p:cNvPr id="6" name="Text 4"/>
          <p:cNvSpPr/>
          <p:nvPr/>
        </p:nvSpPr>
        <p:spPr>
          <a:xfrm>
            <a:off x="548640" y="1188720"/>
            <a:ext cx="10972800" cy="274320"/>
          </a:xfrm>
          <a:prstGeom prst="rect">
            <a:avLst/>
          </a:prstGeom>
          <a:noFill/>
          <a:ln/>
        </p:spPr>
        <p:txBody>
          <a:bodyPr wrap="square" lIns="0" tIns="0" rIns="0" bIns="0" rtlCol="0" anchor="t"/>
          <a:lstStyle/>
          <a:p>
            <a:pPr marL="0" indent="0">
              <a:buNone/>
            </a:pPr>
            <a:r>
              <a:rPr lang="en-US" sz="1500" dirty="0">
                <a:solidFill>
                  <a:srgbClr val="9FB0CC"/>
                </a:solidFill>
                <a:latin typeface="Calibri" pitchFamily="34" charset="0"/>
                <a:ea typeface="Calibri" pitchFamily="34" charset="-122"/>
                <a:cs typeface="Calibri" pitchFamily="34" charset="-120"/>
              </a:rPr>
              <a:t>AES encrypts one 128-bit block. A mode says how to handle longer messages.</a:t>
            </a:r>
            <a:endParaRPr lang="en-US" sz="1500" dirty="0"/>
          </a:p>
        </p:txBody>
      </p:sp>
      <p:sp>
        <p:nvSpPr>
          <p:cNvPr id="7" name="Shape 5"/>
          <p:cNvSpPr/>
          <p:nvPr/>
        </p:nvSpPr>
        <p:spPr>
          <a:xfrm>
            <a:off x="548640" y="1508760"/>
            <a:ext cx="5440680" cy="1783080"/>
          </a:xfrm>
          <a:prstGeom prst="roundRect">
            <a:avLst>
              <a:gd name="adj" fmla="val 4103"/>
            </a:avLst>
          </a:prstGeom>
          <a:solidFill>
            <a:srgbClr val="111A2F"/>
          </a:solidFill>
          <a:ln w="12700">
            <a:solidFill>
              <a:srgbClr val="2A3E68"/>
            </a:solidFill>
            <a:prstDash val="solid"/>
          </a:ln>
        </p:spPr>
        <p:txBody>
          <a:bodyPr/>
          <a:lstStyle/>
          <a:p>
            <a:endParaRPr lang="en-US"/>
          </a:p>
        </p:txBody>
      </p:sp>
      <p:sp>
        <p:nvSpPr>
          <p:cNvPr id="8" name="Text 6"/>
          <p:cNvSpPr/>
          <p:nvPr/>
        </p:nvSpPr>
        <p:spPr>
          <a:xfrm>
            <a:off x="777240" y="1600200"/>
            <a:ext cx="4937760" cy="274320"/>
          </a:xfrm>
          <a:prstGeom prst="rect">
            <a:avLst/>
          </a:prstGeom>
          <a:noFill/>
          <a:ln/>
        </p:spPr>
        <p:txBody>
          <a:bodyPr wrap="square" lIns="0" tIns="0" rIns="0" bIns="0" rtlCol="0" anchor="t"/>
          <a:lstStyle/>
          <a:p>
            <a:pPr marL="0" indent="0">
              <a:buNone/>
            </a:pPr>
            <a:r>
              <a:rPr lang="en-US" sz="1400" b="1" dirty="0">
                <a:solidFill>
                  <a:srgbClr val="FBBF24"/>
                </a:solidFill>
                <a:latin typeface="Consolas" pitchFamily="34" charset="0"/>
                <a:ea typeface="Consolas" pitchFamily="34" charset="-122"/>
                <a:cs typeface="Consolas" pitchFamily="34" charset="-120"/>
              </a:rPr>
              <a:t>CBC: chain each block to the last</a:t>
            </a:r>
            <a:endParaRPr lang="en-US" sz="1400" dirty="0"/>
          </a:p>
        </p:txBody>
      </p:sp>
      <p:sp>
        <p:nvSpPr>
          <p:cNvPr id="9" name="Shape 7"/>
          <p:cNvSpPr/>
          <p:nvPr/>
        </p:nvSpPr>
        <p:spPr>
          <a:xfrm>
            <a:off x="777240" y="2011680"/>
            <a:ext cx="1005840" cy="548640"/>
          </a:xfrm>
          <a:prstGeom prst="roundRect">
            <a:avLst>
              <a:gd name="adj" fmla="val 13333"/>
            </a:avLst>
          </a:prstGeom>
          <a:solidFill>
            <a:srgbClr val="172544"/>
          </a:solidFill>
          <a:ln w="19050">
            <a:solidFill>
              <a:srgbClr val="FBBF24"/>
            </a:solidFill>
            <a:prstDash val="solid"/>
          </a:ln>
        </p:spPr>
        <p:txBody>
          <a:bodyPr/>
          <a:lstStyle/>
          <a:p>
            <a:endParaRPr lang="en-US"/>
          </a:p>
        </p:txBody>
      </p:sp>
      <p:sp>
        <p:nvSpPr>
          <p:cNvPr id="10" name="Text 8"/>
          <p:cNvSpPr/>
          <p:nvPr/>
        </p:nvSpPr>
        <p:spPr>
          <a:xfrm>
            <a:off x="777240" y="2011680"/>
            <a:ext cx="100584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P1 ^ IV</a:t>
            </a:r>
            <a:endParaRPr lang="en-US" sz="1200" dirty="0"/>
          </a:p>
        </p:txBody>
      </p:sp>
      <p:sp>
        <p:nvSpPr>
          <p:cNvPr id="11" name="Shape 9"/>
          <p:cNvSpPr/>
          <p:nvPr/>
        </p:nvSpPr>
        <p:spPr>
          <a:xfrm>
            <a:off x="1801368" y="2286000"/>
            <a:ext cx="283464" cy="0"/>
          </a:xfrm>
          <a:prstGeom prst="line">
            <a:avLst/>
          </a:prstGeom>
          <a:noFill/>
          <a:ln w="25400">
            <a:solidFill>
              <a:srgbClr val="FBBF24"/>
            </a:solidFill>
            <a:prstDash val="solid"/>
            <a:tailEnd type="triangle"/>
          </a:ln>
        </p:spPr>
        <p:txBody>
          <a:bodyPr/>
          <a:lstStyle/>
          <a:p>
            <a:endParaRPr lang="en-US"/>
          </a:p>
        </p:txBody>
      </p:sp>
      <p:sp>
        <p:nvSpPr>
          <p:cNvPr id="12" name="Shape 10"/>
          <p:cNvSpPr/>
          <p:nvPr/>
        </p:nvSpPr>
        <p:spPr>
          <a:xfrm>
            <a:off x="2103120" y="2011680"/>
            <a:ext cx="1005840" cy="548640"/>
          </a:xfrm>
          <a:prstGeom prst="roundRect">
            <a:avLst>
              <a:gd name="adj" fmla="val 13333"/>
            </a:avLst>
          </a:prstGeom>
          <a:solidFill>
            <a:srgbClr val="172544"/>
          </a:solidFill>
          <a:ln w="19050">
            <a:solidFill>
              <a:srgbClr val="FBBF24"/>
            </a:solidFill>
            <a:prstDash val="solid"/>
          </a:ln>
        </p:spPr>
        <p:txBody>
          <a:bodyPr/>
          <a:lstStyle/>
          <a:p>
            <a:endParaRPr lang="en-US"/>
          </a:p>
        </p:txBody>
      </p:sp>
      <p:sp>
        <p:nvSpPr>
          <p:cNvPr id="13" name="Text 11"/>
          <p:cNvSpPr/>
          <p:nvPr/>
        </p:nvSpPr>
        <p:spPr>
          <a:xfrm>
            <a:off x="2103120" y="2011680"/>
            <a:ext cx="100584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E_K</a:t>
            </a:r>
            <a:endParaRPr lang="en-US" sz="1200" dirty="0"/>
          </a:p>
        </p:txBody>
      </p:sp>
      <p:sp>
        <p:nvSpPr>
          <p:cNvPr id="14" name="Shape 12"/>
          <p:cNvSpPr/>
          <p:nvPr/>
        </p:nvSpPr>
        <p:spPr>
          <a:xfrm>
            <a:off x="3127248" y="2286000"/>
            <a:ext cx="283464" cy="0"/>
          </a:xfrm>
          <a:prstGeom prst="line">
            <a:avLst/>
          </a:prstGeom>
          <a:noFill/>
          <a:ln w="25400">
            <a:solidFill>
              <a:srgbClr val="FBBF24"/>
            </a:solidFill>
            <a:prstDash val="solid"/>
            <a:tailEnd type="triangle"/>
          </a:ln>
        </p:spPr>
        <p:txBody>
          <a:bodyPr/>
          <a:lstStyle/>
          <a:p>
            <a:endParaRPr lang="en-US"/>
          </a:p>
        </p:txBody>
      </p:sp>
      <p:sp>
        <p:nvSpPr>
          <p:cNvPr id="15" name="Shape 13"/>
          <p:cNvSpPr/>
          <p:nvPr/>
        </p:nvSpPr>
        <p:spPr>
          <a:xfrm>
            <a:off x="3429000" y="2011680"/>
            <a:ext cx="1005840" cy="548640"/>
          </a:xfrm>
          <a:prstGeom prst="roundRect">
            <a:avLst>
              <a:gd name="adj" fmla="val 13333"/>
            </a:avLst>
          </a:prstGeom>
          <a:solidFill>
            <a:srgbClr val="172544"/>
          </a:solidFill>
          <a:ln w="19050">
            <a:solidFill>
              <a:srgbClr val="FBBF24"/>
            </a:solidFill>
            <a:prstDash val="solid"/>
          </a:ln>
        </p:spPr>
        <p:txBody>
          <a:bodyPr/>
          <a:lstStyle/>
          <a:p>
            <a:endParaRPr lang="en-US"/>
          </a:p>
        </p:txBody>
      </p:sp>
      <p:sp>
        <p:nvSpPr>
          <p:cNvPr id="16" name="Text 14"/>
          <p:cNvSpPr/>
          <p:nvPr/>
        </p:nvSpPr>
        <p:spPr>
          <a:xfrm>
            <a:off x="3429000" y="2011680"/>
            <a:ext cx="100584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C1</a:t>
            </a:r>
            <a:endParaRPr lang="en-US" sz="1200" dirty="0"/>
          </a:p>
        </p:txBody>
      </p:sp>
      <p:sp>
        <p:nvSpPr>
          <p:cNvPr id="17" name="Shape 15"/>
          <p:cNvSpPr/>
          <p:nvPr/>
        </p:nvSpPr>
        <p:spPr>
          <a:xfrm>
            <a:off x="4453128" y="2286000"/>
            <a:ext cx="283464" cy="0"/>
          </a:xfrm>
          <a:prstGeom prst="line">
            <a:avLst/>
          </a:prstGeom>
          <a:noFill/>
          <a:ln w="25400">
            <a:solidFill>
              <a:srgbClr val="FBBF24"/>
            </a:solidFill>
            <a:prstDash val="solid"/>
            <a:tailEnd type="triangle"/>
          </a:ln>
        </p:spPr>
        <p:txBody>
          <a:bodyPr/>
          <a:lstStyle/>
          <a:p>
            <a:endParaRPr lang="en-US"/>
          </a:p>
        </p:txBody>
      </p:sp>
      <p:sp>
        <p:nvSpPr>
          <p:cNvPr id="18" name="Shape 16"/>
          <p:cNvSpPr/>
          <p:nvPr/>
        </p:nvSpPr>
        <p:spPr>
          <a:xfrm>
            <a:off x="4754880" y="2011680"/>
            <a:ext cx="1005840" cy="548640"/>
          </a:xfrm>
          <a:prstGeom prst="roundRect">
            <a:avLst>
              <a:gd name="adj" fmla="val 13333"/>
            </a:avLst>
          </a:prstGeom>
          <a:solidFill>
            <a:srgbClr val="172544"/>
          </a:solidFill>
          <a:ln w="19050">
            <a:solidFill>
              <a:srgbClr val="FBBF24"/>
            </a:solidFill>
            <a:prstDash val="solid"/>
          </a:ln>
        </p:spPr>
        <p:txBody>
          <a:bodyPr/>
          <a:lstStyle/>
          <a:p>
            <a:endParaRPr lang="en-US"/>
          </a:p>
        </p:txBody>
      </p:sp>
      <p:sp>
        <p:nvSpPr>
          <p:cNvPr id="19" name="Text 17"/>
          <p:cNvSpPr/>
          <p:nvPr/>
        </p:nvSpPr>
        <p:spPr>
          <a:xfrm>
            <a:off x="4754880" y="2011680"/>
            <a:ext cx="100584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P2 ^ C1</a:t>
            </a:r>
            <a:endParaRPr lang="en-US" sz="1200" dirty="0"/>
          </a:p>
        </p:txBody>
      </p:sp>
      <p:sp>
        <p:nvSpPr>
          <p:cNvPr id="20" name="Text 18"/>
          <p:cNvSpPr/>
          <p:nvPr/>
        </p:nvSpPr>
        <p:spPr>
          <a:xfrm>
            <a:off x="777240" y="2697480"/>
            <a:ext cx="4983480" cy="54864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Each block </a:t>
            </a:r>
            <a:r>
              <a:rPr lang="en-US" sz="1300" dirty="0">
                <a:solidFill>
                  <a:srgbClr val="F1F5F9"/>
                </a:solidFill>
                <a:latin typeface="Calibri" pitchFamily="34" charset="0"/>
                <a:ea typeface="Calibri" pitchFamily="34" charset="-122"/>
                <a:cs typeface="Calibri" pitchFamily="34" charset="-120"/>
              </a:rPr>
              <a:t>is </a:t>
            </a:r>
            <a:r>
              <a:rPr lang="en-US" sz="1300">
                <a:solidFill>
                  <a:srgbClr val="F1F5F9"/>
                </a:solidFill>
                <a:latin typeface="Calibri" pitchFamily="34" charset="0"/>
                <a:ea typeface="Calibri" pitchFamily="34" charset="-122"/>
                <a:cs typeface="Calibri" pitchFamily="34" charset="-120"/>
              </a:rPr>
              <a:t>mixed with the previous encrypted block first. The first block uses </a:t>
            </a:r>
            <a:r>
              <a:rPr lang="en-US" sz="1300" dirty="0">
                <a:solidFill>
                  <a:srgbClr val="F1F5F9"/>
                </a:solidFill>
                <a:latin typeface="Calibri" pitchFamily="34" charset="0"/>
                <a:ea typeface="Calibri" pitchFamily="34" charset="-122"/>
                <a:cs typeface="Calibri" pitchFamily="34" charset="-120"/>
              </a:rPr>
              <a:t>a random </a:t>
            </a:r>
            <a:r>
              <a:rPr lang="en-US" sz="1300">
                <a:solidFill>
                  <a:srgbClr val="F1F5F9"/>
                </a:solidFill>
                <a:latin typeface="Calibri" pitchFamily="34" charset="0"/>
                <a:ea typeface="Calibri" pitchFamily="34" charset="-122"/>
                <a:cs typeface="Calibri" pitchFamily="34" charset="-120"/>
              </a:rPr>
              <a:t>starting value (</a:t>
            </a:r>
            <a:r>
              <a:rPr lang="en-US" sz="1300" dirty="0">
                <a:solidFill>
                  <a:srgbClr val="F1F5F9"/>
                </a:solidFill>
                <a:latin typeface="Calibri" pitchFamily="34" charset="0"/>
                <a:ea typeface="Calibri" pitchFamily="34" charset="-122"/>
                <a:cs typeface="Calibri" pitchFamily="34" charset="-120"/>
              </a:rPr>
              <a:t>IV</a:t>
            </a:r>
            <a:r>
              <a:rPr lang="en-US" sz="1300">
                <a:solidFill>
                  <a:srgbClr val="F1F5F9"/>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6199632" y="1508760"/>
            <a:ext cx="5440680" cy="1783080"/>
          </a:xfrm>
          <a:prstGeom prst="roundRect">
            <a:avLst>
              <a:gd name="adj" fmla="val 4103"/>
            </a:avLst>
          </a:prstGeom>
          <a:solidFill>
            <a:srgbClr val="111A2F"/>
          </a:solidFill>
          <a:ln w="12700">
            <a:solidFill>
              <a:srgbClr val="2A3E68"/>
            </a:solidFill>
            <a:prstDash val="solid"/>
          </a:ln>
        </p:spPr>
        <p:txBody>
          <a:bodyPr/>
          <a:lstStyle/>
          <a:p>
            <a:endParaRPr lang="en-US"/>
          </a:p>
        </p:txBody>
      </p:sp>
      <p:sp>
        <p:nvSpPr>
          <p:cNvPr id="22" name="Text 20"/>
          <p:cNvSpPr/>
          <p:nvPr/>
        </p:nvSpPr>
        <p:spPr>
          <a:xfrm>
            <a:off x="6428232" y="1600200"/>
            <a:ext cx="4937760" cy="274320"/>
          </a:xfrm>
          <a:prstGeom prst="rect">
            <a:avLst/>
          </a:prstGeom>
          <a:noFill/>
          <a:ln/>
        </p:spPr>
        <p:txBody>
          <a:bodyPr wrap="square" lIns="0" tIns="0" rIns="0" bIns="0" rtlCol="0" anchor="t"/>
          <a:lstStyle/>
          <a:p>
            <a:pPr marL="0" indent="0">
              <a:buNone/>
            </a:pPr>
            <a:r>
              <a:rPr lang="en-US" sz="1400" b="1" dirty="0">
                <a:solidFill>
                  <a:srgbClr val="4ADE80"/>
                </a:solidFill>
                <a:latin typeface="Consolas" pitchFamily="34" charset="0"/>
                <a:ea typeface="Consolas" pitchFamily="34" charset="-122"/>
                <a:cs typeface="Consolas" pitchFamily="34" charset="-120"/>
              </a:rPr>
              <a:t>CTR / GCM: </a:t>
            </a:r>
            <a:r>
              <a:rPr lang="en-US" sz="1400" b="1">
                <a:solidFill>
                  <a:srgbClr val="4ADE80"/>
                </a:solidFill>
                <a:latin typeface="Consolas" pitchFamily="34" charset="0"/>
                <a:ea typeface="Consolas" pitchFamily="34" charset="-122"/>
                <a:cs typeface="Consolas" pitchFamily="34" charset="-120"/>
              </a:rPr>
              <a:t>encrypt</a:t>
            </a:r>
            <a:r>
              <a:rPr lang="en-US" sz="1400" b="1" dirty="0">
                <a:solidFill>
                  <a:srgbClr val="4ADE80"/>
                </a:solidFill>
                <a:latin typeface="Consolas" pitchFamily="34" charset="0"/>
                <a:ea typeface="Consolas" pitchFamily="34" charset="-122"/>
                <a:cs typeface="Consolas" pitchFamily="34" charset="-120"/>
              </a:rPr>
              <a:t> a counter</a:t>
            </a:r>
            <a:endParaRPr lang="en-US" sz="1400" dirty="0"/>
          </a:p>
        </p:txBody>
      </p:sp>
      <p:sp>
        <p:nvSpPr>
          <p:cNvPr id="23" name="Shape 21"/>
          <p:cNvSpPr/>
          <p:nvPr/>
        </p:nvSpPr>
        <p:spPr>
          <a:xfrm>
            <a:off x="6428232" y="2011680"/>
            <a:ext cx="1005840" cy="548640"/>
          </a:xfrm>
          <a:prstGeom prst="roundRect">
            <a:avLst>
              <a:gd name="adj" fmla="val 13333"/>
            </a:avLst>
          </a:prstGeom>
          <a:solidFill>
            <a:srgbClr val="172544"/>
          </a:solidFill>
          <a:ln w="19050">
            <a:solidFill>
              <a:srgbClr val="4ADE80"/>
            </a:solidFill>
            <a:prstDash val="solid"/>
          </a:ln>
        </p:spPr>
        <p:txBody>
          <a:bodyPr/>
          <a:lstStyle/>
          <a:p>
            <a:endParaRPr lang="en-US"/>
          </a:p>
        </p:txBody>
      </p:sp>
      <p:sp>
        <p:nvSpPr>
          <p:cNvPr id="24" name="Text 22"/>
          <p:cNvSpPr/>
          <p:nvPr/>
        </p:nvSpPr>
        <p:spPr>
          <a:xfrm>
            <a:off x="6428232" y="2011680"/>
            <a:ext cx="100584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nonce||ctr</a:t>
            </a:r>
            <a:endParaRPr lang="en-US" sz="1200" dirty="0"/>
          </a:p>
        </p:txBody>
      </p:sp>
      <p:sp>
        <p:nvSpPr>
          <p:cNvPr id="25" name="Shape 23"/>
          <p:cNvSpPr/>
          <p:nvPr/>
        </p:nvSpPr>
        <p:spPr>
          <a:xfrm>
            <a:off x="7452360" y="2286000"/>
            <a:ext cx="283464" cy="0"/>
          </a:xfrm>
          <a:prstGeom prst="line">
            <a:avLst/>
          </a:prstGeom>
          <a:noFill/>
          <a:ln w="25400">
            <a:solidFill>
              <a:srgbClr val="4ADE80"/>
            </a:solidFill>
            <a:prstDash val="solid"/>
            <a:tailEnd type="triangle"/>
          </a:ln>
        </p:spPr>
        <p:txBody>
          <a:bodyPr/>
          <a:lstStyle/>
          <a:p>
            <a:endParaRPr lang="en-US"/>
          </a:p>
        </p:txBody>
      </p:sp>
      <p:sp>
        <p:nvSpPr>
          <p:cNvPr id="26" name="Shape 24"/>
          <p:cNvSpPr/>
          <p:nvPr/>
        </p:nvSpPr>
        <p:spPr>
          <a:xfrm>
            <a:off x="7754112" y="2011680"/>
            <a:ext cx="1005840" cy="548640"/>
          </a:xfrm>
          <a:prstGeom prst="roundRect">
            <a:avLst>
              <a:gd name="adj" fmla="val 13333"/>
            </a:avLst>
          </a:prstGeom>
          <a:solidFill>
            <a:srgbClr val="172544"/>
          </a:solidFill>
          <a:ln w="19050">
            <a:solidFill>
              <a:srgbClr val="4ADE80"/>
            </a:solidFill>
            <a:prstDash val="solid"/>
          </a:ln>
        </p:spPr>
        <p:txBody>
          <a:bodyPr/>
          <a:lstStyle/>
          <a:p>
            <a:endParaRPr lang="en-US"/>
          </a:p>
        </p:txBody>
      </p:sp>
      <p:sp>
        <p:nvSpPr>
          <p:cNvPr id="27" name="Text 25"/>
          <p:cNvSpPr/>
          <p:nvPr/>
        </p:nvSpPr>
        <p:spPr>
          <a:xfrm>
            <a:off x="7754112" y="2011680"/>
            <a:ext cx="100584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E_K</a:t>
            </a:r>
            <a:endParaRPr lang="en-US" sz="1200" dirty="0"/>
          </a:p>
        </p:txBody>
      </p:sp>
      <p:sp>
        <p:nvSpPr>
          <p:cNvPr id="28" name="Shape 26"/>
          <p:cNvSpPr/>
          <p:nvPr/>
        </p:nvSpPr>
        <p:spPr>
          <a:xfrm>
            <a:off x="8778240" y="2286000"/>
            <a:ext cx="283464" cy="0"/>
          </a:xfrm>
          <a:prstGeom prst="line">
            <a:avLst/>
          </a:prstGeom>
          <a:noFill/>
          <a:ln w="25400">
            <a:solidFill>
              <a:srgbClr val="4ADE80"/>
            </a:solidFill>
            <a:prstDash val="solid"/>
            <a:tailEnd type="triangle"/>
          </a:ln>
        </p:spPr>
        <p:txBody>
          <a:bodyPr/>
          <a:lstStyle/>
          <a:p>
            <a:endParaRPr lang="en-US"/>
          </a:p>
        </p:txBody>
      </p:sp>
      <p:sp>
        <p:nvSpPr>
          <p:cNvPr id="29" name="Shape 27"/>
          <p:cNvSpPr/>
          <p:nvPr/>
        </p:nvSpPr>
        <p:spPr>
          <a:xfrm>
            <a:off x="9079992" y="2011680"/>
            <a:ext cx="1005840" cy="548640"/>
          </a:xfrm>
          <a:prstGeom prst="roundRect">
            <a:avLst>
              <a:gd name="adj" fmla="val 13333"/>
            </a:avLst>
          </a:prstGeom>
          <a:solidFill>
            <a:srgbClr val="172544"/>
          </a:solidFill>
          <a:ln w="19050">
            <a:solidFill>
              <a:srgbClr val="4ADE80"/>
            </a:solidFill>
            <a:prstDash val="solid"/>
          </a:ln>
        </p:spPr>
        <p:txBody>
          <a:bodyPr/>
          <a:lstStyle/>
          <a:p>
            <a:endParaRPr lang="en-US"/>
          </a:p>
        </p:txBody>
      </p:sp>
      <p:sp>
        <p:nvSpPr>
          <p:cNvPr id="30" name="Text 28"/>
          <p:cNvSpPr/>
          <p:nvPr/>
        </p:nvSpPr>
        <p:spPr>
          <a:xfrm>
            <a:off x="9079992" y="2011680"/>
            <a:ext cx="100584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 P_i</a:t>
            </a:r>
            <a:endParaRPr lang="en-US" sz="1200" dirty="0"/>
          </a:p>
        </p:txBody>
      </p:sp>
      <p:sp>
        <p:nvSpPr>
          <p:cNvPr id="31" name="Shape 29"/>
          <p:cNvSpPr/>
          <p:nvPr/>
        </p:nvSpPr>
        <p:spPr>
          <a:xfrm>
            <a:off x="10104120" y="2286000"/>
            <a:ext cx="283464" cy="0"/>
          </a:xfrm>
          <a:prstGeom prst="line">
            <a:avLst/>
          </a:prstGeom>
          <a:noFill/>
          <a:ln w="25400">
            <a:solidFill>
              <a:srgbClr val="4ADE80"/>
            </a:solidFill>
            <a:prstDash val="solid"/>
            <a:tailEnd type="triangle"/>
          </a:ln>
        </p:spPr>
        <p:txBody>
          <a:bodyPr/>
          <a:lstStyle/>
          <a:p>
            <a:endParaRPr lang="en-US"/>
          </a:p>
        </p:txBody>
      </p:sp>
      <p:sp>
        <p:nvSpPr>
          <p:cNvPr id="32" name="Shape 30"/>
          <p:cNvSpPr/>
          <p:nvPr/>
        </p:nvSpPr>
        <p:spPr>
          <a:xfrm>
            <a:off x="10405872" y="2011680"/>
            <a:ext cx="1005840" cy="548640"/>
          </a:xfrm>
          <a:prstGeom prst="roundRect">
            <a:avLst>
              <a:gd name="adj" fmla="val 13333"/>
            </a:avLst>
          </a:prstGeom>
          <a:solidFill>
            <a:srgbClr val="172544"/>
          </a:solidFill>
          <a:ln w="19050">
            <a:solidFill>
              <a:srgbClr val="4ADE80"/>
            </a:solidFill>
            <a:prstDash val="solid"/>
          </a:ln>
        </p:spPr>
        <p:txBody>
          <a:bodyPr/>
          <a:lstStyle/>
          <a:p>
            <a:endParaRPr lang="en-US"/>
          </a:p>
        </p:txBody>
      </p:sp>
      <p:sp>
        <p:nvSpPr>
          <p:cNvPr id="33" name="Text 31"/>
          <p:cNvSpPr/>
          <p:nvPr/>
        </p:nvSpPr>
        <p:spPr>
          <a:xfrm>
            <a:off x="10405872" y="2011680"/>
            <a:ext cx="100584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C_i</a:t>
            </a:r>
            <a:endParaRPr lang="en-US" sz="1200" dirty="0"/>
          </a:p>
        </p:txBody>
      </p:sp>
      <p:sp>
        <p:nvSpPr>
          <p:cNvPr id="34" name="Text 32"/>
          <p:cNvSpPr/>
          <p:nvPr/>
        </p:nvSpPr>
        <p:spPr>
          <a:xfrm>
            <a:off x="6428232" y="2697480"/>
            <a:ext cx="4983480" cy="54864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A counter is encrypted to make a scrambled stream that is combined with the message. </a:t>
            </a:r>
            <a:r>
              <a:rPr lang="en-US" sz="1300" dirty="0">
                <a:solidFill>
                  <a:srgbClr val="F1F5F9"/>
                </a:solidFill>
                <a:latin typeface="Calibri" pitchFamily="34" charset="0"/>
                <a:ea typeface="Calibri" pitchFamily="34" charset="-122"/>
                <a:cs typeface="Calibri" pitchFamily="34" charset="-120"/>
              </a:rPr>
              <a:t>GCM </a:t>
            </a:r>
            <a:r>
              <a:rPr lang="en-US" sz="1300">
                <a:solidFill>
                  <a:srgbClr val="F1F5F9"/>
                </a:solidFill>
                <a:latin typeface="Calibri" pitchFamily="34" charset="0"/>
                <a:ea typeface="Calibri" pitchFamily="34" charset="-122"/>
                <a:cs typeface="Calibri" pitchFamily="34" charset="-120"/>
              </a:rPr>
              <a:t>also </a:t>
            </a:r>
            <a:r>
              <a:rPr lang="en-US" sz="1300" dirty="0">
                <a:solidFill>
                  <a:srgbClr val="F1F5F9"/>
                </a:solidFill>
                <a:latin typeface="Calibri" pitchFamily="34" charset="0"/>
                <a:ea typeface="Calibri" pitchFamily="34" charset="-122"/>
                <a:cs typeface="Calibri" pitchFamily="34" charset="-120"/>
              </a:rPr>
              <a:t>adds </a:t>
            </a:r>
            <a:r>
              <a:rPr lang="en-US" sz="1300">
                <a:solidFill>
                  <a:srgbClr val="F1F5F9"/>
                </a:solidFill>
                <a:latin typeface="Calibri" pitchFamily="34" charset="0"/>
                <a:ea typeface="Calibri" pitchFamily="34" charset="-122"/>
                <a:cs typeface="Calibri" pitchFamily="34" charset="-120"/>
              </a:rPr>
              <a:t>a tamper check</a:t>
            </a:r>
            <a:r>
              <a:rPr lang="en-US" sz="1300" dirty="0">
                <a:solidFill>
                  <a:srgbClr val="F1F5F9"/>
                </a:solidFill>
                <a:latin typeface="Calibri" pitchFamily="34" charset="0"/>
                <a:ea typeface="Calibri" pitchFamily="34" charset="-122"/>
                <a:cs typeface="Calibri" pitchFamily="34" charset="-120"/>
              </a:rPr>
              <a:t>.</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11091672" cy="2523744"/>
        </p:xfrm>
        <a:graphic>
          <a:graphicData uri="http://schemas.openxmlformats.org/drawingml/2006/table">
            <a:tbl>
              <a:tblPr/>
              <a:tblGrid>
                <a:gridCol w="12801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3227832">
                  <a:extLst>
                    <a:ext uri="{9D8B030D-6E8A-4147-A177-3AD203B41FA5}">
                      <a16:colId xmlns:a16="http://schemas.microsoft.com/office/drawing/2014/main" val="20004"/>
                    </a:ext>
                  </a:extLst>
                </a:gridCol>
              </a:tblGrid>
              <a:tr h="420624">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Mode</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a:solidFill>
                            <a:srgbClr val="0A0F1C"/>
                          </a:solidFill>
                          <a:latin typeface="Consolas" pitchFamily="34" charset="0"/>
                          <a:ea typeface="Consolas" pitchFamily="34" charset="-122"/>
                          <a:cs typeface="Consolas" pitchFamily="34" charset="-120"/>
                        </a:rPr>
                        <a:t>Parallel (fast)?</a:t>
                      </a:r>
                      <a:endParaRPr lang="en-US" sz="130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a:solidFill>
                            <a:srgbClr val="0A0F1C"/>
                          </a:solidFill>
                          <a:latin typeface="Consolas" pitchFamily="34" charset="0"/>
                          <a:ea typeface="Consolas" pitchFamily="34" charset="-122"/>
                          <a:cs typeface="Consolas" pitchFamily="34" charset="-120"/>
                        </a:rPr>
                        <a:t>Needs IV / nonce?</a:t>
                      </a:r>
                      <a:endParaRPr lang="en-US" sz="130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a:solidFill>
                            <a:srgbClr val="0A0F1C"/>
                          </a:solidFill>
                          <a:latin typeface="Consolas" pitchFamily="34" charset="0"/>
                          <a:ea typeface="Consolas" pitchFamily="34" charset="-122"/>
                          <a:cs typeface="Consolas" pitchFamily="34" charset="-120"/>
                        </a:rPr>
                        <a:t>Tamper check?</a:t>
                      </a:r>
                      <a:endParaRPr lang="en-US" sz="130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Verdict</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420624">
                <a:tc>
                  <a:txBody>
                    <a:bodyPr/>
                    <a:lstStyle/>
                    <a:p>
                      <a:pPr marL="0" indent="0">
                        <a:buNone/>
                      </a:pPr>
                      <a:r>
                        <a:rPr lang="en-US" sz="1400" b="1" dirty="0">
                          <a:solidFill>
                            <a:srgbClr val="22D3EE"/>
                          </a:solidFill>
                          <a:latin typeface="Consolas" pitchFamily="34" charset="0"/>
                          <a:ea typeface="Consolas" pitchFamily="34" charset="-122"/>
                          <a:cs typeface="Consolas" pitchFamily="34" charset="-120"/>
                        </a:rPr>
                        <a:t>ECB</a:t>
                      </a:r>
                      <a:endParaRPr lang="en-US" sz="14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No</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F87171"/>
                          </a:solidFill>
                          <a:latin typeface="Calibri" pitchFamily="34" charset="0"/>
                          <a:ea typeface="Calibri" pitchFamily="34" charset="-122"/>
                          <a:cs typeface="Calibri" pitchFamily="34" charset="-120"/>
                        </a:rPr>
                        <a:t>Never use: leaks patterns</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1"/>
                  </a:ext>
                </a:extLst>
              </a:tr>
              <a:tr h="420624">
                <a:tc>
                  <a:txBody>
                    <a:bodyPr/>
                    <a:lstStyle/>
                    <a:p>
                      <a:pPr marL="0" indent="0">
                        <a:buNone/>
                      </a:pPr>
                      <a:r>
                        <a:rPr lang="en-US" sz="1400" b="1" dirty="0">
                          <a:solidFill>
                            <a:srgbClr val="22D3EE"/>
                          </a:solidFill>
                          <a:latin typeface="Consolas" pitchFamily="34" charset="0"/>
                          <a:ea typeface="Consolas" pitchFamily="34" charset="-122"/>
                          <a:cs typeface="Consolas" pitchFamily="34" charset="-120"/>
                        </a:rPr>
                        <a:t>CBC</a:t>
                      </a:r>
                      <a:endParaRPr lang="en-US" sz="14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No (decrypting: yes)</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Yes: random IV</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a:solidFill>
                            <a:srgbClr val="FBBF24"/>
                          </a:solidFill>
                          <a:latin typeface="Calibri" pitchFamily="34" charset="0"/>
                          <a:ea typeface="Calibri" pitchFamily="34" charset="-122"/>
                          <a:cs typeface="Calibri" pitchFamily="34" charset="-120"/>
                        </a:rPr>
                        <a:t>Old; needs a separate check</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2"/>
                  </a:ext>
                </a:extLst>
              </a:tr>
              <a:tr h="420624">
                <a:tc>
                  <a:txBody>
                    <a:bodyPr/>
                    <a:lstStyle/>
                    <a:p>
                      <a:pPr marL="0" indent="0">
                        <a:buNone/>
                      </a:pPr>
                      <a:r>
                        <a:rPr lang="en-US" sz="1400" b="1" dirty="0">
                          <a:solidFill>
                            <a:srgbClr val="22D3EE"/>
                          </a:solidFill>
                          <a:latin typeface="Consolas" pitchFamily="34" charset="0"/>
                          <a:ea typeface="Consolas" pitchFamily="34" charset="-122"/>
                          <a:cs typeface="Consolas" pitchFamily="34" charset="-120"/>
                        </a:rPr>
                        <a:t>CTR</a:t>
                      </a:r>
                      <a:endParaRPr lang="en-US" sz="14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Yes: unique nonce</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a:solidFill>
                            <a:srgbClr val="FBBF24"/>
                          </a:solidFill>
                          <a:latin typeface="Calibri" pitchFamily="34" charset="0"/>
                          <a:ea typeface="Calibri" pitchFamily="34" charset="-122"/>
                          <a:cs typeface="Calibri" pitchFamily="34" charset="-120"/>
                        </a:rPr>
                        <a:t>OK, but add a tamper check</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3"/>
                  </a:ext>
                </a:extLst>
              </a:tr>
              <a:tr h="420624">
                <a:tc>
                  <a:txBody>
                    <a:bodyPr/>
                    <a:lstStyle/>
                    <a:p>
                      <a:pPr marL="0" indent="0">
                        <a:buNone/>
                      </a:pPr>
                      <a:r>
                        <a:rPr lang="en-US" sz="1400" b="1" dirty="0">
                          <a:solidFill>
                            <a:srgbClr val="22D3EE"/>
                          </a:solidFill>
                          <a:latin typeface="Consolas" pitchFamily="34" charset="0"/>
                          <a:ea typeface="Consolas" pitchFamily="34" charset="-122"/>
                          <a:cs typeface="Consolas" pitchFamily="34" charset="-120"/>
                        </a:rPr>
                        <a:t>GCM</a:t>
                      </a:r>
                      <a:endParaRPr lang="en-US" sz="14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Yes: unique nonce</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Yes</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4ADE80"/>
                          </a:solidFill>
                          <a:latin typeface="Calibri" pitchFamily="34" charset="0"/>
                          <a:ea typeface="Calibri" pitchFamily="34" charset="-122"/>
                          <a:cs typeface="Calibri" pitchFamily="34" charset="-120"/>
                        </a:rPr>
                        <a:t>Recommended default</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4"/>
                  </a:ext>
                </a:extLst>
              </a:tr>
              <a:tr h="420624">
                <a:tc>
                  <a:txBody>
                    <a:bodyPr/>
                    <a:lstStyle/>
                    <a:p>
                      <a:pPr marL="0" indent="0">
                        <a:buNone/>
                      </a:pPr>
                      <a:r>
                        <a:rPr lang="en-US" sz="1400" b="1" dirty="0">
                          <a:solidFill>
                            <a:srgbClr val="22D3EE"/>
                          </a:solidFill>
                          <a:latin typeface="Consolas" pitchFamily="34" charset="0"/>
                          <a:ea typeface="Consolas" pitchFamily="34" charset="-122"/>
                          <a:cs typeface="Consolas" pitchFamily="34" charset="-120"/>
                        </a:rPr>
                        <a:t>XTS</a:t>
                      </a:r>
                      <a:endParaRPr lang="en-US" sz="14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Yes: sector number</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dirty="0">
                          <a:solidFill>
                            <a:srgbClr val="F1F5F9"/>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a:solidFill>
                            <a:srgbClr val="FBBF24"/>
                          </a:solidFill>
                          <a:latin typeface="Calibri" pitchFamily="34" charset="0"/>
                          <a:ea typeface="Calibri" pitchFamily="34" charset="-122"/>
                          <a:cs typeface="Calibri" pitchFamily="34" charset="-120"/>
                        </a:rPr>
                        <a:t>Only for disk encryption</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ENCRYPTION 06</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Known issues with certain AES modes</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22</a:t>
            </a:r>
            <a:endParaRPr lang="en-US" sz="1000" dirty="0"/>
          </a:p>
        </p:txBody>
      </p:sp>
      <p:sp>
        <p:nvSpPr>
          <p:cNvPr id="6" name="Shape 4"/>
          <p:cNvSpPr/>
          <p:nvPr/>
        </p:nvSpPr>
        <p:spPr>
          <a:xfrm>
            <a:off x="548640" y="1417320"/>
            <a:ext cx="5440680" cy="2240280"/>
          </a:xfrm>
          <a:prstGeom prst="roundRect">
            <a:avLst>
              <a:gd name="adj" fmla="val 3265"/>
            </a:avLst>
          </a:prstGeom>
          <a:solidFill>
            <a:srgbClr val="111A2F"/>
          </a:solidFill>
          <a:ln w="12700">
            <a:solidFill>
              <a:srgbClr val="F87171"/>
            </a:solidFill>
            <a:prstDash val="solid"/>
          </a:ln>
        </p:spPr>
        <p:txBody>
          <a:bodyPr/>
          <a:lstStyle/>
          <a:p>
            <a:endParaRPr lang="en-US"/>
          </a:p>
        </p:txBody>
      </p:sp>
      <p:pic>
        <p:nvPicPr>
          <p:cNvPr id="7" name="Image 0" descr="/agent/turn1/workspace/output/_anthropic_assets/icon-warning-06b553b1.png"/>
          <p:cNvPicPr>
            <a:picLocks noChangeAspect="1"/>
          </p:cNvPicPr>
          <p:nvPr/>
        </p:nvPicPr>
        <p:blipFill>
          <a:blip r:embed="rId3"/>
          <a:stretch>
            <a:fillRect/>
          </a:stretch>
        </p:blipFill>
        <p:spPr>
          <a:xfrm>
            <a:off x="749808" y="1554480"/>
            <a:ext cx="310896" cy="310896"/>
          </a:xfrm>
          <a:prstGeom prst="rect">
            <a:avLst/>
          </a:prstGeom>
        </p:spPr>
      </p:pic>
      <p:sp>
        <p:nvSpPr>
          <p:cNvPr id="8" name="Text 5"/>
          <p:cNvSpPr/>
          <p:nvPr/>
        </p:nvSpPr>
        <p:spPr>
          <a:xfrm>
            <a:off x="1170432" y="1554480"/>
            <a:ext cx="4114800" cy="310896"/>
          </a:xfrm>
          <a:prstGeom prst="rect">
            <a:avLst/>
          </a:prstGeom>
          <a:noFill/>
          <a:ln/>
        </p:spPr>
        <p:txBody>
          <a:bodyPr wrap="square" lIns="0" tIns="0" rIns="0" bIns="0" rtlCol="0" anchor="ctr"/>
          <a:lstStyle/>
          <a:p>
            <a:pPr marL="0" indent="0">
              <a:buNone/>
            </a:pPr>
            <a:r>
              <a:rPr lang="en-US" sz="1500" b="1" dirty="0">
                <a:solidFill>
                  <a:srgbClr val="F87171"/>
                </a:solidFill>
                <a:latin typeface="Consolas" pitchFamily="34" charset="0"/>
                <a:ea typeface="Consolas" pitchFamily="34" charset="-122"/>
                <a:cs typeface="Consolas" pitchFamily="34" charset="-120"/>
              </a:rPr>
              <a:t>ECB: patterns survive</a:t>
            </a:r>
            <a:endParaRPr lang="en-US" sz="1500" dirty="0"/>
          </a:p>
        </p:txBody>
      </p:sp>
      <p:sp>
        <p:nvSpPr>
          <p:cNvPr id="9" name="Text 6"/>
          <p:cNvSpPr/>
          <p:nvPr/>
        </p:nvSpPr>
        <p:spPr>
          <a:xfrm>
            <a:off x="777240" y="2011680"/>
            <a:ext cx="3108960" cy="1371600"/>
          </a:xfrm>
          <a:prstGeom prst="rect">
            <a:avLst/>
          </a:prstGeom>
          <a:noFill/>
          <a:ln/>
        </p:spPr>
        <p:txBody>
          <a:bodyPr wrap="square" lIns="0" tIns="0" rIns="0" bIns="0" rtlCol="0" anchor="t"/>
          <a:lstStyle/>
          <a:p>
            <a:pPr marL="0" indent="0">
              <a:spcAft>
                <a:spcPts val="600"/>
              </a:spcAft>
              <a:buNone/>
            </a:pPr>
            <a:r>
              <a:rPr lang="en-US" sz="1300" b="1" dirty="0">
                <a:solidFill>
                  <a:srgbClr val="F87171"/>
                </a:solidFill>
                <a:latin typeface="Calibri" pitchFamily="34" charset="0"/>
                <a:ea typeface="Calibri" pitchFamily="34" charset="-122"/>
                <a:cs typeface="Calibri" pitchFamily="34" charset="-120"/>
              </a:rPr>
              <a:t>Flaw: </a:t>
            </a:r>
            <a:r>
              <a:rPr lang="en-US" sz="1300" dirty="0">
                <a:solidFill>
                  <a:srgbClr val="F1F5F9"/>
                </a:solidFill>
                <a:latin typeface="Calibri" pitchFamily="34" charset="0"/>
                <a:ea typeface="Calibri" pitchFamily="34" charset="-122"/>
                <a:cs typeface="Calibri" pitchFamily="34" charset="-120"/>
              </a:rPr>
              <a:t>identical blocks </a:t>
            </a:r>
            <a:r>
              <a:rPr lang="en-US" sz="1300">
                <a:solidFill>
                  <a:srgbClr val="F1F5F9"/>
                </a:solidFill>
                <a:latin typeface="Calibri" pitchFamily="34" charset="0"/>
                <a:ea typeface="Calibri" pitchFamily="34" charset="-122"/>
                <a:cs typeface="Calibri" pitchFamily="34" charset="-120"/>
              </a:rPr>
              <a:t>of the original data become </a:t>
            </a:r>
            <a:r>
              <a:rPr lang="en-US" sz="1300" dirty="0">
                <a:solidFill>
                  <a:srgbClr val="F1F5F9"/>
                </a:solidFill>
                <a:latin typeface="Calibri" pitchFamily="34" charset="0"/>
                <a:ea typeface="Calibri" pitchFamily="34" charset="-122"/>
                <a:cs typeface="Calibri" pitchFamily="34" charset="-120"/>
              </a:rPr>
              <a:t>identical blocks</a:t>
            </a:r>
            <a:r>
              <a:rPr lang="en-US" sz="1300">
                <a:solidFill>
                  <a:srgbClr val="F1F5F9"/>
                </a:solidFill>
                <a:latin typeface="Calibri" pitchFamily="34" charset="0"/>
                <a:ea typeface="Calibri" pitchFamily="34" charset="-122"/>
                <a:cs typeface="Calibri" pitchFamily="34" charset="-120"/>
              </a:rPr>
              <a:t> of encrypted data</a:t>
            </a:r>
            <a:r>
              <a:rPr lang="en-US" sz="1300" dirty="0">
                <a:solidFill>
                  <a:srgbClr val="F1F5F9"/>
                </a:solidFill>
                <a:latin typeface="Calibri" pitchFamily="34" charset="0"/>
                <a:ea typeface="Calibri" pitchFamily="34" charset="-122"/>
                <a:cs typeface="Calibri" pitchFamily="34" charset="-120"/>
              </a:rPr>
              <a:t>, so the shape of an image </a:t>
            </a:r>
            <a:r>
              <a:rPr lang="en-US" sz="1300">
                <a:solidFill>
                  <a:srgbClr val="F1F5F9"/>
                </a:solidFill>
                <a:latin typeface="Calibri" pitchFamily="34" charset="0"/>
                <a:ea typeface="Calibri" pitchFamily="34" charset="-122"/>
                <a:cs typeface="Calibri" pitchFamily="34" charset="-120"/>
              </a:rPr>
              <a:t>still </a:t>
            </a:r>
            <a:r>
              <a:rPr lang="en-US" sz="1300" dirty="0">
                <a:solidFill>
                  <a:srgbClr val="F1F5F9"/>
                </a:solidFill>
                <a:latin typeface="Calibri" pitchFamily="34" charset="0"/>
                <a:ea typeface="Calibri" pitchFamily="34" charset="-122"/>
                <a:cs typeface="Calibri" pitchFamily="34" charset="-120"/>
              </a:rPr>
              <a:t>shows through.</a:t>
            </a:r>
            <a:endParaRPr lang="en-US" sz="1300" dirty="0"/>
          </a:p>
          <a:p>
            <a:pPr marL="0" indent="0">
              <a:spcAft>
                <a:spcPts val="600"/>
              </a:spcAft>
              <a:buNone/>
            </a:pPr>
            <a:r>
              <a:rPr lang="en-US" sz="1300" b="1" dirty="0">
                <a:solidFill>
                  <a:srgbClr val="4ADE80"/>
                </a:solidFill>
                <a:latin typeface="Calibri" pitchFamily="34" charset="0"/>
                <a:ea typeface="Calibri" pitchFamily="34" charset="-122"/>
                <a:cs typeface="Calibri" pitchFamily="34" charset="-120"/>
              </a:rPr>
              <a:t>Fix: </a:t>
            </a:r>
            <a:r>
              <a:rPr lang="en-US" sz="1300">
                <a:solidFill>
                  <a:srgbClr val="F1F5F9"/>
                </a:solidFill>
                <a:latin typeface="Calibri" pitchFamily="34" charset="0"/>
                <a:ea typeface="Calibri" pitchFamily="34" charset="-122"/>
                <a:cs typeface="Calibri" pitchFamily="34" charset="-120"/>
              </a:rPr>
              <a:t>never </a:t>
            </a:r>
            <a:r>
              <a:rPr lang="en-US" sz="1300" dirty="0">
                <a:solidFill>
                  <a:srgbClr val="F1F5F9"/>
                </a:solidFill>
                <a:latin typeface="Calibri" pitchFamily="34" charset="0"/>
                <a:ea typeface="Calibri" pitchFamily="34" charset="-122"/>
                <a:cs typeface="Calibri" pitchFamily="34" charset="-120"/>
              </a:rPr>
              <a:t>use ECB.</a:t>
            </a:r>
            <a:endParaRPr lang="en-US" sz="1300" dirty="0"/>
          </a:p>
        </p:txBody>
      </p:sp>
      <p:sp>
        <p:nvSpPr>
          <p:cNvPr id="10" name="Text 7"/>
          <p:cNvSpPr/>
          <p:nvPr/>
        </p:nvSpPr>
        <p:spPr>
          <a:xfrm>
            <a:off x="4023360" y="2103120"/>
            <a:ext cx="1828800" cy="201168"/>
          </a:xfrm>
          <a:prstGeom prst="rect">
            <a:avLst/>
          </a:prstGeom>
          <a:noFill/>
          <a:ln/>
        </p:spPr>
        <p:txBody>
          <a:bodyPr wrap="square" lIns="0" tIns="0" rIns="0" bIns="0" rtlCol="0" anchor="t"/>
          <a:lstStyle/>
          <a:p>
            <a:pPr marL="0" indent="0">
              <a:buNone/>
            </a:pPr>
            <a:r>
              <a:rPr lang="en-US" sz="1100" dirty="0">
                <a:solidFill>
                  <a:srgbClr val="9FB0CC"/>
                </a:solidFill>
                <a:latin typeface="Consolas" pitchFamily="34" charset="0"/>
                <a:ea typeface="Consolas" pitchFamily="34" charset="-122"/>
                <a:cs typeface="Consolas" pitchFamily="34" charset="-120"/>
              </a:rPr>
              <a:t>plaintext</a:t>
            </a:r>
            <a:endParaRPr lang="en-US" sz="1100" dirty="0"/>
          </a:p>
        </p:txBody>
      </p:sp>
      <p:sp>
        <p:nvSpPr>
          <p:cNvPr id="11" name="Text 8"/>
          <p:cNvSpPr/>
          <p:nvPr/>
        </p:nvSpPr>
        <p:spPr>
          <a:xfrm>
            <a:off x="4023360" y="2862072"/>
            <a:ext cx="1828800" cy="201168"/>
          </a:xfrm>
          <a:prstGeom prst="rect">
            <a:avLst/>
          </a:prstGeom>
          <a:noFill/>
          <a:ln/>
        </p:spPr>
        <p:txBody>
          <a:bodyPr wrap="square" lIns="0" tIns="0" rIns="0" bIns="0" rtlCol="0" anchor="t"/>
          <a:lstStyle/>
          <a:p>
            <a:pPr marL="0" indent="0">
              <a:buNone/>
            </a:pPr>
            <a:r>
              <a:rPr lang="en-US" sz="1100" dirty="0">
                <a:solidFill>
                  <a:srgbClr val="9FB0CC"/>
                </a:solidFill>
                <a:latin typeface="Consolas" pitchFamily="34" charset="0"/>
                <a:ea typeface="Consolas" pitchFamily="34" charset="-122"/>
                <a:cs typeface="Consolas" pitchFamily="34" charset="-120"/>
              </a:rPr>
              <a:t>ciphertext</a:t>
            </a:r>
            <a:endParaRPr lang="en-US" sz="1100" dirty="0"/>
          </a:p>
        </p:txBody>
      </p:sp>
      <p:sp>
        <p:nvSpPr>
          <p:cNvPr id="12" name="Shape 9"/>
          <p:cNvSpPr/>
          <p:nvPr/>
        </p:nvSpPr>
        <p:spPr>
          <a:xfrm>
            <a:off x="4023360" y="2359152"/>
            <a:ext cx="365760" cy="365760"/>
          </a:xfrm>
          <a:prstGeom prst="rect">
            <a:avLst/>
          </a:prstGeom>
          <a:solidFill>
            <a:srgbClr val="22D3EE"/>
          </a:solidFill>
          <a:ln w="12700">
            <a:solidFill>
              <a:srgbClr val="22D3EE"/>
            </a:solidFill>
            <a:prstDash val="solid"/>
          </a:ln>
        </p:spPr>
        <p:txBody>
          <a:bodyPr/>
          <a:lstStyle/>
          <a:p>
            <a:endParaRPr lang="en-US"/>
          </a:p>
        </p:txBody>
      </p:sp>
      <p:sp>
        <p:nvSpPr>
          <p:cNvPr id="13" name="Shape 10"/>
          <p:cNvSpPr/>
          <p:nvPr/>
        </p:nvSpPr>
        <p:spPr>
          <a:xfrm>
            <a:off x="4023360" y="3118104"/>
            <a:ext cx="365760" cy="365760"/>
          </a:xfrm>
          <a:prstGeom prst="rect">
            <a:avLst/>
          </a:prstGeom>
          <a:solidFill>
            <a:srgbClr val="A78BFA"/>
          </a:solidFill>
          <a:ln w="12700">
            <a:solidFill>
              <a:srgbClr val="A78BFA"/>
            </a:solidFill>
            <a:prstDash val="solid"/>
          </a:ln>
        </p:spPr>
        <p:txBody>
          <a:bodyPr/>
          <a:lstStyle/>
          <a:p>
            <a:endParaRPr lang="en-US"/>
          </a:p>
        </p:txBody>
      </p:sp>
      <p:sp>
        <p:nvSpPr>
          <p:cNvPr id="14" name="Shape 11"/>
          <p:cNvSpPr/>
          <p:nvPr/>
        </p:nvSpPr>
        <p:spPr>
          <a:xfrm>
            <a:off x="4480560" y="2359152"/>
            <a:ext cx="365760" cy="365760"/>
          </a:xfrm>
          <a:prstGeom prst="rect">
            <a:avLst/>
          </a:prstGeom>
          <a:solidFill>
            <a:srgbClr val="FBBF24"/>
          </a:solidFill>
          <a:ln w="12700">
            <a:solidFill>
              <a:srgbClr val="FBBF24"/>
            </a:solidFill>
            <a:prstDash val="solid"/>
          </a:ln>
        </p:spPr>
        <p:txBody>
          <a:bodyPr/>
          <a:lstStyle/>
          <a:p>
            <a:endParaRPr lang="en-US"/>
          </a:p>
        </p:txBody>
      </p:sp>
      <p:sp>
        <p:nvSpPr>
          <p:cNvPr id="15" name="Shape 12"/>
          <p:cNvSpPr/>
          <p:nvPr/>
        </p:nvSpPr>
        <p:spPr>
          <a:xfrm>
            <a:off x="4480560" y="3118104"/>
            <a:ext cx="365760" cy="365760"/>
          </a:xfrm>
          <a:prstGeom prst="rect">
            <a:avLst/>
          </a:prstGeom>
          <a:solidFill>
            <a:srgbClr val="F87171"/>
          </a:solidFill>
          <a:ln w="12700">
            <a:solidFill>
              <a:srgbClr val="F87171"/>
            </a:solidFill>
            <a:prstDash val="solid"/>
          </a:ln>
        </p:spPr>
        <p:txBody>
          <a:bodyPr/>
          <a:lstStyle/>
          <a:p>
            <a:endParaRPr lang="en-US"/>
          </a:p>
        </p:txBody>
      </p:sp>
      <p:sp>
        <p:nvSpPr>
          <p:cNvPr id="16" name="Shape 13"/>
          <p:cNvSpPr/>
          <p:nvPr/>
        </p:nvSpPr>
        <p:spPr>
          <a:xfrm>
            <a:off x="4937760" y="2359152"/>
            <a:ext cx="365760" cy="365760"/>
          </a:xfrm>
          <a:prstGeom prst="rect">
            <a:avLst/>
          </a:prstGeom>
          <a:solidFill>
            <a:srgbClr val="22D3EE"/>
          </a:solidFill>
          <a:ln w="12700">
            <a:solidFill>
              <a:srgbClr val="22D3EE"/>
            </a:solidFill>
            <a:prstDash val="solid"/>
          </a:ln>
        </p:spPr>
        <p:txBody>
          <a:bodyPr/>
          <a:lstStyle/>
          <a:p>
            <a:endParaRPr lang="en-US"/>
          </a:p>
        </p:txBody>
      </p:sp>
      <p:sp>
        <p:nvSpPr>
          <p:cNvPr id="17" name="Shape 14"/>
          <p:cNvSpPr/>
          <p:nvPr/>
        </p:nvSpPr>
        <p:spPr>
          <a:xfrm>
            <a:off x="4937760" y="3118104"/>
            <a:ext cx="365760" cy="365760"/>
          </a:xfrm>
          <a:prstGeom prst="rect">
            <a:avLst/>
          </a:prstGeom>
          <a:solidFill>
            <a:srgbClr val="A78BFA"/>
          </a:solidFill>
          <a:ln w="12700">
            <a:solidFill>
              <a:srgbClr val="A78BFA"/>
            </a:solidFill>
            <a:prstDash val="solid"/>
          </a:ln>
        </p:spPr>
        <p:txBody>
          <a:bodyPr/>
          <a:lstStyle/>
          <a:p>
            <a:endParaRPr lang="en-US"/>
          </a:p>
        </p:txBody>
      </p:sp>
      <p:sp>
        <p:nvSpPr>
          <p:cNvPr id="18" name="Shape 15"/>
          <p:cNvSpPr/>
          <p:nvPr/>
        </p:nvSpPr>
        <p:spPr>
          <a:xfrm>
            <a:off x="5394960" y="2359152"/>
            <a:ext cx="365760" cy="365760"/>
          </a:xfrm>
          <a:prstGeom prst="rect">
            <a:avLst/>
          </a:prstGeom>
          <a:solidFill>
            <a:srgbClr val="22D3EE"/>
          </a:solidFill>
          <a:ln w="12700">
            <a:solidFill>
              <a:srgbClr val="22D3EE"/>
            </a:solidFill>
            <a:prstDash val="solid"/>
          </a:ln>
        </p:spPr>
        <p:txBody>
          <a:bodyPr/>
          <a:lstStyle/>
          <a:p>
            <a:endParaRPr lang="en-US"/>
          </a:p>
        </p:txBody>
      </p:sp>
      <p:sp>
        <p:nvSpPr>
          <p:cNvPr id="19" name="Shape 16"/>
          <p:cNvSpPr/>
          <p:nvPr/>
        </p:nvSpPr>
        <p:spPr>
          <a:xfrm>
            <a:off x="5394960" y="3118104"/>
            <a:ext cx="365760" cy="365760"/>
          </a:xfrm>
          <a:prstGeom prst="rect">
            <a:avLst/>
          </a:prstGeom>
          <a:solidFill>
            <a:srgbClr val="A78BFA"/>
          </a:solidFill>
          <a:ln w="12700">
            <a:solidFill>
              <a:srgbClr val="A78BFA"/>
            </a:solidFill>
            <a:prstDash val="solid"/>
          </a:ln>
        </p:spPr>
        <p:txBody>
          <a:bodyPr/>
          <a:lstStyle/>
          <a:p>
            <a:endParaRPr lang="en-US"/>
          </a:p>
        </p:txBody>
      </p:sp>
      <p:sp>
        <p:nvSpPr>
          <p:cNvPr id="20" name="Shape 17"/>
          <p:cNvSpPr/>
          <p:nvPr/>
        </p:nvSpPr>
        <p:spPr>
          <a:xfrm>
            <a:off x="4892040" y="2761488"/>
            <a:ext cx="0" cy="502920"/>
          </a:xfrm>
          <a:prstGeom prst="line">
            <a:avLst/>
          </a:prstGeom>
          <a:noFill/>
          <a:ln w="25400">
            <a:solidFill>
              <a:srgbClr val="9FB0CC"/>
            </a:solidFill>
            <a:prstDash val="solid"/>
            <a:tailEnd type="triangle"/>
          </a:ln>
        </p:spPr>
        <p:txBody>
          <a:bodyPr/>
          <a:lstStyle/>
          <a:p>
            <a:endParaRPr lang="en-US"/>
          </a:p>
        </p:txBody>
      </p:sp>
      <p:sp>
        <p:nvSpPr>
          <p:cNvPr id="21" name="Shape 18"/>
          <p:cNvSpPr/>
          <p:nvPr/>
        </p:nvSpPr>
        <p:spPr>
          <a:xfrm>
            <a:off x="6199632" y="1417320"/>
            <a:ext cx="5440680" cy="2240280"/>
          </a:xfrm>
          <a:prstGeom prst="roundRect">
            <a:avLst>
              <a:gd name="adj" fmla="val 3265"/>
            </a:avLst>
          </a:prstGeom>
          <a:solidFill>
            <a:srgbClr val="111A2F"/>
          </a:solidFill>
          <a:ln w="12700">
            <a:solidFill>
              <a:srgbClr val="FBBF24"/>
            </a:solidFill>
            <a:prstDash val="solid"/>
          </a:ln>
        </p:spPr>
        <p:txBody>
          <a:bodyPr/>
          <a:lstStyle/>
          <a:p>
            <a:endParaRPr lang="en-US"/>
          </a:p>
        </p:txBody>
      </p:sp>
      <p:pic>
        <p:nvPicPr>
          <p:cNvPr id="22" name="Image 1" descr="/agent/turn1/workspace/output/_anthropic_assets/icon-warning-06b553b1.png"/>
          <p:cNvPicPr>
            <a:picLocks noChangeAspect="1"/>
          </p:cNvPicPr>
          <p:nvPr/>
        </p:nvPicPr>
        <p:blipFill>
          <a:blip r:embed="rId3"/>
          <a:stretch>
            <a:fillRect/>
          </a:stretch>
        </p:blipFill>
        <p:spPr>
          <a:xfrm>
            <a:off x="6400800" y="1554480"/>
            <a:ext cx="310896" cy="310896"/>
          </a:xfrm>
          <a:prstGeom prst="rect">
            <a:avLst/>
          </a:prstGeom>
        </p:spPr>
      </p:pic>
      <p:sp>
        <p:nvSpPr>
          <p:cNvPr id="23" name="Text 19"/>
          <p:cNvSpPr/>
          <p:nvPr/>
        </p:nvSpPr>
        <p:spPr>
          <a:xfrm>
            <a:off x="6821424" y="1554480"/>
            <a:ext cx="4114800" cy="310896"/>
          </a:xfrm>
          <a:prstGeom prst="rect">
            <a:avLst/>
          </a:prstGeom>
          <a:noFill/>
          <a:ln/>
        </p:spPr>
        <p:txBody>
          <a:bodyPr wrap="square" lIns="0" tIns="0" rIns="0" bIns="0" rtlCol="0" anchor="ctr"/>
          <a:lstStyle/>
          <a:p>
            <a:pPr marL="0" indent="0">
              <a:buNone/>
            </a:pPr>
            <a:r>
              <a:rPr lang="en-US" sz="1500" b="1" dirty="0">
                <a:solidFill>
                  <a:srgbClr val="FBBF24"/>
                </a:solidFill>
                <a:latin typeface="Consolas" pitchFamily="34" charset="0"/>
                <a:ea typeface="Consolas" pitchFamily="34" charset="-122"/>
                <a:cs typeface="Consolas" pitchFamily="34" charset="-120"/>
              </a:rPr>
              <a:t>CBC: padding </a:t>
            </a:r>
            <a:r>
              <a:rPr lang="en-US" sz="1500" b="1">
                <a:solidFill>
                  <a:srgbClr val="FBBF24"/>
                </a:solidFill>
                <a:latin typeface="Consolas" pitchFamily="34" charset="0"/>
                <a:ea typeface="Consolas" pitchFamily="34" charset="-122"/>
                <a:cs typeface="Consolas" pitchFamily="34" charset="-120"/>
              </a:rPr>
              <a:t>leaks</a:t>
            </a:r>
            <a:endParaRPr lang="en-US" sz="1500" dirty="0"/>
          </a:p>
        </p:txBody>
      </p:sp>
      <p:sp>
        <p:nvSpPr>
          <p:cNvPr id="24" name="Text 20"/>
          <p:cNvSpPr/>
          <p:nvPr/>
        </p:nvSpPr>
        <p:spPr>
          <a:xfrm>
            <a:off x="6428232" y="2011680"/>
            <a:ext cx="4983480" cy="1371600"/>
          </a:xfrm>
          <a:prstGeom prst="rect">
            <a:avLst/>
          </a:prstGeom>
          <a:noFill/>
          <a:ln/>
        </p:spPr>
        <p:txBody>
          <a:bodyPr wrap="square" lIns="0" tIns="0" rIns="0" bIns="0" rtlCol="0" anchor="t"/>
          <a:lstStyle/>
          <a:p>
            <a:pPr marL="0" indent="0">
              <a:spcAft>
                <a:spcPts val="600"/>
              </a:spcAft>
              <a:buNone/>
            </a:pPr>
            <a:r>
              <a:rPr lang="en-US" sz="1300" b="1" dirty="0">
                <a:solidFill>
                  <a:srgbClr val="F87171"/>
                </a:solidFill>
                <a:latin typeface="Calibri" pitchFamily="34" charset="0"/>
                <a:ea typeface="Calibri" pitchFamily="34" charset="-122"/>
                <a:cs typeface="Calibri" pitchFamily="34" charset="-120"/>
              </a:rPr>
              <a:t>Flaw: </a:t>
            </a:r>
            <a:r>
              <a:rPr lang="en-US" sz="1300" dirty="0">
                <a:solidFill>
                  <a:srgbClr val="F1F5F9"/>
                </a:solidFill>
                <a:latin typeface="Calibri" pitchFamily="34" charset="0"/>
                <a:ea typeface="Calibri" pitchFamily="34" charset="-122"/>
                <a:cs typeface="Calibri" pitchFamily="34" charset="-120"/>
              </a:rPr>
              <a:t>if a server reveals whether </a:t>
            </a:r>
            <a:r>
              <a:rPr lang="en-US" sz="1300">
                <a:solidFill>
                  <a:srgbClr val="F1F5F9"/>
                </a:solidFill>
                <a:latin typeface="Calibri" pitchFamily="34" charset="0"/>
                <a:ea typeface="Calibri" pitchFamily="34" charset="-122"/>
                <a:cs typeface="Calibri" pitchFamily="34" charset="-120"/>
              </a:rPr>
              <a:t>the </a:t>
            </a:r>
            <a:r>
              <a:rPr lang="en-US" sz="1300" dirty="0">
                <a:solidFill>
                  <a:srgbClr val="F1F5F9"/>
                </a:solidFill>
                <a:latin typeface="Calibri" pitchFamily="34" charset="0"/>
                <a:ea typeface="Calibri" pitchFamily="34" charset="-122"/>
                <a:cs typeface="Calibri" pitchFamily="34" charset="-120"/>
              </a:rPr>
              <a:t>padding </a:t>
            </a:r>
            <a:r>
              <a:rPr lang="en-US" sz="1300">
                <a:solidFill>
                  <a:srgbClr val="F1F5F9"/>
                </a:solidFill>
                <a:latin typeface="Calibri" pitchFamily="34" charset="0"/>
                <a:ea typeface="Calibri" pitchFamily="34" charset="-122"/>
                <a:cs typeface="Calibri" pitchFamily="34" charset="-120"/>
              </a:rPr>
              <a:t>(filler bytes) </a:t>
            </a:r>
            <a:r>
              <a:rPr lang="en-US" sz="1300" dirty="0">
                <a:solidFill>
                  <a:srgbClr val="F1F5F9"/>
                </a:solidFill>
                <a:latin typeface="Calibri" pitchFamily="34" charset="0"/>
                <a:ea typeface="Calibri" pitchFamily="34" charset="-122"/>
                <a:cs typeface="Calibri" pitchFamily="34" charset="-120"/>
              </a:rPr>
              <a:t>was valid, an attacker can decrypt </a:t>
            </a:r>
            <a:r>
              <a:rPr lang="en-US" sz="1300">
                <a:solidFill>
                  <a:srgbClr val="F1F5F9"/>
                </a:solidFill>
                <a:latin typeface="Calibri" pitchFamily="34" charset="0"/>
                <a:ea typeface="Calibri" pitchFamily="34" charset="-122"/>
                <a:cs typeface="Calibri" pitchFamily="34" charset="-120"/>
              </a:rPr>
              <a:t>the message bit </a:t>
            </a:r>
            <a:r>
              <a:rPr lang="en-US" sz="1300" dirty="0">
                <a:solidFill>
                  <a:srgbClr val="F1F5F9"/>
                </a:solidFill>
                <a:latin typeface="Calibri" pitchFamily="34" charset="0"/>
                <a:ea typeface="Calibri" pitchFamily="34" charset="-122"/>
                <a:cs typeface="Calibri" pitchFamily="34" charset="-120"/>
              </a:rPr>
              <a:t>by </a:t>
            </a:r>
            <a:r>
              <a:rPr lang="en-US" sz="1300">
                <a:solidFill>
                  <a:srgbClr val="F1F5F9"/>
                </a:solidFill>
                <a:latin typeface="Calibri" pitchFamily="34" charset="0"/>
                <a:ea typeface="Calibri" pitchFamily="34" charset="-122"/>
                <a:cs typeface="Calibri" pitchFamily="34" charset="-120"/>
              </a:rPr>
              <a:t>bit </a:t>
            </a:r>
            <a:r>
              <a:rPr lang="en-US" sz="1300" dirty="0">
                <a:solidFill>
                  <a:srgbClr val="F1F5F9"/>
                </a:solidFill>
                <a:latin typeface="Calibri" pitchFamily="34" charset="0"/>
                <a:ea typeface="Calibri" pitchFamily="34" charset="-122"/>
                <a:cs typeface="Calibri" pitchFamily="34" charset="-120"/>
              </a:rPr>
              <a:t>(POODLE, Lucky13). Predictable IVs </a:t>
            </a:r>
            <a:r>
              <a:rPr lang="en-US" sz="1300">
                <a:solidFill>
                  <a:srgbClr val="F1F5F9"/>
                </a:solidFill>
                <a:latin typeface="Calibri" pitchFamily="34" charset="0"/>
                <a:ea typeface="Calibri" pitchFamily="34" charset="-122"/>
                <a:cs typeface="Calibri" pitchFamily="34" charset="-120"/>
              </a:rPr>
              <a:t>allowed the </a:t>
            </a:r>
            <a:r>
              <a:rPr lang="en-US" sz="1300" dirty="0">
                <a:solidFill>
                  <a:srgbClr val="F1F5F9"/>
                </a:solidFill>
                <a:latin typeface="Calibri" pitchFamily="34" charset="0"/>
                <a:ea typeface="Calibri" pitchFamily="34" charset="-122"/>
                <a:cs typeface="Calibri" pitchFamily="34" charset="-120"/>
              </a:rPr>
              <a:t>BEAST</a:t>
            </a:r>
            <a:r>
              <a:rPr lang="en-US" sz="1300">
                <a:solidFill>
                  <a:srgbClr val="F1F5F9"/>
                </a:solidFill>
                <a:latin typeface="Calibri" pitchFamily="34" charset="0"/>
                <a:ea typeface="Calibri" pitchFamily="34" charset="-122"/>
                <a:cs typeface="Calibri" pitchFamily="34" charset="-120"/>
              </a:rPr>
              <a:t> attack</a:t>
            </a:r>
            <a:r>
              <a:rPr lang="en-US" sz="1300" dirty="0">
                <a:solidFill>
                  <a:srgbClr val="F1F5F9"/>
                </a:solidFill>
                <a:latin typeface="Calibri" pitchFamily="34" charset="0"/>
                <a:ea typeface="Calibri" pitchFamily="34" charset="-122"/>
                <a:cs typeface="Calibri" pitchFamily="34" charset="-120"/>
              </a:rPr>
              <a:t>.</a:t>
            </a:r>
            <a:endParaRPr lang="en-US" sz="1300" dirty="0"/>
          </a:p>
          <a:p>
            <a:pPr marL="0" indent="0">
              <a:spcAft>
                <a:spcPts val="600"/>
              </a:spcAft>
              <a:buNone/>
            </a:pPr>
            <a:r>
              <a:rPr lang="en-US" sz="1300" b="1" dirty="0">
                <a:solidFill>
                  <a:srgbClr val="4ADE80"/>
                </a:solidFill>
                <a:latin typeface="Calibri" pitchFamily="34" charset="0"/>
                <a:ea typeface="Calibri" pitchFamily="34" charset="-122"/>
                <a:cs typeface="Calibri" pitchFamily="34" charset="-120"/>
              </a:rPr>
              <a:t>Fix: </a:t>
            </a:r>
            <a:r>
              <a:rPr lang="en-US" sz="1300" dirty="0">
                <a:solidFill>
                  <a:srgbClr val="F1F5F9"/>
                </a:solidFill>
                <a:latin typeface="Calibri" pitchFamily="34" charset="0"/>
                <a:ea typeface="Calibri" pitchFamily="34" charset="-122"/>
                <a:cs typeface="Calibri" pitchFamily="34" charset="-120"/>
              </a:rPr>
              <a:t>use authenticated encryption</a:t>
            </a:r>
            <a:r>
              <a:rPr lang="en-US" sz="1300">
                <a:solidFill>
                  <a:srgbClr val="F1F5F9"/>
                </a:solidFill>
                <a:latin typeface="Calibri" pitchFamily="34" charset="0"/>
                <a:ea typeface="Calibri" pitchFamily="34" charset="-122"/>
                <a:cs typeface="Calibri" pitchFamily="34" charset="-120"/>
              </a:rPr>
              <a:t> (like GCM), </a:t>
            </a:r>
            <a:r>
              <a:rPr lang="en-US" sz="1300" dirty="0">
                <a:solidFill>
                  <a:srgbClr val="F1F5F9"/>
                </a:solidFill>
                <a:latin typeface="Calibri" pitchFamily="34" charset="0"/>
                <a:ea typeface="Calibri" pitchFamily="34" charset="-122"/>
                <a:cs typeface="Calibri" pitchFamily="34" charset="-120"/>
              </a:rPr>
              <a:t>or </a:t>
            </a:r>
            <a:r>
              <a:rPr lang="en-US" sz="1300">
                <a:solidFill>
                  <a:srgbClr val="F1F5F9"/>
                </a:solidFill>
                <a:latin typeface="Calibri" pitchFamily="34" charset="0"/>
                <a:ea typeface="Calibri" pitchFamily="34" charset="-122"/>
                <a:cs typeface="Calibri" pitchFamily="34" charset="-120"/>
              </a:rPr>
              <a:t>add a tamper check</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
        <p:nvSpPr>
          <p:cNvPr id="25" name="Shape 21"/>
          <p:cNvSpPr/>
          <p:nvPr/>
        </p:nvSpPr>
        <p:spPr>
          <a:xfrm>
            <a:off x="548640" y="3886200"/>
            <a:ext cx="5440680" cy="2240280"/>
          </a:xfrm>
          <a:prstGeom prst="roundRect">
            <a:avLst>
              <a:gd name="adj" fmla="val 3265"/>
            </a:avLst>
          </a:prstGeom>
          <a:solidFill>
            <a:srgbClr val="111A2F"/>
          </a:solidFill>
          <a:ln w="12700">
            <a:solidFill>
              <a:srgbClr val="FBBF24"/>
            </a:solidFill>
            <a:prstDash val="solid"/>
          </a:ln>
        </p:spPr>
        <p:txBody>
          <a:bodyPr/>
          <a:lstStyle/>
          <a:p>
            <a:endParaRPr lang="en-US"/>
          </a:p>
        </p:txBody>
      </p:sp>
      <p:pic>
        <p:nvPicPr>
          <p:cNvPr id="26" name="Image 2" descr="/agent/turn1/workspace/output/_anthropic_assets/icon-warning-06b553b1.png"/>
          <p:cNvPicPr>
            <a:picLocks noChangeAspect="1"/>
          </p:cNvPicPr>
          <p:nvPr/>
        </p:nvPicPr>
        <p:blipFill>
          <a:blip r:embed="rId3"/>
          <a:stretch>
            <a:fillRect/>
          </a:stretch>
        </p:blipFill>
        <p:spPr>
          <a:xfrm>
            <a:off x="749808" y="4023360"/>
            <a:ext cx="310896" cy="310896"/>
          </a:xfrm>
          <a:prstGeom prst="rect">
            <a:avLst/>
          </a:prstGeom>
        </p:spPr>
      </p:pic>
      <p:sp>
        <p:nvSpPr>
          <p:cNvPr id="27" name="Text 22"/>
          <p:cNvSpPr/>
          <p:nvPr/>
        </p:nvSpPr>
        <p:spPr>
          <a:xfrm>
            <a:off x="1170432" y="4023360"/>
            <a:ext cx="4114800" cy="310896"/>
          </a:xfrm>
          <a:prstGeom prst="rect">
            <a:avLst/>
          </a:prstGeom>
          <a:noFill/>
          <a:ln/>
        </p:spPr>
        <p:txBody>
          <a:bodyPr wrap="square" lIns="0" tIns="0" rIns="0" bIns="0" rtlCol="0" anchor="ctr"/>
          <a:lstStyle/>
          <a:p>
            <a:pPr marL="0" indent="0">
              <a:buNone/>
            </a:pPr>
            <a:r>
              <a:rPr lang="en-US" sz="1500" b="1" dirty="0">
                <a:solidFill>
                  <a:srgbClr val="FBBF24"/>
                </a:solidFill>
                <a:latin typeface="Consolas" pitchFamily="34" charset="0"/>
                <a:ea typeface="Consolas" pitchFamily="34" charset="-122"/>
                <a:cs typeface="Consolas" pitchFamily="34" charset="-120"/>
              </a:rPr>
              <a:t>CTR: nonce reuse</a:t>
            </a:r>
            <a:endParaRPr lang="en-US" sz="1500" dirty="0"/>
          </a:p>
        </p:txBody>
      </p:sp>
      <p:sp>
        <p:nvSpPr>
          <p:cNvPr id="28" name="Text 23"/>
          <p:cNvSpPr/>
          <p:nvPr/>
        </p:nvSpPr>
        <p:spPr>
          <a:xfrm>
            <a:off x="777240" y="4480560"/>
            <a:ext cx="4983480" cy="1371600"/>
          </a:xfrm>
          <a:prstGeom prst="rect">
            <a:avLst/>
          </a:prstGeom>
          <a:noFill/>
          <a:ln/>
        </p:spPr>
        <p:txBody>
          <a:bodyPr wrap="square" lIns="0" tIns="0" rIns="0" bIns="0" rtlCol="0" anchor="t"/>
          <a:lstStyle/>
          <a:p>
            <a:pPr marL="0" indent="0">
              <a:spcAft>
                <a:spcPts val="600"/>
              </a:spcAft>
              <a:buNone/>
            </a:pPr>
            <a:r>
              <a:rPr lang="en-US" sz="1300" b="1" dirty="0">
                <a:solidFill>
                  <a:srgbClr val="F87171"/>
                </a:solidFill>
                <a:latin typeface="Calibri" pitchFamily="34" charset="0"/>
                <a:ea typeface="Calibri" pitchFamily="34" charset="-122"/>
                <a:cs typeface="Calibri" pitchFamily="34" charset="-120"/>
              </a:rPr>
              <a:t>Flaw: </a:t>
            </a:r>
            <a:r>
              <a:rPr lang="en-US" sz="1300" dirty="0">
                <a:solidFill>
                  <a:srgbClr val="F1F5F9"/>
                </a:solidFill>
                <a:latin typeface="Calibri" pitchFamily="34" charset="0"/>
                <a:ea typeface="Calibri" pitchFamily="34" charset="-122"/>
                <a:cs typeface="Calibri" pitchFamily="34" charset="-120"/>
              </a:rPr>
              <a:t>reusing a nonce </a:t>
            </a:r>
            <a:r>
              <a:rPr lang="en-US" sz="1300">
                <a:solidFill>
                  <a:srgbClr val="F1F5F9"/>
                </a:solidFill>
                <a:latin typeface="Calibri" pitchFamily="34" charset="0"/>
                <a:ea typeface="Calibri" pitchFamily="34" charset="-122"/>
                <a:cs typeface="Calibri" pitchFamily="34" charset="-120"/>
              </a:rPr>
              <a:t>(a number meant to be used once) repeats </a:t>
            </a:r>
            <a:r>
              <a:rPr lang="en-US" sz="1300" dirty="0">
                <a:solidFill>
                  <a:srgbClr val="F1F5F9"/>
                </a:solidFill>
                <a:latin typeface="Calibri" pitchFamily="34" charset="0"/>
                <a:ea typeface="Calibri" pitchFamily="34" charset="-122"/>
                <a:cs typeface="Calibri" pitchFamily="34" charset="-120"/>
              </a:rPr>
              <a:t>the </a:t>
            </a:r>
            <a:r>
              <a:rPr lang="en-US" sz="1300">
                <a:solidFill>
                  <a:srgbClr val="F1F5F9"/>
                </a:solidFill>
                <a:latin typeface="Calibri" pitchFamily="34" charset="0"/>
                <a:ea typeface="Calibri" pitchFamily="34" charset="-122"/>
                <a:cs typeface="Calibri" pitchFamily="34" charset="-120"/>
              </a:rPr>
              <a:t>scrambled stream</a:t>
            </a:r>
            <a:r>
              <a:rPr lang="en-US" sz="1300" dirty="0">
                <a:solidFill>
                  <a:srgbClr val="F1F5F9"/>
                </a:solidFill>
                <a:latin typeface="Calibri" pitchFamily="34" charset="0"/>
                <a:ea typeface="Calibri" pitchFamily="34" charset="-122"/>
                <a:cs typeface="Calibri" pitchFamily="34" charset="-120"/>
              </a:rPr>
              <a:t>, so </a:t>
            </a:r>
            <a:r>
              <a:rPr lang="en-US" sz="1300">
                <a:solidFill>
                  <a:srgbClr val="F1F5F9"/>
                </a:solidFill>
                <a:latin typeface="Calibri" pitchFamily="34" charset="0"/>
                <a:ea typeface="Calibri" pitchFamily="34" charset="-122"/>
                <a:cs typeface="Calibri" pitchFamily="34" charset="-120"/>
              </a:rPr>
              <a:t>attackers can combine two messages and cancel it out</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Tampering also goes unnoticed</a:t>
            </a:r>
            <a:r>
              <a:rPr lang="en-US" sz="1300" dirty="0">
                <a:solidFill>
                  <a:srgbClr val="F1F5F9"/>
                </a:solidFill>
                <a:latin typeface="Calibri" pitchFamily="34" charset="0"/>
                <a:ea typeface="Calibri" pitchFamily="34" charset="-122"/>
                <a:cs typeface="Calibri" pitchFamily="34" charset="-120"/>
              </a:rPr>
              <a:t>.</a:t>
            </a:r>
            <a:endParaRPr lang="en-US" sz="1300" dirty="0"/>
          </a:p>
          <a:p>
            <a:pPr marL="0" indent="0">
              <a:spcAft>
                <a:spcPts val="600"/>
              </a:spcAft>
              <a:buNone/>
            </a:pPr>
            <a:r>
              <a:rPr lang="en-US" sz="1300" b="1" dirty="0">
                <a:solidFill>
                  <a:srgbClr val="4ADE80"/>
                </a:solidFill>
                <a:latin typeface="Calibri" pitchFamily="34" charset="0"/>
                <a:ea typeface="Calibri" pitchFamily="34" charset="-122"/>
                <a:cs typeface="Calibri" pitchFamily="34" charset="-120"/>
              </a:rPr>
              <a:t>Fix: </a:t>
            </a:r>
            <a:r>
              <a:rPr lang="en-US" sz="1300" dirty="0">
                <a:solidFill>
                  <a:srgbClr val="F1F5F9"/>
                </a:solidFill>
                <a:latin typeface="Calibri" pitchFamily="34" charset="0"/>
                <a:ea typeface="Calibri" pitchFamily="34" charset="-122"/>
                <a:cs typeface="Calibri" pitchFamily="34" charset="-120"/>
              </a:rPr>
              <a:t>never repeat a nonce; add a </a:t>
            </a:r>
            <a:r>
              <a:rPr lang="en-US" sz="1300">
                <a:solidFill>
                  <a:srgbClr val="F1F5F9"/>
                </a:solidFill>
                <a:latin typeface="Calibri" pitchFamily="34" charset="0"/>
                <a:ea typeface="Calibri" pitchFamily="34" charset="-122"/>
                <a:cs typeface="Calibri" pitchFamily="34" charset="-120"/>
              </a:rPr>
              <a:t>tamper check</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
        <p:nvSpPr>
          <p:cNvPr id="29" name="Shape 24"/>
          <p:cNvSpPr/>
          <p:nvPr/>
        </p:nvSpPr>
        <p:spPr>
          <a:xfrm>
            <a:off x="6199632" y="3886200"/>
            <a:ext cx="5440680" cy="2240280"/>
          </a:xfrm>
          <a:prstGeom prst="roundRect">
            <a:avLst>
              <a:gd name="adj" fmla="val 3265"/>
            </a:avLst>
          </a:prstGeom>
          <a:solidFill>
            <a:srgbClr val="111A2F"/>
          </a:solidFill>
          <a:ln w="12700">
            <a:solidFill>
              <a:srgbClr val="F87171"/>
            </a:solidFill>
            <a:prstDash val="solid"/>
          </a:ln>
        </p:spPr>
        <p:txBody>
          <a:bodyPr/>
          <a:lstStyle/>
          <a:p>
            <a:endParaRPr lang="en-US"/>
          </a:p>
        </p:txBody>
      </p:sp>
      <p:pic>
        <p:nvPicPr>
          <p:cNvPr id="30" name="Image 3" descr="/agent/turn1/workspace/output/_anthropic_assets/icon-warning-06b553b1.png"/>
          <p:cNvPicPr>
            <a:picLocks noChangeAspect="1"/>
          </p:cNvPicPr>
          <p:nvPr/>
        </p:nvPicPr>
        <p:blipFill>
          <a:blip r:embed="rId3"/>
          <a:stretch>
            <a:fillRect/>
          </a:stretch>
        </p:blipFill>
        <p:spPr>
          <a:xfrm>
            <a:off x="6400800" y="4023360"/>
            <a:ext cx="310896" cy="310896"/>
          </a:xfrm>
          <a:prstGeom prst="rect">
            <a:avLst/>
          </a:prstGeom>
        </p:spPr>
      </p:pic>
      <p:sp>
        <p:nvSpPr>
          <p:cNvPr id="31" name="Text 25"/>
          <p:cNvSpPr/>
          <p:nvPr/>
        </p:nvSpPr>
        <p:spPr>
          <a:xfrm>
            <a:off x="6821424" y="4023360"/>
            <a:ext cx="4114800" cy="310896"/>
          </a:xfrm>
          <a:prstGeom prst="rect">
            <a:avLst/>
          </a:prstGeom>
          <a:noFill/>
          <a:ln/>
        </p:spPr>
        <p:txBody>
          <a:bodyPr wrap="square" lIns="0" tIns="0" rIns="0" bIns="0" rtlCol="0" anchor="ctr"/>
          <a:lstStyle/>
          <a:p>
            <a:pPr marL="0" indent="0">
              <a:buNone/>
            </a:pPr>
            <a:r>
              <a:rPr lang="en-US" sz="1500" b="1" dirty="0">
                <a:solidFill>
                  <a:srgbClr val="F87171"/>
                </a:solidFill>
                <a:latin typeface="Consolas" pitchFamily="34" charset="0"/>
                <a:ea typeface="Consolas" pitchFamily="34" charset="-122"/>
                <a:cs typeface="Consolas" pitchFamily="34" charset="-120"/>
              </a:rPr>
              <a:t>GCM: </a:t>
            </a:r>
            <a:r>
              <a:rPr lang="en-US" sz="1500" b="1">
                <a:solidFill>
                  <a:srgbClr val="F87171"/>
                </a:solidFill>
                <a:latin typeface="Consolas" pitchFamily="34" charset="0"/>
                <a:ea typeface="Consolas" pitchFamily="34" charset="-122"/>
                <a:cs typeface="Consolas" pitchFamily="34" charset="-120"/>
              </a:rPr>
              <a:t>never reuse a </a:t>
            </a:r>
            <a:r>
              <a:rPr lang="en-US" sz="1500" b="1" dirty="0">
                <a:solidFill>
                  <a:srgbClr val="F87171"/>
                </a:solidFill>
                <a:latin typeface="Consolas" pitchFamily="34" charset="0"/>
                <a:ea typeface="Consolas" pitchFamily="34" charset="-122"/>
                <a:cs typeface="Consolas" pitchFamily="34" charset="-120"/>
              </a:rPr>
              <a:t>nonce</a:t>
            </a:r>
            <a:endParaRPr lang="en-US" sz="1500" dirty="0"/>
          </a:p>
        </p:txBody>
      </p:sp>
      <p:sp>
        <p:nvSpPr>
          <p:cNvPr id="32" name="Text 26"/>
          <p:cNvSpPr/>
          <p:nvPr/>
        </p:nvSpPr>
        <p:spPr>
          <a:xfrm>
            <a:off x="6428232" y="4480560"/>
            <a:ext cx="4983480" cy="1371600"/>
          </a:xfrm>
          <a:prstGeom prst="rect">
            <a:avLst/>
          </a:prstGeom>
          <a:noFill/>
          <a:ln/>
        </p:spPr>
        <p:txBody>
          <a:bodyPr wrap="square" lIns="0" tIns="0" rIns="0" bIns="0" rtlCol="0" anchor="t"/>
          <a:lstStyle/>
          <a:p>
            <a:pPr marL="0" indent="0">
              <a:spcAft>
                <a:spcPts val="600"/>
              </a:spcAft>
              <a:buNone/>
            </a:pPr>
            <a:r>
              <a:rPr lang="en-US" sz="1300" b="1" dirty="0">
                <a:solidFill>
                  <a:srgbClr val="F87171"/>
                </a:solidFill>
                <a:latin typeface="Calibri" pitchFamily="34" charset="0"/>
                <a:ea typeface="Calibri" pitchFamily="34" charset="-122"/>
                <a:cs typeface="Calibri" pitchFamily="34" charset="-120"/>
              </a:rPr>
              <a:t>Flaw: </a:t>
            </a:r>
            <a:r>
              <a:rPr lang="en-US" sz="1300">
                <a:solidFill>
                  <a:srgbClr val="F1F5F9"/>
                </a:solidFill>
                <a:latin typeface="Calibri" pitchFamily="34" charset="0"/>
                <a:ea typeface="Calibri" pitchFamily="34" charset="-122"/>
                <a:cs typeface="Calibri" pitchFamily="34" charset="-120"/>
              </a:rPr>
              <a:t>repeating </a:t>
            </a:r>
            <a:r>
              <a:rPr lang="en-US" sz="1300" dirty="0">
                <a:solidFill>
                  <a:srgbClr val="F1F5F9"/>
                </a:solidFill>
                <a:latin typeface="Calibri" pitchFamily="34" charset="0"/>
                <a:ea typeface="Calibri" pitchFamily="34" charset="-122"/>
                <a:cs typeface="Calibri" pitchFamily="34" charset="-120"/>
              </a:rPr>
              <a:t>a nonce leaks the </a:t>
            </a:r>
            <a:r>
              <a:rPr lang="en-US" sz="1300">
                <a:solidFill>
                  <a:srgbClr val="F1F5F9"/>
                </a:solidFill>
                <a:latin typeface="Calibri" pitchFamily="34" charset="0"/>
                <a:ea typeface="Calibri" pitchFamily="34" charset="-122"/>
                <a:cs typeface="Calibri" pitchFamily="34" charset="-120"/>
              </a:rPr>
              <a:t>secret behind the tamper check</a:t>
            </a:r>
            <a:r>
              <a:rPr lang="en-US" sz="1300" dirty="0">
                <a:solidFill>
                  <a:srgbClr val="F1F5F9"/>
                </a:solidFill>
                <a:latin typeface="Calibri" pitchFamily="34" charset="0"/>
                <a:ea typeface="Calibri" pitchFamily="34" charset="-122"/>
                <a:cs typeface="Calibri" pitchFamily="34" charset="-120"/>
              </a:rPr>
              <a:t>, so attackers can forge </a:t>
            </a:r>
            <a:r>
              <a:rPr lang="en-US" sz="1300">
                <a:solidFill>
                  <a:srgbClr val="F1F5F9"/>
                </a:solidFill>
                <a:latin typeface="Calibri" pitchFamily="34" charset="0"/>
                <a:ea typeface="Calibri" pitchFamily="34" charset="-122"/>
                <a:cs typeface="Calibri" pitchFamily="34" charset="-120"/>
              </a:rPr>
              <a:t>messages</a:t>
            </a:r>
            <a:r>
              <a:rPr lang="en-US" sz="1300" dirty="0">
                <a:solidFill>
                  <a:srgbClr val="F1F5F9"/>
                </a:solidFill>
                <a:latin typeface="Calibri" pitchFamily="34" charset="0"/>
                <a:ea typeface="Calibri" pitchFamily="34" charset="-122"/>
                <a:cs typeface="Calibri" pitchFamily="34" charset="-120"/>
              </a:rPr>
              <a:t>. Random nonces </a:t>
            </a:r>
            <a:r>
              <a:rPr lang="en-US" sz="1300">
                <a:solidFill>
                  <a:srgbClr val="F1F5F9"/>
                </a:solidFill>
                <a:latin typeface="Calibri" pitchFamily="34" charset="0"/>
                <a:ea typeface="Calibri" pitchFamily="34" charset="-122"/>
                <a:cs typeface="Calibri" pitchFamily="34" charset="-120"/>
              </a:rPr>
              <a:t>can </a:t>
            </a:r>
            <a:r>
              <a:rPr lang="en-US" sz="1300" dirty="0">
                <a:solidFill>
                  <a:srgbClr val="F1F5F9"/>
                </a:solidFill>
                <a:latin typeface="Calibri" pitchFamily="34" charset="0"/>
                <a:ea typeface="Calibri" pitchFamily="34" charset="-122"/>
                <a:cs typeface="Calibri" pitchFamily="34" charset="-120"/>
              </a:rPr>
              <a:t>collide after about </a:t>
            </a:r>
            <a:r>
              <a:rPr lang="en-US" sz="1300">
                <a:solidFill>
                  <a:srgbClr val="F1F5F9"/>
                </a:solidFill>
                <a:latin typeface="Calibri" pitchFamily="34" charset="0"/>
                <a:ea typeface="Calibri" pitchFamily="34" charset="-122"/>
                <a:cs typeface="Calibri" pitchFamily="34" charset="-120"/>
              </a:rPr>
              <a:t>4 billion </a:t>
            </a:r>
            <a:r>
              <a:rPr lang="en-US" sz="1300" dirty="0">
                <a:solidFill>
                  <a:srgbClr val="F1F5F9"/>
                </a:solidFill>
                <a:latin typeface="Calibri" pitchFamily="34" charset="0"/>
                <a:ea typeface="Calibri" pitchFamily="34" charset="-122"/>
                <a:cs typeface="Calibri" pitchFamily="34" charset="-120"/>
              </a:rPr>
              <a:t>messages.</a:t>
            </a:r>
            <a:endParaRPr lang="en-US" sz="1300" dirty="0"/>
          </a:p>
          <a:p>
            <a:pPr marL="0" indent="0">
              <a:spcAft>
                <a:spcPts val="600"/>
              </a:spcAft>
              <a:buNone/>
            </a:pPr>
            <a:r>
              <a:rPr lang="en-US" sz="1300" b="1" dirty="0">
                <a:solidFill>
                  <a:srgbClr val="4ADE80"/>
                </a:solidFill>
                <a:latin typeface="Calibri" pitchFamily="34" charset="0"/>
                <a:ea typeface="Calibri" pitchFamily="34" charset="-122"/>
                <a:cs typeface="Calibri" pitchFamily="34" charset="-120"/>
              </a:rPr>
              <a:t>Fix: </a:t>
            </a:r>
            <a:r>
              <a:rPr lang="en-US" sz="1300">
                <a:solidFill>
                  <a:srgbClr val="F1F5F9"/>
                </a:solidFill>
                <a:latin typeface="Calibri" pitchFamily="34" charset="0"/>
                <a:ea typeface="Calibri" pitchFamily="34" charset="-122"/>
                <a:cs typeface="Calibri" pitchFamily="34" charset="-120"/>
              </a:rPr>
              <a:t>use counters for </a:t>
            </a:r>
            <a:r>
              <a:rPr lang="en-US" sz="1300" dirty="0">
                <a:solidFill>
                  <a:srgbClr val="F1F5F9"/>
                </a:solidFill>
                <a:latin typeface="Calibri" pitchFamily="34" charset="0"/>
                <a:ea typeface="Calibri" pitchFamily="34" charset="-122"/>
                <a:cs typeface="Calibri" pitchFamily="34" charset="-120"/>
              </a:rPr>
              <a:t>nonces, </a:t>
            </a:r>
            <a:r>
              <a:rPr lang="en-US" sz="1300">
                <a:solidFill>
                  <a:srgbClr val="F1F5F9"/>
                </a:solidFill>
                <a:latin typeface="Calibri" pitchFamily="34" charset="0"/>
                <a:ea typeface="Calibri" pitchFamily="34" charset="-122"/>
                <a:cs typeface="Calibri" pitchFamily="34" charset="-120"/>
              </a:rPr>
              <a:t>change keys</a:t>
            </a:r>
            <a:r>
              <a:rPr lang="en-US" sz="1300" dirty="0">
                <a:solidFill>
                  <a:srgbClr val="F1F5F9"/>
                </a:solidFill>
                <a:latin typeface="Calibri" pitchFamily="34" charset="0"/>
                <a:ea typeface="Calibri" pitchFamily="34" charset="-122"/>
                <a:cs typeface="Calibri" pitchFamily="34" charset="-120"/>
              </a:rPr>
              <a:t> often, or use AES-GCM-SIV.</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ENCRYPTION 07</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ECB in action: the encrypted padlock</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23</a:t>
            </a:r>
            <a:endParaRPr lang="en-US" sz="1000"/>
          </a:p>
        </p:txBody>
      </p:sp>
      <p:sp>
        <p:nvSpPr>
          <p:cNvPr id="6" name="Rounded Rectangle 5"/>
          <p:cNvSpPr/>
          <p:nvPr/>
        </p:nvSpPr>
        <p:spPr>
          <a:xfrm>
            <a:off x="548640" y="1417320"/>
            <a:ext cx="3566160" cy="4069080"/>
          </a:xfrm>
          <a:prstGeom prst="roundRect">
            <a:avLst>
              <a:gd name="adj" fmla="val 3000"/>
            </a:avLst>
          </a:prstGeom>
          <a:solidFill>
            <a:srgbClr val="111A2F"/>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36192"/>
            <a:ext cx="3108960" cy="274320"/>
          </a:xfrm>
          <a:prstGeom prst="rect">
            <a:avLst/>
          </a:prstGeom>
          <a:noFill/>
        </p:spPr>
        <p:txBody>
          <a:bodyPr wrap="square" lIns="0" tIns="0" rIns="0" bIns="0" anchor="t">
            <a:spAutoFit/>
          </a:bodyPr>
          <a:lstStyle/>
          <a:p>
            <a:pPr algn="l"/>
            <a:r>
              <a:rPr sz="1400" b="1">
                <a:solidFill>
                  <a:srgbClr val="22D3EE"/>
                </a:solidFill>
                <a:latin typeface="Consolas"/>
              </a:rPr>
              <a:t>1. Original picture</a:t>
            </a:r>
          </a:p>
        </p:txBody>
      </p:sp>
      <p:pic>
        <p:nvPicPr>
          <p:cNvPr id="8" name="Picture 7" descr="original.png"/>
          <p:cNvPicPr>
            <a:picLocks noChangeAspect="1"/>
          </p:cNvPicPr>
          <p:nvPr/>
        </p:nvPicPr>
        <p:blipFill>
          <a:blip r:embed="rId3"/>
          <a:stretch>
            <a:fillRect/>
          </a:stretch>
        </p:blipFill>
        <p:spPr>
          <a:xfrm>
            <a:off x="822959" y="1920240"/>
            <a:ext cx="3017520" cy="3017520"/>
          </a:xfrm>
          <a:prstGeom prst="rect">
            <a:avLst/>
          </a:prstGeom>
        </p:spPr>
      </p:pic>
      <p:sp>
        <p:nvSpPr>
          <p:cNvPr id="9" name="TextBox 8"/>
          <p:cNvSpPr txBox="1"/>
          <p:nvPr/>
        </p:nvSpPr>
        <p:spPr>
          <a:xfrm>
            <a:off x="777240" y="5029200"/>
            <a:ext cx="3108960" cy="200055"/>
          </a:xfrm>
          <a:prstGeom prst="rect">
            <a:avLst/>
          </a:prstGeom>
          <a:noFill/>
        </p:spPr>
        <p:txBody>
          <a:bodyPr wrap="square" lIns="0" tIns="0" rIns="0" bIns="0" anchor="t">
            <a:spAutoFit/>
          </a:bodyPr>
          <a:lstStyle/>
          <a:p>
            <a:pPr algn="l"/>
            <a:r>
              <a:rPr sz="1300" b="0" dirty="0">
                <a:solidFill>
                  <a:srgbClr val="F1F5F9"/>
                </a:solidFill>
                <a:latin typeface="Calibri"/>
              </a:rPr>
              <a:t>A padlock with big flat </a:t>
            </a:r>
            <a:r>
              <a:rPr lang="en-US" sz="1300">
                <a:solidFill>
                  <a:srgbClr val="F1F5F9"/>
                </a:solidFill>
                <a:latin typeface="Calibri"/>
              </a:rPr>
              <a:t>color</a:t>
            </a:r>
            <a:r>
              <a:rPr sz="1300" b="0" dirty="0">
                <a:solidFill>
                  <a:srgbClr val="F1F5F9"/>
                </a:solidFill>
                <a:latin typeface="Calibri"/>
              </a:rPr>
              <a:t> areas.</a:t>
            </a:r>
          </a:p>
        </p:txBody>
      </p:sp>
      <p:sp>
        <p:nvSpPr>
          <p:cNvPr id="10" name="Rounded Rectangle 9"/>
          <p:cNvSpPr/>
          <p:nvPr/>
        </p:nvSpPr>
        <p:spPr>
          <a:xfrm>
            <a:off x="4311396" y="1417320"/>
            <a:ext cx="3566160" cy="4069080"/>
          </a:xfrm>
          <a:prstGeom prst="roundRect">
            <a:avLst>
              <a:gd name="adj" fmla="val 3000"/>
            </a:avLst>
          </a:prstGeom>
          <a:solidFill>
            <a:srgbClr val="111A2F"/>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9996" y="1536192"/>
            <a:ext cx="3108960" cy="274320"/>
          </a:xfrm>
          <a:prstGeom prst="rect">
            <a:avLst/>
          </a:prstGeom>
          <a:noFill/>
        </p:spPr>
        <p:txBody>
          <a:bodyPr wrap="square" lIns="0" tIns="0" rIns="0" bIns="0" anchor="t">
            <a:spAutoFit/>
          </a:bodyPr>
          <a:lstStyle/>
          <a:p>
            <a:pPr algn="l"/>
            <a:r>
              <a:rPr sz="1400" b="1">
                <a:solidFill>
                  <a:srgbClr val="F87171"/>
                </a:solidFill>
                <a:latin typeface="Consolas"/>
              </a:rPr>
              <a:t>2. Encrypted with AES-ECB</a:t>
            </a:r>
          </a:p>
        </p:txBody>
      </p:sp>
      <p:pic>
        <p:nvPicPr>
          <p:cNvPr id="12" name="Picture 11" descr="ecb.png"/>
          <p:cNvPicPr>
            <a:picLocks noChangeAspect="1"/>
          </p:cNvPicPr>
          <p:nvPr/>
        </p:nvPicPr>
        <p:blipFill>
          <a:blip r:embed="rId4"/>
          <a:stretch>
            <a:fillRect/>
          </a:stretch>
        </p:blipFill>
        <p:spPr>
          <a:xfrm>
            <a:off x="4585716" y="1920240"/>
            <a:ext cx="3017520" cy="3017520"/>
          </a:xfrm>
          <a:prstGeom prst="rect">
            <a:avLst/>
          </a:prstGeom>
        </p:spPr>
      </p:pic>
      <p:sp>
        <p:nvSpPr>
          <p:cNvPr id="13" name="TextBox 12"/>
          <p:cNvSpPr txBox="1"/>
          <p:nvPr/>
        </p:nvSpPr>
        <p:spPr>
          <a:xfrm>
            <a:off x="4539996" y="5029200"/>
            <a:ext cx="3108960" cy="411480"/>
          </a:xfrm>
          <a:prstGeom prst="rect">
            <a:avLst/>
          </a:prstGeom>
          <a:noFill/>
        </p:spPr>
        <p:txBody>
          <a:bodyPr wrap="square" lIns="0" tIns="0" rIns="0" bIns="0" anchor="t">
            <a:spAutoFit/>
          </a:bodyPr>
          <a:lstStyle/>
          <a:p>
            <a:pPr algn="l"/>
            <a:r>
              <a:rPr sz="1300" b="0">
                <a:solidFill>
                  <a:srgbClr val="F1F5F9"/>
                </a:solidFill>
                <a:latin typeface="Calibri"/>
              </a:rPr>
              <a:t>Still readable: </a:t>
            </a:r>
            <a:r>
              <a:rPr lang="en-US" sz="1300" b="0">
                <a:solidFill>
                  <a:srgbClr val="F1F5F9"/>
                </a:solidFill>
                <a:latin typeface="Calibri"/>
              </a:rPr>
              <a:t>you can see </a:t>
            </a:r>
            <a:r>
              <a:rPr sz="1300" b="0">
                <a:solidFill>
                  <a:srgbClr val="F1F5F9"/>
                </a:solidFill>
                <a:latin typeface="Calibri"/>
              </a:rPr>
              <a:t>the padlock and the word SECRET.</a:t>
            </a:r>
          </a:p>
        </p:txBody>
      </p:sp>
      <p:sp>
        <p:nvSpPr>
          <p:cNvPr id="14" name="Rounded Rectangle 13"/>
          <p:cNvSpPr/>
          <p:nvPr/>
        </p:nvSpPr>
        <p:spPr>
          <a:xfrm>
            <a:off x="8074152" y="1417320"/>
            <a:ext cx="3566160" cy="4069080"/>
          </a:xfrm>
          <a:prstGeom prst="roundRect">
            <a:avLst>
              <a:gd name="adj" fmla="val 3000"/>
            </a:avLst>
          </a:prstGeom>
          <a:solidFill>
            <a:srgbClr val="111A2F"/>
          </a:solidFill>
          <a:ln w="1270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1536192"/>
            <a:ext cx="3108960" cy="274320"/>
          </a:xfrm>
          <a:prstGeom prst="rect">
            <a:avLst/>
          </a:prstGeom>
          <a:noFill/>
        </p:spPr>
        <p:txBody>
          <a:bodyPr wrap="square" lIns="0" tIns="0" rIns="0" bIns="0" anchor="t">
            <a:spAutoFit/>
          </a:bodyPr>
          <a:lstStyle/>
          <a:p>
            <a:pPr algn="l"/>
            <a:r>
              <a:rPr sz="1400" b="1">
                <a:solidFill>
                  <a:srgbClr val="4ADE80"/>
                </a:solidFill>
                <a:latin typeface="Consolas"/>
              </a:rPr>
              <a:t>3. Encrypted with AES-CBC</a:t>
            </a:r>
          </a:p>
        </p:txBody>
      </p:sp>
      <p:pic>
        <p:nvPicPr>
          <p:cNvPr id="16" name="Picture 15" descr="cbc.png"/>
          <p:cNvPicPr>
            <a:picLocks noChangeAspect="1"/>
          </p:cNvPicPr>
          <p:nvPr/>
        </p:nvPicPr>
        <p:blipFill>
          <a:blip r:embed="rId5"/>
          <a:stretch>
            <a:fillRect/>
          </a:stretch>
        </p:blipFill>
        <p:spPr>
          <a:xfrm>
            <a:off x="8348472" y="1920240"/>
            <a:ext cx="3017520" cy="3017520"/>
          </a:xfrm>
          <a:prstGeom prst="rect">
            <a:avLst/>
          </a:prstGeom>
        </p:spPr>
      </p:pic>
      <p:sp>
        <p:nvSpPr>
          <p:cNvPr id="17" name="TextBox 16"/>
          <p:cNvSpPr txBox="1"/>
          <p:nvPr/>
        </p:nvSpPr>
        <p:spPr>
          <a:xfrm>
            <a:off x="8302752" y="5029200"/>
            <a:ext cx="3108960" cy="411480"/>
          </a:xfrm>
          <a:prstGeom prst="rect">
            <a:avLst/>
          </a:prstGeom>
          <a:noFill/>
        </p:spPr>
        <p:txBody>
          <a:bodyPr wrap="square" lIns="0" tIns="0" rIns="0" bIns="0" anchor="t">
            <a:spAutoFit/>
          </a:bodyPr>
          <a:lstStyle/>
          <a:p>
            <a:pPr algn="l"/>
            <a:r>
              <a:rPr sz="1300" b="0">
                <a:solidFill>
                  <a:srgbClr val="F1F5F9"/>
                </a:solidFill>
                <a:latin typeface="Calibri"/>
              </a:rPr>
              <a:t>Looks like pure noise. Nothing leaks.</a:t>
            </a:r>
          </a:p>
        </p:txBody>
      </p:sp>
      <p:sp>
        <p:nvSpPr>
          <p:cNvPr id="18" name="Rounded Rectangle 17"/>
          <p:cNvSpPr/>
          <p:nvPr/>
        </p:nvSpPr>
        <p:spPr>
          <a:xfrm>
            <a:off x="548640" y="5623560"/>
            <a:ext cx="11091672" cy="685800"/>
          </a:xfrm>
          <a:prstGeom prst="roundRect">
            <a:avLst>
              <a:gd name="adj" fmla="val 3000"/>
            </a:avLst>
          </a:prstGeom>
          <a:solidFill>
            <a:srgbClr val="172544"/>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5766405"/>
            <a:ext cx="10652760" cy="400110"/>
          </a:xfrm>
          <a:prstGeom prst="rect">
            <a:avLst/>
          </a:prstGeom>
          <a:noFill/>
        </p:spPr>
        <p:txBody>
          <a:bodyPr wrap="square" lIns="0" tIns="0" rIns="0" bIns="0" anchor="ctr">
            <a:spAutoFit/>
          </a:bodyPr>
          <a:lstStyle/>
          <a:p>
            <a:pPr algn="l"/>
            <a:r>
              <a:rPr sz="1300" b="1">
                <a:solidFill>
                  <a:srgbClr val="22D3EE"/>
                </a:solidFill>
                <a:latin typeface="Calibri"/>
              </a:rPr>
              <a:t>Why: </a:t>
            </a:r>
            <a:r>
              <a:rPr sz="1300" b="0">
                <a:solidFill>
                  <a:srgbClr val="F1F5F9"/>
                </a:solidFill>
                <a:latin typeface="Calibri"/>
              </a:rPr>
              <a:t>ECB encrypts </a:t>
            </a:r>
            <a:r>
              <a:rPr lang="en-US" sz="1300" b="0">
                <a:solidFill>
                  <a:srgbClr val="F1F5F9"/>
                </a:solidFill>
                <a:latin typeface="Calibri"/>
              </a:rPr>
              <a:t>each </a:t>
            </a:r>
            <a:r>
              <a:rPr sz="1300" b="0">
                <a:solidFill>
                  <a:srgbClr val="F1F5F9"/>
                </a:solidFill>
                <a:latin typeface="Calibri"/>
              </a:rPr>
              <a:t>16-byte block </a:t>
            </a:r>
            <a:r>
              <a:rPr lang="en-US" sz="1300" b="0">
                <a:solidFill>
                  <a:srgbClr val="F1F5F9"/>
                </a:solidFill>
                <a:latin typeface="Calibri"/>
              </a:rPr>
              <a:t>separately</a:t>
            </a:r>
            <a:r>
              <a:rPr sz="1300" b="0">
                <a:solidFill>
                  <a:srgbClr val="F1F5F9"/>
                </a:solidFill>
                <a:latin typeface="Calibri"/>
              </a:rPr>
              <a:t>, so identical blocks </a:t>
            </a:r>
            <a:r>
              <a:rPr lang="en-US" sz="1300" b="0">
                <a:solidFill>
                  <a:srgbClr val="F1F5F9"/>
                </a:solidFill>
                <a:latin typeface="Calibri"/>
              </a:rPr>
              <a:t>give </a:t>
            </a:r>
            <a:r>
              <a:rPr sz="1300" b="0">
                <a:solidFill>
                  <a:srgbClr val="F1F5F9"/>
                </a:solidFill>
                <a:latin typeface="Calibri"/>
              </a:rPr>
              <a:t>identical </a:t>
            </a:r>
            <a:r>
              <a:rPr lang="en-US" sz="1300" b="0">
                <a:solidFill>
                  <a:srgbClr val="F1F5F9"/>
                </a:solidFill>
                <a:latin typeface="Calibri"/>
              </a:rPr>
              <a:t>results and flat </a:t>
            </a:r>
            <a:r>
              <a:rPr sz="1300" b="0">
                <a:solidFill>
                  <a:srgbClr val="F1F5F9"/>
                </a:solidFill>
                <a:latin typeface="Calibri"/>
              </a:rPr>
              <a:t>areas </a:t>
            </a:r>
            <a:r>
              <a:rPr lang="en-US" sz="1300" b="0">
                <a:solidFill>
                  <a:srgbClr val="F1F5F9"/>
                </a:solidFill>
                <a:latin typeface="Calibri"/>
              </a:rPr>
              <a:t>keep their </a:t>
            </a:r>
            <a:r>
              <a:rPr sz="1300" b="0">
                <a:solidFill>
                  <a:srgbClr val="F1F5F9"/>
                </a:solidFill>
                <a:latin typeface="Calibri"/>
              </a:rPr>
              <a:t>outline. CBC and GCM mix in </a:t>
            </a:r>
            <a:r>
              <a:rPr lang="en-US" sz="1300" b="0">
                <a:solidFill>
                  <a:srgbClr val="F1F5F9"/>
                </a:solidFill>
                <a:latin typeface="Calibri"/>
              </a:rPr>
              <a:t>a random starting value</a:t>
            </a:r>
            <a:r>
              <a:rPr sz="1300" b="0">
                <a:solidFill>
                  <a:srgbClr val="F1F5F9"/>
                </a:solidFill>
                <a:latin typeface="Calibri"/>
              </a:rPr>
              <a:t>, so </a:t>
            </a:r>
            <a:r>
              <a:rPr lang="en-US" sz="1300" b="0">
                <a:solidFill>
                  <a:srgbClr val="F1F5F9"/>
                </a:solidFill>
                <a:latin typeface="Calibri"/>
              </a:rPr>
              <a:t>repeats</a:t>
            </a:r>
            <a:r>
              <a:rPr sz="1300" b="0">
                <a:solidFill>
                  <a:srgbClr val="F1F5F9"/>
                </a:solidFill>
                <a:latin typeface="Calibri"/>
              </a:rPr>
              <a:t> look different.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ENCRYPTION </a:t>
            </a:r>
            <a:r>
              <a:rPr lang="en-US" sz="1200" kern="0" spc="200">
                <a:solidFill>
                  <a:srgbClr val="22D3EE"/>
                </a:solidFill>
                <a:latin typeface="Consolas" pitchFamily="34" charset="0"/>
                <a:ea typeface="Consolas" pitchFamily="34" charset="-122"/>
                <a:cs typeface="Consolas" pitchFamily="34" charset="-120"/>
              </a:rPr>
              <a:t>08</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How AES-GCM </a:t>
            </a:r>
            <a:r>
              <a:rPr lang="en-US" sz="2800" b="1">
                <a:solidFill>
                  <a:srgbClr val="F1F5F9"/>
                </a:solidFill>
                <a:latin typeface="Consolas" pitchFamily="34" charset="0"/>
                <a:ea typeface="Consolas" pitchFamily="34" charset="-122"/>
                <a:cs typeface="Consolas" pitchFamily="34" charset="-120"/>
              </a:rPr>
              <a:t>catches tampering</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24</a:t>
            </a:r>
            <a:endParaRPr lang="en-US" sz="1000" dirty="0"/>
          </a:p>
        </p:txBody>
      </p:sp>
      <p:sp>
        <p:nvSpPr>
          <p:cNvPr id="6" name="Shape 4"/>
          <p:cNvSpPr/>
          <p:nvPr/>
        </p:nvSpPr>
        <p:spPr>
          <a:xfrm>
            <a:off x="548640" y="1417320"/>
            <a:ext cx="11091672" cy="2240280"/>
          </a:xfrm>
          <a:prstGeom prst="roundRect">
            <a:avLst>
              <a:gd name="adj" fmla="val 3265"/>
            </a:avLst>
          </a:prstGeom>
          <a:solidFill>
            <a:srgbClr val="111A2F"/>
          </a:solidFill>
          <a:ln w="12700">
            <a:solidFill>
              <a:srgbClr val="2A3E68"/>
            </a:solidFill>
            <a:prstDash val="solid"/>
          </a:ln>
        </p:spPr>
      </p:sp>
      <p:sp>
        <p:nvSpPr>
          <p:cNvPr id="7" name="Text 5"/>
          <p:cNvSpPr/>
          <p:nvPr/>
        </p:nvSpPr>
        <p:spPr>
          <a:xfrm>
            <a:off x="777240" y="2103120"/>
            <a:ext cx="1645920" cy="365760"/>
          </a:xfrm>
          <a:prstGeom prst="rect">
            <a:avLst/>
          </a:prstGeom>
          <a:noFill/>
          <a:ln/>
        </p:spPr>
        <p:txBody>
          <a:bodyPr wrap="square" lIns="0" tIns="0" rIns="0" bIns="0" rtlCol="0" anchor="ctr"/>
          <a:lstStyle/>
          <a:p>
            <a:pPr marL="0" indent="0">
              <a:buNone/>
            </a:pPr>
            <a:r>
              <a:rPr lang="en-US" sz="1300" b="1" dirty="0">
                <a:solidFill>
                  <a:srgbClr val="4ADE80"/>
                </a:solidFill>
                <a:latin typeface="Consolas" pitchFamily="34" charset="0"/>
                <a:ea typeface="Consolas" pitchFamily="34" charset="-122"/>
                <a:cs typeface="Consolas" pitchFamily="34" charset="-120"/>
              </a:rPr>
              <a:t>ENCRYPT</a:t>
            </a:r>
            <a:endParaRPr lang="en-US" sz="1300" dirty="0"/>
          </a:p>
        </p:txBody>
      </p:sp>
      <p:sp>
        <p:nvSpPr>
          <p:cNvPr id="8" name="Text 6"/>
          <p:cNvSpPr/>
          <p:nvPr/>
        </p:nvSpPr>
        <p:spPr>
          <a:xfrm>
            <a:off x="777240" y="2926080"/>
            <a:ext cx="1645920" cy="365760"/>
          </a:xfrm>
          <a:prstGeom prst="rect">
            <a:avLst/>
          </a:prstGeom>
          <a:noFill/>
          <a:ln/>
        </p:spPr>
        <p:txBody>
          <a:bodyPr wrap="square" lIns="0" tIns="0" rIns="0" bIns="0" rtlCol="0" anchor="ctr"/>
          <a:lstStyle/>
          <a:p>
            <a:pPr marL="0" indent="0">
              <a:buNone/>
            </a:pPr>
            <a:r>
              <a:rPr lang="en-US" sz="1300" b="1" dirty="0">
                <a:solidFill>
                  <a:srgbClr val="FBBF24"/>
                </a:solidFill>
                <a:latin typeface="Consolas" pitchFamily="34" charset="0"/>
                <a:ea typeface="Consolas" pitchFamily="34" charset="-122"/>
                <a:cs typeface="Consolas" pitchFamily="34" charset="-120"/>
              </a:rPr>
              <a:t>AUTHENTICATE</a:t>
            </a:r>
            <a:endParaRPr lang="en-US" sz="1300" dirty="0"/>
          </a:p>
        </p:txBody>
      </p:sp>
      <p:sp>
        <p:nvSpPr>
          <p:cNvPr id="9" name="Shape 7"/>
          <p:cNvSpPr/>
          <p:nvPr/>
        </p:nvSpPr>
        <p:spPr>
          <a:xfrm>
            <a:off x="2514600" y="2011680"/>
            <a:ext cx="1783080" cy="548640"/>
          </a:xfrm>
          <a:prstGeom prst="roundRect">
            <a:avLst>
              <a:gd name="adj" fmla="val 13333"/>
            </a:avLst>
          </a:prstGeom>
          <a:solidFill>
            <a:srgbClr val="172544"/>
          </a:solidFill>
          <a:ln w="19050">
            <a:solidFill>
              <a:srgbClr val="4ADE80"/>
            </a:solidFill>
            <a:prstDash val="solid"/>
          </a:ln>
        </p:spPr>
      </p:sp>
      <p:sp>
        <p:nvSpPr>
          <p:cNvPr id="10" name="Text 8"/>
          <p:cNvSpPr/>
          <p:nvPr/>
        </p:nvSpPr>
        <p:spPr>
          <a:xfrm>
            <a:off x="2514600" y="2011680"/>
            <a:ext cx="178308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nonce </a:t>
            </a:r>
            <a:r>
              <a:rPr lang="en-US" sz="1200" b="1">
                <a:solidFill>
                  <a:srgbClr val="F1F5F9"/>
                </a:solidFill>
                <a:latin typeface="Consolas" pitchFamily="34" charset="0"/>
                <a:ea typeface="Consolas" pitchFamily="34" charset="-122"/>
                <a:cs typeface="Consolas" pitchFamily="34" charset="-120"/>
              </a:rPr>
              <a:t>+</a:t>
            </a:r>
            <a:r>
              <a:rPr lang="en-US" sz="1200" b="1" dirty="0">
                <a:solidFill>
                  <a:srgbClr val="F1F5F9"/>
                </a:solidFill>
                <a:latin typeface="Consolas" pitchFamily="34" charset="0"/>
                <a:ea typeface="Consolas" pitchFamily="34" charset="-122"/>
                <a:cs typeface="Consolas" pitchFamily="34" charset="-120"/>
              </a:rPr>
              <a:t> counter</a:t>
            </a:r>
            <a:endParaRPr lang="en-US" sz="1200" dirty="0"/>
          </a:p>
        </p:txBody>
      </p:sp>
      <p:sp>
        <p:nvSpPr>
          <p:cNvPr id="11" name="Shape 9"/>
          <p:cNvSpPr/>
          <p:nvPr/>
        </p:nvSpPr>
        <p:spPr>
          <a:xfrm>
            <a:off x="4315968" y="2286000"/>
            <a:ext cx="466344" cy="0"/>
          </a:xfrm>
          <a:prstGeom prst="line">
            <a:avLst/>
          </a:prstGeom>
          <a:noFill/>
          <a:ln w="25400">
            <a:solidFill>
              <a:srgbClr val="4ADE80"/>
            </a:solidFill>
            <a:prstDash val="solid"/>
            <a:tailEnd type="triangle"/>
          </a:ln>
        </p:spPr>
      </p:sp>
      <p:sp>
        <p:nvSpPr>
          <p:cNvPr id="12" name="Shape 10"/>
          <p:cNvSpPr/>
          <p:nvPr/>
        </p:nvSpPr>
        <p:spPr>
          <a:xfrm>
            <a:off x="4800600" y="2011680"/>
            <a:ext cx="1783080" cy="548640"/>
          </a:xfrm>
          <a:prstGeom prst="roundRect">
            <a:avLst>
              <a:gd name="adj" fmla="val 13333"/>
            </a:avLst>
          </a:prstGeom>
          <a:solidFill>
            <a:srgbClr val="172544"/>
          </a:solidFill>
          <a:ln w="19050">
            <a:solidFill>
              <a:srgbClr val="4ADE80"/>
            </a:solidFill>
            <a:prstDash val="solid"/>
          </a:ln>
        </p:spPr>
      </p:sp>
      <p:sp>
        <p:nvSpPr>
          <p:cNvPr id="13" name="Text 11"/>
          <p:cNvSpPr/>
          <p:nvPr/>
        </p:nvSpPr>
        <p:spPr>
          <a:xfrm>
            <a:off x="4800600" y="2011680"/>
            <a:ext cx="178308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AES</a:t>
            </a:r>
            <a:r>
              <a:rPr lang="en-US" sz="1200" b="1">
                <a:solidFill>
                  <a:srgbClr val="F1F5F9"/>
                </a:solidFill>
                <a:latin typeface="Consolas" pitchFamily="34" charset="0"/>
                <a:ea typeface="Consolas" pitchFamily="34" charset="-122"/>
                <a:cs typeface="Consolas" pitchFamily="34" charset="-120"/>
              </a:rPr>
              <a:t> encrypt</a:t>
            </a:r>
            <a:endParaRPr lang="en-US" sz="1200" dirty="0"/>
          </a:p>
        </p:txBody>
      </p:sp>
      <p:sp>
        <p:nvSpPr>
          <p:cNvPr id="14" name="Shape 12"/>
          <p:cNvSpPr/>
          <p:nvPr/>
        </p:nvSpPr>
        <p:spPr>
          <a:xfrm>
            <a:off x="6601968" y="2286000"/>
            <a:ext cx="466344" cy="0"/>
          </a:xfrm>
          <a:prstGeom prst="line">
            <a:avLst/>
          </a:prstGeom>
          <a:noFill/>
          <a:ln w="25400">
            <a:solidFill>
              <a:srgbClr val="4ADE80"/>
            </a:solidFill>
            <a:prstDash val="solid"/>
            <a:tailEnd type="triangle"/>
          </a:ln>
        </p:spPr>
      </p:sp>
      <p:sp>
        <p:nvSpPr>
          <p:cNvPr id="15" name="Shape 13"/>
          <p:cNvSpPr/>
          <p:nvPr/>
        </p:nvSpPr>
        <p:spPr>
          <a:xfrm>
            <a:off x="7086600" y="2011680"/>
            <a:ext cx="1783080" cy="548640"/>
          </a:xfrm>
          <a:prstGeom prst="roundRect">
            <a:avLst>
              <a:gd name="adj" fmla="val 13333"/>
            </a:avLst>
          </a:prstGeom>
          <a:solidFill>
            <a:srgbClr val="172544"/>
          </a:solidFill>
          <a:ln w="19050">
            <a:solidFill>
              <a:srgbClr val="4ADE80"/>
            </a:solidFill>
            <a:prstDash val="solid"/>
          </a:ln>
        </p:spPr>
      </p:sp>
      <p:sp>
        <p:nvSpPr>
          <p:cNvPr id="16" name="Text 14"/>
          <p:cNvSpPr/>
          <p:nvPr/>
        </p:nvSpPr>
        <p:spPr>
          <a:xfrm>
            <a:off x="7086600" y="2011680"/>
            <a:ext cx="1783080" cy="548640"/>
          </a:xfrm>
          <a:prstGeom prst="rect">
            <a:avLst/>
          </a:prstGeom>
          <a:noFill/>
          <a:ln/>
        </p:spPr>
        <p:txBody>
          <a:bodyPr wrap="square" lIns="635" tIns="635" rIns="635" bIns="635" rtlCol="0" anchor="ctr"/>
          <a:lstStyle/>
          <a:p>
            <a:pPr marL="0" indent="0" algn="ctr">
              <a:buNone/>
            </a:pPr>
            <a:r>
              <a:rPr lang="en-US" sz="1200" b="1">
                <a:solidFill>
                  <a:srgbClr val="F1F5F9"/>
                </a:solidFill>
                <a:latin typeface="Consolas" pitchFamily="34" charset="0"/>
                <a:ea typeface="Consolas" pitchFamily="34" charset="-122"/>
                <a:cs typeface="Consolas" pitchFamily="34" charset="-120"/>
              </a:rPr>
              <a:t>mix with message</a:t>
            </a:r>
            <a:endParaRPr lang="en-US" sz="1200" dirty="0"/>
          </a:p>
        </p:txBody>
      </p:sp>
      <p:sp>
        <p:nvSpPr>
          <p:cNvPr id="17" name="Shape 15"/>
          <p:cNvSpPr/>
          <p:nvPr/>
        </p:nvSpPr>
        <p:spPr>
          <a:xfrm>
            <a:off x="8887968" y="2286000"/>
            <a:ext cx="466344" cy="0"/>
          </a:xfrm>
          <a:prstGeom prst="line">
            <a:avLst/>
          </a:prstGeom>
          <a:noFill/>
          <a:ln w="25400">
            <a:solidFill>
              <a:srgbClr val="4ADE80"/>
            </a:solidFill>
            <a:prstDash val="solid"/>
            <a:tailEnd type="triangle"/>
          </a:ln>
        </p:spPr>
      </p:sp>
      <p:sp>
        <p:nvSpPr>
          <p:cNvPr id="18" name="Shape 16"/>
          <p:cNvSpPr/>
          <p:nvPr/>
        </p:nvSpPr>
        <p:spPr>
          <a:xfrm>
            <a:off x="9372600" y="2011680"/>
            <a:ext cx="1783080" cy="548640"/>
          </a:xfrm>
          <a:prstGeom prst="roundRect">
            <a:avLst>
              <a:gd name="adj" fmla="val 13333"/>
            </a:avLst>
          </a:prstGeom>
          <a:solidFill>
            <a:srgbClr val="172544"/>
          </a:solidFill>
          <a:ln w="19050">
            <a:solidFill>
              <a:srgbClr val="4ADE80"/>
            </a:solidFill>
            <a:prstDash val="solid"/>
          </a:ln>
        </p:spPr>
      </p:sp>
      <p:sp>
        <p:nvSpPr>
          <p:cNvPr id="19" name="Text 17"/>
          <p:cNvSpPr/>
          <p:nvPr/>
        </p:nvSpPr>
        <p:spPr>
          <a:xfrm>
            <a:off x="9372600" y="2011680"/>
            <a:ext cx="178308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ciphertext C</a:t>
            </a:r>
            <a:endParaRPr lang="en-US" sz="1200" dirty="0"/>
          </a:p>
        </p:txBody>
      </p:sp>
      <p:sp>
        <p:nvSpPr>
          <p:cNvPr id="20" name="Shape 18"/>
          <p:cNvSpPr/>
          <p:nvPr/>
        </p:nvSpPr>
        <p:spPr>
          <a:xfrm>
            <a:off x="2514600" y="2834640"/>
            <a:ext cx="1783080" cy="548640"/>
          </a:xfrm>
          <a:prstGeom prst="roundRect">
            <a:avLst>
              <a:gd name="adj" fmla="val 13333"/>
            </a:avLst>
          </a:prstGeom>
          <a:solidFill>
            <a:srgbClr val="172544"/>
          </a:solidFill>
          <a:ln w="19050">
            <a:solidFill>
              <a:srgbClr val="FBBF24"/>
            </a:solidFill>
            <a:prstDash val="solid"/>
          </a:ln>
        </p:spPr>
      </p:sp>
      <p:sp>
        <p:nvSpPr>
          <p:cNvPr id="21" name="Text 19"/>
          <p:cNvSpPr/>
          <p:nvPr/>
        </p:nvSpPr>
        <p:spPr>
          <a:xfrm>
            <a:off x="2514600" y="2834640"/>
            <a:ext cx="1783080" cy="548640"/>
          </a:xfrm>
          <a:prstGeom prst="rect">
            <a:avLst/>
          </a:prstGeom>
          <a:noFill/>
          <a:ln/>
        </p:spPr>
        <p:txBody>
          <a:bodyPr wrap="square" lIns="635" tIns="635" rIns="635" bIns="635" rtlCol="0" anchor="ctr"/>
          <a:lstStyle/>
          <a:p>
            <a:pPr marL="0" indent="0" algn="ctr">
              <a:buNone/>
            </a:pPr>
            <a:r>
              <a:rPr lang="en-US" sz="1200" b="1">
                <a:solidFill>
                  <a:srgbClr val="F1F5F9"/>
                </a:solidFill>
                <a:latin typeface="Consolas" pitchFamily="34" charset="0"/>
                <a:ea typeface="Consolas" pitchFamily="34" charset="-122"/>
                <a:cs typeface="Consolas" pitchFamily="34" charset="-120"/>
              </a:rPr>
              <a:t>extra data + </a:t>
            </a:r>
            <a:r>
              <a:rPr lang="en-US" sz="1200" b="1" dirty="0">
                <a:solidFill>
                  <a:srgbClr val="F1F5F9"/>
                </a:solidFill>
                <a:latin typeface="Consolas" pitchFamily="34" charset="0"/>
                <a:ea typeface="Consolas" pitchFamily="34" charset="-122"/>
                <a:cs typeface="Consolas" pitchFamily="34" charset="-120"/>
              </a:rPr>
              <a:t>C</a:t>
            </a:r>
            <a:endParaRPr lang="en-US" sz="1200" dirty="0"/>
          </a:p>
        </p:txBody>
      </p:sp>
      <p:sp>
        <p:nvSpPr>
          <p:cNvPr id="22" name="Shape 20"/>
          <p:cNvSpPr/>
          <p:nvPr/>
        </p:nvSpPr>
        <p:spPr>
          <a:xfrm>
            <a:off x="4315968" y="3108960"/>
            <a:ext cx="466344" cy="0"/>
          </a:xfrm>
          <a:prstGeom prst="line">
            <a:avLst/>
          </a:prstGeom>
          <a:noFill/>
          <a:ln w="25400">
            <a:solidFill>
              <a:srgbClr val="FBBF24"/>
            </a:solidFill>
            <a:prstDash val="solid"/>
            <a:tailEnd type="triangle"/>
          </a:ln>
        </p:spPr>
      </p:sp>
      <p:sp>
        <p:nvSpPr>
          <p:cNvPr id="23" name="Shape 21"/>
          <p:cNvSpPr/>
          <p:nvPr/>
        </p:nvSpPr>
        <p:spPr>
          <a:xfrm>
            <a:off x="4800600" y="2834640"/>
            <a:ext cx="1783080" cy="548640"/>
          </a:xfrm>
          <a:prstGeom prst="roundRect">
            <a:avLst>
              <a:gd name="adj" fmla="val 13333"/>
            </a:avLst>
          </a:prstGeom>
          <a:solidFill>
            <a:srgbClr val="172544"/>
          </a:solidFill>
          <a:ln w="19050">
            <a:solidFill>
              <a:srgbClr val="FBBF24"/>
            </a:solidFill>
            <a:prstDash val="solid"/>
          </a:ln>
        </p:spPr>
      </p:sp>
      <p:sp>
        <p:nvSpPr>
          <p:cNvPr id="24" name="Text 22"/>
          <p:cNvSpPr/>
          <p:nvPr/>
        </p:nvSpPr>
        <p:spPr>
          <a:xfrm>
            <a:off x="4800600" y="2834640"/>
            <a:ext cx="1783080" cy="548640"/>
          </a:xfrm>
          <a:prstGeom prst="rect">
            <a:avLst/>
          </a:prstGeom>
          <a:noFill/>
          <a:ln/>
        </p:spPr>
        <p:txBody>
          <a:bodyPr wrap="square" lIns="635" tIns="635" rIns="635" bIns="635" rtlCol="0" anchor="ctr"/>
          <a:lstStyle/>
          <a:p>
            <a:pPr marL="0" indent="0" algn="ctr">
              <a:buNone/>
            </a:pPr>
            <a:r>
              <a:rPr lang="en-US" sz="1200" b="1">
                <a:solidFill>
                  <a:srgbClr val="F1F5F9"/>
                </a:solidFill>
                <a:latin typeface="Consolas" pitchFamily="34" charset="0"/>
                <a:ea typeface="Consolas" pitchFamily="34" charset="-122"/>
                <a:cs typeface="Consolas" pitchFamily="34" charset="-120"/>
              </a:rPr>
              <a:t>scramble</a:t>
            </a:r>
            <a:r>
              <a:rPr lang="en-US" sz="1200" b="1" dirty="0">
                <a:solidFill>
                  <a:srgbClr val="F1F5F9"/>
                </a:solidFill>
                <a:latin typeface="Consolas" pitchFamily="34" charset="0"/>
                <a:ea typeface="Consolas" pitchFamily="34" charset="-122"/>
                <a:cs typeface="Consolas" pitchFamily="34" charset="-120"/>
              </a:rPr>
              <a:t> with H</a:t>
            </a:r>
            <a:endParaRPr lang="en-US" sz="1200" dirty="0"/>
          </a:p>
        </p:txBody>
      </p:sp>
      <p:sp>
        <p:nvSpPr>
          <p:cNvPr id="25" name="Shape 23"/>
          <p:cNvSpPr/>
          <p:nvPr/>
        </p:nvSpPr>
        <p:spPr>
          <a:xfrm>
            <a:off x="6601968" y="3108960"/>
            <a:ext cx="466344" cy="0"/>
          </a:xfrm>
          <a:prstGeom prst="line">
            <a:avLst/>
          </a:prstGeom>
          <a:noFill/>
          <a:ln w="25400">
            <a:solidFill>
              <a:srgbClr val="FBBF24"/>
            </a:solidFill>
            <a:prstDash val="solid"/>
            <a:tailEnd type="triangle"/>
          </a:ln>
        </p:spPr>
      </p:sp>
      <p:sp>
        <p:nvSpPr>
          <p:cNvPr id="26" name="Shape 24"/>
          <p:cNvSpPr/>
          <p:nvPr/>
        </p:nvSpPr>
        <p:spPr>
          <a:xfrm>
            <a:off x="7086600" y="2834640"/>
            <a:ext cx="1783080" cy="548640"/>
          </a:xfrm>
          <a:prstGeom prst="roundRect">
            <a:avLst>
              <a:gd name="adj" fmla="val 13333"/>
            </a:avLst>
          </a:prstGeom>
          <a:solidFill>
            <a:srgbClr val="172544"/>
          </a:solidFill>
          <a:ln w="19050">
            <a:solidFill>
              <a:srgbClr val="FBBF24"/>
            </a:solidFill>
            <a:prstDash val="solid"/>
          </a:ln>
        </p:spPr>
      </p:sp>
      <p:sp>
        <p:nvSpPr>
          <p:cNvPr id="27" name="Text 25"/>
          <p:cNvSpPr/>
          <p:nvPr/>
        </p:nvSpPr>
        <p:spPr>
          <a:xfrm>
            <a:off x="7086600" y="2834640"/>
            <a:ext cx="1783080" cy="548640"/>
          </a:xfrm>
          <a:prstGeom prst="rect">
            <a:avLst/>
          </a:prstGeom>
          <a:noFill/>
          <a:ln/>
        </p:spPr>
        <p:txBody>
          <a:bodyPr wrap="square" lIns="635" tIns="635" rIns="635" bIns="635" rtlCol="0" anchor="ctr"/>
          <a:lstStyle/>
          <a:p>
            <a:pPr marL="0" indent="0" algn="ctr">
              <a:buNone/>
            </a:pPr>
            <a:r>
              <a:rPr lang="en-US" sz="1200" b="1">
                <a:solidFill>
                  <a:srgbClr val="F1F5F9"/>
                </a:solidFill>
                <a:latin typeface="Consolas" pitchFamily="34" charset="0"/>
                <a:ea typeface="Consolas" pitchFamily="34" charset="-122"/>
                <a:cs typeface="Consolas" pitchFamily="34" charset="-120"/>
              </a:rPr>
              <a:t>final AES step</a:t>
            </a:r>
            <a:endParaRPr lang="en-US" sz="1200" dirty="0"/>
          </a:p>
        </p:txBody>
      </p:sp>
      <p:sp>
        <p:nvSpPr>
          <p:cNvPr id="28" name="Shape 26"/>
          <p:cNvSpPr/>
          <p:nvPr/>
        </p:nvSpPr>
        <p:spPr>
          <a:xfrm>
            <a:off x="8887968" y="3108960"/>
            <a:ext cx="466344" cy="0"/>
          </a:xfrm>
          <a:prstGeom prst="line">
            <a:avLst/>
          </a:prstGeom>
          <a:noFill/>
          <a:ln w="25400">
            <a:solidFill>
              <a:srgbClr val="FBBF24"/>
            </a:solidFill>
            <a:prstDash val="solid"/>
            <a:tailEnd type="triangle"/>
          </a:ln>
        </p:spPr>
      </p:sp>
      <p:sp>
        <p:nvSpPr>
          <p:cNvPr id="29" name="Shape 27"/>
          <p:cNvSpPr/>
          <p:nvPr/>
        </p:nvSpPr>
        <p:spPr>
          <a:xfrm>
            <a:off x="9372600" y="2834640"/>
            <a:ext cx="1783080" cy="548640"/>
          </a:xfrm>
          <a:prstGeom prst="roundRect">
            <a:avLst>
              <a:gd name="adj" fmla="val 13333"/>
            </a:avLst>
          </a:prstGeom>
          <a:solidFill>
            <a:srgbClr val="172544"/>
          </a:solidFill>
          <a:ln w="19050">
            <a:solidFill>
              <a:srgbClr val="FBBF24"/>
            </a:solidFill>
            <a:prstDash val="solid"/>
          </a:ln>
        </p:spPr>
      </p:sp>
      <p:sp>
        <p:nvSpPr>
          <p:cNvPr id="30" name="Text 28"/>
          <p:cNvSpPr/>
          <p:nvPr/>
        </p:nvSpPr>
        <p:spPr>
          <a:xfrm>
            <a:off x="9372600" y="2834640"/>
            <a:ext cx="1783080" cy="54864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tag</a:t>
            </a:r>
            <a:endParaRPr lang="en-US" sz="1200" dirty="0"/>
          </a:p>
        </p:txBody>
      </p:sp>
      <p:sp>
        <p:nvSpPr>
          <p:cNvPr id="31" name="Text 29"/>
          <p:cNvSpPr/>
          <p:nvPr/>
        </p:nvSpPr>
        <p:spPr>
          <a:xfrm>
            <a:off x="777240" y="1536192"/>
            <a:ext cx="7315200" cy="274320"/>
          </a:xfrm>
          <a:prstGeom prst="rect">
            <a:avLst/>
          </a:prstGeom>
          <a:noFill/>
          <a:ln/>
        </p:spPr>
        <p:txBody>
          <a:bodyPr wrap="square" lIns="0" tIns="0" rIns="0" bIns="0" rtlCol="0" anchor="t"/>
          <a:lstStyle/>
          <a:p>
            <a:pPr marL="0" indent="0">
              <a:buNone/>
            </a:pPr>
            <a:r>
              <a:rPr lang="en-US" sz="1300" b="1" dirty="0">
                <a:solidFill>
                  <a:srgbClr val="22D3EE"/>
                </a:solidFill>
                <a:latin typeface="Consolas" pitchFamily="34" charset="0"/>
                <a:ea typeface="Consolas" pitchFamily="34" charset="-122"/>
                <a:cs typeface="Consolas" pitchFamily="34" charset="-120"/>
              </a:rPr>
              <a:t>GCM = counter-mode encryption + a </a:t>
            </a:r>
            <a:r>
              <a:rPr lang="en-US" sz="1300" b="1">
                <a:solidFill>
                  <a:srgbClr val="22D3EE"/>
                </a:solidFill>
                <a:latin typeface="Consolas" pitchFamily="34" charset="0"/>
                <a:ea typeface="Consolas" pitchFamily="34" charset="-122"/>
                <a:cs typeface="Consolas" pitchFamily="34" charset="-120"/>
              </a:rPr>
              <a:t>built-in tamper check</a:t>
            </a:r>
            <a:endParaRPr lang="en-US" sz="1300" dirty="0"/>
          </a:p>
        </p:txBody>
      </p:sp>
      <p:sp>
        <p:nvSpPr>
          <p:cNvPr id="32" name="Shape 30"/>
          <p:cNvSpPr/>
          <p:nvPr/>
        </p:nvSpPr>
        <p:spPr>
          <a:xfrm>
            <a:off x="548640" y="3840480"/>
            <a:ext cx="5943600" cy="2286000"/>
          </a:xfrm>
          <a:prstGeom prst="roundRect">
            <a:avLst>
              <a:gd name="adj" fmla="val 3200"/>
            </a:avLst>
          </a:prstGeom>
          <a:solidFill>
            <a:srgbClr val="070B14"/>
          </a:solidFill>
          <a:ln w="12700">
            <a:solidFill>
              <a:srgbClr val="2A3E68"/>
            </a:solidFill>
            <a:prstDash val="solid"/>
          </a:ln>
        </p:spPr>
      </p:sp>
      <p:sp>
        <p:nvSpPr>
          <p:cNvPr id="33" name="Shape 31"/>
          <p:cNvSpPr/>
          <p:nvPr/>
        </p:nvSpPr>
        <p:spPr>
          <a:xfrm>
            <a:off x="713232" y="3968496"/>
            <a:ext cx="100584" cy="100584"/>
          </a:xfrm>
          <a:prstGeom prst="ellipse">
            <a:avLst/>
          </a:prstGeom>
          <a:solidFill>
            <a:srgbClr val="F87171"/>
          </a:solidFill>
          <a:ln w="12700">
            <a:solidFill>
              <a:srgbClr val="F87171"/>
            </a:solidFill>
            <a:prstDash val="solid"/>
          </a:ln>
        </p:spPr>
      </p:sp>
      <p:sp>
        <p:nvSpPr>
          <p:cNvPr id="34" name="Shape 32"/>
          <p:cNvSpPr/>
          <p:nvPr/>
        </p:nvSpPr>
        <p:spPr>
          <a:xfrm>
            <a:off x="896112" y="3968496"/>
            <a:ext cx="100584" cy="100584"/>
          </a:xfrm>
          <a:prstGeom prst="ellipse">
            <a:avLst/>
          </a:prstGeom>
          <a:solidFill>
            <a:srgbClr val="FBBF24"/>
          </a:solidFill>
          <a:ln w="12700">
            <a:solidFill>
              <a:srgbClr val="FBBF24"/>
            </a:solidFill>
            <a:prstDash val="solid"/>
          </a:ln>
        </p:spPr>
      </p:sp>
      <p:sp>
        <p:nvSpPr>
          <p:cNvPr id="35" name="Shape 33"/>
          <p:cNvSpPr/>
          <p:nvPr/>
        </p:nvSpPr>
        <p:spPr>
          <a:xfrm>
            <a:off x="1078992" y="3968496"/>
            <a:ext cx="100584" cy="100584"/>
          </a:xfrm>
          <a:prstGeom prst="ellipse">
            <a:avLst/>
          </a:prstGeom>
          <a:solidFill>
            <a:srgbClr val="4ADE80"/>
          </a:solidFill>
          <a:ln w="12700">
            <a:solidFill>
              <a:srgbClr val="4ADE80"/>
            </a:solidFill>
            <a:prstDash val="solid"/>
          </a:ln>
        </p:spPr>
      </p:sp>
      <p:sp>
        <p:nvSpPr>
          <p:cNvPr id="36" name="Text 34"/>
          <p:cNvSpPr/>
          <p:nvPr/>
        </p:nvSpPr>
        <p:spPr>
          <a:xfrm>
            <a:off x="1325880" y="3913632"/>
            <a:ext cx="5029200" cy="201168"/>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tamper-demo</a:t>
            </a:r>
            <a:endParaRPr lang="en-US" sz="1000" dirty="0"/>
          </a:p>
        </p:txBody>
      </p:sp>
      <p:sp>
        <p:nvSpPr>
          <p:cNvPr id="37" name="Text 35"/>
          <p:cNvSpPr/>
          <p:nvPr/>
        </p:nvSpPr>
        <p:spPr>
          <a:xfrm>
            <a:off x="777240" y="4224528"/>
            <a:ext cx="5486400" cy="1783080"/>
          </a:xfrm>
          <a:prstGeom prst="rect">
            <a:avLst/>
          </a:prstGeom>
          <a:noFill/>
          <a:ln/>
        </p:spPr>
        <p:txBody>
          <a:bodyPr wrap="square" lIns="0" tIns="0" rIns="0" bIns="0" rtlCol="0" anchor="t"/>
          <a:lstStyle/>
          <a:p>
            <a:pPr marL="0" indent="0">
              <a:spcAft>
                <a:spcPts val="200"/>
              </a:spcAft>
              <a:buNone/>
            </a:pPr>
            <a:r>
              <a:rPr lang="en-US" sz="1300">
                <a:solidFill>
                  <a:srgbClr val="22D3EE"/>
                </a:solidFill>
                <a:latin typeface="Consolas" pitchFamily="34" charset="0"/>
                <a:ea typeface="Consolas" pitchFamily="34" charset="-122"/>
                <a:cs typeface="Consolas" pitchFamily="34" charset="-120"/>
              </a:rPr>
              <a:t>Alice sends: "Pay Bob $100"</a:t>
            </a:r>
            <a:endParaRPr lang="en-US" sz="1300" dirty="0"/>
          </a:p>
          <a:p>
            <a:pPr marL="0" indent="0">
              <a:spcAft>
                <a:spcPts val="200"/>
              </a:spcAft>
              <a:buNone/>
            </a:pPr>
            <a:r>
              <a:rPr lang="en-US" sz="1300">
                <a:solidFill>
                  <a:srgbClr val="4ADE80"/>
                </a:solidFill>
                <a:latin typeface="Consolas" pitchFamily="34" charset="0"/>
                <a:ea typeface="Consolas" pitchFamily="34" charset="-122"/>
                <a:cs typeface="Consolas" pitchFamily="34" charset="-120"/>
              </a:rPr>
              <a:t>ciphertext  9F 3A C1 07 ...</a:t>
            </a:r>
            <a:endParaRPr lang="en-US" sz="1300" dirty="0"/>
          </a:p>
          <a:p>
            <a:pPr marL="0" indent="0">
              <a:spcAft>
                <a:spcPts val="200"/>
              </a:spcAft>
              <a:buNone/>
            </a:pPr>
            <a:r>
              <a:rPr lang="en-US" sz="1300">
                <a:solidFill>
                  <a:srgbClr val="4ADE80"/>
                </a:solidFill>
                <a:latin typeface="Consolas" pitchFamily="34" charset="0"/>
                <a:ea typeface="Consolas" pitchFamily="34" charset="-122"/>
                <a:cs typeface="Consolas" pitchFamily="34" charset="-120"/>
              </a:rPr>
              <a:t>tag         5B E2 90 4D ...  (16 bytes)</a:t>
            </a:r>
            <a:endParaRPr lang="en-US" sz="1300" dirty="0"/>
          </a:p>
          <a:p>
            <a:pPr marL="0" indent="0">
              <a:spcAft>
                <a:spcPts val="200"/>
              </a:spcAft>
              <a:buNone/>
            </a:pPr>
            <a:r>
              <a:rPr lang="en-US" sz="1300">
                <a:solidFill>
                  <a:srgbClr val="FBBF24"/>
                </a:solidFill>
                <a:latin typeface="Consolas" pitchFamily="34" charset="0"/>
                <a:ea typeface="Consolas" pitchFamily="34" charset="-122"/>
                <a:cs typeface="Consolas" pitchFamily="34" charset="-120"/>
              </a:rPr>
              <a:t>Mallory flips one bit in transit</a:t>
            </a:r>
            <a:endParaRPr lang="en-US" sz="1300"/>
          </a:p>
          <a:p>
            <a:pPr marL="0" indent="0">
              <a:spcAft>
                <a:spcPts val="200"/>
              </a:spcAft>
              <a:buNone/>
            </a:pPr>
            <a:endParaRPr lang="en-US" sz="1300" dirty="0"/>
          </a:p>
          <a:p>
            <a:pPr marL="0" indent="0">
              <a:spcAft>
                <a:spcPts val="200"/>
              </a:spcAft>
              <a:buNone/>
            </a:pPr>
            <a:r>
              <a:rPr lang="en-US" sz="1300">
                <a:solidFill>
                  <a:srgbClr val="9FB0CC"/>
                </a:solidFill>
                <a:latin typeface="Consolas" pitchFamily="34" charset="0"/>
                <a:ea typeface="Consolas" pitchFamily="34" charset="-122"/>
                <a:cs typeface="Consolas" pitchFamily="34" charset="-120"/>
              </a:rPr>
              <a:t>Bob recomputes the tag</a:t>
            </a:r>
            <a:r>
              <a:rPr lang="en-US" sz="1300" dirty="0">
                <a:solidFill>
                  <a:srgbClr val="9FB0CC"/>
                </a:solidFill>
                <a:latin typeface="Consolas" pitchFamily="34" charset="0"/>
                <a:ea typeface="Consolas" pitchFamily="34" charset="-122"/>
                <a:cs typeface="Consolas" pitchFamily="34" charset="-120"/>
              </a:rPr>
              <a:t>: </a:t>
            </a:r>
            <a:r>
              <a:rPr lang="en-US" sz="1300">
                <a:solidFill>
                  <a:srgbClr val="9FB0CC"/>
                </a:solidFill>
                <a:latin typeface="Consolas" pitchFamily="34" charset="0"/>
                <a:ea typeface="Consolas" pitchFamily="34" charset="-122"/>
                <a:cs typeface="Consolas" pitchFamily="34" charset="-120"/>
              </a:rPr>
              <a:t>no match, message rejected</a:t>
            </a:r>
            <a:endParaRPr lang="en-US" sz="1300" dirty="0"/>
          </a:p>
        </p:txBody>
      </p:sp>
      <p:sp>
        <p:nvSpPr>
          <p:cNvPr id="38" name="Shape 36"/>
          <p:cNvSpPr/>
          <p:nvPr/>
        </p:nvSpPr>
        <p:spPr>
          <a:xfrm>
            <a:off x="6720840" y="3840480"/>
            <a:ext cx="4919472" cy="2286000"/>
          </a:xfrm>
          <a:prstGeom prst="roundRect">
            <a:avLst>
              <a:gd name="adj" fmla="val 3200"/>
            </a:avLst>
          </a:prstGeom>
          <a:solidFill>
            <a:srgbClr val="111A2F"/>
          </a:solidFill>
          <a:ln w="12700">
            <a:solidFill>
              <a:srgbClr val="2A3E68"/>
            </a:solidFill>
            <a:prstDash val="solid"/>
          </a:ln>
        </p:spPr>
      </p:sp>
      <p:sp>
        <p:nvSpPr>
          <p:cNvPr id="39" name="Text 37"/>
          <p:cNvSpPr/>
          <p:nvPr/>
        </p:nvSpPr>
        <p:spPr>
          <a:xfrm>
            <a:off x="6949440" y="3950208"/>
            <a:ext cx="448056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Why it is secure</a:t>
            </a:r>
            <a:endParaRPr lang="en-US" sz="1400" dirty="0"/>
          </a:p>
        </p:txBody>
      </p:sp>
      <p:sp>
        <p:nvSpPr>
          <p:cNvPr id="40" name="Text 38"/>
          <p:cNvSpPr/>
          <p:nvPr/>
        </p:nvSpPr>
        <p:spPr>
          <a:xfrm>
            <a:off x="6949440" y="4343400"/>
            <a:ext cx="4480560" cy="1783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The tag </a:t>
            </a:r>
            <a:r>
              <a:rPr lang="en-US" sz="1300">
                <a:solidFill>
                  <a:srgbClr val="F1F5F9"/>
                </a:solidFill>
                <a:latin typeface="Calibri" pitchFamily="34" charset="0"/>
                <a:ea typeface="Calibri" pitchFamily="34" charset="-122"/>
                <a:cs typeface="Calibri" pitchFamily="34" charset="-120"/>
              </a:rPr>
              <a:t>is </a:t>
            </a:r>
            <a:r>
              <a:rPr lang="en-US" sz="1300" dirty="0">
                <a:solidFill>
                  <a:srgbClr val="F1F5F9"/>
                </a:solidFill>
                <a:latin typeface="Calibri" pitchFamily="34" charset="0"/>
                <a:ea typeface="Calibri" pitchFamily="34" charset="-122"/>
                <a:cs typeface="Calibri" pitchFamily="34" charset="-120"/>
              </a:rPr>
              <a:t>a </a:t>
            </a:r>
            <a:r>
              <a:rPr lang="en-US" sz="1300">
                <a:solidFill>
                  <a:srgbClr val="F1F5F9"/>
                </a:solidFill>
                <a:latin typeface="Calibri" pitchFamily="34" charset="0"/>
                <a:ea typeface="Calibri" pitchFamily="34" charset="-122"/>
                <a:cs typeface="Calibri" pitchFamily="34" charset="-120"/>
              </a:rPr>
              <a:t>short fingerprint </a:t>
            </a:r>
            <a:r>
              <a:rPr lang="en-US" sz="1300" dirty="0">
                <a:solidFill>
                  <a:srgbClr val="F1F5F9"/>
                </a:solidFill>
                <a:latin typeface="Calibri" pitchFamily="34" charset="0"/>
                <a:ea typeface="Calibri" pitchFamily="34" charset="-122"/>
                <a:cs typeface="Calibri" pitchFamily="34" charset="-120"/>
              </a:rPr>
              <a:t>of the </a:t>
            </a:r>
            <a:r>
              <a:rPr lang="en-US" sz="1300">
                <a:solidFill>
                  <a:srgbClr val="F1F5F9"/>
                </a:solidFill>
                <a:latin typeface="Calibri" pitchFamily="34" charset="0"/>
                <a:ea typeface="Calibri" pitchFamily="34" charset="-122"/>
                <a:cs typeface="Calibri" pitchFamily="34" charset="-120"/>
              </a:rPr>
              <a:t>encrypted message plus the key</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Change any bit and the tag </a:t>
            </a:r>
            <a:r>
              <a:rPr lang="en-US" sz="1300">
                <a:solidFill>
                  <a:srgbClr val="F1F5F9"/>
                </a:solidFill>
                <a:latin typeface="Calibri" pitchFamily="34" charset="0"/>
                <a:ea typeface="Calibri" pitchFamily="34" charset="-122"/>
                <a:cs typeface="Calibri" pitchFamily="34" charset="-120"/>
              </a:rPr>
              <a:t>no longer matches, so the message is rejected</a:t>
            </a:r>
            <a:endParaRPr lang="en-US" sz="130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Plain CBC or CTR would have accepted the changed message</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Never reuse </a:t>
            </a:r>
            <a:r>
              <a:rPr lang="en-US" sz="1300" dirty="0">
                <a:solidFill>
                  <a:srgbClr val="F1F5F9"/>
                </a:solidFill>
                <a:latin typeface="Calibri" pitchFamily="34" charset="0"/>
                <a:ea typeface="Calibri" pitchFamily="34" charset="-122"/>
                <a:cs typeface="Calibri" pitchFamily="34" charset="-120"/>
              </a:rPr>
              <a:t>a nonce</a:t>
            </a:r>
            <a:r>
              <a:rPr lang="en-US" sz="1300">
                <a:solidFill>
                  <a:srgbClr val="F1F5F9"/>
                </a:solidFill>
                <a:latin typeface="Calibri" pitchFamily="34" charset="0"/>
                <a:ea typeface="Calibri" pitchFamily="34" charset="-122"/>
                <a:cs typeface="Calibri" pitchFamily="34" charset="-120"/>
              </a:rPr>
              <a:t>: it breaks both secrecy</a:t>
            </a:r>
            <a:r>
              <a:rPr lang="en-US" sz="1300" dirty="0">
                <a:solidFill>
                  <a:srgbClr val="F1F5F9"/>
                </a:solidFill>
                <a:latin typeface="Calibri" pitchFamily="34" charset="0"/>
                <a:ea typeface="Calibri" pitchFamily="34" charset="-122"/>
                <a:cs typeface="Calibri" pitchFamily="34" charset="-120"/>
              </a:rPr>
              <a:t> and the </a:t>
            </a:r>
            <a:r>
              <a:rPr lang="en-US" sz="1300">
                <a:solidFill>
                  <a:srgbClr val="F1F5F9"/>
                </a:solidFill>
                <a:latin typeface="Calibri" pitchFamily="34" charset="0"/>
                <a:ea typeface="Calibri" pitchFamily="34" charset="-122"/>
                <a:cs typeface="Calibri" pitchFamily="34" charset="-120"/>
              </a:rPr>
              <a:t>tag</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CHECKPOINT 3  ·  5 MIN</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Pause and discuss</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25</a:t>
            </a:r>
            <a:endParaRPr lang="en-US" sz="1000"/>
          </a:p>
        </p:txBody>
      </p:sp>
      <p:sp>
        <p:nvSpPr>
          <p:cNvPr id="6" name="Rounded Rectangle 5"/>
          <p:cNvSpPr/>
          <p:nvPr/>
        </p:nvSpPr>
        <p:spPr>
          <a:xfrm>
            <a:off x="548640" y="1417320"/>
            <a:ext cx="3291840" cy="475488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con-chat-help-cc840707.png"/>
          <p:cNvPicPr>
            <a:picLocks noChangeAspect="1"/>
          </p:cNvPicPr>
          <p:nvPr/>
        </p:nvPicPr>
        <p:blipFill>
          <a:blip r:embed="rId3"/>
          <a:stretch>
            <a:fillRect/>
          </a:stretch>
        </p:blipFill>
        <p:spPr>
          <a:xfrm>
            <a:off x="822960" y="1691640"/>
            <a:ext cx="822960" cy="822960"/>
          </a:xfrm>
          <a:prstGeom prst="rect">
            <a:avLst/>
          </a:prstGeom>
        </p:spPr>
      </p:pic>
      <p:sp>
        <p:nvSpPr>
          <p:cNvPr id="8" name="TextBox 7"/>
          <p:cNvSpPr txBox="1"/>
          <p:nvPr/>
        </p:nvSpPr>
        <p:spPr>
          <a:xfrm>
            <a:off x="822960" y="2743200"/>
            <a:ext cx="2743200" cy="274320"/>
          </a:xfrm>
          <a:prstGeom prst="rect">
            <a:avLst/>
          </a:prstGeom>
          <a:noFill/>
        </p:spPr>
        <p:txBody>
          <a:bodyPr wrap="square" lIns="0" tIns="0" rIns="0" bIns="0" anchor="t">
            <a:spAutoFit/>
          </a:bodyPr>
          <a:lstStyle/>
          <a:p>
            <a:pPr algn="l"/>
            <a:r>
              <a:rPr sz="1400" b="1" i="0">
                <a:solidFill>
                  <a:srgbClr val="FBBF24"/>
                </a:solidFill>
                <a:latin typeface="Consolas"/>
              </a:rPr>
              <a:t>CHECKPOINT 3</a:t>
            </a:r>
          </a:p>
        </p:txBody>
      </p:sp>
      <p:sp>
        <p:nvSpPr>
          <p:cNvPr id="9" name="TextBox 8"/>
          <p:cNvSpPr txBox="1"/>
          <p:nvPr/>
        </p:nvSpPr>
        <p:spPr>
          <a:xfrm>
            <a:off x="822960" y="3108960"/>
            <a:ext cx="2743200" cy="548640"/>
          </a:xfrm>
          <a:prstGeom prst="rect">
            <a:avLst/>
          </a:prstGeom>
          <a:noFill/>
        </p:spPr>
        <p:txBody>
          <a:bodyPr wrap="square" lIns="0" tIns="0" rIns="0" bIns="0" anchor="t">
            <a:spAutoFit/>
          </a:bodyPr>
          <a:lstStyle/>
          <a:p>
            <a:pPr algn="l"/>
            <a:r>
              <a:rPr sz="2600" b="1" i="0">
                <a:solidFill>
                  <a:srgbClr val="F1F5F9"/>
                </a:solidFill>
                <a:latin typeface="Consolas"/>
              </a:rPr>
              <a:t>5 minutes</a:t>
            </a:r>
          </a:p>
        </p:txBody>
      </p:sp>
      <p:sp>
        <p:nvSpPr>
          <p:cNvPr id="10" name="TextBox 9"/>
          <p:cNvSpPr txBox="1"/>
          <p:nvPr/>
        </p:nvSpPr>
        <p:spPr>
          <a:xfrm>
            <a:off x="822960" y="3840480"/>
            <a:ext cx="2743200" cy="2103120"/>
          </a:xfrm>
          <a:prstGeom prst="rect">
            <a:avLst/>
          </a:prstGeom>
          <a:noFill/>
        </p:spPr>
        <p:txBody>
          <a:bodyPr wrap="square" lIns="0" tIns="0" rIns="0" bIns="0" anchor="t">
            <a:spAutoFit/>
          </a:bodyPr>
          <a:lstStyle/>
          <a:p>
            <a:pPr algn="l"/>
            <a:r>
              <a:rPr sz="1400" b="0" i="0">
                <a:solidFill>
                  <a:srgbClr val="9FB0CC"/>
                </a:solidFill>
                <a:latin typeface="Calibri"/>
              </a:rPr>
              <a:t>Talk with a neighbour for a couple of minutes, then we share answers. Guesses are welcome: there are no wrong answers yet.</a:t>
            </a:r>
          </a:p>
        </p:txBody>
      </p:sp>
      <p:sp>
        <p:nvSpPr>
          <p:cNvPr id="11" name="Rounded Rectangle 10"/>
          <p:cNvSpPr/>
          <p:nvPr/>
        </p:nvSpPr>
        <p:spPr>
          <a:xfrm>
            <a:off x="4023360" y="141732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51960" y="164592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51960" y="164592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1</a:t>
            </a:r>
          </a:p>
        </p:txBody>
      </p:sp>
      <p:sp>
        <p:nvSpPr>
          <p:cNvPr id="14" name="TextBox 13"/>
          <p:cNvSpPr txBox="1"/>
          <p:nvPr/>
        </p:nvSpPr>
        <p:spPr>
          <a:xfrm>
            <a:off x="4983480" y="1600200"/>
            <a:ext cx="6400800" cy="777240"/>
          </a:xfrm>
          <a:prstGeom prst="rect">
            <a:avLst/>
          </a:prstGeom>
          <a:noFill/>
        </p:spPr>
        <p:txBody>
          <a:bodyPr wrap="square" lIns="0" tIns="0" rIns="0" bIns="0" anchor="t">
            <a:spAutoFit/>
          </a:bodyPr>
          <a:lstStyle/>
          <a:p>
            <a:pPr algn="l"/>
            <a:r>
              <a:rPr sz="1800" b="0" i="0">
                <a:solidFill>
                  <a:srgbClr val="F1F5F9"/>
                </a:solidFill>
                <a:latin typeface="Calibri"/>
              </a:rPr>
              <a:t>In the padlock picture, why did the outline survive ECB encryption?</a:t>
            </a:r>
          </a:p>
        </p:txBody>
      </p:sp>
      <p:sp>
        <p:nvSpPr>
          <p:cNvPr id="15" name="TextBox 14"/>
          <p:cNvSpPr txBox="1"/>
          <p:nvPr/>
        </p:nvSpPr>
        <p:spPr>
          <a:xfrm>
            <a:off x="4983480" y="242316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what happens to blocks that hold identical data?</a:t>
            </a:r>
          </a:p>
        </p:txBody>
      </p:sp>
      <p:sp>
        <p:nvSpPr>
          <p:cNvPr id="16" name="Rounded Rectangle 15"/>
          <p:cNvSpPr/>
          <p:nvPr/>
        </p:nvSpPr>
        <p:spPr>
          <a:xfrm>
            <a:off x="4023360" y="306324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51960" y="329184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329184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2</a:t>
            </a:r>
          </a:p>
        </p:txBody>
      </p:sp>
      <p:sp>
        <p:nvSpPr>
          <p:cNvPr id="19" name="TextBox 18"/>
          <p:cNvSpPr txBox="1"/>
          <p:nvPr/>
        </p:nvSpPr>
        <p:spPr>
          <a:xfrm>
            <a:off x="4983480" y="3246120"/>
            <a:ext cx="6400800" cy="777240"/>
          </a:xfrm>
          <a:prstGeom prst="rect">
            <a:avLst/>
          </a:prstGeom>
          <a:noFill/>
        </p:spPr>
        <p:txBody>
          <a:bodyPr wrap="square" lIns="0" tIns="0" rIns="0" bIns="0" anchor="t">
            <a:spAutoFit/>
          </a:bodyPr>
          <a:lstStyle/>
          <a:p>
            <a:pPr algn="l"/>
            <a:r>
              <a:rPr sz="1800" b="0" i="0">
                <a:solidFill>
                  <a:srgbClr val="F1F5F9"/>
                </a:solidFill>
                <a:latin typeface="Calibri"/>
              </a:rPr>
              <a:t>What could go wrong if you reuse a nonce with the same key?</a:t>
            </a:r>
          </a:p>
        </p:txBody>
      </p:sp>
      <p:sp>
        <p:nvSpPr>
          <p:cNvPr id="20" name="TextBox 19"/>
          <p:cNvSpPr txBox="1"/>
          <p:nvPr/>
        </p:nvSpPr>
        <p:spPr>
          <a:xfrm>
            <a:off x="4983480" y="406908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think back to the one-time pad: a key used twice.</a:t>
            </a:r>
          </a:p>
        </p:txBody>
      </p:sp>
      <p:sp>
        <p:nvSpPr>
          <p:cNvPr id="21" name="Rounded Rectangle 20"/>
          <p:cNvSpPr/>
          <p:nvPr/>
        </p:nvSpPr>
        <p:spPr>
          <a:xfrm>
            <a:off x="4023360" y="470916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251960" y="493776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51960" y="493776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3</a:t>
            </a:r>
          </a:p>
        </p:txBody>
      </p:sp>
      <p:sp>
        <p:nvSpPr>
          <p:cNvPr id="24" name="TextBox 23"/>
          <p:cNvSpPr txBox="1"/>
          <p:nvPr/>
        </p:nvSpPr>
        <p:spPr>
          <a:xfrm>
            <a:off x="4983480" y="4892040"/>
            <a:ext cx="6400800" cy="777240"/>
          </a:xfrm>
          <a:prstGeom prst="rect">
            <a:avLst/>
          </a:prstGeom>
          <a:noFill/>
        </p:spPr>
        <p:txBody>
          <a:bodyPr wrap="square" lIns="0" tIns="0" rIns="0" bIns="0" anchor="t">
            <a:spAutoFit/>
          </a:bodyPr>
          <a:lstStyle/>
          <a:p>
            <a:pPr algn="l"/>
            <a:r>
              <a:rPr sz="1800" b="0" i="0">
                <a:solidFill>
                  <a:srgbClr val="F1F5F9"/>
                </a:solidFill>
                <a:latin typeface="Calibri"/>
              </a:rPr>
              <a:t>AES needs both sides to share a secret key. How could two strangers agree on one safely?</a:t>
            </a:r>
          </a:p>
        </p:txBody>
      </p:sp>
      <p:sp>
        <p:nvSpPr>
          <p:cNvPr id="25" name="TextBox 24"/>
          <p:cNvSpPr txBox="1"/>
          <p:nvPr/>
        </p:nvSpPr>
        <p:spPr>
          <a:xfrm>
            <a:off x="4983480" y="571500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this puzzle leads into the next part.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ASYMMETRIC 01</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RSA vs ECC</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26</a:t>
            </a:r>
            <a:endParaRPr lang="en-US" sz="1000" dirty="0"/>
          </a:p>
        </p:txBody>
      </p:sp>
      <p:sp>
        <p:nvSpPr>
          <p:cNvPr id="6" name="Shape 4"/>
          <p:cNvSpPr/>
          <p:nvPr/>
        </p:nvSpPr>
        <p:spPr>
          <a:xfrm>
            <a:off x="548640" y="1417320"/>
            <a:ext cx="6400800" cy="4709160"/>
          </a:xfrm>
          <a:prstGeom prst="roundRect">
            <a:avLst>
              <a:gd name="adj" fmla="val 1553"/>
            </a:avLst>
          </a:prstGeom>
          <a:solidFill>
            <a:srgbClr val="111A2F"/>
          </a:solidFill>
          <a:ln w="12700">
            <a:solidFill>
              <a:srgbClr val="2A3E68"/>
            </a:solidFill>
            <a:prstDash val="solid"/>
          </a:ln>
        </p:spPr>
      </p:sp>
      <p:graphicFrame>
        <p:nvGraphicFramePr>
          <p:cNvPr id="7" name="Chart 0"/>
          <p:cNvGraphicFramePr/>
          <p:nvPr>
            <p:extLst>
              <p:ext uri="{D42A27DB-BD31-4B8C-83A1-F6EECF244321}">
                <p14:modId xmlns:p14="http://schemas.microsoft.com/office/powerpoint/2010/main" val="3632400791"/>
              </p:ext>
            </p:extLst>
          </p:nvPr>
        </p:nvGraphicFramePr>
        <p:xfrm>
          <a:off x="731520" y="1554480"/>
          <a:ext cx="603504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178040" y="1417320"/>
            <a:ext cx="4462272" cy="2240280"/>
          </a:xfrm>
          <a:prstGeom prst="roundRect">
            <a:avLst>
              <a:gd name="adj" fmla="val 3265"/>
            </a:avLst>
          </a:prstGeom>
          <a:solidFill>
            <a:srgbClr val="111A2F"/>
          </a:solidFill>
          <a:ln w="12700">
            <a:solidFill>
              <a:srgbClr val="2A3E68"/>
            </a:solidFill>
            <a:prstDash val="solid"/>
          </a:ln>
        </p:spPr>
      </p:sp>
      <p:sp>
        <p:nvSpPr>
          <p:cNvPr id="9" name="Text 6"/>
          <p:cNvSpPr/>
          <p:nvPr/>
        </p:nvSpPr>
        <p:spPr>
          <a:xfrm>
            <a:off x="7406640" y="1527048"/>
            <a:ext cx="4023360" cy="274320"/>
          </a:xfrm>
          <a:prstGeom prst="rect">
            <a:avLst/>
          </a:prstGeom>
          <a:noFill/>
          <a:ln/>
        </p:spPr>
        <p:txBody>
          <a:bodyPr wrap="square" lIns="0" tIns="0" rIns="0" bIns="0" rtlCol="0" anchor="t"/>
          <a:lstStyle/>
          <a:p>
            <a:pPr marL="0" indent="0">
              <a:buNone/>
            </a:pPr>
            <a:r>
              <a:rPr lang="en-US" sz="1800" b="1" dirty="0">
                <a:solidFill>
                  <a:srgbClr val="FBBF24"/>
                </a:solidFill>
                <a:latin typeface="Consolas" pitchFamily="34" charset="0"/>
                <a:ea typeface="Consolas" pitchFamily="34" charset="-122"/>
                <a:cs typeface="Consolas" pitchFamily="34" charset="-120"/>
              </a:rPr>
              <a:t>RSA</a:t>
            </a:r>
            <a:endParaRPr lang="en-US" sz="1800" dirty="0"/>
          </a:p>
        </p:txBody>
      </p:sp>
      <p:sp>
        <p:nvSpPr>
          <p:cNvPr id="10" name="Text 7"/>
          <p:cNvSpPr/>
          <p:nvPr/>
        </p:nvSpPr>
        <p:spPr>
          <a:xfrm>
            <a:off x="7406640" y="1874520"/>
            <a:ext cx="4023360" cy="27432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Hard problem: factoring </a:t>
            </a:r>
            <a:r>
              <a:rPr lang="en-US" sz="1300">
                <a:solidFill>
                  <a:srgbClr val="9FB0CC"/>
                </a:solidFill>
                <a:latin typeface="Calibri" pitchFamily="34" charset="0"/>
                <a:ea typeface="Calibri" pitchFamily="34" charset="-122"/>
                <a:cs typeface="Calibri" pitchFamily="34" charset="-120"/>
              </a:rPr>
              <a:t>a huge number</a:t>
            </a:r>
            <a:endParaRPr lang="en-US" sz="1300" dirty="0"/>
          </a:p>
        </p:txBody>
      </p:sp>
      <p:sp>
        <p:nvSpPr>
          <p:cNvPr id="11" name="Text 8"/>
          <p:cNvSpPr/>
          <p:nvPr/>
        </p:nvSpPr>
        <p:spPr>
          <a:xfrm>
            <a:off x="7406640" y="2240280"/>
            <a:ext cx="4023360" cy="1371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Simple idea, supported everywhere</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Large keys (2048 to 3072 bits), slow </a:t>
            </a:r>
            <a:r>
              <a:rPr lang="en-US" sz="1300">
                <a:solidFill>
                  <a:srgbClr val="F1F5F9"/>
                </a:solidFill>
                <a:latin typeface="Calibri" pitchFamily="34" charset="0"/>
                <a:ea typeface="Calibri" pitchFamily="34" charset="-122"/>
                <a:cs typeface="Calibri" pitchFamily="34" charset="-120"/>
              </a:rPr>
              <a:t>to generate</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Keys must keep growing as attacks improve</a:t>
            </a:r>
            <a:endParaRPr lang="en-US" sz="1300" dirty="0"/>
          </a:p>
        </p:txBody>
      </p:sp>
      <p:sp>
        <p:nvSpPr>
          <p:cNvPr id="12" name="Shape 9"/>
          <p:cNvSpPr/>
          <p:nvPr/>
        </p:nvSpPr>
        <p:spPr>
          <a:xfrm>
            <a:off x="7178040" y="3886200"/>
            <a:ext cx="4462272" cy="2240280"/>
          </a:xfrm>
          <a:prstGeom prst="roundRect">
            <a:avLst>
              <a:gd name="adj" fmla="val 3265"/>
            </a:avLst>
          </a:prstGeom>
          <a:solidFill>
            <a:srgbClr val="111A2F"/>
          </a:solidFill>
          <a:ln w="12700">
            <a:solidFill>
              <a:srgbClr val="2A3E68"/>
            </a:solidFill>
            <a:prstDash val="solid"/>
          </a:ln>
        </p:spPr>
      </p:sp>
      <p:sp>
        <p:nvSpPr>
          <p:cNvPr id="13" name="Text 10"/>
          <p:cNvSpPr/>
          <p:nvPr/>
        </p:nvSpPr>
        <p:spPr>
          <a:xfrm>
            <a:off x="7406640" y="3995928"/>
            <a:ext cx="4023360" cy="274320"/>
          </a:xfrm>
          <a:prstGeom prst="rect">
            <a:avLst/>
          </a:prstGeom>
          <a:noFill/>
          <a:ln/>
        </p:spPr>
        <p:txBody>
          <a:bodyPr wrap="square" lIns="0" tIns="0" rIns="0" bIns="0" rtlCol="0" anchor="t"/>
          <a:lstStyle/>
          <a:p>
            <a:pPr marL="0" indent="0">
              <a:buNone/>
            </a:pPr>
            <a:r>
              <a:rPr lang="en-US" sz="1800" b="1" dirty="0">
                <a:solidFill>
                  <a:srgbClr val="22D3EE"/>
                </a:solidFill>
                <a:latin typeface="Consolas" pitchFamily="34" charset="0"/>
                <a:ea typeface="Consolas" pitchFamily="34" charset="-122"/>
                <a:cs typeface="Consolas" pitchFamily="34" charset="-120"/>
              </a:rPr>
              <a:t>ECC</a:t>
            </a:r>
            <a:endParaRPr lang="en-US" sz="1800" dirty="0"/>
          </a:p>
        </p:txBody>
      </p:sp>
      <p:sp>
        <p:nvSpPr>
          <p:cNvPr id="14" name="Text 11"/>
          <p:cNvSpPr/>
          <p:nvPr/>
        </p:nvSpPr>
        <p:spPr>
          <a:xfrm>
            <a:off x="7406640" y="4343400"/>
            <a:ext cx="4023360" cy="27432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Hard problem: </a:t>
            </a:r>
            <a:r>
              <a:rPr lang="en-US" sz="1300">
                <a:solidFill>
                  <a:srgbClr val="9FB0CC"/>
                </a:solidFill>
                <a:latin typeface="Calibri" pitchFamily="34" charset="0"/>
                <a:ea typeface="Calibri" pitchFamily="34" charset="-122"/>
                <a:cs typeface="Calibri" pitchFamily="34" charset="-120"/>
              </a:rPr>
              <a:t>reversing curve point math</a:t>
            </a:r>
            <a:endParaRPr lang="en-US" sz="1300" dirty="0"/>
          </a:p>
        </p:txBody>
      </p:sp>
      <p:sp>
        <p:nvSpPr>
          <p:cNvPr id="15" name="Text 12"/>
          <p:cNvSpPr/>
          <p:nvPr/>
        </p:nvSpPr>
        <p:spPr>
          <a:xfrm>
            <a:off x="7406640" y="4709160"/>
            <a:ext cx="4023360" cy="1371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Small, fast keys: 256 bits is about </a:t>
            </a:r>
            <a:r>
              <a:rPr lang="en-US" sz="1300">
                <a:solidFill>
                  <a:srgbClr val="F1F5F9"/>
                </a:solidFill>
                <a:latin typeface="Calibri" pitchFamily="34" charset="0"/>
                <a:ea typeface="Calibri" pitchFamily="34" charset="-122"/>
                <a:cs typeface="Calibri" pitchFamily="34" charset="-120"/>
              </a:rPr>
              <a:t>as strong as </a:t>
            </a:r>
            <a:r>
              <a:rPr lang="en-US" sz="1300" dirty="0">
                <a:solidFill>
                  <a:srgbClr val="F1F5F9"/>
                </a:solidFill>
                <a:latin typeface="Calibri" pitchFamily="34" charset="0"/>
                <a:ea typeface="Calibri" pitchFamily="34" charset="-122"/>
                <a:cs typeface="Calibri" pitchFamily="34" charset="-120"/>
              </a:rPr>
              <a:t>RSA-3072</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Great for </a:t>
            </a:r>
            <a:r>
              <a:rPr lang="en-US" sz="1300">
                <a:solidFill>
                  <a:srgbClr val="F1F5F9"/>
                </a:solidFill>
                <a:latin typeface="Calibri" pitchFamily="34" charset="0"/>
                <a:ea typeface="Calibri" pitchFamily="34" charset="-122"/>
                <a:cs typeface="Calibri" pitchFamily="34" charset="-120"/>
              </a:rPr>
              <a:t>phones</a:t>
            </a:r>
            <a:r>
              <a:rPr lang="en-US" sz="1300" dirty="0">
                <a:solidFill>
                  <a:srgbClr val="F1F5F9"/>
                </a:solidFill>
                <a:latin typeface="Calibri" pitchFamily="34" charset="0"/>
                <a:ea typeface="Calibri" pitchFamily="34" charset="-122"/>
                <a:cs typeface="Calibri" pitchFamily="34" charset="-120"/>
              </a:rPr>
              <a:t>, IoT </a:t>
            </a:r>
            <a:r>
              <a:rPr lang="en-US" sz="1300">
                <a:solidFill>
                  <a:srgbClr val="F1F5F9"/>
                </a:solidFill>
                <a:latin typeface="Calibri" pitchFamily="34" charset="0"/>
                <a:ea typeface="Calibri" pitchFamily="34" charset="-122"/>
                <a:cs typeface="Calibri" pitchFamily="34" charset="-120"/>
              </a:rPr>
              <a:t>devices </a:t>
            </a:r>
            <a:r>
              <a:rPr lang="en-US" sz="1300" dirty="0">
                <a:solidFill>
                  <a:srgbClr val="F1F5F9"/>
                </a:solidFill>
                <a:latin typeface="Calibri" pitchFamily="34" charset="0"/>
                <a:ea typeface="Calibri" pitchFamily="34" charset="-122"/>
                <a:cs typeface="Calibri" pitchFamily="34" charset="-120"/>
              </a:rPr>
              <a:t>and </a:t>
            </a:r>
            <a:r>
              <a:rPr lang="en-US" sz="1300">
                <a:solidFill>
                  <a:srgbClr val="F1F5F9"/>
                </a:solidFill>
                <a:latin typeface="Calibri" pitchFamily="34" charset="0"/>
                <a:ea typeface="Calibri" pitchFamily="34" charset="-122"/>
                <a:cs typeface="Calibri" pitchFamily="34" charset="-120"/>
              </a:rPr>
              <a:t>web connections</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Easy to get wrong</a:t>
            </a:r>
            <a:r>
              <a:rPr lang="en-US" sz="1300" dirty="0">
                <a:solidFill>
                  <a:srgbClr val="F1F5F9"/>
                </a:solidFill>
                <a:latin typeface="Calibri" pitchFamily="34" charset="0"/>
                <a:ea typeface="Calibri" pitchFamily="34" charset="-122"/>
                <a:cs typeface="Calibri" pitchFamily="34" charset="-120"/>
              </a:rPr>
              <a:t>: bad curves, </a:t>
            </a:r>
            <a:r>
              <a:rPr lang="en-US" sz="1300">
                <a:solidFill>
                  <a:srgbClr val="F1F5F9"/>
                </a:solidFill>
                <a:latin typeface="Calibri" pitchFamily="34" charset="0"/>
                <a:ea typeface="Calibri" pitchFamily="34" charset="-122"/>
                <a:cs typeface="Calibri" pitchFamily="34" charset="-120"/>
              </a:rPr>
              <a:t>reused random numbers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ASYMMETRIC 02</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RSA with</a:t>
            </a:r>
            <a:r>
              <a:rPr lang="en-US" sz="2800" b="1">
                <a:solidFill>
                  <a:srgbClr val="F1F5F9"/>
                </a:solidFill>
                <a:latin typeface="Consolas" pitchFamily="34" charset="0"/>
                <a:ea typeface="Consolas" pitchFamily="34" charset="-122"/>
                <a:cs typeface="Consolas" pitchFamily="34" charset="-120"/>
              </a:rPr>
              <a:t> small</a:t>
            </a:r>
            <a:r>
              <a:rPr lang="en-US" sz="2800" b="1" dirty="0">
                <a:solidFill>
                  <a:srgbClr val="F1F5F9"/>
                </a:solidFill>
                <a:latin typeface="Consolas" pitchFamily="34" charset="0"/>
                <a:ea typeface="Consolas" pitchFamily="34" charset="-122"/>
                <a:cs typeface="Consolas" pitchFamily="34" charset="-120"/>
              </a:rPr>
              <a:t> real numbers</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27</a:t>
            </a:r>
            <a:endParaRPr lang="en-US" sz="1000" dirty="0"/>
          </a:p>
        </p:txBody>
      </p:sp>
      <p:sp>
        <p:nvSpPr>
          <p:cNvPr id="6" name="Shape 4"/>
          <p:cNvSpPr/>
          <p:nvPr/>
        </p:nvSpPr>
        <p:spPr>
          <a:xfrm>
            <a:off x="548640" y="1417320"/>
            <a:ext cx="6035040" cy="1051560"/>
          </a:xfrm>
          <a:prstGeom prst="roundRect">
            <a:avLst>
              <a:gd name="adj" fmla="val 6957"/>
            </a:avLst>
          </a:prstGeom>
          <a:solidFill>
            <a:srgbClr val="111A2F"/>
          </a:solidFill>
          <a:ln w="12700">
            <a:solidFill>
              <a:srgbClr val="2A3E68"/>
            </a:solidFill>
            <a:prstDash val="solid"/>
          </a:ln>
        </p:spPr>
      </p:sp>
      <p:sp>
        <p:nvSpPr>
          <p:cNvPr id="7" name="Text 5"/>
          <p:cNvSpPr/>
          <p:nvPr/>
        </p:nvSpPr>
        <p:spPr>
          <a:xfrm>
            <a:off x="777240" y="1527048"/>
            <a:ext cx="557784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1  Pick two </a:t>
            </a:r>
            <a:r>
              <a:rPr lang="en-US" sz="1400" b="1">
                <a:solidFill>
                  <a:srgbClr val="22D3EE"/>
                </a:solidFill>
                <a:latin typeface="Consolas" pitchFamily="34" charset="0"/>
                <a:ea typeface="Consolas" pitchFamily="34" charset="-122"/>
                <a:cs typeface="Consolas" pitchFamily="34" charset="-120"/>
              </a:rPr>
              <a:t>prime numbers</a:t>
            </a:r>
            <a:endParaRPr lang="en-US" sz="1400" dirty="0"/>
          </a:p>
        </p:txBody>
      </p:sp>
      <p:sp>
        <p:nvSpPr>
          <p:cNvPr id="8" name="Text 6"/>
          <p:cNvSpPr/>
          <p:nvPr/>
        </p:nvSpPr>
        <p:spPr>
          <a:xfrm>
            <a:off x="777240" y="1874520"/>
            <a:ext cx="5577840" cy="548640"/>
          </a:xfrm>
          <a:prstGeom prst="rect">
            <a:avLst/>
          </a:prstGeom>
          <a:noFill/>
          <a:ln/>
        </p:spPr>
        <p:txBody>
          <a:bodyPr wrap="square" lIns="0" tIns="0" rIns="0" bIns="0" rtlCol="0" anchor="t"/>
          <a:lstStyle/>
          <a:p>
            <a:pPr marL="0" indent="0">
              <a:buNone/>
            </a:pPr>
            <a:r>
              <a:rPr lang="en-US" sz="1400" dirty="0">
                <a:solidFill>
                  <a:srgbClr val="F1F5F9"/>
                </a:solidFill>
                <a:latin typeface="Calibri" pitchFamily="34" charset="0"/>
                <a:ea typeface="Calibri" pitchFamily="34" charset="-122"/>
                <a:cs typeface="Calibri" pitchFamily="34" charset="-120"/>
              </a:rPr>
              <a:t>p = 61, q = 53</a:t>
            </a:r>
            <a:r>
              <a:rPr lang="en-US" sz="1400">
                <a:solidFill>
                  <a:srgbClr val="F1F5F9"/>
                </a:solidFill>
                <a:latin typeface="Calibri" pitchFamily="34" charset="0"/>
                <a:ea typeface="Calibri" pitchFamily="34" charset="-122"/>
                <a:cs typeface="Calibri" pitchFamily="34" charset="-120"/>
              </a:rPr>
              <a:t>. Multiply them: </a:t>
            </a:r>
            <a:r>
              <a:rPr lang="en-US" sz="1400" dirty="0">
                <a:solidFill>
                  <a:srgbClr val="F1F5F9"/>
                </a:solidFill>
                <a:latin typeface="Calibri" pitchFamily="34" charset="0"/>
                <a:ea typeface="Calibri" pitchFamily="34" charset="-122"/>
                <a:cs typeface="Calibri" pitchFamily="34" charset="-120"/>
              </a:rPr>
              <a:t>n = 3233</a:t>
            </a:r>
            <a:endParaRPr lang="en-US" sz="1400" dirty="0"/>
          </a:p>
        </p:txBody>
      </p:sp>
      <p:sp>
        <p:nvSpPr>
          <p:cNvPr id="9" name="Shape 7"/>
          <p:cNvSpPr/>
          <p:nvPr/>
        </p:nvSpPr>
        <p:spPr>
          <a:xfrm>
            <a:off x="548640" y="2606040"/>
            <a:ext cx="6035040" cy="1051560"/>
          </a:xfrm>
          <a:prstGeom prst="roundRect">
            <a:avLst>
              <a:gd name="adj" fmla="val 6957"/>
            </a:avLst>
          </a:prstGeom>
          <a:solidFill>
            <a:srgbClr val="111A2F"/>
          </a:solidFill>
          <a:ln w="12700">
            <a:solidFill>
              <a:srgbClr val="2A3E68"/>
            </a:solidFill>
            <a:prstDash val="solid"/>
          </a:ln>
        </p:spPr>
      </p:sp>
      <p:sp>
        <p:nvSpPr>
          <p:cNvPr id="10" name="Text 8"/>
          <p:cNvSpPr/>
          <p:nvPr/>
        </p:nvSpPr>
        <p:spPr>
          <a:xfrm>
            <a:off x="777240" y="2715768"/>
            <a:ext cx="557784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2  </a:t>
            </a:r>
            <a:r>
              <a:rPr lang="en-US" sz="1400" b="1">
                <a:solidFill>
                  <a:srgbClr val="22D3EE"/>
                </a:solidFill>
                <a:latin typeface="Consolas" pitchFamily="34" charset="0"/>
                <a:ea typeface="Consolas" pitchFamily="34" charset="-122"/>
                <a:cs typeface="Consolas" pitchFamily="34" charset="-120"/>
              </a:rPr>
              <a:t>Work out a helper number</a:t>
            </a:r>
            <a:endParaRPr lang="en-US" sz="1400" dirty="0"/>
          </a:p>
        </p:txBody>
      </p:sp>
      <p:sp>
        <p:nvSpPr>
          <p:cNvPr id="11" name="Text 9"/>
          <p:cNvSpPr/>
          <p:nvPr/>
        </p:nvSpPr>
        <p:spPr>
          <a:xfrm>
            <a:off x="777240" y="3063240"/>
            <a:ext cx="5577840" cy="548640"/>
          </a:xfrm>
          <a:prstGeom prst="rect">
            <a:avLst/>
          </a:prstGeom>
          <a:noFill/>
          <a:ln/>
        </p:spPr>
        <p:txBody>
          <a:bodyPr wrap="square" lIns="0" tIns="0" rIns="0" bIns="0" rtlCol="0" anchor="t"/>
          <a:lstStyle/>
          <a:p>
            <a:pPr marL="0" indent="0">
              <a:buNone/>
            </a:pPr>
            <a:r>
              <a:rPr lang="en-US" sz="1400" dirty="0">
                <a:solidFill>
                  <a:srgbClr val="F1F5F9"/>
                </a:solidFill>
                <a:latin typeface="Calibri" pitchFamily="34" charset="0"/>
                <a:ea typeface="Calibri" pitchFamily="34" charset="-122"/>
                <a:cs typeface="Calibri" pitchFamily="34" charset="-120"/>
              </a:rPr>
              <a:t>(p − 1)(q − 1) = 60 × 52 = 3120</a:t>
            </a:r>
            <a:endParaRPr lang="en-US" sz="1400" dirty="0"/>
          </a:p>
        </p:txBody>
      </p:sp>
      <p:sp>
        <p:nvSpPr>
          <p:cNvPr id="12" name="Shape 10"/>
          <p:cNvSpPr/>
          <p:nvPr/>
        </p:nvSpPr>
        <p:spPr>
          <a:xfrm>
            <a:off x="548640" y="3794760"/>
            <a:ext cx="6035040" cy="1051560"/>
          </a:xfrm>
          <a:prstGeom prst="roundRect">
            <a:avLst>
              <a:gd name="adj" fmla="val 6957"/>
            </a:avLst>
          </a:prstGeom>
          <a:solidFill>
            <a:srgbClr val="111A2F"/>
          </a:solidFill>
          <a:ln w="12700">
            <a:solidFill>
              <a:srgbClr val="2A3E68"/>
            </a:solidFill>
            <a:prstDash val="solid"/>
          </a:ln>
        </p:spPr>
      </p:sp>
      <p:sp>
        <p:nvSpPr>
          <p:cNvPr id="13" name="Text 11"/>
          <p:cNvSpPr/>
          <p:nvPr/>
        </p:nvSpPr>
        <p:spPr>
          <a:xfrm>
            <a:off x="777240" y="3904488"/>
            <a:ext cx="5577840" cy="274320"/>
          </a:xfrm>
          <a:prstGeom prst="rect">
            <a:avLst/>
          </a:prstGeom>
          <a:noFill/>
          <a:ln/>
        </p:spPr>
        <p:txBody>
          <a:bodyPr wrap="square" lIns="0" tIns="0" rIns="0" bIns="0" rtlCol="0" anchor="t"/>
          <a:lstStyle/>
          <a:p>
            <a:pPr marL="0" indent="0">
              <a:buNone/>
            </a:pPr>
            <a:r>
              <a:rPr lang="en-US" sz="1400" b="1" dirty="0">
                <a:solidFill>
                  <a:srgbClr val="4ADE80"/>
                </a:solidFill>
                <a:latin typeface="Consolas" pitchFamily="34" charset="0"/>
                <a:ea typeface="Consolas" pitchFamily="34" charset="-122"/>
                <a:cs typeface="Consolas" pitchFamily="34" charset="-120"/>
              </a:rPr>
              <a:t>3  </a:t>
            </a:r>
            <a:r>
              <a:rPr lang="en-US" sz="1400" b="1">
                <a:solidFill>
                  <a:srgbClr val="4ADE80"/>
                </a:solidFill>
                <a:latin typeface="Consolas" pitchFamily="34" charset="0"/>
                <a:ea typeface="Consolas" pitchFamily="34" charset="-122"/>
                <a:cs typeface="Consolas" pitchFamily="34" charset="-120"/>
              </a:rPr>
              <a:t>Pick the </a:t>
            </a:r>
            <a:r>
              <a:rPr lang="en-US" sz="1400" b="1" dirty="0">
                <a:solidFill>
                  <a:srgbClr val="4ADE80"/>
                </a:solidFill>
                <a:latin typeface="Consolas" pitchFamily="34" charset="0"/>
                <a:ea typeface="Consolas" pitchFamily="34" charset="-122"/>
                <a:cs typeface="Consolas" pitchFamily="34" charset="-120"/>
              </a:rPr>
              <a:t>public </a:t>
            </a:r>
            <a:r>
              <a:rPr lang="en-US" sz="1400" b="1">
                <a:solidFill>
                  <a:srgbClr val="4ADE80"/>
                </a:solidFill>
                <a:latin typeface="Consolas" pitchFamily="34" charset="0"/>
                <a:ea typeface="Consolas" pitchFamily="34" charset="-122"/>
                <a:cs typeface="Consolas" pitchFamily="34" charset="-120"/>
              </a:rPr>
              <a:t>number e</a:t>
            </a:r>
            <a:endParaRPr lang="en-US" sz="1400" dirty="0"/>
          </a:p>
        </p:txBody>
      </p:sp>
      <p:sp>
        <p:nvSpPr>
          <p:cNvPr id="14" name="Text 12"/>
          <p:cNvSpPr/>
          <p:nvPr/>
        </p:nvSpPr>
        <p:spPr>
          <a:xfrm>
            <a:off x="777240" y="4251960"/>
            <a:ext cx="5577840" cy="548640"/>
          </a:xfrm>
          <a:prstGeom prst="rect">
            <a:avLst/>
          </a:prstGeom>
          <a:noFill/>
          <a:ln/>
        </p:spPr>
        <p:txBody>
          <a:bodyPr wrap="square" lIns="0" tIns="0" rIns="0" bIns="0" rtlCol="0" anchor="t"/>
          <a:lstStyle/>
          <a:p>
            <a:pPr marL="0" indent="0">
              <a:buNone/>
            </a:pPr>
            <a:r>
              <a:rPr lang="en-US" sz="1400" dirty="0">
                <a:solidFill>
                  <a:srgbClr val="F1F5F9"/>
                </a:solidFill>
                <a:latin typeface="Calibri" pitchFamily="34" charset="0"/>
                <a:ea typeface="Calibri" pitchFamily="34" charset="-122"/>
                <a:cs typeface="Calibri" pitchFamily="34" charset="-120"/>
              </a:rPr>
              <a:t>e = 17 (</a:t>
            </a:r>
            <a:r>
              <a:rPr lang="en-US" sz="1400">
                <a:solidFill>
                  <a:srgbClr val="F1F5F9"/>
                </a:solidFill>
                <a:latin typeface="Calibri" pitchFamily="34" charset="0"/>
                <a:ea typeface="Calibri" pitchFamily="34" charset="-122"/>
                <a:cs typeface="Calibri" pitchFamily="34" charset="-120"/>
              </a:rPr>
              <a:t>shares no factors with </a:t>
            </a:r>
            <a:r>
              <a:rPr lang="en-US" sz="1400" dirty="0">
                <a:solidFill>
                  <a:srgbClr val="F1F5F9"/>
                </a:solidFill>
                <a:latin typeface="Calibri" pitchFamily="34" charset="0"/>
                <a:ea typeface="Calibri" pitchFamily="34" charset="-122"/>
                <a:cs typeface="Calibri" pitchFamily="34" charset="-120"/>
              </a:rPr>
              <a:t>3120). Public key = (3233, 17)</a:t>
            </a:r>
            <a:endParaRPr lang="en-US" sz="1400" dirty="0"/>
          </a:p>
        </p:txBody>
      </p:sp>
      <p:sp>
        <p:nvSpPr>
          <p:cNvPr id="15" name="Shape 13"/>
          <p:cNvSpPr/>
          <p:nvPr/>
        </p:nvSpPr>
        <p:spPr>
          <a:xfrm>
            <a:off x="548640" y="4983480"/>
            <a:ext cx="6035040" cy="1051560"/>
          </a:xfrm>
          <a:prstGeom prst="roundRect">
            <a:avLst>
              <a:gd name="adj" fmla="val 6957"/>
            </a:avLst>
          </a:prstGeom>
          <a:solidFill>
            <a:srgbClr val="111A2F"/>
          </a:solidFill>
          <a:ln w="12700">
            <a:solidFill>
              <a:srgbClr val="2A3E68"/>
            </a:solidFill>
            <a:prstDash val="solid"/>
          </a:ln>
        </p:spPr>
      </p:sp>
      <p:sp>
        <p:nvSpPr>
          <p:cNvPr id="16" name="Text 14"/>
          <p:cNvSpPr/>
          <p:nvPr/>
        </p:nvSpPr>
        <p:spPr>
          <a:xfrm>
            <a:off x="777240" y="5093208"/>
            <a:ext cx="5577840" cy="274320"/>
          </a:xfrm>
          <a:prstGeom prst="rect">
            <a:avLst/>
          </a:prstGeom>
          <a:noFill/>
          <a:ln/>
        </p:spPr>
        <p:txBody>
          <a:bodyPr wrap="square" lIns="0" tIns="0" rIns="0" bIns="0" rtlCol="0" anchor="t"/>
          <a:lstStyle/>
          <a:p>
            <a:pPr marL="0" indent="0">
              <a:buNone/>
            </a:pPr>
            <a:r>
              <a:rPr lang="en-US" sz="1400" b="1" dirty="0">
                <a:solidFill>
                  <a:srgbClr val="FBBF24"/>
                </a:solidFill>
                <a:latin typeface="Consolas" pitchFamily="34" charset="0"/>
                <a:ea typeface="Consolas" pitchFamily="34" charset="-122"/>
                <a:cs typeface="Consolas" pitchFamily="34" charset="-120"/>
              </a:rPr>
              <a:t>4  Find the private </a:t>
            </a:r>
            <a:r>
              <a:rPr lang="en-US" sz="1400" b="1">
                <a:solidFill>
                  <a:srgbClr val="FBBF24"/>
                </a:solidFill>
                <a:latin typeface="Consolas" pitchFamily="34" charset="0"/>
                <a:ea typeface="Consolas" pitchFamily="34" charset="-122"/>
                <a:cs typeface="Consolas" pitchFamily="34" charset="-120"/>
              </a:rPr>
              <a:t>number d</a:t>
            </a:r>
            <a:endParaRPr lang="en-US" sz="1400" dirty="0"/>
          </a:p>
        </p:txBody>
      </p:sp>
      <p:sp>
        <p:nvSpPr>
          <p:cNvPr id="17" name="Text 15"/>
          <p:cNvSpPr/>
          <p:nvPr/>
        </p:nvSpPr>
        <p:spPr>
          <a:xfrm>
            <a:off x="777240" y="5440680"/>
            <a:ext cx="5577840" cy="548640"/>
          </a:xfrm>
          <a:prstGeom prst="rect">
            <a:avLst/>
          </a:prstGeom>
          <a:noFill/>
          <a:ln/>
        </p:spPr>
        <p:txBody>
          <a:bodyPr wrap="square" lIns="0" tIns="0" rIns="0" bIns="0" rtlCol="0" anchor="t"/>
          <a:lstStyle/>
          <a:p>
            <a:pPr marL="0" indent="0">
              <a:buNone/>
            </a:pPr>
            <a:r>
              <a:rPr lang="en-US" sz="1400">
                <a:solidFill>
                  <a:srgbClr val="F1F5F9"/>
                </a:solidFill>
                <a:latin typeface="Calibri" pitchFamily="34" charset="0"/>
                <a:ea typeface="Calibri" pitchFamily="34" charset="-122"/>
                <a:cs typeface="Calibri" pitchFamily="34" charset="-120"/>
              </a:rPr>
              <a:t>d = 2753, because </a:t>
            </a:r>
            <a:r>
              <a:rPr lang="en-US" sz="1400" dirty="0">
                <a:solidFill>
                  <a:srgbClr val="F1F5F9"/>
                </a:solidFill>
                <a:latin typeface="Calibri" pitchFamily="34" charset="0"/>
                <a:ea typeface="Calibri" pitchFamily="34" charset="-122"/>
                <a:cs typeface="Calibri" pitchFamily="34" charset="-120"/>
              </a:rPr>
              <a:t>17 × 2753 </a:t>
            </a:r>
            <a:r>
              <a:rPr lang="en-US" sz="1400">
                <a:solidFill>
                  <a:srgbClr val="F1F5F9"/>
                </a:solidFill>
                <a:latin typeface="Calibri" pitchFamily="34" charset="0"/>
                <a:ea typeface="Calibri" pitchFamily="34" charset="-122"/>
                <a:cs typeface="Calibri" pitchFamily="34" charset="-120"/>
              </a:rPr>
              <a:t>is one more than a multiple of </a:t>
            </a:r>
            <a:r>
              <a:rPr lang="en-US" sz="1400" dirty="0">
                <a:solidFill>
                  <a:srgbClr val="F1F5F9"/>
                </a:solidFill>
                <a:latin typeface="Calibri" pitchFamily="34" charset="0"/>
                <a:ea typeface="Calibri" pitchFamily="34" charset="-122"/>
                <a:cs typeface="Calibri" pitchFamily="34" charset="-120"/>
              </a:rPr>
              <a:t>3120</a:t>
            </a:r>
            <a:endParaRPr lang="en-US" sz="1400" dirty="0"/>
          </a:p>
        </p:txBody>
      </p:sp>
      <p:sp>
        <p:nvSpPr>
          <p:cNvPr id="18" name="Shape 16"/>
          <p:cNvSpPr/>
          <p:nvPr/>
        </p:nvSpPr>
        <p:spPr>
          <a:xfrm>
            <a:off x="6812280" y="1417320"/>
            <a:ext cx="4828032" cy="2514600"/>
          </a:xfrm>
          <a:prstGeom prst="roundRect">
            <a:avLst>
              <a:gd name="adj" fmla="val 2909"/>
            </a:avLst>
          </a:prstGeom>
          <a:solidFill>
            <a:srgbClr val="070B14"/>
          </a:solidFill>
          <a:ln w="12700">
            <a:solidFill>
              <a:srgbClr val="2A3E68"/>
            </a:solidFill>
            <a:prstDash val="solid"/>
          </a:ln>
        </p:spPr>
      </p:sp>
      <p:sp>
        <p:nvSpPr>
          <p:cNvPr id="19" name="Shape 17"/>
          <p:cNvSpPr/>
          <p:nvPr/>
        </p:nvSpPr>
        <p:spPr>
          <a:xfrm>
            <a:off x="6976872" y="1545336"/>
            <a:ext cx="100584" cy="100584"/>
          </a:xfrm>
          <a:prstGeom prst="ellipse">
            <a:avLst/>
          </a:prstGeom>
          <a:solidFill>
            <a:srgbClr val="F87171"/>
          </a:solidFill>
          <a:ln w="12700">
            <a:solidFill>
              <a:srgbClr val="F87171"/>
            </a:solidFill>
            <a:prstDash val="solid"/>
          </a:ln>
        </p:spPr>
      </p:sp>
      <p:sp>
        <p:nvSpPr>
          <p:cNvPr id="20" name="Shape 18"/>
          <p:cNvSpPr/>
          <p:nvPr/>
        </p:nvSpPr>
        <p:spPr>
          <a:xfrm>
            <a:off x="7159752" y="1545336"/>
            <a:ext cx="100584" cy="100584"/>
          </a:xfrm>
          <a:prstGeom prst="ellipse">
            <a:avLst/>
          </a:prstGeom>
          <a:solidFill>
            <a:srgbClr val="FBBF24"/>
          </a:solidFill>
          <a:ln w="12700">
            <a:solidFill>
              <a:srgbClr val="FBBF24"/>
            </a:solidFill>
            <a:prstDash val="solid"/>
          </a:ln>
        </p:spPr>
      </p:sp>
      <p:sp>
        <p:nvSpPr>
          <p:cNvPr id="21" name="Shape 19"/>
          <p:cNvSpPr/>
          <p:nvPr/>
        </p:nvSpPr>
        <p:spPr>
          <a:xfrm>
            <a:off x="7342632" y="1545336"/>
            <a:ext cx="100584" cy="100584"/>
          </a:xfrm>
          <a:prstGeom prst="ellipse">
            <a:avLst/>
          </a:prstGeom>
          <a:solidFill>
            <a:srgbClr val="4ADE80"/>
          </a:solidFill>
          <a:ln w="12700">
            <a:solidFill>
              <a:srgbClr val="4ADE80"/>
            </a:solidFill>
            <a:prstDash val="solid"/>
          </a:ln>
        </p:spPr>
      </p:sp>
      <p:sp>
        <p:nvSpPr>
          <p:cNvPr id="22" name="Text 20"/>
          <p:cNvSpPr/>
          <p:nvPr/>
        </p:nvSpPr>
        <p:spPr>
          <a:xfrm>
            <a:off x="7589520" y="1490472"/>
            <a:ext cx="3913632" cy="201168"/>
          </a:xfrm>
          <a:prstGeom prst="rect">
            <a:avLst/>
          </a:prstGeom>
          <a:noFill/>
          <a:ln/>
        </p:spPr>
        <p:txBody>
          <a:bodyPr wrap="square" lIns="0" tIns="0" rIns="0" bIns="0" rtlCol="0" anchor="ctr"/>
          <a:lstStyle/>
          <a:p>
            <a:pPr marL="0" indent="0">
              <a:buNone/>
            </a:pPr>
            <a:r>
              <a:rPr lang="en-US" sz="1000" dirty="0">
                <a:solidFill>
                  <a:srgbClr val="9FB0CC"/>
                </a:solidFill>
                <a:latin typeface="Consolas" pitchFamily="34" charset="0"/>
                <a:ea typeface="Consolas" pitchFamily="34" charset="-122"/>
                <a:cs typeface="Consolas" pitchFamily="34" charset="-120"/>
              </a:rPr>
              <a:t>rsa_demo</a:t>
            </a:r>
            <a:endParaRPr lang="en-US" sz="1000" dirty="0"/>
          </a:p>
        </p:txBody>
      </p:sp>
      <p:sp>
        <p:nvSpPr>
          <p:cNvPr id="23" name="Text 21"/>
          <p:cNvSpPr/>
          <p:nvPr/>
        </p:nvSpPr>
        <p:spPr>
          <a:xfrm>
            <a:off x="7040880" y="1801368"/>
            <a:ext cx="4370832" cy="2011680"/>
          </a:xfrm>
          <a:prstGeom prst="rect">
            <a:avLst/>
          </a:prstGeom>
          <a:noFill/>
          <a:ln/>
        </p:spPr>
        <p:txBody>
          <a:bodyPr wrap="square" lIns="0" tIns="0" rIns="0" bIns="0" rtlCol="0" anchor="t"/>
          <a:lstStyle/>
          <a:p>
            <a:pPr marL="0" indent="0">
              <a:spcAft>
                <a:spcPts val="200"/>
              </a:spcAft>
              <a:buNone/>
            </a:pPr>
            <a:r>
              <a:rPr lang="en-US" sz="1300" dirty="0">
                <a:solidFill>
                  <a:srgbClr val="4ADE80"/>
                </a:solidFill>
                <a:latin typeface="Consolas" pitchFamily="34" charset="0"/>
                <a:ea typeface="Consolas" pitchFamily="34" charset="-122"/>
                <a:cs typeface="Consolas" pitchFamily="34" charset="-120"/>
              </a:rPr>
              <a:t>message   m = 65</a:t>
            </a:r>
            <a:endParaRPr lang="en-US" sz="1300" dirty="0"/>
          </a:p>
          <a:p>
            <a:pPr marL="0" indent="0">
              <a:spcAft>
                <a:spcPts val="200"/>
              </a:spcAft>
              <a:buNone/>
            </a:pPr>
            <a:endParaRPr lang="en-US" sz="1300" dirty="0"/>
          </a:p>
          <a:p>
            <a:pPr marL="0" indent="0">
              <a:spcAft>
                <a:spcPts val="200"/>
              </a:spcAft>
              <a:buNone/>
            </a:pPr>
            <a:r>
              <a:rPr lang="en-US" sz="1300" dirty="0">
                <a:solidFill>
                  <a:srgbClr val="22D3EE"/>
                </a:solidFill>
                <a:latin typeface="Consolas" pitchFamily="34" charset="0"/>
                <a:ea typeface="Consolas" pitchFamily="34" charset="-122"/>
                <a:cs typeface="Consolas" pitchFamily="34" charset="-120"/>
              </a:rPr>
              <a:t>encrypt   c = m^e mod n</a:t>
            </a:r>
            <a:endParaRPr lang="en-US" sz="1300" dirty="0"/>
          </a:p>
          <a:p>
            <a:pPr marL="0" indent="0">
              <a:spcAft>
                <a:spcPts val="200"/>
              </a:spcAft>
              <a:buNone/>
            </a:pPr>
            <a:r>
              <a:rPr lang="en-US" sz="1300" dirty="0">
                <a:solidFill>
                  <a:srgbClr val="22D3EE"/>
                </a:solidFill>
                <a:latin typeface="Consolas" pitchFamily="34" charset="0"/>
                <a:ea typeface="Consolas" pitchFamily="34" charset="-122"/>
                <a:cs typeface="Consolas" pitchFamily="34" charset="-120"/>
              </a:rPr>
              <a:t>           = 65^17 mod 3233 = 2790</a:t>
            </a:r>
            <a:endParaRPr lang="en-US" sz="1300" dirty="0"/>
          </a:p>
          <a:p>
            <a:pPr marL="0" indent="0">
              <a:spcAft>
                <a:spcPts val="200"/>
              </a:spcAft>
              <a:buNone/>
            </a:pPr>
            <a:endParaRPr lang="en-US" sz="1300" dirty="0"/>
          </a:p>
          <a:p>
            <a:pPr marL="0" indent="0">
              <a:spcAft>
                <a:spcPts val="200"/>
              </a:spcAft>
              <a:buNone/>
            </a:pPr>
            <a:r>
              <a:rPr lang="en-US" sz="1300" dirty="0">
                <a:solidFill>
                  <a:srgbClr val="FBBF24"/>
                </a:solidFill>
                <a:latin typeface="Consolas" pitchFamily="34" charset="0"/>
                <a:ea typeface="Consolas" pitchFamily="34" charset="-122"/>
                <a:cs typeface="Consolas" pitchFamily="34" charset="-120"/>
              </a:rPr>
              <a:t>decrypt   m = c^d mod n</a:t>
            </a:r>
            <a:endParaRPr lang="en-US" sz="1300" dirty="0"/>
          </a:p>
          <a:p>
            <a:pPr marL="0" indent="0">
              <a:spcAft>
                <a:spcPts val="200"/>
              </a:spcAft>
              <a:buNone/>
            </a:pPr>
            <a:r>
              <a:rPr lang="en-US" sz="1300" dirty="0">
                <a:solidFill>
                  <a:srgbClr val="FBBF24"/>
                </a:solidFill>
                <a:latin typeface="Consolas" pitchFamily="34" charset="0"/>
                <a:ea typeface="Consolas" pitchFamily="34" charset="-122"/>
                <a:cs typeface="Consolas" pitchFamily="34" charset="-120"/>
              </a:rPr>
              <a:t>           = 2790^2753 mod 3233 = 65</a:t>
            </a:r>
            <a:endParaRPr lang="en-US" sz="1300" dirty="0"/>
          </a:p>
        </p:txBody>
      </p:sp>
      <p:sp>
        <p:nvSpPr>
          <p:cNvPr id="24" name="Shape 22"/>
          <p:cNvSpPr/>
          <p:nvPr/>
        </p:nvSpPr>
        <p:spPr>
          <a:xfrm>
            <a:off x="6812280" y="4069080"/>
            <a:ext cx="4828032" cy="2057400"/>
          </a:xfrm>
          <a:prstGeom prst="roundRect">
            <a:avLst>
              <a:gd name="adj" fmla="val 3556"/>
            </a:avLst>
          </a:prstGeom>
          <a:solidFill>
            <a:srgbClr val="111A2F"/>
          </a:solidFill>
          <a:ln w="12700">
            <a:solidFill>
              <a:srgbClr val="2A3E68"/>
            </a:solidFill>
            <a:prstDash val="solid"/>
          </a:ln>
        </p:spPr>
      </p:sp>
      <p:sp>
        <p:nvSpPr>
          <p:cNvPr id="25" name="Text 23"/>
          <p:cNvSpPr/>
          <p:nvPr/>
        </p:nvSpPr>
        <p:spPr>
          <a:xfrm>
            <a:off x="7040880" y="4178808"/>
            <a:ext cx="438912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Why it works</a:t>
            </a:r>
            <a:endParaRPr lang="en-US" sz="1400" dirty="0"/>
          </a:p>
        </p:txBody>
      </p:sp>
      <p:sp>
        <p:nvSpPr>
          <p:cNvPr id="26" name="Text 24"/>
          <p:cNvSpPr/>
          <p:nvPr/>
        </p:nvSpPr>
        <p:spPr>
          <a:xfrm>
            <a:off x="7040880" y="4544568"/>
            <a:ext cx="4389120" cy="1554480"/>
          </a:xfrm>
          <a:prstGeom prst="rect">
            <a:avLst/>
          </a:prstGeom>
          <a:noFill/>
          <a:ln/>
        </p:spPr>
        <p:txBody>
          <a:bodyPr wrap="square" lIns="0" tIns="0" rIns="0" bIns="0" rtlCol="0" anchor="t"/>
          <a:lstStyle/>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Locking raises the message to the power </a:t>
            </a:r>
            <a:r>
              <a:rPr lang="en-US" sz="1300" dirty="0">
                <a:solidFill>
                  <a:srgbClr val="F1F5F9"/>
                </a:solidFill>
                <a:latin typeface="Calibri" pitchFamily="34" charset="0"/>
                <a:ea typeface="Calibri" pitchFamily="34" charset="-122"/>
                <a:cs typeface="Calibri" pitchFamily="34" charset="-120"/>
              </a:rPr>
              <a:t>e</a:t>
            </a:r>
            <a:r>
              <a:rPr lang="en-US" sz="1300">
                <a:solidFill>
                  <a:srgbClr val="F1F5F9"/>
                </a:solidFill>
                <a:latin typeface="Calibri" pitchFamily="34" charset="0"/>
                <a:ea typeface="Calibri" pitchFamily="34" charset="-122"/>
                <a:cs typeface="Calibri" pitchFamily="34" charset="-120"/>
              </a:rPr>
              <a:t> (and keeps the remainder after dividing by n)</a:t>
            </a:r>
            <a:endParaRPr lang="en-US" sz="130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Unlocking raises it to the power</a:t>
            </a:r>
            <a:r>
              <a:rPr lang="en-US" sz="1300" dirty="0">
                <a:solidFill>
                  <a:srgbClr val="F1F5F9"/>
                </a:solidFill>
                <a:latin typeface="Calibri" pitchFamily="34" charset="0"/>
                <a:ea typeface="Calibri" pitchFamily="34" charset="-122"/>
                <a:cs typeface="Calibri" pitchFamily="34" charset="-120"/>
              </a:rPr>
              <a:t> d</a:t>
            </a:r>
            <a:r>
              <a:rPr lang="en-US" sz="1300">
                <a:solidFill>
                  <a:srgbClr val="F1F5F9"/>
                </a:solidFill>
                <a:latin typeface="Calibri" pitchFamily="34" charset="0"/>
                <a:ea typeface="Calibri" pitchFamily="34" charset="-122"/>
                <a:cs typeface="Calibri" pitchFamily="34" charset="-120"/>
              </a:rPr>
              <a:t>, which cancels out the lock</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Attackers know n but not p and q, so they cannot </a:t>
            </a:r>
            <a:r>
              <a:rPr lang="en-US" sz="1300">
                <a:solidFill>
                  <a:srgbClr val="F1F5F9"/>
                </a:solidFill>
                <a:latin typeface="Calibri" pitchFamily="34" charset="0"/>
                <a:ea typeface="Calibri" pitchFamily="34" charset="-122"/>
                <a:cs typeface="Calibri" pitchFamily="34" charset="-120"/>
              </a:rPr>
              <a:t>find</a:t>
            </a:r>
            <a:r>
              <a:rPr lang="en-US" sz="1300" dirty="0">
                <a:solidFill>
                  <a:srgbClr val="F1F5F9"/>
                </a:solidFill>
                <a:latin typeface="Calibri" pitchFamily="34" charset="0"/>
                <a:ea typeface="Calibri" pitchFamily="34" charset="-122"/>
                <a:cs typeface="Calibri" pitchFamily="34" charset="-120"/>
              </a:rPr>
              <a:t> d</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ASYMMETRIC 03</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RSA in practice: the secure modes</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28</a:t>
            </a:r>
            <a:endParaRPr lang="en-US" sz="1000" dirty="0"/>
          </a:p>
        </p:txBody>
      </p:sp>
      <p:sp>
        <p:nvSpPr>
          <p:cNvPr id="6" name="Shape 4"/>
          <p:cNvSpPr/>
          <p:nvPr/>
        </p:nvSpPr>
        <p:spPr>
          <a:xfrm>
            <a:off x="548640" y="1417320"/>
            <a:ext cx="5440680" cy="2926080"/>
          </a:xfrm>
          <a:prstGeom prst="roundRect">
            <a:avLst>
              <a:gd name="adj" fmla="val 2500"/>
            </a:avLst>
          </a:prstGeom>
          <a:solidFill>
            <a:srgbClr val="111A2F"/>
          </a:solidFill>
          <a:ln w="12700">
            <a:solidFill>
              <a:srgbClr val="F87171"/>
            </a:solidFill>
            <a:prstDash val="solid"/>
          </a:ln>
        </p:spPr>
      </p:sp>
      <p:pic>
        <p:nvPicPr>
          <p:cNvPr id="7" name="Image 0" descr="/agent/turn1/workspace/output/_anthropic_assets/icon-warning-06b553b1.png"/>
          <p:cNvPicPr>
            <a:picLocks noChangeAspect="1"/>
          </p:cNvPicPr>
          <p:nvPr/>
        </p:nvPicPr>
        <p:blipFill>
          <a:blip r:embed="rId3"/>
          <a:stretch>
            <a:fillRect/>
          </a:stretch>
        </p:blipFill>
        <p:spPr>
          <a:xfrm>
            <a:off x="777240" y="1554480"/>
            <a:ext cx="365760" cy="365760"/>
          </a:xfrm>
          <a:prstGeom prst="rect">
            <a:avLst/>
          </a:prstGeom>
        </p:spPr>
      </p:pic>
      <p:sp>
        <p:nvSpPr>
          <p:cNvPr id="8" name="Text 5"/>
          <p:cNvSpPr/>
          <p:nvPr/>
        </p:nvSpPr>
        <p:spPr>
          <a:xfrm>
            <a:off x="1280160" y="1554480"/>
            <a:ext cx="4480560" cy="365760"/>
          </a:xfrm>
          <a:prstGeom prst="rect">
            <a:avLst/>
          </a:prstGeom>
          <a:noFill/>
          <a:ln/>
        </p:spPr>
        <p:txBody>
          <a:bodyPr wrap="square" lIns="0" tIns="0" rIns="0" bIns="0" rtlCol="0" anchor="ctr"/>
          <a:lstStyle/>
          <a:p>
            <a:pPr marL="0" indent="0">
              <a:buNone/>
            </a:pPr>
            <a:r>
              <a:rPr lang="en-US" sz="1500" b="1" dirty="0">
                <a:solidFill>
                  <a:srgbClr val="F87171"/>
                </a:solidFill>
                <a:latin typeface="Consolas" pitchFamily="34" charset="0"/>
                <a:ea typeface="Consolas" pitchFamily="34" charset="-122"/>
                <a:cs typeface="Consolas" pitchFamily="34" charset="-120"/>
              </a:rPr>
              <a:t>Textbook RSA is unsafe</a:t>
            </a:r>
            <a:endParaRPr lang="en-US" sz="1500" dirty="0"/>
          </a:p>
        </p:txBody>
      </p:sp>
      <p:sp>
        <p:nvSpPr>
          <p:cNvPr id="9" name="Text 6"/>
          <p:cNvSpPr/>
          <p:nvPr/>
        </p:nvSpPr>
        <p:spPr>
          <a:xfrm>
            <a:off x="777240" y="2103120"/>
            <a:ext cx="4983480" cy="2194560"/>
          </a:xfrm>
          <a:prstGeom prst="rect">
            <a:avLst/>
          </a:prstGeom>
          <a:noFill/>
          <a:ln/>
        </p:spPr>
        <p:txBody>
          <a:bodyPr wrap="square" lIns="0" tIns="0" rIns="0" bIns="0" rtlCol="0" anchor="t"/>
          <a:lstStyle/>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Predictable</a:t>
            </a:r>
            <a:r>
              <a:rPr lang="en-US" sz="1300" dirty="0">
                <a:solidFill>
                  <a:srgbClr val="F1F5F9"/>
                </a:solidFill>
                <a:latin typeface="Calibri" pitchFamily="34" charset="0"/>
                <a:ea typeface="Calibri" pitchFamily="34" charset="-122"/>
                <a:cs typeface="Calibri" pitchFamily="34" charset="-120"/>
              </a:rPr>
              <a:t>: the same </a:t>
            </a:r>
            <a:r>
              <a:rPr lang="en-US" sz="1300">
                <a:solidFill>
                  <a:srgbClr val="F1F5F9"/>
                </a:solidFill>
                <a:latin typeface="Calibri" pitchFamily="34" charset="0"/>
                <a:ea typeface="Calibri" pitchFamily="34" charset="-122"/>
                <a:cs typeface="Calibri" pitchFamily="34" charset="-120"/>
              </a:rPr>
              <a:t>message </a:t>
            </a:r>
            <a:r>
              <a:rPr lang="en-US" sz="1300" dirty="0">
                <a:solidFill>
                  <a:srgbClr val="F1F5F9"/>
                </a:solidFill>
                <a:latin typeface="Calibri" pitchFamily="34" charset="0"/>
                <a:ea typeface="Calibri" pitchFamily="34" charset="-122"/>
                <a:cs typeface="Calibri" pitchFamily="34" charset="-120"/>
              </a:rPr>
              <a:t>always gives the same </a:t>
            </a:r>
            <a:r>
              <a:rPr lang="en-US" sz="1300">
                <a:solidFill>
                  <a:srgbClr val="F1F5F9"/>
                </a:solidFill>
                <a:latin typeface="Calibri" pitchFamily="34" charset="0"/>
                <a:ea typeface="Calibri" pitchFamily="34" charset="-122"/>
                <a:cs typeface="Calibri" pitchFamily="34" charset="-120"/>
              </a:rPr>
              <a:t>result</a:t>
            </a:r>
            <a:r>
              <a:rPr lang="en-US" sz="1300" dirty="0">
                <a:solidFill>
                  <a:srgbClr val="F1F5F9"/>
                </a:solidFill>
                <a:latin typeface="Calibri" pitchFamily="34" charset="0"/>
                <a:ea typeface="Calibri" pitchFamily="34" charset="-122"/>
                <a:cs typeface="Calibri" pitchFamily="34" charset="-120"/>
              </a:rPr>
              <a:t>, so guesses can be checked</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Can be manipulated</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multiplying two encrypted messages gives the encrypted product</a:t>
            </a:r>
            <a:endParaRPr lang="en-US" sz="130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Short messages are easy </a:t>
            </a:r>
            <a:r>
              <a:rPr lang="en-US" sz="1300" dirty="0">
                <a:solidFill>
                  <a:srgbClr val="F1F5F9"/>
                </a:solidFill>
                <a:latin typeface="Calibri" pitchFamily="34" charset="0"/>
                <a:ea typeface="Calibri" pitchFamily="34" charset="-122"/>
                <a:cs typeface="Calibri" pitchFamily="34" charset="-120"/>
              </a:rPr>
              <a:t>to </a:t>
            </a:r>
            <a:r>
              <a:rPr lang="en-US" sz="1300">
                <a:solidFill>
                  <a:srgbClr val="F1F5F9"/>
                </a:solidFill>
                <a:latin typeface="Calibri" pitchFamily="34" charset="0"/>
                <a:ea typeface="Calibri" pitchFamily="34" charset="-122"/>
                <a:cs typeface="Calibri" pitchFamily="34" charset="-120"/>
              </a:rPr>
              <a:t>undo: if </a:t>
            </a:r>
            <a:r>
              <a:rPr lang="en-US" sz="1300" dirty="0">
                <a:solidFill>
                  <a:srgbClr val="F1F5F9"/>
                </a:solidFill>
                <a:latin typeface="Calibri" pitchFamily="34" charset="0"/>
                <a:ea typeface="Calibri" pitchFamily="34" charset="-122"/>
                <a:cs typeface="Calibri" pitchFamily="34" charset="-120"/>
              </a:rPr>
              <a:t>m^e is </a:t>
            </a:r>
            <a:r>
              <a:rPr lang="en-US" sz="1300">
                <a:solidFill>
                  <a:srgbClr val="F1F5F9"/>
                </a:solidFill>
                <a:latin typeface="Calibri" pitchFamily="34" charset="0"/>
                <a:ea typeface="Calibri" pitchFamily="34" charset="-122"/>
                <a:cs typeface="Calibri" pitchFamily="34" charset="-120"/>
              </a:rPr>
              <a:t>smaller than n, </a:t>
            </a:r>
            <a:r>
              <a:rPr lang="en-US" sz="1300" dirty="0">
                <a:solidFill>
                  <a:srgbClr val="F1F5F9"/>
                </a:solidFill>
                <a:latin typeface="Calibri" pitchFamily="34" charset="0"/>
                <a:ea typeface="Calibri" pitchFamily="34" charset="-122"/>
                <a:cs typeface="Calibri" pitchFamily="34" charset="-120"/>
              </a:rPr>
              <a:t>just take the e-th root</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Old padding (</a:t>
            </a:r>
            <a:r>
              <a:rPr lang="en-US" sz="1300" dirty="0">
                <a:solidFill>
                  <a:srgbClr val="F1F5F9"/>
                </a:solidFill>
                <a:latin typeface="Calibri" pitchFamily="34" charset="0"/>
                <a:ea typeface="Calibri" pitchFamily="34" charset="-122"/>
                <a:cs typeface="Calibri" pitchFamily="34" charset="-120"/>
              </a:rPr>
              <a:t>PKCS#1 v1.5</a:t>
            </a:r>
            <a:r>
              <a:rPr lang="en-US" sz="1300">
                <a:solidFill>
                  <a:srgbClr val="F1F5F9"/>
                </a:solidFill>
                <a:latin typeface="Calibri" pitchFamily="34" charset="0"/>
                <a:ea typeface="Calibri" pitchFamily="34" charset="-122"/>
                <a:cs typeface="Calibri" pitchFamily="34" charset="-120"/>
              </a:rPr>
              <a:t>) was broken by</a:t>
            </a:r>
            <a:r>
              <a:rPr lang="en-US" sz="1300" dirty="0">
                <a:solidFill>
                  <a:srgbClr val="F1F5F9"/>
                </a:solidFill>
                <a:latin typeface="Calibri" pitchFamily="34" charset="0"/>
                <a:ea typeface="Calibri" pitchFamily="34" charset="-122"/>
                <a:cs typeface="Calibri" pitchFamily="34" charset="-120"/>
              </a:rPr>
              <a:t> attacks </a:t>
            </a:r>
            <a:r>
              <a:rPr lang="en-US" sz="1300">
                <a:solidFill>
                  <a:srgbClr val="F1F5F9"/>
                </a:solidFill>
                <a:latin typeface="Calibri" pitchFamily="34" charset="0"/>
                <a:ea typeface="Calibri" pitchFamily="34" charset="-122"/>
                <a:cs typeface="Calibri" pitchFamily="34" charset="-120"/>
              </a:rPr>
              <a:t>in 1998 and again in 2017 </a:t>
            </a:r>
            <a:r>
              <a:rPr lang="en-US" sz="1300" dirty="0">
                <a:solidFill>
                  <a:srgbClr val="F1F5F9"/>
                </a:solidFill>
                <a:latin typeface="Calibri" pitchFamily="34" charset="0"/>
                <a:ea typeface="Calibri" pitchFamily="34" charset="-122"/>
                <a:cs typeface="Calibri" pitchFamily="34" charset="-120"/>
              </a:rPr>
              <a:t>(ROBOT)</a:t>
            </a:r>
            <a:endParaRPr lang="en-US" sz="1300" dirty="0"/>
          </a:p>
        </p:txBody>
      </p:sp>
      <p:sp>
        <p:nvSpPr>
          <p:cNvPr id="10" name="Shape 7"/>
          <p:cNvSpPr/>
          <p:nvPr/>
        </p:nvSpPr>
        <p:spPr>
          <a:xfrm>
            <a:off x="6199632" y="1417320"/>
            <a:ext cx="5440680" cy="2926080"/>
          </a:xfrm>
          <a:prstGeom prst="roundRect">
            <a:avLst>
              <a:gd name="adj" fmla="val 2500"/>
            </a:avLst>
          </a:prstGeom>
          <a:solidFill>
            <a:srgbClr val="111A2F"/>
          </a:solidFill>
          <a:ln w="12700">
            <a:solidFill>
              <a:srgbClr val="4ADE80"/>
            </a:solidFill>
            <a:prstDash val="solid"/>
          </a:ln>
        </p:spPr>
      </p:sp>
      <p:pic>
        <p:nvPicPr>
          <p:cNvPr id="11" name="Image 1" descr="/agent/turn1/workspace/output/_anthropic_assets/icon-checkmark-circle-2703a2fa.png"/>
          <p:cNvPicPr>
            <a:picLocks noChangeAspect="1"/>
          </p:cNvPicPr>
          <p:nvPr/>
        </p:nvPicPr>
        <p:blipFill>
          <a:blip r:embed="rId4"/>
          <a:stretch>
            <a:fillRect/>
          </a:stretch>
        </p:blipFill>
        <p:spPr>
          <a:xfrm>
            <a:off x="6428232" y="1554480"/>
            <a:ext cx="365760" cy="365760"/>
          </a:xfrm>
          <a:prstGeom prst="rect">
            <a:avLst/>
          </a:prstGeom>
        </p:spPr>
      </p:pic>
      <p:sp>
        <p:nvSpPr>
          <p:cNvPr id="12" name="Text 8"/>
          <p:cNvSpPr/>
          <p:nvPr/>
        </p:nvSpPr>
        <p:spPr>
          <a:xfrm>
            <a:off x="6931152" y="1554480"/>
            <a:ext cx="4480560" cy="365760"/>
          </a:xfrm>
          <a:prstGeom prst="rect">
            <a:avLst/>
          </a:prstGeom>
          <a:noFill/>
          <a:ln/>
        </p:spPr>
        <p:txBody>
          <a:bodyPr wrap="square" lIns="0" tIns="0" rIns="0" bIns="0" rtlCol="0" anchor="ctr"/>
          <a:lstStyle/>
          <a:p>
            <a:pPr marL="0" indent="0">
              <a:buNone/>
            </a:pPr>
            <a:r>
              <a:rPr lang="en-US" sz="1500" b="1" dirty="0">
                <a:solidFill>
                  <a:srgbClr val="4ADE80"/>
                </a:solidFill>
                <a:latin typeface="Consolas" pitchFamily="34" charset="0"/>
                <a:ea typeface="Consolas" pitchFamily="34" charset="-122"/>
                <a:cs typeface="Consolas" pitchFamily="34" charset="-120"/>
              </a:rPr>
              <a:t>Safer RSA</a:t>
            </a:r>
            <a:endParaRPr lang="en-US" sz="1500" dirty="0"/>
          </a:p>
        </p:txBody>
      </p:sp>
      <p:sp>
        <p:nvSpPr>
          <p:cNvPr id="13" name="Text 9"/>
          <p:cNvSpPr/>
          <p:nvPr/>
        </p:nvSpPr>
        <p:spPr>
          <a:xfrm>
            <a:off x="6428232" y="2103120"/>
            <a:ext cx="4983480" cy="21945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OAEP for encryption: </a:t>
            </a:r>
            <a:r>
              <a:rPr lang="en-US" sz="1300">
                <a:solidFill>
                  <a:srgbClr val="F1F5F9"/>
                </a:solidFill>
                <a:latin typeface="Calibri" pitchFamily="34" charset="0"/>
                <a:ea typeface="Calibri" pitchFamily="34" charset="-122"/>
                <a:cs typeface="Calibri" pitchFamily="34" charset="-120"/>
              </a:rPr>
              <a:t>adds randomness before encrypting</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PSS for signatures: padding</a:t>
            </a:r>
            <a:r>
              <a:rPr lang="en-US" sz="1300">
                <a:solidFill>
                  <a:srgbClr val="F1F5F9"/>
                </a:solidFill>
                <a:latin typeface="Calibri" pitchFamily="34" charset="0"/>
                <a:ea typeface="Calibri" pitchFamily="34" charset="-122"/>
                <a:cs typeface="Calibri" pitchFamily="34" charset="-120"/>
              </a:rPr>
              <a:t> with a random salt</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Use keys </a:t>
            </a:r>
            <a:r>
              <a:rPr lang="en-US" sz="1300" dirty="0">
                <a:solidFill>
                  <a:srgbClr val="F1F5F9"/>
                </a:solidFill>
                <a:latin typeface="Calibri" pitchFamily="34" charset="0"/>
                <a:ea typeface="Calibri" pitchFamily="34" charset="-122"/>
                <a:cs typeface="Calibri" pitchFamily="34" charset="-120"/>
              </a:rPr>
              <a:t>of 2048</a:t>
            </a:r>
            <a:r>
              <a:rPr lang="en-US" sz="1300">
                <a:solidFill>
                  <a:srgbClr val="F1F5F9"/>
                </a:solidFill>
                <a:latin typeface="Calibri" pitchFamily="34" charset="0"/>
                <a:ea typeface="Calibri" pitchFamily="34" charset="-122"/>
                <a:cs typeface="Calibri" pitchFamily="34" charset="-120"/>
              </a:rPr>
              <a:t>+</a:t>
            </a:r>
            <a:r>
              <a:rPr lang="en-US" sz="1300" dirty="0">
                <a:solidFill>
                  <a:srgbClr val="F1F5F9"/>
                </a:solidFill>
                <a:latin typeface="Calibri" pitchFamily="34" charset="0"/>
                <a:ea typeface="Calibri" pitchFamily="34" charset="-122"/>
                <a:cs typeface="Calibri" pitchFamily="34" charset="-120"/>
              </a:rPr>
              <a:t> bits </a:t>
            </a:r>
            <a:r>
              <a:rPr lang="en-US" sz="1300">
                <a:solidFill>
                  <a:srgbClr val="F1F5F9"/>
                </a:solidFill>
                <a:latin typeface="Calibri" pitchFamily="34" charset="0"/>
                <a:ea typeface="Calibri" pitchFamily="34" charset="-122"/>
                <a:cs typeface="Calibri" pitchFamily="34" charset="-120"/>
              </a:rPr>
              <a:t>(</a:t>
            </a:r>
            <a:r>
              <a:rPr lang="en-US" sz="1300" dirty="0">
                <a:solidFill>
                  <a:srgbClr val="F1F5F9"/>
                </a:solidFill>
                <a:latin typeface="Calibri" pitchFamily="34" charset="0"/>
                <a:ea typeface="Calibri" pitchFamily="34" charset="-122"/>
                <a:cs typeface="Calibri" pitchFamily="34" charset="-120"/>
              </a:rPr>
              <a:t>3072 for long-term </a:t>
            </a:r>
            <a:r>
              <a:rPr lang="en-US" sz="1300">
                <a:solidFill>
                  <a:srgbClr val="F1F5F9"/>
                </a:solidFill>
                <a:latin typeface="Calibri" pitchFamily="34" charset="0"/>
                <a:ea typeface="Calibri" pitchFamily="34" charset="-122"/>
                <a:cs typeface="Calibri" pitchFamily="34" charset="-120"/>
              </a:rPr>
              <a:t>data)</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Use RSA to sign or to </a:t>
            </a:r>
            <a:r>
              <a:rPr lang="en-US" sz="1300">
                <a:solidFill>
                  <a:srgbClr val="F1F5F9"/>
                </a:solidFill>
                <a:latin typeface="Calibri" pitchFamily="34" charset="0"/>
                <a:ea typeface="Calibri" pitchFamily="34" charset="-122"/>
                <a:cs typeface="Calibri" pitchFamily="34" charset="-120"/>
              </a:rPr>
              <a:t>protect </a:t>
            </a:r>
            <a:r>
              <a:rPr lang="en-US" sz="1300" dirty="0">
                <a:solidFill>
                  <a:srgbClr val="F1F5F9"/>
                </a:solidFill>
                <a:latin typeface="Calibri" pitchFamily="34" charset="0"/>
                <a:ea typeface="Calibri" pitchFamily="34" charset="-122"/>
                <a:cs typeface="Calibri" pitchFamily="34" charset="-120"/>
              </a:rPr>
              <a:t>a symmetric key, not </a:t>
            </a:r>
            <a:r>
              <a:rPr lang="en-US" sz="1300">
                <a:solidFill>
                  <a:srgbClr val="F1F5F9"/>
                </a:solidFill>
                <a:latin typeface="Calibri" pitchFamily="34" charset="0"/>
                <a:ea typeface="Calibri" pitchFamily="34" charset="-122"/>
                <a:cs typeface="Calibri" pitchFamily="34" charset="-120"/>
              </a:rPr>
              <a:t>to encrypt lots of</a:t>
            </a:r>
            <a:r>
              <a:rPr lang="en-US" sz="1300" dirty="0">
                <a:solidFill>
                  <a:srgbClr val="F1F5F9"/>
                </a:solidFill>
                <a:latin typeface="Calibri" pitchFamily="34" charset="0"/>
                <a:ea typeface="Calibri" pitchFamily="34" charset="-122"/>
                <a:cs typeface="Calibri" pitchFamily="34" charset="-120"/>
              </a:rPr>
              <a:t> data</a:t>
            </a:r>
            <a:endParaRPr lang="en-US" sz="1300" dirty="0"/>
          </a:p>
        </p:txBody>
      </p:sp>
      <p:sp>
        <p:nvSpPr>
          <p:cNvPr id="14" name="Shape 10"/>
          <p:cNvSpPr/>
          <p:nvPr/>
        </p:nvSpPr>
        <p:spPr>
          <a:xfrm>
            <a:off x="548640" y="4526280"/>
            <a:ext cx="11091672" cy="1600200"/>
          </a:xfrm>
          <a:prstGeom prst="roundRect">
            <a:avLst>
              <a:gd name="adj" fmla="val 4571"/>
            </a:avLst>
          </a:prstGeom>
          <a:solidFill>
            <a:srgbClr val="172544"/>
          </a:solidFill>
          <a:ln w="12700">
            <a:solidFill>
              <a:srgbClr val="2A3E68"/>
            </a:solidFill>
            <a:prstDash val="solid"/>
          </a:ln>
        </p:spPr>
      </p:sp>
      <p:sp>
        <p:nvSpPr>
          <p:cNvPr id="15" name="Text 11"/>
          <p:cNvSpPr/>
          <p:nvPr/>
        </p:nvSpPr>
        <p:spPr>
          <a:xfrm>
            <a:off x="777240" y="4636008"/>
            <a:ext cx="7315200" cy="274320"/>
          </a:xfrm>
          <a:prstGeom prst="rect">
            <a:avLst/>
          </a:prstGeom>
          <a:noFill/>
          <a:ln/>
        </p:spPr>
        <p:txBody>
          <a:bodyPr wrap="square" lIns="0" tIns="0" rIns="0" bIns="0" rtlCol="0" anchor="t"/>
          <a:lstStyle/>
          <a:p>
            <a:pPr marL="0" indent="0">
              <a:buNone/>
            </a:pPr>
            <a:r>
              <a:rPr lang="en-US" sz="1300" b="1" dirty="0">
                <a:solidFill>
                  <a:srgbClr val="22D3EE"/>
                </a:solidFill>
                <a:latin typeface="Consolas" pitchFamily="34" charset="0"/>
                <a:ea typeface="Consolas" pitchFamily="34" charset="-122"/>
                <a:cs typeface="Consolas" pitchFamily="34" charset="-120"/>
              </a:rPr>
              <a:t>RSA-OAEP: </a:t>
            </a:r>
            <a:r>
              <a:rPr lang="en-US" sz="1300" b="1">
                <a:solidFill>
                  <a:srgbClr val="22D3EE"/>
                </a:solidFill>
                <a:latin typeface="Consolas" pitchFamily="34" charset="0"/>
                <a:ea typeface="Consolas" pitchFamily="34" charset="-122"/>
                <a:cs typeface="Consolas" pitchFamily="34" charset="-120"/>
              </a:rPr>
              <a:t>add randomness first</a:t>
            </a:r>
            <a:endParaRPr lang="en-US" sz="1300" dirty="0"/>
          </a:p>
        </p:txBody>
      </p:sp>
      <p:sp>
        <p:nvSpPr>
          <p:cNvPr id="16" name="Shape 12"/>
          <p:cNvSpPr/>
          <p:nvPr/>
        </p:nvSpPr>
        <p:spPr>
          <a:xfrm>
            <a:off x="777240" y="5029200"/>
            <a:ext cx="2240280" cy="594360"/>
          </a:xfrm>
          <a:prstGeom prst="roundRect">
            <a:avLst>
              <a:gd name="adj" fmla="val 12308"/>
            </a:avLst>
          </a:prstGeom>
          <a:solidFill>
            <a:srgbClr val="172544"/>
          </a:solidFill>
          <a:ln w="19050">
            <a:solidFill>
              <a:srgbClr val="22D3EE"/>
            </a:solidFill>
            <a:prstDash val="solid"/>
          </a:ln>
        </p:spPr>
      </p:sp>
      <p:sp>
        <p:nvSpPr>
          <p:cNvPr id="17" name="Text 13"/>
          <p:cNvSpPr/>
          <p:nvPr/>
        </p:nvSpPr>
        <p:spPr>
          <a:xfrm>
            <a:off x="777240" y="5029200"/>
            <a:ext cx="2240280" cy="59436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message m + padding</a:t>
            </a:r>
            <a:endParaRPr lang="en-US" sz="1200" dirty="0"/>
          </a:p>
        </p:txBody>
      </p:sp>
      <p:sp>
        <p:nvSpPr>
          <p:cNvPr id="18" name="Shape 14"/>
          <p:cNvSpPr/>
          <p:nvPr/>
        </p:nvSpPr>
        <p:spPr>
          <a:xfrm>
            <a:off x="3044952" y="5326380"/>
            <a:ext cx="402336" cy="0"/>
          </a:xfrm>
          <a:prstGeom prst="line">
            <a:avLst/>
          </a:prstGeom>
          <a:noFill/>
          <a:ln w="25400">
            <a:solidFill>
              <a:srgbClr val="22D3EE"/>
            </a:solidFill>
            <a:prstDash val="solid"/>
            <a:tailEnd type="triangle"/>
          </a:ln>
        </p:spPr>
      </p:sp>
      <p:sp>
        <p:nvSpPr>
          <p:cNvPr id="19" name="Shape 15"/>
          <p:cNvSpPr/>
          <p:nvPr/>
        </p:nvSpPr>
        <p:spPr>
          <a:xfrm>
            <a:off x="3474720" y="5029200"/>
            <a:ext cx="2240280" cy="594360"/>
          </a:xfrm>
          <a:prstGeom prst="roundRect">
            <a:avLst>
              <a:gd name="adj" fmla="val 12308"/>
            </a:avLst>
          </a:prstGeom>
          <a:solidFill>
            <a:srgbClr val="172544"/>
          </a:solidFill>
          <a:ln w="19050">
            <a:solidFill>
              <a:srgbClr val="22D3EE"/>
            </a:solidFill>
            <a:prstDash val="solid"/>
          </a:ln>
        </p:spPr>
      </p:sp>
      <p:sp>
        <p:nvSpPr>
          <p:cNvPr id="20" name="Text 16"/>
          <p:cNvSpPr/>
          <p:nvPr/>
        </p:nvSpPr>
        <p:spPr>
          <a:xfrm>
            <a:off x="3474720" y="5029200"/>
            <a:ext cx="2240280" cy="594360"/>
          </a:xfrm>
          <a:prstGeom prst="rect">
            <a:avLst/>
          </a:prstGeom>
          <a:noFill/>
          <a:ln/>
        </p:spPr>
        <p:txBody>
          <a:bodyPr wrap="square" lIns="635" tIns="635" rIns="635" bIns="635" rtlCol="0" anchor="ctr"/>
          <a:lstStyle/>
          <a:p>
            <a:pPr marL="0" indent="0" algn="ctr">
              <a:buNone/>
            </a:pPr>
            <a:r>
              <a:rPr lang="en-US" sz="1200" b="1">
                <a:solidFill>
                  <a:srgbClr val="F1F5F9"/>
                </a:solidFill>
                <a:latin typeface="Consolas" pitchFamily="34" charset="0"/>
                <a:ea typeface="Consolas" pitchFamily="34" charset="-122"/>
                <a:cs typeface="Consolas" pitchFamily="34" charset="-120"/>
              </a:rPr>
              <a:t>scramble </a:t>
            </a:r>
            <a:r>
              <a:rPr lang="en-US" sz="1200" b="1" dirty="0">
                <a:solidFill>
                  <a:srgbClr val="F1F5F9"/>
                </a:solidFill>
                <a:latin typeface="Consolas" pitchFamily="34" charset="0"/>
                <a:ea typeface="Consolas" pitchFamily="34" charset="-122"/>
                <a:cs typeface="Consolas" pitchFamily="34" charset="-120"/>
              </a:rPr>
              <a:t>with random seed</a:t>
            </a:r>
            <a:endParaRPr lang="en-US" sz="1200" dirty="0"/>
          </a:p>
        </p:txBody>
      </p:sp>
      <p:sp>
        <p:nvSpPr>
          <p:cNvPr id="21" name="Shape 17"/>
          <p:cNvSpPr/>
          <p:nvPr/>
        </p:nvSpPr>
        <p:spPr>
          <a:xfrm>
            <a:off x="5742432" y="5326380"/>
            <a:ext cx="402336" cy="0"/>
          </a:xfrm>
          <a:prstGeom prst="line">
            <a:avLst/>
          </a:prstGeom>
          <a:noFill/>
          <a:ln w="25400">
            <a:solidFill>
              <a:srgbClr val="22D3EE"/>
            </a:solidFill>
            <a:prstDash val="solid"/>
            <a:tailEnd type="triangle"/>
          </a:ln>
        </p:spPr>
      </p:sp>
      <p:sp>
        <p:nvSpPr>
          <p:cNvPr id="22" name="Shape 18"/>
          <p:cNvSpPr/>
          <p:nvPr/>
        </p:nvSpPr>
        <p:spPr>
          <a:xfrm>
            <a:off x="6172200" y="5029200"/>
            <a:ext cx="2240280" cy="594360"/>
          </a:xfrm>
          <a:prstGeom prst="roundRect">
            <a:avLst>
              <a:gd name="adj" fmla="val 12308"/>
            </a:avLst>
          </a:prstGeom>
          <a:solidFill>
            <a:srgbClr val="172544"/>
          </a:solidFill>
          <a:ln w="19050">
            <a:solidFill>
              <a:srgbClr val="FBBF24"/>
            </a:solidFill>
            <a:prstDash val="solid"/>
          </a:ln>
        </p:spPr>
      </p:sp>
      <p:sp>
        <p:nvSpPr>
          <p:cNvPr id="23" name="Text 19"/>
          <p:cNvSpPr/>
          <p:nvPr/>
        </p:nvSpPr>
        <p:spPr>
          <a:xfrm>
            <a:off x="6172200" y="5029200"/>
            <a:ext cx="2240280" cy="594360"/>
          </a:xfrm>
          <a:prstGeom prst="rect">
            <a:avLst/>
          </a:prstGeom>
          <a:noFill/>
          <a:ln/>
        </p:spPr>
        <p:txBody>
          <a:bodyPr wrap="square" lIns="635" tIns="635" rIns="635" bIns="635" rtlCol="0" anchor="ctr"/>
          <a:lstStyle/>
          <a:p>
            <a:pPr marL="0" indent="0" algn="ctr">
              <a:buNone/>
            </a:pPr>
            <a:r>
              <a:rPr lang="en-US" sz="1200" b="1">
                <a:solidFill>
                  <a:srgbClr val="F1F5F9"/>
                </a:solidFill>
                <a:latin typeface="Consolas" pitchFamily="34" charset="0"/>
                <a:ea typeface="Consolas" pitchFamily="34" charset="-122"/>
                <a:cs typeface="Consolas" pitchFamily="34" charset="-120"/>
              </a:rPr>
              <a:t>RSA lock (</a:t>
            </a:r>
            <a:r>
              <a:rPr lang="en-US" sz="1200" b="1" dirty="0">
                <a:solidFill>
                  <a:srgbClr val="F1F5F9"/>
                </a:solidFill>
                <a:latin typeface="Consolas" pitchFamily="34" charset="0"/>
                <a:ea typeface="Consolas" pitchFamily="34" charset="-122"/>
                <a:cs typeface="Consolas" pitchFamily="34" charset="-120"/>
              </a:rPr>
              <a:t>x^e mod n</a:t>
            </a:r>
            <a:r>
              <a:rPr lang="en-US" sz="1200" b="1">
                <a:solidFill>
                  <a:srgbClr val="F1F5F9"/>
                </a:solidFill>
                <a:latin typeface="Consolas" pitchFamily="34" charset="0"/>
                <a:ea typeface="Consolas" pitchFamily="34" charset="-122"/>
                <a:cs typeface="Consolas" pitchFamily="34" charset="-120"/>
              </a:rPr>
              <a:t>)</a:t>
            </a:r>
            <a:endParaRPr lang="en-US" sz="1200" dirty="0"/>
          </a:p>
        </p:txBody>
      </p:sp>
      <p:sp>
        <p:nvSpPr>
          <p:cNvPr id="24" name="Shape 20"/>
          <p:cNvSpPr/>
          <p:nvPr/>
        </p:nvSpPr>
        <p:spPr>
          <a:xfrm>
            <a:off x="8439912" y="5326380"/>
            <a:ext cx="402336" cy="0"/>
          </a:xfrm>
          <a:prstGeom prst="line">
            <a:avLst/>
          </a:prstGeom>
          <a:noFill/>
          <a:ln w="25400">
            <a:solidFill>
              <a:srgbClr val="22D3EE"/>
            </a:solidFill>
            <a:prstDash val="solid"/>
            <a:tailEnd type="triangle"/>
          </a:ln>
        </p:spPr>
      </p:sp>
      <p:sp>
        <p:nvSpPr>
          <p:cNvPr id="25" name="Shape 21"/>
          <p:cNvSpPr/>
          <p:nvPr/>
        </p:nvSpPr>
        <p:spPr>
          <a:xfrm>
            <a:off x="8869680" y="5029200"/>
            <a:ext cx="2240280" cy="594360"/>
          </a:xfrm>
          <a:prstGeom prst="roundRect">
            <a:avLst>
              <a:gd name="adj" fmla="val 12308"/>
            </a:avLst>
          </a:prstGeom>
          <a:solidFill>
            <a:srgbClr val="172544"/>
          </a:solidFill>
          <a:ln w="19050">
            <a:solidFill>
              <a:srgbClr val="F87171"/>
            </a:solidFill>
            <a:prstDash val="solid"/>
          </a:ln>
        </p:spPr>
      </p:sp>
      <p:sp>
        <p:nvSpPr>
          <p:cNvPr id="26" name="Text 22"/>
          <p:cNvSpPr/>
          <p:nvPr/>
        </p:nvSpPr>
        <p:spPr>
          <a:xfrm>
            <a:off x="8869680" y="5029200"/>
            <a:ext cx="2240280" cy="594360"/>
          </a:xfrm>
          <a:prstGeom prst="rect">
            <a:avLst/>
          </a:prstGeom>
          <a:noFill/>
          <a:ln/>
        </p:spPr>
        <p:txBody>
          <a:bodyPr wrap="square" lIns="635" tIns="635" rIns="635" bIns="635" rtlCol="0" anchor="ctr"/>
          <a:lstStyle/>
          <a:p>
            <a:pPr marL="0" indent="0" algn="ctr">
              <a:buNone/>
            </a:pPr>
            <a:r>
              <a:rPr lang="en-US" sz="1200" b="1" dirty="0">
                <a:solidFill>
                  <a:srgbClr val="F1F5F9"/>
                </a:solidFill>
                <a:latin typeface="Consolas" pitchFamily="34" charset="0"/>
                <a:ea typeface="Consolas" pitchFamily="34" charset="-122"/>
                <a:cs typeface="Consolas" pitchFamily="34" charset="-120"/>
              </a:rPr>
              <a:t>ciphertext</a:t>
            </a:r>
            <a:endParaRPr lang="en-US" sz="1200" dirty="0"/>
          </a:p>
        </p:txBody>
      </p:sp>
      <p:sp>
        <p:nvSpPr>
          <p:cNvPr id="27" name="Text 23"/>
          <p:cNvSpPr/>
          <p:nvPr/>
        </p:nvSpPr>
        <p:spPr>
          <a:xfrm>
            <a:off x="777240" y="5760720"/>
            <a:ext cx="10058400" cy="274320"/>
          </a:xfrm>
          <a:prstGeom prst="rect">
            <a:avLst/>
          </a:prstGeom>
          <a:noFill/>
          <a:ln/>
        </p:spPr>
        <p:txBody>
          <a:bodyPr wrap="square" lIns="0" tIns="0" rIns="0" bIns="0" rtlCol="0" anchor="t"/>
          <a:lstStyle/>
          <a:p>
            <a:pPr marL="0" indent="0">
              <a:buNone/>
            </a:pPr>
            <a:r>
              <a:rPr lang="en-US" sz="1300" dirty="0">
                <a:solidFill>
                  <a:srgbClr val="9FB0CC"/>
                </a:solidFill>
                <a:latin typeface="Calibri" pitchFamily="34" charset="0"/>
                <a:ea typeface="Calibri" pitchFamily="34" charset="-122"/>
                <a:cs typeface="Calibri" pitchFamily="34" charset="-120"/>
              </a:rPr>
              <a:t>Encrypting the same message twice now gives different ciphertexts.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ASYMMETRIC 04</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Elliptic </a:t>
            </a:r>
            <a:r>
              <a:rPr lang="en-US" sz="2800" b="1" dirty="0">
                <a:solidFill>
                  <a:srgbClr val="F1F5F9"/>
                </a:solidFill>
                <a:latin typeface="Consolas" pitchFamily="34" charset="0"/>
                <a:ea typeface="Consolas" pitchFamily="34" charset="-122"/>
                <a:cs typeface="Consolas" pitchFamily="34" charset="-120"/>
              </a:rPr>
              <a:t>curves</a:t>
            </a:r>
            <a:r>
              <a:rPr lang="en-US" sz="2800" b="1">
                <a:solidFill>
                  <a:srgbClr val="F1F5F9"/>
                </a:solidFill>
                <a:latin typeface="Consolas" pitchFamily="34" charset="0"/>
                <a:ea typeface="Consolas" pitchFamily="34" charset="-122"/>
                <a:cs typeface="Consolas" pitchFamily="34" charset="-120"/>
              </a:rPr>
              <a:t> by example</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29</a:t>
            </a:r>
            <a:endParaRPr lang="en-US" sz="1000" dirty="0"/>
          </a:p>
        </p:txBody>
      </p:sp>
      <p:sp>
        <p:nvSpPr>
          <p:cNvPr id="6" name="Shape 4"/>
          <p:cNvSpPr/>
          <p:nvPr/>
        </p:nvSpPr>
        <p:spPr>
          <a:xfrm>
            <a:off x="548640" y="1417320"/>
            <a:ext cx="5120640" cy="4709160"/>
          </a:xfrm>
          <a:prstGeom prst="roundRect">
            <a:avLst>
              <a:gd name="adj" fmla="val 1553"/>
            </a:avLst>
          </a:prstGeom>
          <a:solidFill>
            <a:srgbClr val="111A2F"/>
          </a:solidFill>
          <a:ln w="12700">
            <a:solidFill>
              <a:srgbClr val="2A3E68"/>
            </a:solidFill>
            <a:prstDash val="solid"/>
          </a:ln>
        </p:spPr>
        <p:txBody>
          <a:bodyPr/>
          <a:lstStyle/>
          <a:p>
            <a:endParaRPr lang="en-US"/>
          </a:p>
        </p:txBody>
      </p:sp>
      <p:sp>
        <p:nvSpPr>
          <p:cNvPr id="7" name="Text 5"/>
          <p:cNvSpPr/>
          <p:nvPr/>
        </p:nvSpPr>
        <p:spPr>
          <a:xfrm>
            <a:off x="777240" y="1508760"/>
            <a:ext cx="4754880" cy="256032"/>
          </a:xfrm>
          <a:prstGeom prst="rect">
            <a:avLst/>
          </a:prstGeom>
          <a:noFill/>
          <a:ln/>
        </p:spPr>
        <p:txBody>
          <a:bodyPr wrap="square" lIns="0" tIns="0" rIns="0" bIns="0" rtlCol="0" anchor="t"/>
          <a:lstStyle/>
          <a:p>
            <a:pPr marL="0" indent="0">
              <a:buNone/>
            </a:pPr>
            <a:r>
              <a:rPr lang="en-US" sz="1200" b="1">
                <a:solidFill>
                  <a:srgbClr val="22D3EE"/>
                </a:solidFill>
                <a:latin typeface="Consolas" pitchFamily="34" charset="0"/>
                <a:ea typeface="Consolas" pitchFamily="34" charset="-122"/>
                <a:cs typeface="Consolas" pitchFamily="34" charset="-120"/>
              </a:rPr>
              <a:t>A curve: </a:t>
            </a:r>
            <a:r>
              <a:rPr lang="en-US" sz="1200" b="1" dirty="0">
                <a:solidFill>
                  <a:srgbClr val="22D3EE"/>
                </a:solidFill>
                <a:latin typeface="Consolas" pitchFamily="34" charset="0"/>
                <a:ea typeface="Consolas" pitchFamily="34" charset="-122"/>
                <a:cs typeface="Consolas" pitchFamily="34" charset="-120"/>
              </a:rPr>
              <a:t>y² = x³ − x + 1</a:t>
            </a:r>
            <a:endParaRPr lang="en-US" sz="1200" dirty="0"/>
          </a:p>
        </p:txBody>
      </p:sp>
      <p:sp>
        <p:nvSpPr>
          <p:cNvPr id="8" name="Shape 6"/>
          <p:cNvSpPr/>
          <p:nvPr/>
        </p:nvSpPr>
        <p:spPr>
          <a:xfrm>
            <a:off x="777240" y="3749040"/>
            <a:ext cx="4663440" cy="0"/>
          </a:xfrm>
          <a:prstGeom prst="line">
            <a:avLst/>
          </a:prstGeom>
          <a:noFill/>
          <a:ln w="12700">
            <a:solidFill>
              <a:srgbClr val="2A3E68"/>
            </a:solidFill>
            <a:prstDash val="solid"/>
          </a:ln>
        </p:spPr>
        <p:txBody>
          <a:bodyPr/>
          <a:lstStyle/>
          <a:p>
            <a:endParaRPr lang="en-US"/>
          </a:p>
        </p:txBody>
      </p:sp>
      <p:sp>
        <p:nvSpPr>
          <p:cNvPr id="9" name="Shape 7"/>
          <p:cNvSpPr/>
          <p:nvPr/>
        </p:nvSpPr>
        <p:spPr>
          <a:xfrm>
            <a:off x="2642616" y="1920240"/>
            <a:ext cx="0" cy="3657600"/>
          </a:xfrm>
          <a:prstGeom prst="line">
            <a:avLst/>
          </a:prstGeom>
          <a:noFill/>
          <a:ln w="12700">
            <a:solidFill>
              <a:srgbClr val="2A3E68"/>
            </a:solidFill>
            <a:prstDash val="solid"/>
          </a:ln>
        </p:spPr>
        <p:txBody>
          <a:bodyPr/>
          <a:lstStyle/>
          <a:p>
            <a:endParaRPr lang="en-US"/>
          </a:p>
        </p:txBody>
      </p:sp>
      <p:sp>
        <p:nvSpPr>
          <p:cNvPr id="10" name="Shape 8"/>
          <p:cNvSpPr/>
          <p:nvPr/>
        </p:nvSpPr>
        <p:spPr>
          <a:xfrm>
            <a:off x="777240" y="1920240"/>
            <a:ext cx="4663440" cy="3657600"/>
          </a:xfrm>
          <a:custGeom>
            <a:avLst/>
            <a:gdLst/>
            <a:ahLst/>
            <a:cxnLst/>
            <a:rect l="l" t="t" r="r" b="b"/>
            <a:pathLst>
              <a:path w="4663440" h="3657600">
                <a:moveTo>
                  <a:pt x="3379622" y="183585"/>
                </a:moveTo>
                <a:lnTo>
                  <a:pt x="3281519" y="332687"/>
                </a:lnTo>
                <a:lnTo>
                  <a:pt x="3185064" y="468456"/>
                </a:lnTo>
                <a:lnTo>
                  <a:pt x="3090259" y="589931"/>
                </a:lnTo>
                <a:lnTo>
                  <a:pt x="2997102" y="696010"/>
                </a:lnTo>
                <a:lnTo>
                  <a:pt x="2905594" y="785538"/>
                </a:lnTo>
                <a:lnTo>
                  <a:pt x="2815734" y="857480"/>
                </a:lnTo>
                <a:lnTo>
                  <a:pt x="2727524" y="911180"/>
                </a:lnTo>
                <a:lnTo>
                  <a:pt x="2640962" y="946662"/>
                </a:lnTo>
                <a:lnTo>
                  <a:pt x="2556049" y="964842"/>
                </a:lnTo>
                <a:lnTo>
                  <a:pt x="2472785" y="967546"/>
                </a:lnTo>
                <a:lnTo>
                  <a:pt x="2391169" y="957276"/>
                </a:lnTo>
                <a:lnTo>
                  <a:pt x="2311203" y="936845"/>
                </a:lnTo>
                <a:lnTo>
                  <a:pt x="2232885" y="909018"/>
                </a:lnTo>
                <a:lnTo>
                  <a:pt x="2156216" y="876271"/>
                </a:lnTo>
                <a:lnTo>
                  <a:pt x="2081195" y="840686"/>
                </a:lnTo>
                <a:lnTo>
                  <a:pt x="2007824" y="803933"/>
                </a:lnTo>
                <a:lnTo>
                  <a:pt x="1936101" y="767320"/>
                </a:lnTo>
                <a:lnTo>
                  <a:pt x="1866028" y="731846"/>
                </a:lnTo>
                <a:lnTo>
                  <a:pt x="1797603" y="698266"/>
                </a:lnTo>
                <a:lnTo>
                  <a:pt x="1730826" y="667145"/>
                </a:lnTo>
                <a:lnTo>
                  <a:pt x="1665699" y="638897"/>
                </a:lnTo>
                <a:lnTo>
                  <a:pt x="1602220" y="613822"/>
                </a:lnTo>
                <a:lnTo>
                  <a:pt x="1540390" y="592134"/>
                </a:lnTo>
                <a:lnTo>
                  <a:pt x="1480209" y="573976"/>
                </a:lnTo>
                <a:lnTo>
                  <a:pt x="1421677" y="559438"/>
                </a:lnTo>
                <a:lnTo>
                  <a:pt x="1364794" y="548571"/>
                </a:lnTo>
                <a:lnTo>
                  <a:pt x="1309559" y="541390"/>
                </a:lnTo>
                <a:lnTo>
                  <a:pt x="1255973" y="537886"/>
                </a:lnTo>
                <a:lnTo>
                  <a:pt x="1204036" y="538028"/>
                </a:lnTo>
                <a:lnTo>
                  <a:pt x="1153748" y="541769"/>
                </a:lnTo>
                <a:lnTo>
                  <a:pt x="1105108" y="549047"/>
                </a:lnTo>
                <a:lnTo>
                  <a:pt x="1058118" y="559790"/>
                </a:lnTo>
                <a:lnTo>
                  <a:pt x="1012776" y="573916"/>
                </a:lnTo>
                <a:lnTo>
                  <a:pt x="969083" y="591338"/>
                </a:lnTo>
                <a:lnTo>
                  <a:pt x="927038" y="611959"/>
                </a:lnTo>
                <a:lnTo>
                  <a:pt x="886643" y="635678"/>
                </a:lnTo>
                <a:lnTo>
                  <a:pt x="847896" y="662392"/>
                </a:lnTo>
                <a:lnTo>
                  <a:pt x="810798" y="691990"/>
                </a:lnTo>
                <a:lnTo>
                  <a:pt x="775349" y="724362"/>
                </a:lnTo>
                <a:lnTo>
                  <a:pt x="741549" y="759393"/>
                </a:lnTo>
                <a:lnTo>
                  <a:pt x="709397" y="796965"/>
                </a:lnTo>
                <a:lnTo>
                  <a:pt x="678894" y="836960"/>
                </a:lnTo>
                <a:lnTo>
                  <a:pt x="650040" y="879257"/>
                </a:lnTo>
                <a:lnTo>
                  <a:pt x="622835" y="923734"/>
                </a:lnTo>
                <a:lnTo>
                  <a:pt x="597279" y="970268"/>
                </a:lnTo>
                <a:lnTo>
                  <a:pt x="573371" y="1018734"/>
                </a:lnTo>
                <a:lnTo>
                  <a:pt x="551113" y="1069007"/>
                </a:lnTo>
                <a:lnTo>
                  <a:pt x="530503" y="1120961"/>
                </a:lnTo>
                <a:lnTo>
                  <a:pt x="511542" y="1174469"/>
                </a:lnTo>
                <a:lnTo>
                  <a:pt x="494229" y="1229402"/>
                </a:lnTo>
                <a:lnTo>
                  <a:pt x="478566" y="1285634"/>
                </a:lnTo>
                <a:lnTo>
                  <a:pt x="464551" y="1343035"/>
                </a:lnTo>
                <a:lnTo>
                  <a:pt x="452185" y="1401476"/>
                </a:lnTo>
                <a:lnTo>
                  <a:pt x="441468" y="1460829"/>
                </a:lnTo>
                <a:lnTo>
                  <a:pt x="432399" y="1520963"/>
                </a:lnTo>
                <a:lnTo>
                  <a:pt x="424980" y="1581748"/>
                </a:lnTo>
                <a:lnTo>
                  <a:pt x="419209" y="1643055"/>
                </a:lnTo>
                <a:lnTo>
                  <a:pt x="415087" y="1704753"/>
                </a:lnTo>
                <a:lnTo>
                  <a:pt x="412614" y="1766713"/>
                </a:lnTo>
                <a:lnTo>
                  <a:pt x="411789" y="1828800"/>
                </a:lnTo>
                <a:lnTo>
                  <a:pt x="412614" y="1890887"/>
                </a:lnTo>
                <a:lnTo>
                  <a:pt x="415087" y="1952847"/>
                </a:lnTo>
                <a:lnTo>
                  <a:pt x="419209" y="2014545"/>
                </a:lnTo>
                <a:lnTo>
                  <a:pt x="424980" y="2075852"/>
                </a:lnTo>
                <a:lnTo>
                  <a:pt x="432399" y="2136637"/>
                </a:lnTo>
                <a:lnTo>
                  <a:pt x="441468" y="2196771"/>
                </a:lnTo>
                <a:lnTo>
                  <a:pt x="452185" y="2256124"/>
                </a:lnTo>
                <a:lnTo>
                  <a:pt x="464551" y="2314565"/>
                </a:lnTo>
                <a:lnTo>
                  <a:pt x="478566" y="2371966"/>
                </a:lnTo>
                <a:lnTo>
                  <a:pt x="494229" y="2428198"/>
                </a:lnTo>
                <a:lnTo>
                  <a:pt x="511542" y="2483131"/>
                </a:lnTo>
                <a:lnTo>
                  <a:pt x="530503" y="2536639"/>
                </a:lnTo>
                <a:lnTo>
                  <a:pt x="551113" y="2588593"/>
                </a:lnTo>
                <a:lnTo>
                  <a:pt x="573371" y="2638866"/>
                </a:lnTo>
                <a:lnTo>
                  <a:pt x="597279" y="2687332"/>
                </a:lnTo>
                <a:lnTo>
                  <a:pt x="622835" y="2733866"/>
                </a:lnTo>
                <a:lnTo>
                  <a:pt x="650040" y="2778343"/>
                </a:lnTo>
                <a:lnTo>
                  <a:pt x="678894" y="2820640"/>
                </a:lnTo>
                <a:lnTo>
                  <a:pt x="709397" y="2860635"/>
                </a:lnTo>
                <a:lnTo>
                  <a:pt x="741549" y="2898207"/>
                </a:lnTo>
                <a:lnTo>
                  <a:pt x="775349" y="2933238"/>
                </a:lnTo>
                <a:lnTo>
                  <a:pt x="810798" y="2965610"/>
                </a:lnTo>
                <a:lnTo>
                  <a:pt x="847896" y="2995208"/>
                </a:lnTo>
                <a:lnTo>
                  <a:pt x="886643" y="3021922"/>
                </a:lnTo>
                <a:lnTo>
                  <a:pt x="927038" y="3045641"/>
                </a:lnTo>
                <a:lnTo>
                  <a:pt x="969083" y="3066262"/>
                </a:lnTo>
                <a:lnTo>
                  <a:pt x="1012776" y="3083684"/>
                </a:lnTo>
                <a:lnTo>
                  <a:pt x="1058118" y="3097810"/>
                </a:lnTo>
                <a:lnTo>
                  <a:pt x="1105108" y="3108553"/>
                </a:lnTo>
                <a:lnTo>
                  <a:pt x="1153748" y="3115831"/>
                </a:lnTo>
                <a:lnTo>
                  <a:pt x="1204036" y="3119572"/>
                </a:lnTo>
                <a:lnTo>
                  <a:pt x="1255973" y="3119714"/>
                </a:lnTo>
                <a:lnTo>
                  <a:pt x="1309559" y="3116210"/>
                </a:lnTo>
                <a:lnTo>
                  <a:pt x="1364794" y="3109029"/>
                </a:lnTo>
                <a:lnTo>
                  <a:pt x="1421677" y="3098162"/>
                </a:lnTo>
                <a:lnTo>
                  <a:pt x="1480209" y="3083624"/>
                </a:lnTo>
                <a:lnTo>
                  <a:pt x="1540390" y="3065466"/>
                </a:lnTo>
                <a:lnTo>
                  <a:pt x="1602220" y="3043778"/>
                </a:lnTo>
                <a:lnTo>
                  <a:pt x="1665699" y="3018703"/>
                </a:lnTo>
                <a:lnTo>
                  <a:pt x="1730826" y="2990455"/>
                </a:lnTo>
                <a:lnTo>
                  <a:pt x="1797603" y="2959334"/>
                </a:lnTo>
                <a:lnTo>
                  <a:pt x="1866028" y="2925754"/>
                </a:lnTo>
                <a:lnTo>
                  <a:pt x="1936101" y="2890280"/>
                </a:lnTo>
                <a:lnTo>
                  <a:pt x="2007824" y="2853667"/>
                </a:lnTo>
                <a:lnTo>
                  <a:pt x="2081195" y="2816914"/>
                </a:lnTo>
                <a:lnTo>
                  <a:pt x="2156216" y="2781329"/>
                </a:lnTo>
                <a:lnTo>
                  <a:pt x="2232885" y="2748582"/>
                </a:lnTo>
                <a:lnTo>
                  <a:pt x="2311203" y="2720755"/>
                </a:lnTo>
                <a:lnTo>
                  <a:pt x="2391169" y="2700324"/>
                </a:lnTo>
                <a:lnTo>
                  <a:pt x="2472785" y="2690054"/>
                </a:lnTo>
                <a:lnTo>
                  <a:pt x="2556049" y="2692758"/>
                </a:lnTo>
                <a:lnTo>
                  <a:pt x="2640962" y="2710938"/>
                </a:lnTo>
                <a:lnTo>
                  <a:pt x="2727524" y="2746420"/>
                </a:lnTo>
                <a:lnTo>
                  <a:pt x="2815734" y="2800120"/>
                </a:lnTo>
                <a:lnTo>
                  <a:pt x="2905594" y="2872062"/>
                </a:lnTo>
                <a:lnTo>
                  <a:pt x="2997102" y="2961590"/>
                </a:lnTo>
                <a:lnTo>
                  <a:pt x="3090259" y="3067669"/>
                </a:lnTo>
                <a:lnTo>
                  <a:pt x="3185064" y="3189144"/>
                </a:lnTo>
                <a:lnTo>
                  <a:pt x="3281519" y="3324913"/>
                </a:lnTo>
                <a:lnTo>
                  <a:pt x="3379622" y="3474015"/>
                </a:lnTo>
              </a:path>
            </a:pathLst>
          </a:custGeom>
          <a:solidFill>
            <a:srgbClr val="111A2F">
              <a:alpha val="0"/>
            </a:srgbClr>
          </a:solidFill>
          <a:ln w="31750">
            <a:solidFill>
              <a:srgbClr val="22D3EE"/>
            </a:solidFill>
            <a:prstDash val="solid"/>
          </a:ln>
        </p:spPr>
        <p:txBody>
          <a:bodyPr/>
          <a:lstStyle/>
          <a:p>
            <a:endParaRPr lang="en-US"/>
          </a:p>
        </p:txBody>
      </p:sp>
      <p:sp>
        <p:nvSpPr>
          <p:cNvPr id="11" name="Shape 9"/>
          <p:cNvSpPr/>
          <p:nvPr/>
        </p:nvSpPr>
        <p:spPr>
          <a:xfrm>
            <a:off x="777240" y="2651760"/>
            <a:ext cx="4663440" cy="0"/>
          </a:xfrm>
          <a:prstGeom prst="line">
            <a:avLst/>
          </a:prstGeom>
          <a:noFill/>
          <a:ln w="19050">
            <a:solidFill>
              <a:srgbClr val="FBBF24"/>
            </a:solidFill>
            <a:prstDash val="dash"/>
          </a:ln>
        </p:spPr>
        <p:txBody>
          <a:bodyPr/>
          <a:lstStyle/>
          <a:p>
            <a:endParaRPr lang="en-US"/>
          </a:p>
        </p:txBody>
      </p:sp>
      <p:sp>
        <p:nvSpPr>
          <p:cNvPr id="12" name="Shape 10"/>
          <p:cNvSpPr/>
          <p:nvPr/>
        </p:nvSpPr>
        <p:spPr>
          <a:xfrm>
            <a:off x="3739896" y="2651760"/>
            <a:ext cx="0" cy="2194560"/>
          </a:xfrm>
          <a:prstGeom prst="line">
            <a:avLst/>
          </a:prstGeom>
          <a:noFill/>
          <a:ln w="19050">
            <a:solidFill>
              <a:srgbClr val="9FB0CC"/>
            </a:solidFill>
            <a:prstDash val="dash"/>
          </a:ln>
        </p:spPr>
        <p:txBody>
          <a:bodyPr/>
          <a:lstStyle/>
          <a:p>
            <a:endParaRPr lang="en-US"/>
          </a:p>
        </p:txBody>
      </p:sp>
      <p:sp>
        <p:nvSpPr>
          <p:cNvPr id="13" name="Shape 11"/>
          <p:cNvSpPr/>
          <p:nvPr/>
        </p:nvSpPr>
        <p:spPr>
          <a:xfrm>
            <a:off x="1463040" y="2569464"/>
            <a:ext cx="164592" cy="164592"/>
          </a:xfrm>
          <a:prstGeom prst="ellipse">
            <a:avLst/>
          </a:prstGeom>
          <a:solidFill>
            <a:srgbClr val="4ADE80"/>
          </a:solidFill>
          <a:ln w="12700">
            <a:solidFill>
              <a:srgbClr val="0A0F1C"/>
            </a:solidFill>
            <a:prstDash val="solid"/>
          </a:ln>
        </p:spPr>
        <p:txBody>
          <a:bodyPr/>
          <a:lstStyle/>
          <a:p>
            <a:endParaRPr lang="en-US"/>
          </a:p>
        </p:txBody>
      </p:sp>
      <p:sp>
        <p:nvSpPr>
          <p:cNvPr id="14" name="Shape 12"/>
          <p:cNvSpPr/>
          <p:nvPr/>
        </p:nvSpPr>
        <p:spPr>
          <a:xfrm>
            <a:off x="2560320" y="2569464"/>
            <a:ext cx="164592" cy="164592"/>
          </a:xfrm>
          <a:prstGeom prst="ellipse">
            <a:avLst/>
          </a:prstGeom>
          <a:solidFill>
            <a:srgbClr val="4ADE80"/>
          </a:solidFill>
          <a:ln w="12700">
            <a:solidFill>
              <a:srgbClr val="0A0F1C"/>
            </a:solidFill>
            <a:prstDash val="solid"/>
          </a:ln>
        </p:spPr>
        <p:txBody>
          <a:bodyPr/>
          <a:lstStyle/>
          <a:p>
            <a:endParaRPr lang="en-US"/>
          </a:p>
        </p:txBody>
      </p:sp>
      <p:sp>
        <p:nvSpPr>
          <p:cNvPr id="15" name="Shape 13"/>
          <p:cNvSpPr/>
          <p:nvPr/>
        </p:nvSpPr>
        <p:spPr>
          <a:xfrm>
            <a:off x="3657600" y="2569464"/>
            <a:ext cx="164592" cy="164592"/>
          </a:xfrm>
          <a:prstGeom prst="ellipse">
            <a:avLst/>
          </a:prstGeom>
          <a:solidFill>
            <a:srgbClr val="FBBF24"/>
          </a:solidFill>
          <a:ln w="12700">
            <a:solidFill>
              <a:srgbClr val="0A0F1C"/>
            </a:solidFill>
            <a:prstDash val="solid"/>
          </a:ln>
        </p:spPr>
        <p:txBody>
          <a:bodyPr/>
          <a:lstStyle/>
          <a:p>
            <a:endParaRPr lang="en-US"/>
          </a:p>
        </p:txBody>
      </p:sp>
      <p:sp>
        <p:nvSpPr>
          <p:cNvPr id="16" name="Shape 14"/>
          <p:cNvSpPr/>
          <p:nvPr/>
        </p:nvSpPr>
        <p:spPr>
          <a:xfrm>
            <a:off x="3657600" y="4764024"/>
            <a:ext cx="164592" cy="164592"/>
          </a:xfrm>
          <a:prstGeom prst="ellipse">
            <a:avLst/>
          </a:prstGeom>
          <a:solidFill>
            <a:srgbClr val="F87171"/>
          </a:solidFill>
          <a:ln w="12700">
            <a:solidFill>
              <a:srgbClr val="0A0F1C"/>
            </a:solidFill>
            <a:prstDash val="solid"/>
          </a:ln>
        </p:spPr>
        <p:txBody>
          <a:bodyPr/>
          <a:lstStyle/>
          <a:p>
            <a:endParaRPr lang="en-US"/>
          </a:p>
        </p:txBody>
      </p:sp>
      <p:sp>
        <p:nvSpPr>
          <p:cNvPr id="17" name="Text 15"/>
          <p:cNvSpPr/>
          <p:nvPr/>
        </p:nvSpPr>
        <p:spPr>
          <a:xfrm>
            <a:off x="1362456" y="2304288"/>
            <a:ext cx="1097280" cy="228600"/>
          </a:xfrm>
          <a:prstGeom prst="rect">
            <a:avLst/>
          </a:prstGeom>
          <a:noFill/>
          <a:ln/>
        </p:spPr>
        <p:txBody>
          <a:bodyPr wrap="square" lIns="0" tIns="0" rIns="0" bIns="0" rtlCol="0" anchor="t"/>
          <a:lstStyle/>
          <a:p>
            <a:pPr marL="0" indent="0">
              <a:buNone/>
            </a:pPr>
            <a:r>
              <a:rPr lang="en-US" sz="1200" b="1" dirty="0">
                <a:solidFill>
                  <a:srgbClr val="4ADE80"/>
                </a:solidFill>
                <a:latin typeface="Consolas" pitchFamily="34" charset="0"/>
                <a:ea typeface="Consolas" pitchFamily="34" charset="-122"/>
                <a:cs typeface="Consolas" pitchFamily="34" charset="-120"/>
              </a:rPr>
              <a:t>P</a:t>
            </a:r>
            <a:endParaRPr lang="en-US" sz="1200" dirty="0"/>
          </a:p>
        </p:txBody>
      </p:sp>
      <p:sp>
        <p:nvSpPr>
          <p:cNvPr id="18" name="Text 16"/>
          <p:cNvSpPr/>
          <p:nvPr/>
        </p:nvSpPr>
        <p:spPr>
          <a:xfrm>
            <a:off x="2734056" y="2304288"/>
            <a:ext cx="1097280" cy="228600"/>
          </a:xfrm>
          <a:prstGeom prst="rect">
            <a:avLst/>
          </a:prstGeom>
          <a:noFill/>
          <a:ln/>
        </p:spPr>
        <p:txBody>
          <a:bodyPr wrap="square" lIns="0" tIns="0" rIns="0" bIns="0" rtlCol="0" anchor="t"/>
          <a:lstStyle/>
          <a:p>
            <a:pPr marL="0" indent="0">
              <a:buNone/>
            </a:pPr>
            <a:r>
              <a:rPr lang="en-US" sz="1200" b="1" dirty="0">
                <a:solidFill>
                  <a:srgbClr val="4ADE80"/>
                </a:solidFill>
                <a:latin typeface="Consolas" pitchFamily="34" charset="0"/>
                <a:ea typeface="Consolas" pitchFamily="34" charset="-122"/>
                <a:cs typeface="Consolas" pitchFamily="34" charset="-120"/>
              </a:rPr>
              <a:t>Q</a:t>
            </a:r>
            <a:endParaRPr lang="en-US" sz="1200" dirty="0"/>
          </a:p>
        </p:txBody>
      </p:sp>
      <p:sp>
        <p:nvSpPr>
          <p:cNvPr id="19" name="Text 17"/>
          <p:cNvSpPr/>
          <p:nvPr/>
        </p:nvSpPr>
        <p:spPr>
          <a:xfrm>
            <a:off x="3849624" y="2212848"/>
            <a:ext cx="1097280" cy="228600"/>
          </a:xfrm>
          <a:prstGeom prst="rect">
            <a:avLst/>
          </a:prstGeom>
          <a:noFill/>
          <a:ln/>
        </p:spPr>
        <p:txBody>
          <a:bodyPr wrap="square" lIns="0" tIns="0" rIns="0" bIns="0" rtlCol="0" anchor="t"/>
          <a:lstStyle/>
          <a:p>
            <a:pPr marL="0" indent="0">
              <a:buNone/>
            </a:pPr>
            <a:r>
              <a:rPr lang="en-US" sz="1200" b="1" dirty="0">
                <a:solidFill>
                  <a:srgbClr val="FBBF24"/>
                </a:solidFill>
                <a:latin typeface="Consolas" pitchFamily="34" charset="0"/>
                <a:ea typeface="Consolas" pitchFamily="34" charset="-122"/>
                <a:cs typeface="Consolas" pitchFamily="34" charset="-120"/>
              </a:rPr>
              <a:t>-R</a:t>
            </a:r>
            <a:endParaRPr lang="en-US" sz="1200" dirty="0"/>
          </a:p>
        </p:txBody>
      </p:sp>
      <p:sp>
        <p:nvSpPr>
          <p:cNvPr id="20" name="Text 18"/>
          <p:cNvSpPr/>
          <p:nvPr/>
        </p:nvSpPr>
        <p:spPr>
          <a:xfrm>
            <a:off x="3877056" y="4736592"/>
            <a:ext cx="1097280" cy="228600"/>
          </a:xfrm>
          <a:prstGeom prst="rect">
            <a:avLst/>
          </a:prstGeom>
          <a:noFill/>
          <a:ln/>
        </p:spPr>
        <p:txBody>
          <a:bodyPr wrap="square" lIns="0" tIns="0" rIns="0" bIns="0" rtlCol="0" anchor="t"/>
          <a:lstStyle/>
          <a:p>
            <a:pPr marL="0" indent="0">
              <a:buNone/>
            </a:pPr>
            <a:r>
              <a:rPr lang="en-US" sz="1200" b="1" dirty="0">
                <a:solidFill>
                  <a:srgbClr val="F87171"/>
                </a:solidFill>
                <a:latin typeface="Consolas" pitchFamily="34" charset="0"/>
                <a:ea typeface="Consolas" pitchFamily="34" charset="-122"/>
                <a:cs typeface="Consolas" pitchFamily="34" charset="-120"/>
              </a:rPr>
              <a:t>P+Q</a:t>
            </a:r>
            <a:endParaRPr lang="en-US" sz="1200" dirty="0"/>
          </a:p>
        </p:txBody>
      </p:sp>
      <p:sp>
        <p:nvSpPr>
          <p:cNvPr id="21" name="Text 19"/>
          <p:cNvSpPr/>
          <p:nvPr/>
        </p:nvSpPr>
        <p:spPr>
          <a:xfrm>
            <a:off x="777240" y="5623560"/>
            <a:ext cx="4754880" cy="457200"/>
          </a:xfrm>
          <a:prstGeom prst="rect">
            <a:avLst/>
          </a:prstGeom>
          <a:noFill/>
          <a:ln/>
        </p:spPr>
        <p:txBody>
          <a:bodyPr wrap="square" lIns="0" tIns="0" rIns="0" bIns="0" rtlCol="0" anchor="t"/>
          <a:lstStyle/>
          <a:p>
            <a:pPr marL="0" indent="0">
              <a:buNone/>
            </a:pPr>
            <a:r>
              <a:rPr lang="en-US" sz="1200" dirty="0">
                <a:solidFill>
                  <a:srgbClr val="9FB0CC"/>
                </a:solidFill>
                <a:latin typeface="Calibri" pitchFamily="34" charset="0"/>
                <a:ea typeface="Calibri" pitchFamily="34" charset="-122"/>
                <a:cs typeface="Calibri" pitchFamily="34" charset="-120"/>
              </a:rPr>
              <a:t>Add P + Q: draw </a:t>
            </a:r>
            <a:r>
              <a:rPr lang="en-US" sz="1200">
                <a:solidFill>
                  <a:srgbClr val="9FB0CC"/>
                </a:solidFill>
                <a:latin typeface="Calibri" pitchFamily="34" charset="0"/>
                <a:ea typeface="Calibri" pitchFamily="34" charset="-122"/>
                <a:cs typeface="Calibri" pitchFamily="34" charset="-120"/>
              </a:rPr>
              <a:t>a </a:t>
            </a:r>
            <a:r>
              <a:rPr lang="en-US" sz="1200" dirty="0">
                <a:solidFill>
                  <a:srgbClr val="9FB0CC"/>
                </a:solidFill>
                <a:latin typeface="Calibri" pitchFamily="34" charset="0"/>
                <a:ea typeface="Calibri" pitchFamily="34" charset="-122"/>
                <a:cs typeface="Calibri" pitchFamily="34" charset="-120"/>
              </a:rPr>
              <a:t>line through both, </a:t>
            </a:r>
            <a:r>
              <a:rPr lang="en-US" sz="1200">
                <a:solidFill>
                  <a:srgbClr val="9FB0CC"/>
                </a:solidFill>
                <a:latin typeface="Calibri" pitchFamily="34" charset="0"/>
                <a:ea typeface="Calibri" pitchFamily="34" charset="-122"/>
                <a:cs typeface="Calibri" pitchFamily="34" charset="-120"/>
              </a:rPr>
              <a:t>find </a:t>
            </a:r>
            <a:r>
              <a:rPr lang="en-US" sz="1200" dirty="0">
                <a:solidFill>
                  <a:srgbClr val="9FB0CC"/>
                </a:solidFill>
                <a:latin typeface="Calibri" pitchFamily="34" charset="0"/>
                <a:ea typeface="Calibri" pitchFamily="34" charset="-122"/>
                <a:cs typeface="Calibri" pitchFamily="34" charset="-120"/>
              </a:rPr>
              <a:t>the third </a:t>
            </a:r>
            <a:r>
              <a:rPr lang="en-US" sz="1200">
                <a:solidFill>
                  <a:srgbClr val="9FB0CC"/>
                </a:solidFill>
                <a:latin typeface="Calibri" pitchFamily="34" charset="0"/>
                <a:ea typeface="Calibri" pitchFamily="34" charset="-122"/>
                <a:cs typeface="Calibri" pitchFamily="34" charset="-120"/>
              </a:rPr>
              <a:t>spot it hits the curve</a:t>
            </a:r>
            <a:r>
              <a:rPr lang="en-US" sz="1200" dirty="0">
                <a:solidFill>
                  <a:srgbClr val="9FB0CC"/>
                </a:solidFill>
                <a:latin typeface="Calibri" pitchFamily="34" charset="0"/>
                <a:ea typeface="Calibri" pitchFamily="34" charset="-122"/>
                <a:cs typeface="Calibri" pitchFamily="34" charset="-120"/>
              </a:rPr>
              <a:t>, then </a:t>
            </a:r>
            <a:r>
              <a:rPr lang="en-US" sz="1200">
                <a:solidFill>
                  <a:srgbClr val="9FB0CC"/>
                </a:solidFill>
                <a:latin typeface="Calibri" pitchFamily="34" charset="0"/>
                <a:ea typeface="Calibri" pitchFamily="34" charset="-122"/>
                <a:cs typeface="Calibri" pitchFamily="34" charset="-120"/>
              </a:rPr>
              <a:t>flip</a:t>
            </a:r>
            <a:r>
              <a:rPr lang="en-US" sz="1200" dirty="0">
                <a:solidFill>
                  <a:srgbClr val="9FB0CC"/>
                </a:solidFill>
                <a:latin typeface="Calibri" pitchFamily="34" charset="0"/>
                <a:ea typeface="Calibri" pitchFamily="34" charset="-122"/>
                <a:cs typeface="Calibri" pitchFamily="34" charset="-120"/>
              </a:rPr>
              <a:t> it over the x-axis.</a:t>
            </a:r>
            <a:endParaRPr lang="en-US" sz="1200" dirty="0"/>
          </a:p>
        </p:txBody>
      </p:sp>
      <p:sp>
        <p:nvSpPr>
          <p:cNvPr id="22" name="Shape 20"/>
          <p:cNvSpPr/>
          <p:nvPr/>
        </p:nvSpPr>
        <p:spPr>
          <a:xfrm>
            <a:off x="5897880" y="1417320"/>
            <a:ext cx="5742432" cy="2331720"/>
          </a:xfrm>
          <a:prstGeom prst="roundRect">
            <a:avLst>
              <a:gd name="adj" fmla="val 3137"/>
            </a:avLst>
          </a:prstGeom>
          <a:solidFill>
            <a:srgbClr val="070B14"/>
          </a:solidFill>
          <a:ln w="12700">
            <a:solidFill>
              <a:srgbClr val="2A3E68"/>
            </a:solidFill>
            <a:prstDash val="solid"/>
          </a:ln>
        </p:spPr>
        <p:txBody>
          <a:bodyPr/>
          <a:lstStyle/>
          <a:p>
            <a:endParaRPr lang="en-US"/>
          </a:p>
        </p:txBody>
      </p:sp>
      <p:sp>
        <p:nvSpPr>
          <p:cNvPr id="23" name="Shape 21"/>
          <p:cNvSpPr/>
          <p:nvPr/>
        </p:nvSpPr>
        <p:spPr>
          <a:xfrm>
            <a:off x="6062472" y="1545336"/>
            <a:ext cx="100584" cy="100584"/>
          </a:xfrm>
          <a:prstGeom prst="ellipse">
            <a:avLst/>
          </a:prstGeom>
          <a:solidFill>
            <a:srgbClr val="F87171"/>
          </a:solidFill>
          <a:ln w="12700">
            <a:solidFill>
              <a:srgbClr val="F87171"/>
            </a:solidFill>
            <a:prstDash val="solid"/>
          </a:ln>
        </p:spPr>
        <p:txBody>
          <a:bodyPr/>
          <a:lstStyle/>
          <a:p>
            <a:endParaRPr lang="en-US"/>
          </a:p>
        </p:txBody>
      </p:sp>
      <p:sp>
        <p:nvSpPr>
          <p:cNvPr id="24" name="Shape 22"/>
          <p:cNvSpPr/>
          <p:nvPr/>
        </p:nvSpPr>
        <p:spPr>
          <a:xfrm>
            <a:off x="6245352" y="1545336"/>
            <a:ext cx="100584" cy="100584"/>
          </a:xfrm>
          <a:prstGeom prst="ellipse">
            <a:avLst/>
          </a:prstGeom>
          <a:solidFill>
            <a:srgbClr val="FBBF24"/>
          </a:solidFill>
          <a:ln w="12700">
            <a:solidFill>
              <a:srgbClr val="FBBF24"/>
            </a:solidFill>
            <a:prstDash val="solid"/>
          </a:ln>
        </p:spPr>
        <p:txBody>
          <a:bodyPr/>
          <a:lstStyle/>
          <a:p>
            <a:endParaRPr lang="en-US"/>
          </a:p>
        </p:txBody>
      </p:sp>
      <p:sp>
        <p:nvSpPr>
          <p:cNvPr id="25" name="Shape 23"/>
          <p:cNvSpPr/>
          <p:nvPr/>
        </p:nvSpPr>
        <p:spPr>
          <a:xfrm>
            <a:off x="6428232" y="1545336"/>
            <a:ext cx="100584" cy="100584"/>
          </a:xfrm>
          <a:prstGeom prst="ellipse">
            <a:avLst/>
          </a:prstGeom>
          <a:solidFill>
            <a:srgbClr val="4ADE80"/>
          </a:solidFill>
          <a:ln w="12700">
            <a:solidFill>
              <a:srgbClr val="4ADE80"/>
            </a:solidFill>
            <a:prstDash val="solid"/>
          </a:ln>
        </p:spPr>
        <p:txBody>
          <a:bodyPr/>
          <a:lstStyle/>
          <a:p>
            <a:endParaRPr lang="en-US"/>
          </a:p>
        </p:txBody>
      </p:sp>
      <p:sp>
        <p:nvSpPr>
          <p:cNvPr id="26" name="Text 24"/>
          <p:cNvSpPr/>
          <p:nvPr/>
        </p:nvSpPr>
        <p:spPr>
          <a:xfrm>
            <a:off x="6675120" y="1490472"/>
            <a:ext cx="4828032" cy="201168"/>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multiples of G</a:t>
            </a:r>
            <a:endParaRPr lang="en-US" sz="1000" dirty="0"/>
          </a:p>
        </p:txBody>
      </p:sp>
      <p:sp>
        <p:nvSpPr>
          <p:cNvPr id="27" name="Text 25"/>
          <p:cNvSpPr/>
          <p:nvPr/>
        </p:nvSpPr>
        <p:spPr>
          <a:xfrm>
            <a:off x="6126480" y="1801368"/>
            <a:ext cx="5285232" cy="1828800"/>
          </a:xfrm>
          <a:prstGeom prst="rect">
            <a:avLst/>
          </a:prstGeom>
          <a:noFill/>
          <a:ln/>
        </p:spPr>
        <p:txBody>
          <a:bodyPr wrap="square" lIns="0" tIns="0" rIns="0" bIns="0" rtlCol="0" anchor="t"/>
          <a:lstStyle/>
          <a:p>
            <a:pPr marL="0" indent="0">
              <a:spcAft>
                <a:spcPts val="200"/>
              </a:spcAft>
              <a:buNone/>
            </a:pPr>
            <a:r>
              <a:rPr lang="en-US" sz="1300">
                <a:solidFill>
                  <a:srgbClr val="22D3EE"/>
                </a:solidFill>
                <a:latin typeface="Consolas" pitchFamily="34" charset="0"/>
                <a:ea typeface="Consolas" pitchFamily="34" charset="-122"/>
                <a:cs typeface="Consolas" pitchFamily="34" charset="-120"/>
              </a:rPr>
              <a:t>Small curve: </a:t>
            </a:r>
            <a:r>
              <a:rPr lang="en-US" sz="1300" dirty="0">
                <a:solidFill>
                  <a:srgbClr val="22D3EE"/>
                </a:solidFill>
                <a:latin typeface="Consolas" pitchFamily="34" charset="0"/>
                <a:ea typeface="Consolas" pitchFamily="34" charset="-122"/>
                <a:cs typeface="Consolas" pitchFamily="34" charset="-120"/>
              </a:rPr>
              <a:t>y^2 = x^3 + </a:t>
            </a:r>
            <a:r>
              <a:rPr lang="en-US" sz="1300">
                <a:solidFill>
                  <a:srgbClr val="22D3EE"/>
                </a:solidFill>
                <a:latin typeface="Consolas" pitchFamily="34" charset="0"/>
                <a:ea typeface="Consolas" pitchFamily="34" charset="-122"/>
                <a:cs typeface="Consolas" pitchFamily="34" charset="-120"/>
              </a:rPr>
              <a:t>2x </a:t>
            </a:r>
            <a:r>
              <a:rPr lang="en-US" sz="1300" dirty="0">
                <a:solidFill>
                  <a:srgbClr val="22D3EE"/>
                </a:solidFill>
                <a:latin typeface="Consolas" pitchFamily="34" charset="0"/>
                <a:ea typeface="Consolas" pitchFamily="34" charset="-122"/>
                <a:cs typeface="Consolas" pitchFamily="34" charset="-120"/>
              </a:rPr>
              <a:t>+ </a:t>
            </a:r>
            <a:r>
              <a:rPr lang="en-US" sz="1300">
                <a:solidFill>
                  <a:srgbClr val="22D3EE"/>
                </a:solidFill>
                <a:latin typeface="Consolas" pitchFamily="34" charset="0"/>
                <a:ea typeface="Consolas" pitchFamily="34" charset="-122"/>
                <a:cs typeface="Consolas" pitchFamily="34" charset="-120"/>
              </a:rPr>
              <a:t>2 </a:t>
            </a:r>
            <a:r>
              <a:rPr lang="en-US" sz="1300" dirty="0">
                <a:solidFill>
                  <a:srgbClr val="22D3EE"/>
                </a:solidFill>
                <a:latin typeface="Consolas" pitchFamily="34" charset="0"/>
                <a:ea typeface="Consolas" pitchFamily="34" charset="-122"/>
                <a:cs typeface="Consolas" pitchFamily="34" charset="-120"/>
              </a:rPr>
              <a:t>(mod </a:t>
            </a:r>
            <a:r>
              <a:rPr lang="en-US" sz="1300">
                <a:solidFill>
                  <a:srgbClr val="22D3EE"/>
                </a:solidFill>
                <a:latin typeface="Consolas" pitchFamily="34" charset="0"/>
                <a:ea typeface="Consolas" pitchFamily="34" charset="-122"/>
                <a:cs typeface="Consolas" pitchFamily="34" charset="-120"/>
              </a:rPr>
              <a:t>17</a:t>
            </a:r>
            <a:r>
              <a:rPr lang="en-US" sz="1300" dirty="0">
                <a:solidFill>
                  <a:srgbClr val="22D3EE"/>
                </a:solidFill>
                <a:latin typeface="Consolas" pitchFamily="34" charset="0"/>
                <a:ea typeface="Consolas" pitchFamily="34" charset="-122"/>
                <a:cs typeface="Consolas" pitchFamily="34" charset="-120"/>
              </a:rPr>
              <a:t>)</a:t>
            </a:r>
            <a:endParaRPr lang="en-US" sz="1300" dirty="0"/>
          </a:p>
          <a:p>
            <a:pPr marL="0" indent="0">
              <a:spcAft>
                <a:spcPts val="200"/>
              </a:spcAft>
              <a:buNone/>
            </a:pPr>
            <a:r>
              <a:rPr lang="en-US" sz="1300">
                <a:solidFill>
                  <a:srgbClr val="4ADE80"/>
                </a:solidFill>
                <a:latin typeface="Consolas" pitchFamily="34" charset="0"/>
                <a:ea typeface="Consolas" pitchFamily="34" charset="-122"/>
                <a:cs typeface="Consolas" pitchFamily="34" charset="-120"/>
              </a:rPr>
              <a:t>G  = (5, 1)    the starting point</a:t>
            </a:r>
            <a:endParaRPr lang="en-US" sz="1300"/>
          </a:p>
          <a:p>
            <a:pPr marL="0" indent="0">
              <a:spcAft>
                <a:spcPts val="200"/>
              </a:spcAft>
              <a:buNone/>
            </a:pPr>
            <a:r>
              <a:rPr lang="en-US" sz="1300">
                <a:solidFill>
                  <a:srgbClr val="4ADE80"/>
                </a:solidFill>
                <a:latin typeface="Consolas" pitchFamily="34" charset="0"/>
                <a:ea typeface="Consolas" pitchFamily="34" charset="-122"/>
                <a:cs typeface="Consolas" pitchFamily="34" charset="-120"/>
              </a:rPr>
              <a:t>2G </a:t>
            </a:r>
            <a:r>
              <a:rPr lang="en-US" sz="1300" dirty="0">
                <a:solidFill>
                  <a:srgbClr val="4ADE80"/>
                </a:solidFill>
                <a:latin typeface="Consolas" pitchFamily="34" charset="0"/>
                <a:ea typeface="Consolas" pitchFamily="34" charset="-122"/>
                <a:cs typeface="Consolas" pitchFamily="34" charset="-120"/>
              </a:rPr>
              <a:t>= (</a:t>
            </a:r>
            <a:r>
              <a:rPr lang="en-US" sz="1300">
                <a:solidFill>
                  <a:srgbClr val="4ADE80"/>
                </a:solidFill>
                <a:latin typeface="Consolas" pitchFamily="34" charset="0"/>
                <a:ea typeface="Consolas" pitchFamily="34" charset="-122"/>
                <a:cs typeface="Consolas" pitchFamily="34" charset="-120"/>
              </a:rPr>
              <a:t>6, 3</a:t>
            </a:r>
            <a:r>
              <a:rPr lang="en-US" sz="1300" dirty="0">
                <a:solidFill>
                  <a:srgbClr val="4ADE80"/>
                </a:solidFill>
                <a:latin typeface="Consolas" pitchFamily="34" charset="0"/>
                <a:ea typeface="Consolas" pitchFamily="34" charset="-122"/>
                <a:cs typeface="Consolas" pitchFamily="34" charset="-120"/>
              </a:rPr>
              <a:t>) </a:t>
            </a:r>
            <a:r>
              <a:rPr lang="en-US" sz="1300">
                <a:solidFill>
                  <a:srgbClr val="4ADE80"/>
                </a:solidFill>
                <a:latin typeface="Consolas" pitchFamily="34" charset="0"/>
                <a:ea typeface="Consolas" pitchFamily="34" charset="-122"/>
                <a:cs typeface="Consolas" pitchFamily="34" charset="-120"/>
              </a:rPr>
              <a:t>   3G = </a:t>
            </a:r>
            <a:r>
              <a:rPr lang="en-US" sz="1300" dirty="0">
                <a:solidFill>
                  <a:srgbClr val="4ADE80"/>
                </a:solidFill>
                <a:latin typeface="Consolas" pitchFamily="34" charset="0"/>
                <a:ea typeface="Consolas" pitchFamily="34" charset="-122"/>
                <a:cs typeface="Consolas" pitchFamily="34" charset="-120"/>
              </a:rPr>
              <a:t>(</a:t>
            </a:r>
            <a:r>
              <a:rPr lang="en-US" sz="1300">
                <a:solidFill>
                  <a:srgbClr val="4ADE80"/>
                </a:solidFill>
                <a:latin typeface="Consolas" pitchFamily="34" charset="0"/>
                <a:ea typeface="Consolas" pitchFamily="34" charset="-122"/>
                <a:cs typeface="Consolas" pitchFamily="34" charset="-120"/>
              </a:rPr>
              <a:t>10, 6</a:t>
            </a:r>
            <a:r>
              <a:rPr lang="en-US" sz="1300" dirty="0">
                <a:solidFill>
                  <a:srgbClr val="4ADE80"/>
                </a:solidFill>
                <a:latin typeface="Consolas" pitchFamily="34" charset="0"/>
                <a:ea typeface="Consolas" pitchFamily="34" charset="-122"/>
                <a:cs typeface="Consolas" pitchFamily="34" charset="-120"/>
              </a:rPr>
              <a:t>)</a:t>
            </a:r>
            <a:endParaRPr lang="en-US" sz="1300" dirty="0"/>
          </a:p>
          <a:p>
            <a:pPr marL="0" indent="0">
              <a:spcAft>
                <a:spcPts val="200"/>
              </a:spcAft>
              <a:buNone/>
            </a:pPr>
            <a:r>
              <a:rPr lang="en-US" sz="1300">
                <a:solidFill>
                  <a:srgbClr val="4ADE80"/>
                </a:solidFill>
                <a:latin typeface="Consolas" pitchFamily="34" charset="0"/>
                <a:ea typeface="Consolas" pitchFamily="34" charset="-122"/>
                <a:cs typeface="Consolas" pitchFamily="34" charset="-120"/>
              </a:rPr>
              <a:t>4G </a:t>
            </a:r>
            <a:r>
              <a:rPr lang="en-US" sz="1300" dirty="0">
                <a:solidFill>
                  <a:srgbClr val="4ADE80"/>
                </a:solidFill>
                <a:latin typeface="Consolas" pitchFamily="34" charset="0"/>
                <a:ea typeface="Consolas" pitchFamily="34" charset="-122"/>
                <a:cs typeface="Consolas" pitchFamily="34" charset="-120"/>
              </a:rPr>
              <a:t>= (3</a:t>
            </a:r>
            <a:r>
              <a:rPr lang="en-US" sz="1300">
                <a:solidFill>
                  <a:srgbClr val="4ADE80"/>
                </a:solidFill>
                <a:latin typeface="Consolas" pitchFamily="34" charset="0"/>
                <a:ea typeface="Consolas" pitchFamily="34" charset="-122"/>
                <a:cs typeface="Consolas" pitchFamily="34" charset="-120"/>
              </a:rPr>
              <a:t>, 1</a:t>
            </a:r>
            <a:r>
              <a:rPr lang="en-US" sz="1300" dirty="0">
                <a:solidFill>
                  <a:srgbClr val="4ADE80"/>
                </a:solidFill>
                <a:latin typeface="Consolas" pitchFamily="34" charset="0"/>
                <a:ea typeface="Consolas" pitchFamily="34" charset="-122"/>
                <a:cs typeface="Consolas" pitchFamily="34" charset="-120"/>
              </a:rPr>
              <a:t>) </a:t>
            </a:r>
            <a:r>
              <a:rPr lang="en-US" sz="1300">
                <a:solidFill>
                  <a:srgbClr val="4ADE80"/>
                </a:solidFill>
                <a:latin typeface="Consolas" pitchFamily="34" charset="0"/>
                <a:ea typeface="Consolas" pitchFamily="34" charset="-122"/>
                <a:cs typeface="Consolas" pitchFamily="34" charset="-120"/>
              </a:rPr>
              <a:t>   5G = </a:t>
            </a:r>
            <a:r>
              <a:rPr lang="en-US" sz="1300" dirty="0">
                <a:solidFill>
                  <a:srgbClr val="4ADE80"/>
                </a:solidFill>
                <a:latin typeface="Consolas" pitchFamily="34" charset="0"/>
                <a:ea typeface="Consolas" pitchFamily="34" charset="-122"/>
                <a:cs typeface="Consolas" pitchFamily="34" charset="-120"/>
              </a:rPr>
              <a:t>(</a:t>
            </a:r>
            <a:r>
              <a:rPr lang="en-US" sz="1300">
                <a:solidFill>
                  <a:srgbClr val="4ADE80"/>
                </a:solidFill>
                <a:latin typeface="Consolas" pitchFamily="34" charset="0"/>
                <a:ea typeface="Consolas" pitchFamily="34" charset="-122"/>
                <a:cs typeface="Consolas" pitchFamily="34" charset="-120"/>
              </a:rPr>
              <a:t>9, 16</a:t>
            </a:r>
            <a:r>
              <a:rPr lang="en-US" sz="1300" dirty="0">
                <a:solidFill>
                  <a:srgbClr val="4ADE80"/>
                </a:solidFill>
                <a:latin typeface="Consolas" pitchFamily="34" charset="0"/>
                <a:ea typeface="Consolas" pitchFamily="34" charset="-122"/>
                <a:cs typeface="Consolas" pitchFamily="34" charset="-120"/>
              </a:rPr>
              <a:t>)</a:t>
            </a:r>
            <a:endParaRPr lang="en-US" sz="1300" dirty="0"/>
          </a:p>
          <a:p>
            <a:pPr marL="0" indent="0">
              <a:spcAft>
                <a:spcPts val="200"/>
              </a:spcAft>
              <a:buNone/>
            </a:pPr>
            <a:r>
              <a:rPr lang="en-US" sz="1300">
                <a:solidFill>
                  <a:srgbClr val="4ADE80"/>
                </a:solidFill>
                <a:latin typeface="Consolas" pitchFamily="34" charset="0"/>
                <a:ea typeface="Consolas" pitchFamily="34" charset="-122"/>
                <a:cs typeface="Consolas" pitchFamily="34" charset="-120"/>
              </a:rPr>
              <a:t>6G</a:t>
            </a:r>
            <a:r>
              <a:rPr lang="en-US" sz="1300" dirty="0">
                <a:solidFill>
                  <a:srgbClr val="4ADE80"/>
                </a:solidFill>
                <a:latin typeface="Consolas" pitchFamily="34" charset="0"/>
                <a:ea typeface="Consolas" pitchFamily="34" charset="-122"/>
                <a:cs typeface="Consolas" pitchFamily="34" charset="-120"/>
              </a:rPr>
              <a:t> = </a:t>
            </a:r>
            <a:r>
              <a:rPr lang="en-US" sz="1300">
                <a:solidFill>
                  <a:srgbClr val="4ADE80"/>
                </a:solidFill>
                <a:latin typeface="Consolas" pitchFamily="34" charset="0"/>
                <a:ea typeface="Consolas" pitchFamily="34" charset="-122"/>
                <a:cs typeface="Consolas" pitchFamily="34" charset="-120"/>
              </a:rPr>
              <a:t>(16, 13)  7G </a:t>
            </a:r>
            <a:r>
              <a:rPr lang="en-US" sz="1300" dirty="0">
                <a:solidFill>
                  <a:srgbClr val="4ADE80"/>
                </a:solidFill>
                <a:latin typeface="Consolas" pitchFamily="34" charset="0"/>
                <a:ea typeface="Consolas" pitchFamily="34" charset="-122"/>
                <a:cs typeface="Consolas" pitchFamily="34" charset="-120"/>
              </a:rPr>
              <a:t>= </a:t>
            </a:r>
            <a:r>
              <a:rPr lang="en-US" sz="1300">
                <a:solidFill>
                  <a:srgbClr val="4ADE80"/>
                </a:solidFill>
                <a:latin typeface="Consolas" pitchFamily="34" charset="0"/>
                <a:ea typeface="Consolas" pitchFamily="34" charset="-122"/>
                <a:cs typeface="Consolas" pitchFamily="34" charset="-120"/>
              </a:rPr>
              <a:t>(0, 6</a:t>
            </a:r>
            <a:r>
              <a:rPr lang="en-US" sz="1300" dirty="0">
                <a:solidFill>
                  <a:srgbClr val="4ADE80"/>
                </a:solidFill>
                <a:latin typeface="Consolas" pitchFamily="34" charset="0"/>
                <a:ea typeface="Consolas" pitchFamily="34" charset="-122"/>
                <a:cs typeface="Consolas" pitchFamily="34" charset="-120"/>
              </a:rPr>
              <a:t>)</a:t>
            </a:r>
            <a:endParaRPr lang="en-US" sz="1300" dirty="0"/>
          </a:p>
          <a:p>
            <a:pPr marL="0" indent="0">
              <a:spcAft>
                <a:spcPts val="200"/>
              </a:spcAft>
              <a:buNone/>
            </a:pPr>
            <a:r>
              <a:rPr lang="en-US" sz="1300">
                <a:solidFill>
                  <a:srgbClr val="FBBF24"/>
                </a:solidFill>
                <a:latin typeface="Consolas" pitchFamily="34" charset="0"/>
                <a:ea typeface="Consolas" pitchFamily="34" charset="-122"/>
                <a:cs typeface="Consolas" pitchFamily="34" charset="-120"/>
              </a:rPr>
              <a:t>Alice: secret number 7, public point 7G </a:t>
            </a:r>
            <a:r>
              <a:rPr lang="en-US" sz="1300" dirty="0">
                <a:solidFill>
                  <a:srgbClr val="FBBF24"/>
                </a:solidFill>
                <a:latin typeface="Consolas" pitchFamily="34" charset="0"/>
                <a:ea typeface="Consolas" pitchFamily="34" charset="-122"/>
                <a:cs typeface="Consolas" pitchFamily="34" charset="-120"/>
              </a:rPr>
              <a:t>= (</a:t>
            </a:r>
            <a:r>
              <a:rPr lang="en-US" sz="1300">
                <a:solidFill>
                  <a:srgbClr val="FBBF24"/>
                </a:solidFill>
                <a:latin typeface="Consolas" pitchFamily="34" charset="0"/>
                <a:ea typeface="Consolas" pitchFamily="34" charset="-122"/>
                <a:cs typeface="Consolas" pitchFamily="34" charset="-120"/>
              </a:rPr>
              <a:t>0, 6</a:t>
            </a:r>
            <a:r>
              <a:rPr lang="en-US" sz="1300" dirty="0">
                <a:solidFill>
                  <a:srgbClr val="FBBF24"/>
                </a:solidFill>
                <a:latin typeface="Consolas" pitchFamily="34" charset="0"/>
                <a:ea typeface="Consolas" pitchFamily="34" charset="-122"/>
                <a:cs typeface="Consolas" pitchFamily="34" charset="-120"/>
              </a:rPr>
              <a:t>)</a:t>
            </a:r>
            <a:endParaRPr lang="en-US" sz="1300" dirty="0"/>
          </a:p>
        </p:txBody>
      </p:sp>
      <p:sp>
        <p:nvSpPr>
          <p:cNvPr id="28" name="Shape 26"/>
          <p:cNvSpPr/>
          <p:nvPr/>
        </p:nvSpPr>
        <p:spPr>
          <a:xfrm>
            <a:off x="5897880" y="3886200"/>
            <a:ext cx="5742432" cy="2240280"/>
          </a:xfrm>
          <a:prstGeom prst="roundRect">
            <a:avLst>
              <a:gd name="adj" fmla="val 3265"/>
            </a:avLst>
          </a:prstGeom>
          <a:solidFill>
            <a:srgbClr val="111A2F"/>
          </a:solidFill>
          <a:ln w="12700">
            <a:solidFill>
              <a:srgbClr val="2A3E68"/>
            </a:solidFill>
            <a:prstDash val="solid"/>
          </a:ln>
        </p:spPr>
        <p:txBody>
          <a:bodyPr/>
          <a:lstStyle/>
          <a:p>
            <a:endParaRPr lang="en-US"/>
          </a:p>
        </p:txBody>
      </p:sp>
      <p:sp>
        <p:nvSpPr>
          <p:cNvPr id="29" name="Text 27"/>
          <p:cNvSpPr/>
          <p:nvPr/>
        </p:nvSpPr>
        <p:spPr>
          <a:xfrm>
            <a:off x="6126480" y="3977640"/>
            <a:ext cx="5303520" cy="274320"/>
          </a:xfrm>
          <a:prstGeom prst="rect">
            <a:avLst/>
          </a:prstGeom>
          <a:noFill/>
          <a:ln/>
        </p:spPr>
        <p:txBody>
          <a:bodyPr wrap="square" lIns="0" tIns="0" rIns="0" bIns="0" rtlCol="0" anchor="t"/>
          <a:lstStyle/>
          <a:p>
            <a:pPr marL="0" indent="0">
              <a:buNone/>
            </a:pPr>
            <a:r>
              <a:rPr lang="en-US" sz="1200" b="1">
                <a:solidFill>
                  <a:srgbClr val="22D3EE"/>
                </a:solidFill>
                <a:latin typeface="Consolas" pitchFamily="34" charset="0"/>
                <a:ea typeface="Consolas" pitchFamily="34" charset="-122"/>
                <a:cs typeface="Consolas" pitchFamily="34" charset="-120"/>
              </a:rPr>
              <a:t>Why this is hard to undo</a:t>
            </a:r>
            <a:endParaRPr lang="en-US" sz="1200" dirty="0"/>
          </a:p>
        </p:txBody>
      </p:sp>
      <p:sp>
        <p:nvSpPr>
          <p:cNvPr id="30" name="Text 28"/>
          <p:cNvSpPr/>
          <p:nvPr/>
        </p:nvSpPr>
        <p:spPr>
          <a:xfrm>
            <a:off x="6126480" y="4343400"/>
            <a:ext cx="5303520" cy="1737360"/>
          </a:xfrm>
          <a:prstGeom prst="rect">
            <a:avLst/>
          </a:prstGeom>
          <a:noFill/>
          <a:ln/>
        </p:spPr>
        <p:txBody>
          <a:bodyPr wrap="square" lIns="0" tIns="0" rIns="0" bIns="0" rtlCol="0" anchor="t"/>
          <a:lstStyle/>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Forward is easy: 7G just means "add G to itself" 7 times</a:t>
            </a:r>
            <a:endParaRPr lang="en-US" sz="130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Backward is hard</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seeing </a:t>
            </a:r>
            <a:r>
              <a:rPr lang="en-US" sz="1300" dirty="0">
                <a:solidFill>
                  <a:srgbClr val="F1F5F9"/>
                </a:solidFill>
                <a:latin typeface="Calibri" pitchFamily="34" charset="0"/>
                <a:ea typeface="Calibri" pitchFamily="34" charset="-122"/>
                <a:cs typeface="Calibri" pitchFamily="34" charset="-120"/>
              </a:rPr>
              <a:t>(</a:t>
            </a:r>
            <a:r>
              <a:rPr lang="en-US" sz="1300">
                <a:solidFill>
                  <a:srgbClr val="F1F5F9"/>
                </a:solidFill>
                <a:latin typeface="Calibri" pitchFamily="34" charset="0"/>
                <a:ea typeface="Calibri" pitchFamily="34" charset="-122"/>
                <a:cs typeface="Calibri" pitchFamily="34" charset="-120"/>
              </a:rPr>
              <a:t>0</a:t>
            </a:r>
            <a:r>
              <a:rPr lang="en-US" sz="1300" dirty="0">
                <a:solidFill>
                  <a:srgbClr val="F1F5F9"/>
                </a:solidFill>
                <a:latin typeface="Calibri" pitchFamily="34" charset="0"/>
                <a:ea typeface="Calibri" pitchFamily="34" charset="-122"/>
                <a:cs typeface="Calibri" pitchFamily="34" charset="-120"/>
              </a:rPr>
              <a:t>, 6</a:t>
            </a:r>
            <a:r>
              <a:rPr lang="en-US" sz="1300">
                <a:solidFill>
                  <a:srgbClr val="F1F5F9"/>
                </a:solidFill>
                <a:latin typeface="Calibri" pitchFamily="34" charset="0"/>
                <a:ea typeface="Calibri" pitchFamily="34" charset="-122"/>
                <a:cs typeface="Calibri" pitchFamily="34" charset="-120"/>
              </a:rPr>
              <a:t>), you would have to try 1G</a:t>
            </a:r>
            <a:r>
              <a:rPr lang="en-US" sz="1300" dirty="0">
                <a:solidFill>
                  <a:srgbClr val="F1F5F9"/>
                </a:solidFill>
                <a:latin typeface="Calibri" pitchFamily="34" charset="0"/>
                <a:ea typeface="Calibri" pitchFamily="34" charset="-122"/>
                <a:cs typeface="Calibri" pitchFamily="34" charset="-120"/>
              </a:rPr>
              <a:t>, 2G, </a:t>
            </a:r>
            <a:r>
              <a:rPr lang="en-US" sz="1300">
                <a:solidFill>
                  <a:srgbClr val="F1F5F9"/>
                </a:solidFill>
                <a:latin typeface="Calibri" pitchFamily="34" charset="0"/>
                <a:ea typeface="Calibri" pitchFamily="34" charset="-122"/>
                <a:cs typeface="Calibri" pitchFamily="34" charset="-120"/>
              </a:rPr>
              <a:t>3G... until one matches</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This toy curve has only 19 points; </a:t>
            </a:r>
            <a:r>
              <a:rPr lang="en-US" sz="1300" dirty="0">
                <a:solidFill>
                  <a:srgbClr val="F1F5F9"/>
                </a:solidFill>
                <a:latin typeface="Calibri" pitchFamily="34" charset="0"/>
                <a:ea typeface="Calibri" pitchFamily="34" charset="-122"/>
                <a:cs typeface="Calibri" pitchFamily="34" charset="-120"/>
              </a:rPr>
              <a:t>a </a:t>
            </a:r>
            <a:r>
              <a:rPr lang="en-US" sz="1300">
                <a:solidFill>
                  <a:srgbClr val="F1F5F9"/>
                </a:solidFill>
                <a:latin typeface="Calibri" pitchFamily="34" charset="0"/>
                <a:ea typeface="Calibri" pitchFamily="34" charset="-122"/>
                <a:cs typeface="Calibri" pitchFamily="34" charset="-120"/>
              </a:rPr>
              <a:t>real </a:t>
            </a:r>
            <a:r>
              <a:rPr lang="en-US" sz="1300" dirty="0">
                <a:solidFill>
                  <a:srgbClr val="F1F5F9"/>
                </a:solidFill>
                <a:latin typeface="Calibri" pitchFamily="34" charset="0"/>
                <a:ea typeface="Calibri" pitchFamily="34" charset="-122"/>
                <a:cs typeface="Calibri" pitchFamily="34" charset="-120"/>
              </a:rPr>
              <a:t>curve </a:t>
            </a:r>
            <a:r>
              <a:rPr lang="en-US" sz="1300">
                <a:solidFill>
                  <a:srgbClr val="F1F5F9"/>
                </a:solidFill>
                <a:latin typeface="Calibri" pitchFamily="34" charset="0"/>
                <a:ea typeface="Calibri" pitchFamily="34" charset="-122"/>
                <a:cs typeface="Calibri" pitchFamily="34" charset="-120"/>
              </a:rPr>
              <a:t>has a number too huge to ever guess through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ASYMMETRIC 05</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ECC in practice: key exchange and signatures</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30</a:t>
            </a:r>
            <a:endParaRPr lang="en-US" sz="1000" dirty="0"/>
          </a:p>
        </p:txBody>
      </p:sp>
      <p:sp>
        <p:nvSpPr>
          <p:cNvPr id="6" name="Shape 4"/>
          <p:cNvSpPr/>
          <p:nvPr/>
        </p:nvSpPr>
        <p:spPr>
          <a:xfrm>
            <a:off x="548640" y="1417320"/>
            <a:ext cx="6583680" cy="4709160"/>
          </a:xfrm>
          <a:prstGeom prst="roundRect">
            <a:avLst>
              <a:gd name="adj" fmla="val 1553"/>
            </a:avLst>
          </a:prstGeom>
          <a:solidFill>
            <a:srgbClr val="111A2F"/>
          </a:solidFill>
          <a:ln w="12700">
            <a:solidFill>
              <a:srgbClr val="2A3E68"/>
            </a:solidFill>
            <a:prstDash val="solid"/>
          </a:ln>
        </p:spPr>
      </p:sp>
      <p:sp>
        <p:nvSpPr>
          <p:cNvPr id="7" name="Text 5"/>
          <p:cNvSpPr/>
          <p:nvPr/>
        </p:nvSpPr>
        <p:spPr>
          <a:xfrm>
            <a:off x="777240" y="1508760"/>
            <a:ext cx="5943600" cy="274320"/>
          </a:xfrm>
          <a:prstGeom prst="rect">
            <a:avLst/>
          </a:prstGeom>
          <a:noFill/>
          <a:ln/>
        </p:spPr>
        <p:txBody>
          <a:bodyPr wrap="square" lIns="0" tIns="0" rIns="0" bIns="0" rtlCol="0" anchor="t"/>
          <a:lstStyle/>
          <a:p>
            <a:pPr marL="0" indent="0">
              <a:buNone/>
            </a:pPr>
            <a:r>
              <a:rPr lang="en-US" sz="1300" b="1" dirty="0">
                <a:solidFill>
                  <a:srgbClr val="22D3EE"/>
                </a:solidFill>
                <a:latin typeface="Consolas" pitchFamily="34" charset="0"/>
                <a:ea typeface="Consolas" pitchFamily="34" charset="-122"/>
                <a:cs typeface="Consolas" pitchFamily="34" charset="-120"/>
              </a:rPr>
              <a:t>ECDH: agreeing on a secret in public</a:t>
            </a:r>
            <a:endParaRPr lang="en-US" sz="1300" dirty="0"/>
          </a:p>
        </p:txBody>
      </p:sp>
      <p:sp>
        <p:nvSpPr>
          <p:cNvPr id="8" name="Shape 6"/>
          <p:cNvSpPr/>
          <p:nvPr/>
        </p:nvSpPr>
        <p:spPr>
          <a:xfrm>
            <a:off x="914400" y="1920240"/>
            <a:ext cx="2011680" cy="731520"/>
          </a:xfrm>
          <a:prstGeom prst="roundRect">
            <a:avLst>
              <a:gd name="adj" fmla="val 10000"/>
            </a:avLst>
          </a:prstGeom>
          <a:solidFill>
            <a:srgbClr val="172544"/>
          </a:solidFill>
          <a:ln w="19050">
            <a:solidFill>
              <a:srgbClr val="4ADE80"/>
            </a:solidFill>
            <a:prstDash val="solid"/>
          </a:ln>
        </p:spPr>
      </p:sp>
      <p:sp>
        <p:nvSpPr>
          <p:cNvPr id="9" name="Text 7"/>
          <p:cNvSpPr/>
          <p:nvPr/>
        </p:nvSpPr>
        <p:spPr>
          <a:xfrm>
            <a:off x="914400" y="1920240"/>
            <a:ext cx="2011680" cy="73152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Alice</a:t>
            </a:r>
            <a:endParaRPr lang="en-US" sz="1300" dirty="0"/>
          </a:p>
          <a:p>
            <a:pPr marL="0" indent="0" algn="ctr">
              <a:buNone/>
            </a:pPr>
            <a:r>
              <a:rPr lang="en-US" sz="1300" b="1">
                <a:solidFill>
                  <a:srgbClr val="F1F5F9"/>
                </a:solidFill>
                <a:latin typeface="Consolas" pitchFamily="34" charset="0"/>
                <a:ea typeface="Consolas" pitchFamily="34" charset="-122"/>
                <a:cs typeface="Consolas" pitchFamily="34" charset="-120"/>
              </a:rPr>
              <a:t>secret number</a:t>
            </a:r>
            <a:r>
              <a:rPr lang="en-US" sz="1300" b="1" dirty="0">
                <a:solidFill>
                  <a:srgbClr val="F1F5F9"/>
                </a:solidFill>
                <a:latin typeface="Consolas" pitchFamily="34" charset="0"/>
                <a:ea typeface="Consolas" pitchFamily="34" charset="-122"/>
                <a:cs typeface="Consolas" pitchFamily="34" charset="-120"/>
              </a:rPr>
              <a:t> a</a:t>
            </a:r>
            <a:endParaRPr lang="en-US" sz="1300" dirty="0"/>
          </a:p>
        </p:txBody>
      </p:sp>
      <p:sp>
        <p:nvSpPr>
          <p:cNvPr id="10" name="Shape 8"/>
          <p:cNvSpPr/>
          <p:nvPr/>
        </p:nvSpPr>
        <p:spPr>
          <a:xfrm>
            <a:off x="4754880" y="1920240"/>
            <a:ext cx="2011680" cy="731520"/>
          </a:xfrm>
          <a:prstGeom prst="roundRect">
            <a:avLst>
              <a:gd name="adj" fmla="val 10000"/>
            </a:avLst>
          </a:prstGeom>
          <a:solidFill>
            <a:srgbClr val="172544"/>
          </a:solidFill>
          <a:ln w="19050">
            <a:solidFill>
              <a:srgbClr val="4ADE80"/>
            </a:solidFill>
            <a:prstDash val="solid"/>
          </a:ln>
        </p:spPr>
      </p:sp>
      <p:sp>
        <p:nvSpPr>
          <p:cNvPr id="11" name="Text 9"/>
          <p:cNvSpPr/>
          <p:nvPr/>
        </p:nvSpPr>
        <p:spPr>
          <a:xfrm>
            <a:off x="4754880" y="1920240"/>
            <a:ext cx="2011680" cy="731520"/>
          </a:xfrm>
          <a:prstGeom prst="rect">
            <a:avLst/>
          </a:prstGeom>
          <a:noFill/>
          <a:ln/>
        </p:spPr>
        <p:txBody>
          <a:bodyPr wrap="square" lIns="635" tIns="635" rIns="635" bIns="635" rtlCol="0" anchor="ctr"/>
          <a:lstStyle/>
          <a:p>
            <a:pPr marL="0" indent="0" algn="ctr">
              <a:buNone/>
            </a:pPr>
            <a:r>
              <a:rPr lang="en-US" sz="1300" b="1" dirty="0">
                <a:solidFill>
                  <a:srgbClr val="F1F5F9"/>
                </a:solidFill>
                <a:latin typeface="Consolas" pitchFamily="34" charset="0"/>
                <a:ea typeface="Consolas" pitchFamily="34" charset="-122"/>
                <a:cs typeface="Consolas" pitchFamily="34" charset="-120"/>
              </a:rPr>
              <a:t>Bob</a:t>
            </a:r>
            <a:endParaRPr lang="en-US" sz="1300" dirty="0"/>
          </a:p>
          <a:p>
            <a:pPr marL="0" indent="0" algn="ctr">
              <a:buNone/>
            </a:pPr>
            <a:r>
              <a:rPr lang="en-US" sz="1300" b="1">
                <a:solidFill>
                  <a:srgbClr val="F1F5F9"/>
                </a:solidFill>
                <a:latin typeface="Consolas" pitchFamily="34" charset="0"/>
                <a:ea typeface="Consolas" pitchFamily="34" charset="-122"/>
                <a:cs typeface="Consolas" pitchFamily="34" charset="-120"/>
              </a:rPr>
              <a:t>secret number</a:t>
            </a:r>
            <a:r>
              <a:rPr lang="en-US" sz="1300" b="1" dirty="0">
                <a:solidFill>
                  <a:srgbClr val="F1F5F9"/>
                </a:solidFill>
                <a:latin typeface="Consolas" pitchFamily="34" charset="0"/>
                <a:ea typeface="Consolas" pitchFamily="34" charset="-122"/>
                <a:cs typeface="Consolas" pitchFamily="34" charset="-120"/>
              </a:rPr>
              <a:t> b</a:t>
            </a:r>
            <a:endParaRPr lang="en-US" sz="1300" dirty="0"/>
          </a:p>
        </p:txBody>
      </p:sp>
      <p:sp>
        <p:nvSpPr>
          <p:cNvPr id="12" name="Text 10"/>
          <p:cNvSpPr/>
          <p:nvPr/>
        </p:nvSpPr>
        <p:spPr>
          <a:xfrm>
            <a:off x="3108960" y="1965960"/>
            <a:ext cx="1463040" cy="228600"/>
          </a:xfrm>
          <a:prstGeom prst="rect">
            <a:avLst/>
          </a:prstGeom>
          <a:noFill/>
          <a:ln/>
        </p:spPr>
        <p:txBody>
          <a:bodyPr wrap="square" lIns="0" tIns="0" rIns="0" bIns="0" rtlCol="0" anchor="t"/>
          <a:lstStyle/>
          <a:p>
            <a:pPr marL="0" indent="0" algn="ctr">
              <a:buNone/>
            </a:pPr>
            <a:r>
              <a:rPr lang="en-US" sz="1200" dirty="0">
                <a:solidFill>
                  <a:srgbClr val="FBBF24"/>
                </a:solidFill>
                <a:latin typeface="Consolas" pitchFamily="34" charset="0"/>
                <a:ea typeface="Consolas" pitchFamily="34" charset="-122"/>
                <a:cs typeface="Consolas" pitchFamily="34" charset="-120"/>
              </a:rPr>
              <a:t>A = a·G</a:t>
            </a:r>
            <a:endParaRPr lang="en-US" sz="1200" dirty="0"/>
          </a:p>
        </p:txBody>
      </p:sp>
      <p:sp>
        <p:nvSpPr>
          <p:cNvPr id="13" name="Shape 11"/>
          <p:cNvSpPr/>
          <p:nvPr/>
        </p:nvSpPr>
        <p:spPr>
          <a:xfrm>
            <a:off x="3017520" y="2331720"/>
            <a:ext cx="1645920" cy="0"/>
          </a:xfrm>
          <a:prstGeom prst="line">
            <a:avLst/>
          </a:prstGeom>
          <a:noFill/>
          <a:ln w="25400">
            <a:solidFill>
              <a:srgbClr val="FBBF24"/>
            </a:solidFill>
            <a:prstDash val="solid"/>
            <a:tailEnd type="triangle"/>
          </a:ln>
        </p:spPr>
      </p:sp>
      <p:sp>
        <p:nvSpPr>
          <p:cNvPr id="14" name="Text 12"/>
          <p:cNvSpPr/>
          <p:nvPr/>
        </p:nvSpPr>
        <p:spPr>
          <a:xfrm>
            <a:off x="3108960" y="2423160"/>
            <a:ext cx="1463040" cy="228600"/>
          </a:xfrm>
          <a:prstGeom prst="rect">
            <a:avLst/>
          </a:prstGeom>
          <a:noFill/>
          <a:ln/>
        </p:spPr>
        <p:txBody>
          <a:bodyPr wrap="square" lIns="0" tIns="0" rIns="0" bIns="0" rtlCol="0" anchor="t"/>
          <a:lstStyle/>
          <a:p>
            <a:pPr marL="0" indent="0" algn="ctr">
              <a:buNone/>
            </a:pPr>
            <a:r>
              <a:rPr lang="en-US" sz="1200" dirty="0">
                <a:solidFill>
                  <a:srgbClr val="FBBF24"/>
                </a:solidFill>
                <a:latin typeface="Consolas" pitchFamily="34" charset="0"/>
                <a:ea typeface="Consolas" pitchFamily="34" charset="-122"/>
                <a:cs typeface="Consolas" pitchFamily="34" charset="-120"/>
              </a:rPr>
              <a:t>B = b·G</a:t>
            </a:r>
            <a:endParaRPr lang="en-US" sz="1200" dirty="0"/>
          </a:p>
        </p:txBody>
      </p:sp>
      <p:sp>
        <p:nvSpPr>
          <p:cNvPr id="15" name="Shape 13"/>
          <p:cNvSpPr/>
          <p:nvPr/>
        </p:nvSpPr>
        <p:spPr>
          <a:xfrm flipH="1">
            <a:off x="3017520" y="2743200"/>
            <a:ext cx="1645920" cy="0"/>
          </a:xfrm>
          <a:prstGeom prst="line">
            <a:avLst/>
          </a:prstGeom>
          <a:noFill/>
          <a:ln w="25400">
            <a:solidFill>
              <a:srgbClr val="FBBF24"/>
            </a:solidFill>
            <a:prstDash val="solid"/>
            <a:tailEnd type="triangle"/>
          </a:ln>
        </p:spPr>
      </p:sp>
      <p:sp>
        <p:nvSpPr>
          <p:cNvPr id="16" name="Shape 14"/>
          <p:cNvSpPr/>
          <p:nvPr/>
        </p:nvSpPr>
        <p:spPr>
          <a:xfrm>
            <a:off x="1920240" y="2697480"/>
            <a:ext cx="0" cy="914400"/>
          </a:xfrm>
          <a:prstGeom prst="line">
            <a:avLst/>
          </a:prstGeom>
          <a:noFill/>
          <a:ln w="25400">
            <a:solidFill>
              <a:srgbClr val="22D3EE"/>
            </a:solidFill>
            <a:prstDash val="solid"/>
            <a:tailEnd type="triangle"/>
          </a:ln>
        </p:spPr>
      </p:sp>
      <p:sp>
        <p:nvSpPr>
          <p:cNvPr id="17" name="Shape 15"/>
          <p:cNvSpPr/>
          <p:nvPr/>
        </p:nvSpPr>
        <p:spPr>
          <a:xfrm>
            <a:off x="5760720" y="2697480"/>
            <a:ext cx="0" cy="914400"/>
          </a:xfrm>
          <a:prstGeom prst="line">
            <a:avLst/>
          </a:prstGeom>
          <a:noFill/>
          <a:ln w="25400">
            <a:solidFill>
              <a:srgbClr val="22D3EE"/>
            </a:solidFill>
            <a:prstDash val="solid"/>
            <a:tailEnd type="triangle"/>
          </a:ln>
        </p:spPr>
      </p:sp>
      <p:sp>
        <p:nvSpPr>
          <p:cNvPr id="18" name="Shape 16"/>
          <p:cNvSpPr/>
          <p:nvPr/>
        </p:nvSpPr>
        <p:spPr>
          <a:xfrm>
            <a:off x="914400" y="3657600"/>
            <a:ext cx="2011680" cy="640080"/>
          </a:xfrm>
          <a:prstGeom prst="roundRect">
            <a:avLst>
              <a:gd name="adj" fmla="val 11429"/>
            </a:avLst>
          </a:prstGeom>
          <a:solidFill>
            <a:srgbClr val="172544"/>
          </a:solidFill>
          <a:ln w="19050">
            <a:solidFill>
              <a:srgbClr val="22D3EE"/>
            </a:solidFill>
            <a:prstDash val="solid"/>
          </a:ln>
        </p:spPr>
      </p:sp>
      <p:sp>
        <p:nvSpPr>
          <p:cNvPr id="19" name="Text 17"/>
          <p:cNvSpPr/>
          <p:nvPr/>
        </p:nvSpPr>
        <p:spPr>
          <a:xfrm>
            <a:off x="914400" y="3657600"/>
            <a:ext cx="2011680" cy="640080"/>
          </a:xfrm>
          <a:prstGeom prst="rect">
            <a:avLst/>
          </a:prstGeom>
          <a:noFill/>
          <a:ln/>
        </p:spPr>
        <p:txBody>
          <a:bodyPr wrap="square" lIns="635" tIns="635" rIns="635" bIns="635" rtlCol="0" anchor="ctr"/>
          <a:lstStyle/>
          <a:p>
            <a:pPr marL="0" indent="0" algn="ctr">
              <a:buNone/>
            </a:pPr>
            <a:r>
              <a:rPr lang="en-US" sz="1400" b="1" dirty="0">
                <a:solidFill>
                  <a:srgbClr val="F1F5F9"/>
                </a:solidFill>
                <a:latin typeface="Consolas" pitchFamily="34" charset="0"/>
                <a:ea typeface="Consolas" pitchFamily="34" charset="-122"/>
                <a:cs typeface="Consolas" pitchFamily="34" charset="-120"/>
              </a:rPr>
              <a:t>S = a·B</a:t>
            </a:r>
            <a:endParaRPr lang="en-US" sz="1400" dirty="0"/>
          </a:p>
        </p:txBody>
      </p:sp>
      <p:sp>
        <p:nvSpPr>
          <p:cNvPr id="20" name="Shape 18"/>
          <p:cNvSpPr/>
          <p:nvPr/>
        </p:nvSpPr>
        <p:spPr>
          <a:xfrm>
            <a:off x="4754880" y="3657600"/>
            <a:ext cx="2011680" cy="640080"/>
          </a:xfrm>
          <a:prstGeom prst="roundRect">
            <a:avLst>
              <a:gd name="adj" fmla="val 11429"/>
            </a:avLst>
          </a:prstGeom>
          <a:solidFill>
            <a:srgbClr val="172544"/>
          </a:solidFill>
          <a:ln w="19050">
            <a:solidFill>
              <a:srgbClr val="22D3EE"/>
            </a:solidFill>
            <a:prstDash val="solid"/>
          </a:ln>
        </p:spPr>
      </p:sp>
      <p:sp>
        <p:nvSpPr>
          <p:cNvPr id="21" name="Text 19"/>
          <p:cNvSpPr/>
          <p:nvPr/>
        </p:nvSpPr>
        <p:spPr>
          <a:xfrm>
            <a:off x="4754880" y="3657600"/>
            <a:ext cx="2011680" cy="640080"/>
          </a:xfrm>
          <a:prstGeom prst="rect">
            <a:avLst/>
          </a:prstGeom>
          <a:noFill/>
          <a:ln/>
        </p:spPr>
        <p:txBody>
          <a:bodyPr wrap="square" lIns="635" tIns="635" rIns="635" bIns="635" rtlCol="0" anchor="ctr"/>
          <a:lstStyle/>
          <a:p>
            <a:pPr marL="0" indent="0" algn="ctr">
              <a:buNone/>
            </a:pPr>
            <a:r>
              <a:rPr lang="en-US" sz="1400" b="1" dirty="0">
                <a:solidFill>
                  <a:srgbClr val="F1F5F9"/>
                </a:solidFill>
                <a:latin typeface="Consolas" pitchFamily="34" charset="0"/>
                <a:ea typeface="Consolas" pitchFamily="34" charset="-122"/>
                <a:cs typeface="Consolas" pitchFamily="34" charset="-120"/>
              </a:rPr>
              <a:t>S = b·A</a:t>
            </a:r>
            <a:endParaRPr lang="en-US" sz="1400" dirty="0"/>
          </a:p>
        </p:txBody>
      </p:sp>
      <p:sp>
        <p:nvSpPr>
          <p:cNvPr id="22" name="Text 20"/>
          <p:cNvSpPr/>
          <p:nvPr/>
        </p:nvSpPr>
        <p:spPr>
          <a:xfrm>
            <a:off x="3017520" y="3657600"/>
            <a:ext cx="1645920" cy="640080"/>
          </a:xfrm>
          <a:prstGeom prst="rect">
            <a:avLst/>
          </a:prstGeom>
          <a:noFill/>
          <a:ln/>
        </p:spPr>
        <p:txBody>
          <a:bodyPr wrap="square" lIns="0" tIns="0" rIns="0" bIns="0" rtlCol="0" anchor="ctr"/>
          <a:lstStyle/>
          <a:p>
            <a:pPr marL="0" indent="0" algn="ctr">
              <a:buNone/>
            </a:pPr>
            <a:r>
              <a:rPr lang="en-US" sz="2800" b="1" dirty="0">
                <a:solidFill>
                  <a:srgbClr val="22D3EE"/>
                </a:solidFill>
                <a:latin typeface="Consolas" pitchFamily="34" charset="0"/>
                <a:ea typeface="Consolas" pitchFamily="34" charset="-122"/>
                <a:cs typeface="Consolas" pitchFamily="34" charset="-120"/>
              </a:rPr>
              <a:t>=</a:t>
            </a:r>
            <a:endParaRPr lang="en-US" sz="2800" dirty="0"/>
          </a:p>
        </p:txBody>
      </p:sp>
      <p:sp>
        <p:nvSpPr>
          <p:cNvPr id="23" name="Text 21"/>
          <p:cNvSpPr/>
          <p:nvPr/>
        </p:nvSpPr>
        <p:spPr>
          <a:xfrm>
            <a:off x="777240" y="4572000"/>
            <a:ext cx="6126480" cy="365760"/>
          </a:xfrm>
          <a:prstGeom prst="rect">
            <a:avLst/>
          </a:prstGeom>
          <a:noFill/>
          <a:ln/>
        </p:spPr>
        <p:txBody>
          <a:bodyPr wrap="square" lIns="0" tIns="0" rIns="0" bIns="0" rtlCol="0" anchor="t"/>
          <a:lstStyle/>
          <a:p>
            <a:pPr marL="0" indent="0" algn="ctr">
              <a:buNone/>
            </a:pPr>
            <a:r>
              <a:rPr lang="en-US" sz="1600" b="1" dirty="0">
                <a:solidFill>
                  <a:srgbClr val="4ADE80"/>
                </a:solidFill>
                <a:latin typeface="Consolas" pitchFamily="34" charset="0"/>
                <a:ea typeface="Consolas" pitchFamily="34" charset="-122"/>
                <a:cs typeface="Consolas" pitchFamily="34" charset="-120"/>
              </a:rPr>
              <a:t>a·(bG) = b·(aG) = (ab)·G</a:t>
            </a:r>
            <a:endParaRPr lang="en-US" sz="1600" dirty="0"/>
          </a:p>
        </p:txBody>
      </p:sp>
      <p:sp>
        <p:nvSpPr>
          <p:cNvPr id="24" name="Text 22"/>
          <p:cNvSpPr/>
          <p:nvPr/>
        </p:nvSpPr>
        <p:spPr>
          <a:xfrm>
            <a:off x="777240" y="5074920"/>
            <a:ext cx="6126480" cy="822960"/>
          </a:xfrm>
          <a:prstGeom prst="rect">
            <a:avLst/>
          </a:prstGeom>
          <a:noFill/>
          <a:ln/>
        </p:spPr>
        <p:txBody>
          <a:bodyPr wrap="square" lIns="0" tIns="0" rIns="0" bIns="0" rtlCol="0" anchor="t"/>
          <a:lstStyle/>
          <a:p>
            <a:pPr marL="0" indent="0" algn="ctr">
              <a:buNone/>
            </a:pPr>
            <a:r>
              <a:rPr lang="en-US" sz="1300" dirty="0">
                <a:solidFill>
                  <a:srgbClr val="9FB0CC"/>
                </a:solidFill>
                <a:latin typeface="Calibri" pitchFamily="34" charset="0"/>
                <a:ea typeface="Calibri" pitchFamily="34" charset="-122"/>
                <a:cs typeface="Calibri" pitchFamily="34" charset="-120"/>
              </a:rPr>
              <a:t>An eavesdropper sees G, A and B, but </a:t>
            </a:r>
            <a:r>
              <a:rPr lang="en-US" sz="1300">
                <a:solidFill>
                  <a:srgbClr val="9FB0CC"/>
                </a:solidFill>
                <a:latin typeface="Calibri" pitchFamily="34" charset="0"/>
                <a:ea typeface="Calibri" pitchFamily="34" charset="-122"/>
                <a:cs typeface="Calibri" pitchFamily="34" charset="-120"/>
              </a:rPr>
              <a:t>cannot work out </a:t>
            </a:r>
            <a:r>
              <a:rPr lang="en-US" sz="1300" dirty="0">
                <a:solidFill>
                  <a:srgbClr val="9FB0CC"/>
                </a:solidFill>
                <a:latin typeface="Calibri" pitchFamily="34" charset="0"/>
                <a:ea typeface="Calibri" pitchFamily="34" charset="-122"/>
                <a:cs typeface="Calibri" pitchFamily="34" charset="-120"/>
              </a:rPr>
              <a:t>a or b. </a:t>
            </a:r>
            <a:r>
              <a:rPr lang="en-US" sz="1300">
                <a:solidFill>
                  <a:srgbClr val="9FB0CC"/>
                </a:solidFill>
                <a:latin typeface="Calibri" pitchFamily="34" charset="0"/>
                <a:ea typeface="Calibri" pitchFamily="34" charset="-122"/>
                <a:cs typeface="Calibri" pitchFamily="34" charset="-120"/>
              </a:rPr>
              <a:t>Using fresh </a:t>
            </a:r>
            <a:r>
              <a:rPr lang="en-US" sz="1300" dirty="0">
                <a:solidFill>
                  <a:srgbClr val="9FB0CC"/>
                </a:solidFill>
                <a:latin typeface="Calibri" pitchFamily="34" charset="0"/>
                <a:ea typeface="Calibri" pitchFamily="34" charset="-122"/>
                <a:cs typeface="Calibri" pitchFamily="34" charset="-120"/>
              </a:rPr>
              <a:t>keys </a:t>
            </a:r>
            <a:r>
              <a:rPr lang="en-US" sz="1300">
                <a:solidFill>
                  <a:srgbClr val="9FB0CC"/>
                </a:solidFill>
                <a:latin typeface="Calibri" pitchFamily="34" charset="0"/>
                <a:ea typeface="Calibri" pitchFamily="34" charset="-122"/>
                <a:cs typeface="Calibri" pitchFamily="34" charset="-120"/>
              </a:rPr>
              <a:t>each time </a:t>
            </a:r>
            <a:r>
              <a:rPr lang="en-US" sz="1300" dirty="0">
                <a:solidFill>
                  <a:srgbClr val="9FB0CC"/>
                </a:solidFill>
                <a:latin typeface="Calibri" pitchFamily="34" charset="0"/>
                <a:ea typeface="Calibri" pitchFamily="34" charset="-122"/>
                <a:cs typeface="Calibri" pitchFamily="34" charset="-120"/>
              </a:rPr>
              <a:t>(ECDHE) </a:t>
            </a:r>
            <a:r>
              <a:rPr lang="en-US" sz="1300">
                <a:solidFill>
                  <a:srgbClr val="9FB0CC"/>
                </a:solidFill>
                <a:latin typeface="Calibri" pitchFamily="34" charset="0"/>
                <a:ea typeface="Calibri" pitchFamily="34" charset="-122"/>
                <a:cs typeface="Calibri" pitchFamily="34" charset="-120"/>
              </a:rPr>
              <a:t>keeps old messages safe even if a key leaks later</a:t>
            </a:r>
            <a:r>
              <a:rPr lang="en-US" sz="1300" dirty="0">
                <a:solidFill>
                  <a:srgbClr val="9FB0CC"/>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7360920" y="1417320"/>
            <a:ext cx="4279392" cy="1508760"/>
          </a:xfrm>
          <a:prstGeom prst="roundRect">
            <a:avLst>
              <a:gd name="adj" fmla="val 4848"/>
            </a:avLst>
          </a:prstGeom>
          <a:solidFill>
            <a:srgbClr val="111A2F"/>
          </a:solidFill>
          <a:ln w="12700">
            <a:solidFill>
              <a:srgbClr val="2A3E68"/>
            </a:solidFill>
            <a:prstDash val="solid"/>
          </a:ln>
        </p:spPr>
      </p:sp>
      <p:sp>
        <p:nvSpPr>
          <p:cNvPr id="26" name="Text 24"/>
          <p:cNvSpPr/>
          <p:nvPr/>
        </p:nvSpPr>
        <p:spPr>
          <a:xfrm>
            <a:off x="7589520" y="1527048"/>
            <a:ext cx="384048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Signatures</a:t>
            </a:r>
            <a:endParaRPr lang="en-US" sz="1400" dirty="0"/>
          </a:p>
        </p:txBody>
      </p:sp>
      <p:sp>
        <p:nvSpPr>
          <p:cNvPr id="27" name="Text 25"/>
          <p:cNvSpPr/>
          <p:nvPr/>
        </p:nvSpPr>
        <p:spPr>
          <a:xfrm>
            <a:off x="7589520" y="1874520"/>
            <a:ext cx="3840480" cy="100584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Sign </a:t>
            </a:r>
            <a:r>
              <a:rPr lang="en-US" sz="1300" dirty="0">
                <a:solidFill>
                  <a:srgbClr val="F1F5F9"/>
                </a:solidFill>
                <a:latin typeface="Calibri" pitchFamily="34" charset="0"/>
                <a:ea typeface="Calibri" pitchFamily="34" charset="-122"/>
                <a:cs typeface="Calibri" pitchFamily="34" charset="-120"/>
              </a:rPr>
              <a:t>with </a:t>
            </a:r>
            <a:r>
              <a:rPr lang="en-US" sz="1300">
                <a:solidFill>
                  <a:srgbClr val="F1F5F9"/>
                </a:solidFill>
                <a:latin typeface="Calibri" pitchFamily="34" charset="0"/>
                <a:ea typeface="Calibri" pitchFamily="34" charset="-122"/>
                <a:cs typeface="Calibri" pitchFamily="34" charset="-120"/>
              </a:rPr>
              <a:t>your </a:t>
            </a:r>
            <a:r>
              <a:rPr lang="en-US" sz="1300" dirty="0">
                <a:solidFill>
                  <a:srgbClr val="F1F5F9"/>
                </a:solidFill>
                <a:latin typeface="Calibri" pitchFamily="34" charset="0"/>
                <a:ea typeface="Calibri" pitchFamily="34" charset="-122"/>
                <a:cs typeface="Calibri" pitchFamily="34" charset="-120"/>
              </a:rPr>
              <a:t>private </a:t>
            </a:r>
            <a:r>
              <a:rPr lang="en-US" sz="1300">
                <a:solidFill>
                  <a:srgbClr val="F1F5F9"/>
                </a:solidFill>
                <a:latin typeface="Calibri" pitchFamily="34" charset="0"/>
                <a:ea typeface="Calibri" pitchFamily="34" charset="-122"/>
                <a:cs typeface="Calibri" pitchFamily="34" charset="-120"/>
              </a:rPr>
              <a:t>key</a:t>
            </a:r>
            <a:r>
              <a:rPr lang="en-US" sz="1300" dirty="0">
                <a:solidFill>
                  <a:srgbClr val="F1F5F9"/>
                </a:solidFill>
                <a:latin typeface="Calibri" pitchFamily="34" charset="0"/>
                <a:ea typeface="Calibri" pitchFamily="34" charset="-122"/>
                <a:cs typeface="Calibri" pitchFamily="34" charset="-120"/>
              </a:rPr>
              <a:t>; anyone </a:t>
            </a:r>
            <a:r>
              <a:rPr lang="en-US" sz="1300">
                <a:solidFill>
                  <a:srgbClr val="F1F5F9"/>
                </a:solidFill>
                <a:latin typeface="Calibri" pitchFamily="34" charset="0"/>
                <a:ea typeface="Calibri" pitchFamily="34" charset="-122"/>
                <a:cs typeface="Calibri" pitchFamily="34" charset="-120"/>
              </a:rPr>
              <a:t>can check </a:t>
            </a:r>
            <a:r>
              <a:rPr lang="en-US" sz="1300" dirty="0">
                <a:solidFill>
                  <a:srgbClr val="F1F5F9"/>
                </a:solidFill>
                <a:latin typeface="Calibri" pitchFamily="34" charset="0"/>
                <a:ea typeface="Calibri" pitchFamily="34" charset="-122"/>
                <a:cs typeface="Calibri" pitchFamily="34" charset="-120"/>
              </a:rPr>
              <a:t>with </a:t>
            </a:r>
            <a:r>
              <a:rPr lang="en-US" sz="1300">
                <a:solidFill>
                  <a:srgbClr val="F1F5F9"/>
                </a:solidFill>
                <a:latin typeface="Calibri" pitchFamily="34" charset="0"/>
                <a:ea typeface="Calibri" pitchFamily="34" charset="-122"/>
                <a:cs typeface="Calibri" pitchFamily="34" charset="-120"/>
              </a:rPr>
              <a:t>your </a:t>
            </a:r>
            <a:r>
              <a:rPr lang="en-US" sz="1300" dirty="0">
                <a:solidFill>
                  <a:srgbClr val="F1F5F9"/>
                </a:solidFill>
                <a:latin typeface="Calibri" pitchFamily="34" charset="0"/>
                <a:ea typeface="Calibri" pitchFamily="34" charset="-122"/>
                <a:cs typeface="Calibri" pitchFamily="34" charset="-120"/>
              </a:rPr>
              <a:t>public </a:t>
            </a:r>
            <a:r>
              <a:rPr lang="en-US" sz="1300">
                <a:solidFill>
                  <a:srgbClr val="F1F5F9"/>
                </a:solidFill>
                <a:latin typeface="Calibri" pitchFamily="34" charset="0"/>
                <a:ea typeface="Calibri" pitchFamily="34" charset="-122"/>
                <a:cs typeface="Calibri" pitchFamily="34" charset="-120"/>
              </a:rPr>
              <a:t>key (ECDSA, EdDSA).</a:t>
            </a:r>
            <a:endParaRPr lang="en-US" sz="1300" dirty="0"/>
          </a:p>
        </p:txBody>
      </p:sp>
      <p:sp>
        <p:nvSpPr>
          <p:cNvPr id="28" name="Shape 26"/>
          <p:cNvSpPr/>
          <p:nvPr/>
        </p:nvSpPr>
        <p:spPr>
          <a:xfrm>
            <a:off x="7360920" y="3017520"/>
            <a:ext cx="4279392" cy="1508760"/>
          </a:xfrm>
          <a:prstGeom prst="roundRect">
            <a:avLst>
              <a:gd name="adj" fmla="val 4848"/>
            </a:avLst>
          </a:prstGeom>
          <a:solidFill>
            <a:srgbClr val="111A2F"/>
          </a:solidFill>
          <a:ln w="12700">
            <a:solidFill>
              <a:srgbClr val="2A3E68"/>
            </a:solidFill>
            <a:prstDash val="solid"/>
          </a:ln>
        </p:spPr>
      </p:sp>
      <p:sp>
        <p:nvSpPr>
          <p:cNvPr id="29" name="Text 27"/>
          <p:cNvSpPr/>
          <p:nvPr/>
        </p:nvSpPr>
        <p:spPr>
          <a:xfrm>
            <a:off x="7589520" y="3127248"/>
            <a:ext cx="3840480" cy="274320"/>
          </a:xfrm>
          <a:prstGeom prst="rect">
            <a:avLst/>
          </a:prstGeom>
          <a:noFill/>
          <a:ln/>
        </p:spPr>
        <p:txBody>
          <a:bodyPr wrap="square" lIns="0" tIns="0" rIns="0" bIns="0" rtlCol="0" anchor="t"/>
          <a:lstStyle/>
          <a:p>
            <a:pPr marL="0" indent="0">
              <a:buNone/>
            </a:pPr>
            <a:r>
              <a:rPr lang="en-US" sz="1400" b="1" dirty="0">
                <a:solidFill>
                  <a:srgbClr val="4ADE80"/>
                </a:solidFill>
                <a:latin typeface="Consolas" pitchFamily="34" charset="0"/>
                <a:ea typeface="Consolas" pitchFamily="34" charset="-122"/>
                <a:cs typeface="Consolas" pitchFamily="34" charset="-120"/>
              </a:rPr>
              <a:t>Curves to use</a:t>
            </a:r>
            <a:endParaRPr lang="en-US" sz="1400" dirty="0"/>
          </a:p>
        </p:txBody>
      </p:sp>
      <p:sp>
        <p:nvSpPr>
          <p:cNvPr id="30" name="Text 28"/>
          <p:cNvSpPr/>
          <p:nvPr/>
        </p:nvSpPr>
        <p:spPr>
          <a:xfrm>
            <a:off x="7589520" y="3474720"/>
            <a:ext cx="3840480" cy="1005840"/>
          </a:xfrm>
          <a:prstGeom prst="rect">
            <a:avLst/>
          </a:prstGeom>
          <a:noFill/>
          <a:ln/>
        </p:spPr>
        <p:txBody>
          <a:bodyPr wrap="square" lIns="0" tIns="0" rIns="0" bIns="0" rtlCol="0" anchor="t"/>
          <a:lstStyle/>
          <a:p>
            <a:pPr marL="0" indent="0">
              <a:buNone/>
            </a:pPr>
            <a:r>
              <a:rPr lang="en-US" sz="1300" dirty="0">
                <a:solidFill>
                  <a:srgbClr val="F1F5F9"/>
                </a:solidFill>
                <a:latin typeface="Calibri" pitchFamily="34" charset="0"/>
                <a:ea typeface="Calibri" pitchFamily="34" charset="-122"/>
                <a:cs typeface="Calibri" pitchFamily="34" charset="-120"/>
              </a:rPr>
              <a:t>X25519 / Ed25519</a:t>
            </a:r>
            <a:r>
              <a:rPr lang="en-US" sz="1300">
                <a:solidFill>
                  <a:srgbClr val="F1F5F9"/>
                </a:solidFill>
                <a:latin typeface="Calibri" pitchFamily="34" charset="0"/>
                <a:ea typeface="Calibri" pitchFamily="34" charset="-122"/>
                <a:cs typeface="Calibri" pitchFamily="34" charset="-120"/>
              </a:rPr>
              <a:t>,</a:t>
            </a:r>
            <a:r>
              <a:rPr lang="en-US" sz="1300" dirty="0">
                <a:solidFill>
                  <a:srgbClr val="F1F5F9"/>
                </a:solidFill>
                <a:latin typeface="Calibri" pitchFamily="34" charset="0"/>
                <a:ea typeface="Calibri" pitchFamily="34" charset="-122"/>
                <a:cs typeface="Calibri" pitchFamily="34" charset="-120"/>
              </a:rPr>
              <a:t> or NIST P-256 and P-384</a:t>
            </a:r>
            <a:r>
              <a:rPr lang="en-US" sz="1300">
                <a:solidFill>
                  <a:srgbClr val="F1F5F9"/>
                </a:solidFill>
                <a:latin typeface="Calibri" pitchFamily="34" charset="0"/>
                <a:ea typeface="Calibri" pitchFamily="34" charset="-122"/>
                <a:cs typeface="Calibri" pitchFamily="34" charset="-120"/>
              </a:rPr>
              <a:t>, are common, trusted choices</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
        <p:nvSpPr>
          <p:cNvPr id="31" name="Shape 29"/>
          <p:cNvSpPr/>
          <p:nvPr/>
        </p:nvSpPr>
        <p:spPr>
          <a:xfrm>
            <a:off x="7360920" y="4617720"/>
            <a:ext cx="4279392" cy="1508760"/>
          </a:xfrm>
          <a:prstGeom prst="roundRect">
            <a:avLst>
              <a:gd name="adj" fmla="val 4848"/>
            </a:avLst>
          </a:prstGeom>
          <a:solidFill>
            <a:srgbClr val="111A2F"/>
          </a:solidFill>
          <a:ln w="12700">
            <a:solidFill>
              <a:srgbClr val="2A3E68"/>
            </a:solidFill>
            <a:prstDash val="solid"/>
          </a:ln>
        </p:spPr>
      </p:sp>
      <p:sp>
        <p:nvSpPr>
          <p:cNvPr id="32" name="Text 30"/>
          <p:cNvSpPr/>
          <p:nvPr/>
        </p:nvSpPr>
        <p:spPr>
          <a:xfrm>
            <a:off x="7589520" y="4727448"/>
            <a:ext cx="3840480" cy="274320"/>
          </a:xfrm>
          <a:prstGeom prst="rect">
            <a:avLst/>
          </a:prstGeom>
          <a:noFill/>
          <a:ln/>
        </p:spPr>
        <p:txBody>
          <a:bodyPr wrap="square" lIns="0" tIns="0" rIns="0" bIns="0" rtlCol="0" anchor="t"/>
          <a:lstStyle/>
          <a:p>
            <a:pPr marL="0" indent="0">
              <a:buNone/>
            </a:pPr>
            <a:r>
              <a:rPr lang="en-US" sz="1400" b="1" dirty="0">
                <a:solidFill>
                  <a:srgbClr val="F87171"/>
                </a:solidFill>
                <a:latin typeface="Consolas" pitchFamily="34" charset="0"/>
                <a:ea typeface="Consolas" pitchFamily="34" charset="-122"/>
                <a:cs typeface="Consolas" pitchFamily="34" charset="-120"/>
              </a:rPr>
              <a:t>Known pitfalls</a:t>
            </a:r>
            <a:endParaRPr lang="en-US" sz="1400" dirty="0"/>
          </a:p>
        </p:txBody>
      </p:sp>
      <p:sp>
        <p:nvSpPr>
          <p:cNvPr id="33" name="Text 31"/>
          <p:cNvSpPr/>
          <p:nvPr/>
        </p:nvSpPr>
        <p:spPr>
          <a:xfrm>
            <a:off x="7589520" y="5074920"/>
            <a:ext cx="3840480" cy="100584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Reusing the random number in an </a:t>
            </a:r>
            <a:r>
              <a:rPr lang="en-US" sz="1300" dirty="0">
                <a:solidFill>
                  <a:srgbClr val="F1F5F9"/>
                </a:solidFill>
                <a:latin typeface="Calibri" pitchFamily="34" charset="0"/>
                <a:ea typeface="Calibri" pitchFamily="34" charset="-122"/>
                <a:cs typeface="Calibri" pitchFamily="34" charset="-120"/>
              </a:rPr>
              <a:t>ECDSA </a:t>
            </a:r>
            <a:r>
              <a:rPr lang="en-US" sz="1300">
                <a:solidFill>
                  <a:srgbClr val="F1F5F9"/>
                </a:solidFill>
                <a:latin typeface="Calibri" pitchFamily="34" charset="0"/>
                <a:ea typeface="Calibri" pitchFamily="34" charset="-122"/>
                <a:cs typeface="Calibri" pitchFamily="34" charset="-120"/>
              </a:rPr>
              <a:t>signature </a:t>
            </a:r>
            <a:r>
              <a:rPr lang="en-US" sz="1300" dirty="0">
                <a:solidFill>
                  <a:srgbClr val="F1F5F9"/>
                </a:solidFill>
                <a:latin typeface="Calibri" pitchFamily="34" charset="0"/>
                <a:ea typeface="Calibri" pitchFamily="34" charset="-122"/>
                <a:cs typeface="Calibri" pitchFamily="34" charset="-120"/>
              </a:rPr>
              <a:t>leaks the private key (Sony PS3</a:t>
            </a:r>
            <a:r>
              <a:rPr lang="en-US" sz="1300">
                <a:solidFill>
                  <a:srgbClr val="F1F5F9"/>
                </a:solidFill>
                <a:latin typeface="Calibri" pitchFamily="34" charset="0"/>
                <a:ea typeface="Calibri" pitchFamily="34" charset="-122"/>
                <a:cs typeface="Calibri" pitchFamily="34" charset="-120"/>
              </a:rPr>
              <a:t> hack</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ASYMMETRIC 06</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Digital signatures: proof of who sent it</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31</a:t>
            </a:r>
            <a:endParaRPr lang="en-US" sz="1000"/>
          </a:p>
        </p:txBody>
      </p:sp>
      <p:sp>
        <p:nvSpPr>
          <p:cNvPr id="6" name="Rounded Rectangle 5"/>
          <p:cNvSpPr/>
          <p:nvPr/>
        </p:nvSpPr>
        <p:spPr>
          <a:xfrm>
            <a:off x="548640" y="1417320"/>
            <a:ext cx="7452360" cy="21031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54480"/>
            <a:ext cx="6858000" cy="274320"/>
          </a:xfrm>
          <a:prstGeom prst="rect">
            <a:avLst/>
          </a:prstGeom>
          <a:noFill/>
        </p:spPr>
        <p:txBody>
          <a:bodyPr wrap="square" lIns="0" tIns="0" rIns="0" bIns="0" anchor="t">
            <a:spAutoFit/>
          </a:bodyPr>
          <a:lstStyle/>
          <a:p>
            <a:pPr algn="l"/>
            <a:r>
              <a:rPr sz="1300" b="1" i="0">
                <a:solidFill>
                  <a:srgbClr val="22D3EE"/>
                </a:solidFill>
                <a:latin typeface="Consolas"/>
              </a:rPr>
              <a:t>ALICE SIGNS</a:t>
            </a:r>
          </a:p>
        </p:txBody>
      </p:sp>
      <p:sp>
        <p:nvSpPr>
          <p:cNvPr id="8" name="Rounded Rectangle 7"/>
          <p:cNvSpPr/>
          <p:nvPr/>
        </p:nvSpPr>
        <p:spPr>
          <a:xfrm>
            <a:off x="777240" y="2103120"/>
            <a:ext cx="1417320" cy="685800"/>
          </a:xfrm>
          <a:prstGeom prst="roundRect">
            <a:avLst>
              <a:gd name="adj" fmla="val 10000"/>
            </a:avLst>
          </a:prstGeom>
          <a:solidFill>
            <a:srgbClr val="172544"/>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103120"/>
            <a:ext cx="1325880" cy="685800"/>
          </a:xfrm>
          <a:prstGeom prst="rect">
            <a:avLst/>
          </a:prstGeom>
          <a:noFill/>
        </p:spPr>
        <p:txBody>
          <a:bodyPr wrap="square" lIns="0" tIns="0" rIns="0" bIns="0" anchor="ctr">
            <a:spAutoFit/>
          </a:bodyPr>
          <a:lstStyle/>
          <a:p>
            <a:pPr algn="ctr"/>
            <a:r>
              <a:rPr sz="1100" b="1" i="0">
                <a:solidFill>
                  <a:srgbClr val="22D3EE"/>
                </a:solidFill>
                <a:latin typeface="Consolas"/>
              </a:rPr>
              <a:t>message</a:t>
            </a:r>
          </a:p>
        </p:txBody>
      </p:sp>
      <p:cxnSp>
        <p:nvCxnSpPr>
          <p:cNvPr id="10" name="Connector 9"/>
          <p:cNvCxnSpPr/>
          <p:nvPr/>
        </p:nvCxnSpPr>
        <p:spPr>
          <a:xfrm>
            <a:off x="2221992" y="2446020"/>
            <a:ext cx="310896" cy="0"/>
          </a:xfrm>
          <a:prstGeom prst="line">
            <a:avLst/>
          </a:prstGeom>
          <a:ln w="22225">
            <a:solidFill>
              <a:srgbClr val="22D3EE"/>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60320" y="2103120"/>
            <a:ext cx="1417320" cy="685800"/>
          </a:xfrm>
          <a:prstGeom prst="roundRect">
            <a:avLst>
              <a:gd name="adj" fmla="val 10000"/>
            </a:avLst>
          </a:prstGeom>
          <a:solidFill>
            <a:srgbClr val="172544"/>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06039" y="2103120"/>
            <a:ext cx="1325880" cy="685800"/>
          </a:xfrm>
          <a:prstGeom prst="rect">
            <a:avLst/>
          </a:prstGeom>
          <a:noFill/>
        </p:spPr>
        <p:txBody>
          <a:bodyPr wrap="square" lIns="0" tIns="0" rIns="0" bIns="0" anchor="ctr">
            <a:spAutoFit/>
          </a:bodyPr>
          <a:lstStyle/>
          <a:p>
            <a:pPr algn="ctr"/>
            <a:r>
              <a:rPr sz="1100" b="1" i="0">
                <a:solidFill>
                  <a:srgbClr val="22D3EE"/>
                </a:solidFill>
                <a:latin typeface="Consolas"/>
              </a:rPr>
              <a:t>SHA-256
(make a hash)</a:t>
            </a:r>
          </a:p>
        </p:txBody>
      </p:sp>
      <p:cxnSp>
        <p:nvCxnSpPr>
          <p:cNvPr id="13" name="Connector 12"/>
          <p:cNvCxnSpPr/>
          <p:nvPr/>
        </p:nvCxnSpPr>
        <p:spPr>
          <a:xfrm>
            <a:off x="4005072" y="2446020"/>
            <a:ext cx="310896" cy="0"/>
          </a:xfrm>
          <a:prstGeom prst="line">
            <a:avLst/>
          </a:prstGeom>
          <a:ln w="22225">
            <a:solidFill>
              <a:srgbClr val="22D3EE"/>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43400" y="2103120"/>
            <a:ext cx="1417320" cy="685800"/>
          </a:xfrm>
          <a:prstGeom prst="roundRect">
            <a:avLst>
              <a:gd name="adj" fmla="val 10000"/>
            </a:avLst>
          </a:prstGeom>
          <a:solidFill>
            <a:srgbClr val="172544"/>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89120" y="2103120"/>
            <a:ext cx="1325880" cy="685800"/>
          </a:xfrm>
          <a:prstGeom prst="rect">
            <a:avLst/>
          </a:prstGeom>
          <a:noFill/>
        </p:spPr>
        <p:txBody>
          <a:bodyPr wrap="square" lIns="0" tIns="0" rIns="0" bIns="0" anchor="ctr">
            <a:spAutoFit/>
          </a:bodyPr>
          <a:lstStyle/>
          <a:p>
            <a:pPr algn="ctr"/>
            <a:r>
              <a:rPr sz="1100" b="1" i="0">
                <a:solidFill>
                  <a:srgbClr val="FBBF24"/>
                </a:solidFill>
                <a:latin typeface="Consolas"/>
              </a:rPr>
              <a:t>sign with
private key</a:t>
            </a:r>
          </a:p>
        </p:txBody>
      </p:sp>
      <p:cxnSp>
        <p:nvCxnSpPr>
          <p:cNvPr id="16" name="Connector 15"/>
          <p:cNvCxnSpPr/>
          <p:nvPr/>
        </p:nvCxnSpPr>
        <p:spPr>
          <a:xfrm>
            <a:off x="5788152" y="2446020"/>
            <a:ext cx="310896"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26479" y="2103120"/>
            <a:ext cx="1417320" cy="685800"/>
          </a:xfrm>
          <a:prstGeom prst="roundRect">
            <a:avLst>
              <a:gd name="adj" fmla="val 10000"/>
            </a:avLst>
          </a:prstGeom>
          <a:solidFill>
            <a:srgbClr val="172544"/>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72199" y="2103120"/>
            <a:ext cx="1325880" cy="685800"/>
          </a:xfrm>
          <a:prstGeom prst="rect">
            <a:avLst/>
          </a:prstGeom>
          <a:noFill/>
        </p:spPr>
        <p:txBody>
          <a:bodyPr wrap="square" lIns="0" tIns="0" rIns="0" bIns="0" anchor="ctr">
            <a:spAutoFit/>
          </a:bodyPr>
          <a:lstStyle/>
          <a:p>
            <a:pPr algn="ctr"/>
            <a:r>
              <a:rPr sz="1100" b="1" i="0">
                <a:solidFill>
                  <a:srgbClr val="4ADE80"/>
                </a:solidFill>
                <a:latin typeface="Consolas"/>
              </a:rPr>
              <a:t>signature</a:t>
            </a:r>
          </a:p>
        </p:txBody>
      </p:sp>
      <p:sp>
        <p:nvSpPr>
          <p:cNvPr id="19" name="TextBox 18"/>
          <p:cNvSpPr txBox="1"/>
          <p:nvPr/>
        </p:nvSpPr>
        <p:spPr>
          <a:xfrm>
            <a:off x="777240" y="3017520"/>
            <a:ext cx="6949440" cy="320040"/>
          </a:xfrm>
          <a:prstGeom prst="rect">
            <a:avLst/>
          </a:prstGeom>
          <a:noFill/>
        </p:spPr>
        <p:txBody>
          <a:bodyPr wrap="square" lIns="0" tIns="0" rIns="0" bIns="0" anchor="t">
            <a:spAutoFit/>
          </a:bodyPr>
          <a:lstStyle/>
          <a:p>
            <a:pPr algn="l"/>
            <a:r>
              <a:rPr sz="1400" b="0" i="0">
                <a:solidFill>
                  <a:srgbClr val="9FB0CC"/>
                </a:solidFill>
                <a:latin typeface="Calibri"/>
              </a:rPr>
              <a:t>Alice sends the message and the signature together.</a:t>
            </a:r>
          </a:p>
        </p:txBody>
      </p:sp>
      <p:sp>
        <p:nvSpPr>
          <p:cNvPr id="20" name="Rounded Rectangle 19"/>
          <p:cNvSpPr/>
          <p:nvPr/>
        </p:nvSpPr>
        <p:spPr>
          <a:xfrm>
            <a:off x="548640" y="3657600"/>
            <a:ext cx="7452360" cy="251460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3794760"/>
            <a:ext cx="6858000" cy="274320"/>
          </a:xfrm>
          <a:prstGeom prst="rect">
            <a:avLst/>
          </a:prstGeom>
          <a:noFill/>
        </p:spPr>
        <p:txBody>
          <a:bodyPr wrap="square" lIns="0" tIns="0" rIns="0" bIns="0" anchor="t">
            <a:spAutoFit/>
          </a:bodyPr>
          <a:lstStyle/>
          <a:p>
            <a:pPr algn="l"/>
            <a:r>
              <a:rPr sz="1300" b="1" i="0">
                <a:solidFill>
                  <a:srgbClr val="4ADE80"/>
                </a:solidFill>
                <a:latin typeface="Consolas"/>
              </a:rPr>
              <a:t>BOB CHECKS</a:t>
            </a:r>
          </a:p>
        </p:txBody>
      </p:sp>
      <p:sp>
        <p:nvSpPr>
          <p:cNvPr id="22" name="Rounded Rectangle 21"/>
          <p:cNvSpPr/>
          <p:nvPr/>
        </p:nvSpPr>
        <p:spPr>
          <a:xfrm>
            <a:off x="777240" y="4206240"/>
            <a:ext cx="1417320" cy="777240"/>
          </a:xfrm>
          <a:prstGeom prst="roundRect">
            <a:avLst>
              <a:gd name="adj" fmla="val 10000"/>
            </a:avLst>
          </a:prstGeom>
          <a:solidFill>
            <a:srgbClr val="172544"/>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206240"/>
            <a:ext cx="1325880" cy="777240"/>
          </a:xfrm>
          <a:prstGeom prst="rect">
            <a:avLst/>
          </a:prstGeom>
          <a:noFill/>
        </p:spPr>
        <p:txBody>
          <a:bodyPr wrap="square" lIns="0" tIns="0" rIns="0" bIns="0" anchor="ctr">
            <a:spAutoFit/>
          </a:bodyPr>
          <a:lstStyle/>
          <a:p>
            <a:pPr algn="ctr"/>
            <a:r>
              <a:rPr sz="1100" b="1" i="0">
                <a:solidFill>
                  <a:srgbClr val="22D3EE"/>
                </a:solidFill>
                <a:latin typeface="Consolas"/>
              </a:rPr>
              <a:t>hash the
message</a:t>
            </a:r>
          </a:p>
        </p:txBody>
      </p:sp>
      <p:cxnSp>
        <p:nvCxnSpPr>
          <p:cNvPr id="24" name="Connector 23"/>
          <p:cNvCxnSpPr/>
          <p:nvPr/>
        </p:nvCxnSpPr>
        <p:spPr>
          <a:xfrm>
            <a:off x="2221992" y="4594860"/>
            <a:ext cx="310896" cy="0"/>
          </a:xfrm>
          <a:prstGeom prst="line">
            <a:avLst/>
          </a:prstGeom>
          <a:ln w="22225">
            <a:solidFill>
              <a:srgbClr val="22D3EE"/>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560320" y="4206240"/>
            <a:ext cx="1417320" cy="777240"/>
          </a:xfrm>
          <a:prstGeom prst="roundRect">
            <a:avLst>
              <a:gd name="adj" fmla="val 10000"/>
            </a:avLst>
          </a:prstGeom>
          <a:solidFill>
            <a:srgbClr val="172544"/>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06039" y="4206240"/>
            <a:ext cx="1325880" cy="777240"/>
          </a:xfrm>
          <a:prstGeom prst="rect">
            <a:avLst/>
          </a:prstGeom>
          <a:noFill/>
        </p:spPr>
        <p:txBody>
          <a:bodyPr wrap="square" lIns="0" tIns="0" rIns="0" bIns="0" anchor="ctr">
            <a:spAutoFit/>
          </a:bodyPr>
          <a:lstStyle/>
          <a:p>
            <a:pPr algn="ctr"/>
            <a:r>
              <a:rPr sz="1100" b="1" i="0">
                <a:solidFill>
                  <a:srgbClr val="FBBF24"/>
                </a:solidFill>
                <a:latin typeface="Consolas"/>
              </a:rPr>
              <a:t>open signature
with Alice's
public key</a:t>
            </a:r>
          </a:p>
        </p:txBody>
      </p:sp>
      <p:cxnSp>
        <p:nvCxnSpPr>
          <p:cNvPr id="27" name="Connector 26"/>
          <p:cNvCxnSpPr/>
          <p:nvPr/>
        </p:nvCxnSpPr>
        <p:spPr>
          <a:xfrm>
            <a:off x="4005072" y="4594860"/>
            <a:ext cx="310896"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343400" y="4206240"/>
            <a:ext cx="1417320" cy="777240"/>
          </a:xfrm>
          <a:prstGeom prst="roundRect">
            <a:avLst>
              <a:gd name="adj" fmla="val 10000"/>
            </a:avLst>
          </a:prstGeom>
          <a:solidFill>
            <a:srgbClr val="172544"/>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89120" y="4206240"/>
            <a:ext cx="1325880" cy="777240"/>
          </a:xfrm>
          <a:prstGeom prst="rect">
            <a:avLst/>
          </a:prstGeom>
          <a:noFill/>
        </p:spPr>
        <p:txBody>
          <a:bodyPr wrap="square" lIns="0" tIns="0" rIns="0" bIns="0" anchor="ctr">
            <a:spAutoFit/>
          </a:bodyPr>
          <a:lstStyle/>
          <a:p>
            <a:pPr algn="ctr"/>
            <a:r>
              <a:rPr sz="1100" b="1" i="0">
                <a:solidFill>
                  <a:srgbClr val="22D3EE"/>
                </a:solidFill>
                <a:latin typeface="Consolas"/>
              </a:rPr>
              <a:t>compare the
two hashes</a:t>
            </a:r>
          </a:p>
        </p:txBody>
      </p:sp>
      <p:cxnSp>
        <p:nvCxnSpPr>
          <p:cNvPr id="30" name="Connector 29"/>
          <p:cNvCxnSpPr/>
          <p:nvPr/>
        </p:nvCxnSpPr>
        <p:spPr>
          <a:xfrm>
            <a:off x="5788152" y="4594860"/>
            <a:ext cx="310896" cy="0"/>
          </a:xfrm>
          <a:prstGeom prst="line">
            <a:avLst/>
          </a:prstGeom>
          <a:ln w="22225">
            <a:solidFill>
              <a:srgbClr val="22D3EE"/>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126479" y="4206240"/>
            <a:ext cx="1417320" cy="777240"/>
          </a:xfrm>
          <a:prstGeom prst="roundRect">
            <a:avLst>
              <a:gd name="adj" fmla="val 10000"/>
            </a:avLst>
          </a:prstGeom>
          <a:solidFill>
            <a:srgbClr val="172544"/>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72199" y="4206240"/>
            <a:ext cx="1325880" cy="777240"/>
          </a:xfrm>
          <a:prstGeom prst="rect">
            <a:avLst/>
          </a:prstGeom>
          <a:noFill/>
        </p:spPr>
        <p:txBody>
          <a:bodyPr wrap="square" lIns="0" tIns="0" rIns="0" bIns="0" anchor="ctr">
            <a:spAutoFit/>
          </a:bodyPr>
          <a:lstStyle/>
          <a:p>
            <a:pPr algn="ctr"/>
            <a:r>
              <a:rPr sz="1100" b="1" i="0">
                <a:solidFill>
                  <a:srgbClr val="4ADE80"/>
                </a:solidFill>
                <a:latin typeface="Consolas"/>
              </a:rPr>
              <a:t>match =
valid</a:t>
            </a:r>
          </a:p>
        </p:txBody>
      </p:sp>
      <p:sp>
        <p:nvSpPr>
          <p:cNvPr id="33" name="Rounded Rectangle 32"/>
          <p:cNvSpPr/>
          <p:nvPr/>
        </p:nvSpPr>
        <p:spPr>
          <a:xfrm>
            <a:off x="777240" y="5212080"/>
            <a:ext cx="6995160" cy="731520"/>
          </a:xfrm>
          <a:prstGeom prst="roundRect">
            <a:avLst>
              <a:gd name="adj" fmla="val 10000"/>
            </a:avLst>
          </a:prstGeom>
          <a:solidFill>
            <a:srgbClr val="070B14"/>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4400" y="5212080"/>
            <a:ext cx="6766560" cy="731520"/>
          </a:xfrm>
          <a:prstGeom prst="rect">
            <a:avLst/>
          </a:prstGeom>
          <a:noFill/>
        </p:spPr>
        <p:txBody>
          <a:bodyPr wrap="square" lIns="0" tIns="0" rIns="0" bIns="0" anchor="ctr">
            <a:spAutoFit/>
          </a:bodyPr>
          <a:lstStyle/>
          <a:p>
            <a:pPr algn="l">
              <a:spcAft>
                <a:spcPts val="300"/>
              </a:spcAft>
            </a:pPr>
            <a:r>
              <a:rPr sz="1300" b="0" i="0">
                <a:solidFill>
                  <a:srgbClr val="9FB0CC"/>
                </a:solidFill>
                <a:latin typeface="Consolas"/>
              </a:rPr>
              <a:t>"Pay Bob $100"   hashes match   </a:t>
            </a:r>
            <a:r>
              <a:rPr sz="1300" b="1" i="0">
                <a:solidFill>
                  <a:srgbClr val="4ADE80"/>
                </a:solidFill>
                <a:latin typeface="Consolas"/>
              </a:rPr>
              <a:t>VALID</a:t>
            </a:r>
          </a:p>
          <a:p>
            <a:pPr algn="l">
              <a:spcAft>
                <a:spcPts val="300"/>
              </a:spcAft>
            </a:pPr>
            <a:r>
              <a:rPr sz="1300" b="0" i="0">
                <a:solidFill>
                  <a:srgbClr val="9FB0CC"/>
                </a:solidFill>
                <a:latin typeface="Consolas"/>
              </a:rPr>
              <a:t>"Pay Bob $900"   hashes differ  </a:t>
            </a:r>
            <a:r>
              <a:rPr sz="1300" b="1" i="0">
                <a:solidFill>
                  <a:srgbClr val="F87171"/>
                </a:solidFill>
                <a:latin typeface="Consolas"/>
              </a:rPr>
              <a:t>REJECTED</a:t>
            </a:r>
          </a:p>
        </p:txBody>
      </p:sp>
      <p:sp>
        <p:nvSpPr>
          <p:cNvPr id="35" name="Rounded Rectangle 34"/>
          <p:cNvSpPr/>
          <p:nvPr/>
        </p:nvSpPr>
        <p:spPr>
          <a:xfrm>
            <a:off x="8183879" y="1417320"/>
            <a:ext cx="3429000" cy="475488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12480" y="1572768"/>
            <a:ext cx="3017520" cy="274320"/>
          </a:xfrm>
          <a:prstGeom prst="rect">
            <a:avLst/>
          </a:prstGeom>
          <a:noFill/>
        </p:spPr>
        <p:txBody>
          <a:bodyPr wrap="square" lIns="0" tIns="0" rIns="0" bIns="0" anchor="t">
            <a:spAutoFit/>
          </a:bodyPr>
          <a:lstStyle/>
          <a:p>
            <a:pPr algn="l"/>
            <a:r>
              <a:rPr sz="1300" b="1" i="0">
                <a:solidFill>
                  <a:srgbClr val="22D3EE"/>
                </a:solidFill>
                <a:latin typeface="Consolas"/>
              </a:rPr>
              <a:t>WHAT IT PROVES</a:t>
            </a:r>
          </a:p>
        </p:txBody>
      </p:sp>
      <p:sp>
        <p:nvSpPr>
          <p:cNvPr id="37" name="TextBox 36"/>
          <p:cNvSpPr txBox="1"/>
          <p:nvPr/>
        </p:nvSpPr>
        <p:spPr>
          <a:xfrm>
            <a:off x="8412480" y="2011680"/>
            <a:ext cx="3017520" cy="274320"/>
          </a:xfrm>
          <a:prstGeom prst="rect">
            <a:avLst/>
          </a:prstGeom>
          <a:noFill/>
        </p:spPr>
        <p:txBody>
          <a:bodyPr wrap="square" lIns="0" tIns="0" rIns="0" bIns="0" anchor="t">
            <a:spAutoFit/>
          </a:bodyPr>
          <a:lstStyle/>
          <a:p>
            <a:pPr algn="l"/>
            <a:r>
              <a:rPr sz="1300" b="1" i="0">
                <a:solidFill>
                  <a:srgbClr val="4ADE80"/>
                </a:solidFill>
                <a:latin typeface="Consolas"/>
              </a:rPr>
              <a:t>Authentication</a:t>
            </a:r>
          </a:p>
        </p:txBody>
      </p:sp>
      <p:sp>
        <p:nvSpPr>
          <p:cNvPr id="38" name="TextBox 37"/>
          <p:cNvSpPr txBox="1"/>
          <p:nvPr/>
        </p:nvSpPr>
        <p:spPr>
          <a:xfrm>
            <a:off x="8412480" y="2313432"/>
            <a:ext cx="3017520" cy="640080"/>
          </a:xfrm>
          <a:prstGeom prst="rect">
            <a:avLst/>
          </a:prstGeom>
          <a:noFill/>
        </p:spPr>
        <p:txBody>
          <a:bodyPr wrap="square" lIns="0" tIns="0" rIns="0" bIns="0" anchor="t">
            <a:spAutoFit/>
          </a:bodyPr>
          <a:lstStyle/>
          <a:p>
            <a:pPr algn="l"/>
            <a:r>
              <a:rPr sz="1400" b="0" i="0">
                <a:solidFill>
                  <a:srgbClr val="F1F5F9"/>
                </a:solidFill>
                <a:latin typeface="Calibri"/>
              </a:rPr>
              <a:t>Only the owner of the private key could have made it.</a:t>
            </a:r>
          </a:p>
        </p:txBody>
      </p:sp>
      <p:sp>
        <p:nvSpPr>
          <p:cNvPr id="39" name="TextBox 38"/>
          <p:cNvSpPr txBox="1"/>
          <p:nvPr/>
        </p:nvSpPr>
        <p:spPr>
          <a:xfrm>
            <a:off x="8412480" y="3035808"/>
            <a:ext cx="3017520" cy="274320"/>
          </a:xfrm>
          <a:prstGeom prst="rect">
            <a:avLst/>
          </a:prstGeom>
          <a:noFill/>
        </p:spPr>
        <p:txBody>
          <a:bodyPr wrap="square" lIns="0" tIns="0" rIns="0" bIns="0" anchor="t">
            <a:spAutoFit/>
          </a:bodyPr>
          <a:lstStyle/>
          <a:p>
            <a:pPr algn="l"/>
            <a:r>
              <a:rPr sz="1300" b="1" i="0">
                <a:solidFill>
                  <a:srgbClr val="4ADE80"/>
                </a:solidFill>
                <a:latin typeface="Consolas"/>
              </a:rPr>
              <a:t>Integrity</a:t>
            </a:r>
          </a:p>
        </p:txBody>
      </p:sp>
      <p:sp>
        <p:nvSpPr>
          <p:cNvPr id="40" name="TextBox 39"/>
          <p:cNvSpPr txBox="1"/>
          <p:nvPr/>
        </p:nvSpPr>
        <p:spPr>
          <a:xfrm>
            <a:off x="8412480" y="3337560"/>
            <a:ext cx="3017520" cy="640080"/>
          </a:xfrm>
          <a:prstGeom prst="rect">
            <a:avLst/>
          </a:prstGeom>
          <a:noFill/>
        </p:spPr>
        <p:txBody>
          <a:bodyPr wrap="square" lIns="0" tIns="0" rIns="0" bIns="0" anchor="t">
            <a:spAutoFit/>
          </a:bodyPr>
          <a:lstStyle/>
          <a:p>
            <a:pPr algn="l"/>
            <a:r>
              <a:rPr sz="1400" b="0" i="0">
                <a:solidFill>
                  <a:srgbClr val="F1F5F9"/>
                </a:solidFill>
                <a:latin typeface="Calibri"/>
              </a:rPr>
              <a:t>Change one letter of the message and the check fails.</a:t>
            </a:r>
          </a:p>
        </p:txBody>
      </p:sp>
      <p:sp>
        <p:nvSpPr>
          <p:cNvPr id="41" name="TextBox 40"/>
          <p:cNvSpPr txBox="1"/>
          <p:nvPr/>
        </p:nvSpPr>
        <p:spPr>
          <a:xfrm>
            <a:off x="8412480" y="4059936"/>
            <a:ext cx="3017520" cy="274320"/>
          </a:xfrm>
          <a:prstGeom prst="rect">
            <a:avLst/>
          </a:prstGeom>
          <a:noFill/>
        </p:spPr>
        <p:txBody>
          <a:bodyPr wrap="square" lIns="0" tIns="0" rIns="0" bIns="0" anchor="t">
            <a:spAutoFit/>
          </a:bodyPr>
          <a:lstStyle/>
          <a:p>
            <a:pPr algn="l"/>
            <a:r>
              <a:rPr sz="1300" b="1" i="0">
                <a:solidFill>
                  <a:srgbClr val="4ADE80"/>
                </a:solidFill>
                <a:latin typeface="Consolas"/>
              </a:rPr>
              <a:t>Non-repudiation</a:t>
            </a:r>
          </a:p>
        </p:txBody>
      </p:sp>
      <p:sp>
        <p:nvSpPr>
          <p:cNvPr id="42" name="TextBox 41"/>
          <p:cNvSpPr txBox="1"/>
          <p:nvPr/>
        </p:nvSpPr>
        <p:spPr>
          <a:xfrm>
            <a:off x="8412480" y="4361688"/>
            <a:ext cx="3017520" cy="640080"/>
          </a:xfrm>
          <a:prstGeom prst="rect">
            <a:avLst/>
          </a:prstGeom>
          <a:noFill/>
        </p:spPr>
        <p:txBody>
          <a:bodyPr wrap="square" lIns="0" tIns="0" rIns="0" bIns="0" anchor="t">
            <a:spAutoFit/>
          </a:bodyPr>
          <a:lstStyle/>
          <a:p>
            <a:pPr algn="l"/>
            <a:r>
              <a:rPr sz="1400" b="0" i="0">
                <a:solidFill>
                  <a:srgbClr val="F1F5F9"/>
                </a:solidFill>
                <a:latin typeface="Calibri"/>
              </a:rPr>
              <a:t>The signer cannot later say "that was not me".</a:t>
            </a:r>
          </a:p>
        </p:txBody>
      </p:sp>
      <p:sp>
        <p:nvSpPr>
          <p:cNvPr id="43" name="TextBox 42"/>
          <p:cNvSpPr txBox="1"/>
          <p:nvPr/>
        </p:nvSpPr>
        <p:spPr>
          <a:xfrm>
            <a:off x="8412480" y="5166360"/>
            <a:ext cx="3017520" cy="274320"/>
          </a:xfrm>
          <a:prstGeom prst="rect">
            <a:avLst/>
          </a:prstGeom>
          <a:noFill/>
        </p:spPr>
        <p:txBody>
          <a:bodyPr wrap="square" lIns="0" tIns="0" rIns="0" bIns="0" anchor="t">
            <a:spAutoFit/>
          </a:bodyPr>
          <a:lstStyle/>
          <a:p>
            <a:pPr algn="l"/>
            <a:r>
              <a:rPr sz="1100" b="1" i="0">
                <a:solidFill>
                  <a:srgbClr val="FBBF24"/>
                </a:solidFill>
                <a:latin typeface="Consolas"/>
              </a:rPr>
              <a:t>USED FOR</a:t>
            </a:r>
          </a:p>
        </p:txBody>
      </p:sp>
      <p:sp>
        <p:nvSpPr>
          <p:cNvPr id="44" name="TextBox 43"/>
          <p:cNvSpPr txBox="1"/>
          <p:nvPr/>
        </p:nvSpPr>
        <p:spPr>
          <a:xfrm>
            <a:off x="8412480" y="5440680"/>
            <a:ext cx="3017520" cy="640080"/>
          </a:xfrm>
          <a:prstGeom prst="rect">
            <a:avLst/>
          </a:prstGeom>
          <a:noFill/>
        </p:spPr>
        <p:txBody>
          <a:bodyPr wrap="square" lIns="0" tIns="0" rIns="0" bIns="0" anchor="t">
            <a:spAutoFit/>
          </a:bodyPr>
          <a:lstStyle/>
          <a:p>
            <a:pPr algn="l"/>
            <a:r>
              <a:rPr sz="1400" b="0" i="0">
                <a:solidFill>
                  <a:srgbClr val="9FB0CC"/>
                </a:solidFill>
                <a:latin typeface="Calibri"/>
              </a:rPr>
              <a:t>Software updates, website certificates, Git commits, signed PDFs.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CHECKPOINT 4  ·  5 MIN</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Pause and discuss</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32</a:t>
            </a:r>
            <a:endParaRPr lang="en-US" sz="1000"/>
          </a:p>
        </p:txBody>
      </p:sp>
      <p:sp>
        <p:nvSpPr>
          <p:cNvPr id="6" name="Rounded Rectangle 5"/>
          <p:cNvSpPr/>
          <p:nvPr/>
        </p:nvSpPr>
        <p:spPr>
          <a:xfrm>
            <a:off x="548640" y="1417320"/>
            <a:ext cx="3291840" cy="475488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con-chat-help-cc840707.png"/>
          <p:cNvPicPr>
            <a:picLocks noChangeAspect="1"/>
          </p:cNvPicPr>
          <p:nvPr/>
        </p:nvPicPr>
        <p:blipFill>
          <a:blip r:embed="rId3"/>
          <a:stretch>
            <a:fillRect/>
          </a:stretch>
        </p:blipFill>
        <p:spPr>
          <a:xfrm>
            <a:off x="822960" y="1691640"/>
            <a:ext cx="822960" cy="822960"/>
          </a:xfrm>
          <a:prstGeom prst="rect">
            <a:avLst/>
          </a:prstGeom>
        </p:spPr>
      </p:pic>
      <p:sp>
        <p:nvSpPr>
          <p:cNvPr id="8" name="TextBox 7"/>
          <p:cNvSpPr txBox="1"/>
          <p:nvPr/>
        </p:nvSpPr>
        <p:spPr>
          <a:xfrm>
            <a:off x="822960" y="2743200"/>
            <a:ext cx="2743200" cy="274320"/>
          </a:xfrm>
          <a:prstGeom prst="rect">
            <a:avLst/>
          </a:prstGeom>
          <a:noFill/>
        </p:spPr>
        <p:txBody>
          <a:bodyPr wrap="square" lIns="0" tIns="0" rIns="0" bIns="0" anchor="t">
            <a:spAutoFit/>
          </a:bodyPr>
          <a:lstStyle/>
          <a:p>
            <a:pPr algn="l"/>
            <a:r>
              <a:rPr sz="1400" b="1" i="0">
                <a:solidFill>
                  <a:srgbClr val="FBBF24"/>
                </a:solidFill>
                <a:latin typeface="Consolas"/>
              </a:rPr>
              <a:t>CHECKPOINT 4</a:t>
            </a:r>
          </a:p>
        </p:txBody>
      </p:sp>
      <p:sp>
        <p:nvSpPr>
          <p:cNvPr id="9" name="TextBox 8"/>
          <p:cNvSpPr txBox="1"/>
          <p:nvPr/>
        </p:nvSpPr>
        <p:spPr>
          <a:xfrm>
            <a:off x="822960" y="3108960"/>
            <a:ext cx="2743200" cy="548640"/>
          </a:xfrm>
          <a:prstGeom prst="rect">
            <a:avLst/>
          </a:prstGeom>
          <a:noFill/>
        </p:spPr>
        <p:txBody>
          <a:bodyPr wrap="square" lIns="0" tIns="0" rIns="0" bIns="0" anchor="t">
            <a:spAutoFit/>
          </a:bodyPr>
          <a:lstStyle/>
          <a:p>
            <a:pPr algn="l"/>
            <a:r>
              <a:rPr sz="2600" b="1" i="0">
                <a:solidFill>
                  <a:srgbClr val="F1F5F9"/>
                </a:solidFill>
                <a:latin typeface="Consolas"/>
              </a:rPr>
              <a:t>5 minutes</a:t>
            </a:r>
          </a:p>
        </p:txBody>
      </p:sp>
      <p:sp>
        <p:nvSpPr>
          <p:cNvPr id="10" name="TextBox 9"/>
          <p:cNvSpPr txBox="1"/>
          <p:nvPr/>
        </p:nvSpPr>
        <p:spPr>
          <a:xfrm>
            <a:off x="822960" y="3840480"/>
            <a:ext cx="2743200" cy="2103120"/>
          </a:xfrm>
          <a:prstGeom prst="rect">
            <a:avLst/>
          </a:prstGeom>
          <a:noFill/>
        </p:spPr>
        <p:txBody>
          <a:bodyPr wrap="square" lIns="0" tIns="0" rIns="0" bIns="0" anchor="t">
            <a:spAutoFit/>
          </a:bodyPr>
          <a:lstStyle/>
          <a:p>
            <a:pPr algn="l"/>
            <a:r>
              <a:rPr sz="1400" b="0" i="0">
                <a:solidFill>
                  <a:srgbClr val="9FB0CC"/>
                </a:solidFill>
                <a:latin typeface="Calibri"/>
              </a:rPr>
              <a:t>Talk with a neighbour for a couple of minutes, then we share answers. Guesses are welcome: there are no wrong answers yet.</a:t>
            </a:r>
          </a:p>
        </p:txBody>
      </p:sp>
      <p:sp>
        <p:nvSpPr>
          <p:cNvPr id="11" name="Rounded Rectangle 10"/>
          <p:cNvSpPr/>
          <p:nvPr/>
        </p:nvSpPr>
        <p:spPr>
          <a:xfrm>
            <a:off x="4023360" y="141732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51960" y="164592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51960" y="164592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1</a:t>
            </a:r>
          </a:p>
        </p:txBody>
      </p:sp>
      <p:sp>
        <p:nvSpPr>
          <p:cNvPr id="14" name="TextBox 13"/>
          <p:cNvSpPr txBox="1"/>
          <p:nvPr/>
        </p:nvSpPr>
        <p:spPr>
          <a:xfrm>
            <a:off x="4983480" y="1600200"/>
            <a:ext cx="6400800" cy="777240"/>
          </a:xfrm>
          <a:prstGeom prst="rect">
            <a:avLst/>
          </a:prstGeom>
          <a:noFill/>
        </p:spPr>
        <p:txBody>
          <a:bodyPr wrap="square" lIns="0" tIns="0" rIns="0" bIns="0" anchor="t">
            <a:spAutoFit/>
          </a:bodyPr>
          <a:lstStyle/>
          <a:p>
            <a:pPr algn="l"/>
            <a:r>
              <a:rPr sz="1800" b="0" i="0">
                <a:solidFill>
                  <a:srgbClr val="F1F5F9"/>
                </a:solidFill>
                <a:latin typeface="Calibri"/>
              </a:rPr>
              <a:t>Why do real systems use RSA or ECC to share a key, then AES for the data?</a:t>
            </a:r>
          </a:p>
        </p:txBody>
      </p:sp>
      <p:sp>
        <p:nvSpPr>
          <p:cNvPr id="15" name="TextBox 14"/>
          <p:cNvSpPr txBox="1"/>
          <p:nvPr/>
        </p:nvSpPr>
        <p:spPr>
          <a:xfrm>
            <a:off x="4983480" y="242316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compare speed and key sharing in the earlier table.</a:t>
            </a:r>
          </a:p>
        </p:txBody>
      </p:sp>
      <p:sp>
        <p:nvSpPr>
          <p:cNvPr id="16" name="Rounded Rectangle 15"/>
          <p:cNvSpPr/>
          <p:nvPr/>
        </p:nvSpPr>
        <p:spPr>
          <a:xfrm>
            <a:off x="4023360" y="306324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51960" y="329184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329184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2</a:t>
            </a:r>
          </a:p>
        </p:txBody>
      </p:sp>
      <p:sp>
        <p:nvSpPr>
          <p:cNvPr id="19" name="TextBox 18"/>
          <p:cNvSpPr txBox="1"/>
          <p:nvPr/>
        </p:nvSpPr>
        <p:spPr>
          <a:xfrm>
            <a:off x="4983480" y="3246120"/>
            <a:ext cx="6400800" cy="777240"/>
          </a:xfrm>
          <a:prstGeom prst="rect">
            <a:avLst/>
          </a:prstGeom>
          <a:noFill/>
        </p:spPr>
        <p:txBody>
          <a:bodyPr wrap="square" lIns="0" tIns="0" rIns="0" bIns="0" anchor="t">
            <a:spAutoFit/>
          </a:bodyPr>
          <a:lstStyle/>
          <a:p>
            <a:pPr algn="l"/>
            <a:r>
              <a:rPr sz="1800" b="0" i="0">
                <a:solidFill>
                  <a:srgbClr val="F1F5F9"/>
                </a:solidFill>
                <a:latin typeface="Calibri"/>
              </a:rPr>
              <a:t>Alice signs with her private key. Why can anyone check it, but nobody forge it?</a:t>
            </a:r>
          </a:p>
        </p:txBody>
      </p:sp>
      <p:sp>
        <p:nvSpPr>
          <p:cNvPr id="20" name="TextBox 19"/>
          <p:cNvSpPr txBox="1"/>
          <p:nvPr/>
        </p:nvSpPr>
        <p:spPr>
          <a:xfrm>
            <a:off x="4983480" y="406908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who has the private key? who has the public key?</a:t>
            </a:r>
          </a:p>
        </p:txBody>
      </p:sp>
      <p:sp>
        <p:nvSpPr>
          <p:cNvPr id="21" name="Rounded Rectangle 20"/>
          <p:cNvSpPr/>
          <p:nvPr/>
        </p:nvSpPr>
        <p:spPr>
          <a:xfrm>
            <a:off x="4023360" y="4709160"/>
            <a:ext cx="7589520" cy="146304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251960" y="4937760"/>
            <a:ext cx="502920" cy="502920"/>
          </a:xfrm>
          <a:prstGeom prst="roundRect">
            <a:avLst>
              <a:gd name="adj" fmla="val 50000"/>
            </a:avLst>
          </a:prstGeom>
          <a:solidFill>
            <a:srgbClr val="172544"/>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51960" y="4937760"/>
            <a:ext cx="502920" cy="502920"/>
          </a:xfrm>
          <a:prstGeom prst="rect">
            <a:avLst/>
          </a:prstGeom>
          <a:noFill/>
        </p:spPr>
        <p:txBody>
          <a:bodyPr wrap="square" lIns="0" tIns="0" rIns="0" bIns="0" anchor="ctr">
            <a:spAutoFit/>
          </a:bodyPr>
          <a:lstStyle/>
          <a:p>
            <a:pPr algn="ctr"/>
            <a:r>
              <a:rPr sz="1600" b="1" i="0">
                <a:solidFill>
                  <a:srgbClr val="22D3EE"/>
                </a:solidFill>
                <a:latin typeface="Consolas"/>
              </a:rPr>
              <a:t>3</a:t>
            </a:r>
          </a:p>
        </p:txBody>
      </p:sp>
      <p:sp>
        <p:nvSpPr>
          <p:cNvPr id="24" name="TextBox 23"/>
          <p:cNvSpPr txBox="1"/>
          <p:nvPr/>
        </p:nvSpPr>
        <p:spPr>
          <a:xfrm>
            <a:off x="4983480" y="4892040"/>
            <a:ext cx="6400800" cy="777240"/>
          </a:xfrm>
          <a:prstGeom prst="rect">
            <a:avLst/>
          </a:prstGeom>
          <a:noFill/>
        </p:spPr>
        <p:txBody>
          <a:bodyPr wrap="square" lIns="0" tIns="0" rIns="0" bIns="0" anchor="t">
            <a:spAutoFit/>
          </a:bodyPr>
          <a:lstStyle/>
          <a:p>
            <a:pPr algn="l"/>
            <a:r>
              <a:rPr sz="1800" b="0" i="0">
                <a:solidFill>
                  <a:srgbClr val="F1F5F9"/>
                </a:solidFill>
                <a:latin typeface="Calibri"/>
              </a:rPr>
              <a:t>Your browser connects to a bank. What can an eavesdropper see, and what stays secret?</a:t>
            </a:r>
          </a:p>
        </p:txBody>
      </p:sp>
      <p:sp>
        <p:nvSpPr>
          <p:cNvPr id="25" name="TextBox 24"/>
          <p:cNvSpPr txBox="1"/>
          <p:nvPr/>
        </p:nvSpPr>
        <p:spPr>
          <a:xfrm>
            <a:off x="4983480" y="5715000"/>
            <a:ext cx="6400800" cy="320040"/>
          </a:xfrm>
          <a:prstGeom prst="rect">
            <a:avLst/>
          </a:prstGeom>
          <a:noFill/>
        </p:spPr>
        <p:txBody>
          <a:bodyPr wrap="square" lIns="0" tIns="0" rIns="0" bIns="0" anchor="t">
            <a:spAutoFit/>
          </a:bodyPr>
          <a:lstStyle/>
          <a:p>
            <a:pPr algn="l"/>
            <a:r>
              <a:rPr sz="1300" b="0" i="0">
                <a:solidFill>
                  <a:srgbClr val="4ADE80"/>
                </a:solidFill>
                <a:latin typeface="Calibri"/>
              </a:rPr>
              <a:t>Hint: think about ECDH: what is public, what is private?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2">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BEYOND 01</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Post-quantum cryptography</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33</a:t>
            </a:r>
            <a:endParaRPr lang="en-US" sz="1000" dirty="0"/>
          </a:p>
        </p:txBody>
      </p:sp>
      <p:sp>
        <p:nvSpPr>
          <p:cNvPr id="6" name="Shape 4"/>
          <p:cNvSpPr/>
          <p:nvPr/>
        </p:nvSpPr>
        <p:spPr>
          <a:xfrm>
            <a:off x="548640" y="1417320"/>
            <a:ext cx="11091672" cy="731520"/>
          </a:xfrm>
          <a:prstGeom prst="roundRect">
            <a:avLst>
              <a:gd name="adj" fmla="val 10000"/>
            </a:avLst>
          </a:prstGeom>
          <a:solidFill>
            <a:srgbClr val="172544"/>
          </a:solidFill>
          <a:ln w="12700">
            <a:solidFill>
              <a:srgbClr val="FBBF24"/>
            </a:solidFill>
            <a:prstDash val="solid"/>
          </a:ln>
        </p:spPr>
      </p:sp>
      <p:pic>
        <p:nvPicPr>
          <p:cNvPr id="7" name="Image 0" descr="/agent/turn1/workspace/output/_anthropic_assets/icon-warning-06b553b1.png"/>
          <p:cNvPicPr>
            <a:picLocks noChangeAspect="1"/>
          </p:cNvPicPr>
          <p:nvPr/>
        </p:nvPicPr>
        <p:blipFill>
          <a:blip r:embed="rId3"/>
          <a:stretch>
            <a:fillRect/>
          </a:stretch>
        </p:blipFill>
        <p:spPr>
          <a:xfrm>
            <a:off x="777240" y="1600200"/>
            <a:ext cx="365760" cy="365760"/>
          </a:xfrm>
          <a:prstGeom prst="rect">
            <a:avLst/>
          </a:prstGeom>
        </p:spPr>
      </p:pic>
      <p:sp>
        <p:nvSpPr>
          <p:cNvPr id="8" name="Text 5"/>
          <p:cNvSpPr/>
          <p:nvPr/>
        </p:nvSpPr>
        <p:spPr>
          <a:xfrm>
            <a:off x="1325880" y="1417320"/>
            <a:ext cx="10058400" cy="731520"/>
          </a:xfrm>
          <a:prstGeom prst="rect">
            <a:avLst/>
          </a:prstGeom>
          <a:noFill/>
          <a:ln/>
        </p:spPr>
        <p:txBody>
          <a:bodyPr wrap="square" lIns="0" tIns="0" rIns="0" bIns="0" rtlCol="0" anchor="ctr"/>
          <a:lstStyle/>
          <a:p>
            <a:pPr marL="0" indent="0">
              <a:buNone/>
            </a:pPr>
            <a:r>
              <a:rPr lang="en-US" sz="1500" b="1" dirty="0">
                <a:solidFill>
                  <a:srgbClr val="FBBF24"/>
                </a:solidFill>
                <a:latin typeface="Calibri" pitchFamily="34" charset="0"/>
                <a:ea typeface="Calibri" pitchFamily="34" charset="-122"/>
                <a:cs typeface="Calibri" pitchFamily="34" charset="-120"/>
              </a:rPr>
              <a:t>Harvest now, decrypt later: </a:t>
            </a:r>
            <a:r>
              <a:rPr lang="en-US" sz="1500" dirty="0">
                <a:solidFill>
                  <a:srgbClr val="F1F5F9"/>
                </a:solidFill>
                <a:latin typeface="Calibri" pitchFamily="34" charset="0"/>
                <a:ea typeface="Calibri" pitchFamily="34" charset="-122"/>
                <a:cs typeface="Calibri" pitchFamily="34" charset="-120"/>
              </a:rPr>
              <a:t>traffic </a:t>
            </a:r>
            <a:r>
              <a:rPr lang="en-US" sz="1500">
                <a:solidFill>
                  <a:srgbClr val="F1F5F9"/>
                </a:solidFill>
                <a:latin typeface="Calibri" pitchFamily="34" charset="0"/>
                <a:ea typeface="Calibri" pitchFamily="34" charset="-122"/>
                <a:cs typeface="Calibri" pitchFamily="34" charset="-120"/>
              </a:rPr>
              <a:t>recorded </a:t>
            </a:r>
            <a:r>
              <a:rPr lang="en-US" sz="1500" dirty="0">
                <a:solidFill>
                  <a:srgbClr val="F1F5F9"/>
                </a:solidFill>
                <a:latin typeface="Calibri" pitchFamily="34" charset="0"/>
                <a:ea typeface="Calibri" pitchFamily="34" charset="-122"/>
                <a:cs typeface="Calibri" pitchFamily="34" charset="-120"/>
              </a:rPr>
              <a:t>today </a:t>
            </a:r>
            <a:r>
              <a:rPr lang="en-US" sz="1500">
                <a:solidFill>
                  <a:srgbClr val="F1F5F9"/>
                </a:solidFill>
                <a:latin typeface="Calibri" pitchFamily="34" charset="0"/>
                <a:ea typeface="Calibri" pitchFamily="34" charset="-122"/>
                <a:cs typeface="Calibri" pitchFamily="34" charset="-120"/>
              </a:rPr>
              <a:t>could </a:t>
            </a:r>
            <a:r>
              <a:rPr lang="en-US" sz="1500" dirty="0">
                <a:solidFill>
                  <a:srgbClr val="F1F5F9"/>
                </a:solidFill>
                <a:latin typeface="Calibri" pitchFamily="34" charset="0"/>
                <a:ea typeface="Calibri" pitchFamily="34" charset="-122"/>
                <a:cs typeface="Calibri" pitchFamily="34" charset="-120"/>
              </a:rPr>
              <a:t>be decrypted once large quantum </a:t>
            </a:r>
            <a:r>
              <a:rPr lang="en-US" sz="1500">
                <a:solidFill>
                  <a:srgbClr val="F1F5F9"/>
                </a:solidFill>
                <a:latin typeface="Calibri" pitchFamily="34" charset="0"/>
                <a:ea typeface="Calibri" pitchFamily="34" charset="-122"/>
                <a:cs typeface="Calibri" pitchFamily="34" charset="-120"/>
              </a:rPr>
              <a:t>computers exist</a:t>
            </a:r>
            <a:r>
              <a:rPr lang="en-US" sz="1500" dirty="0">
                <a:solidFill>
                  <a:srgbClr val="F1F5F9"/>
                </a:solidFill>
                <a:latin typeface="Calibri" pitchFamily="34" charset="0"/>
                <a:ea typeface="Calibri" pitchFamily="34" charset="-122"/>
                <a:cs typeface="Calibri" pitchFamily="34" charset="-120"/>
              </a:rPr>
              <a:t>.</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6583680" cy="3108960"/>
        </p:xfrm>
        <a:graphic>
          <a:graphicData uri="http://schemas.openxmlformats.org/drawingml/2006/table">
            <a:tbl>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621792">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Algorithm</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Quantum attack</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tc>
                  <a:txBody>
                    <a:bodyPr/>
                    <a:lstStyle/>
                    <a:p>
                      <a:pPr marL="0" indent="0">
                        <a:buNone/>
                      </a:pPr>
                      <a:r>
                        <a:rPr lang="en-US" sz="1300" b="1" dirty="0">
                          <a:solidFill>
                            <a:srgbClr val="0A0F1C"/>
                          </a:solidFill>
                          <a:latin typeface="Consolas" pitchFamily="34" charset="0"/>
                          <a:ea typeface="Consolas" pitchFamily="34" charset="-122"/>
                          <a:cs typeface="Consolas" pitchFamily="34" charset="-120"/>
                        </a:rPr>
                        <a:t>Outlook</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621792">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RSA, DH</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Shor's algorithm solves the hard problem quickly</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F87171"/>
                          </a:solidFill>
                          <a:latin typeface="Calibri" pitchFamily="34" charset="0"/>
                          <a:ea typeface="Calibri" pitchFamily="34" charset="-122"/>
                          <a:cs typeface="Calibri" pitchFamily="34" charset="-120"/>
                        </a:rPr>
                        <a:t>Broken</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1"/>
                  </a:ext>
                </a:extLst>
              </a:tr>
              <a:tr h="621792">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ECC</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Shor's algorithm again</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F87171"/>
                          </a:solidFill>
                          <a:latin typeface="Calibri" pitchFamily="34" charset="0"/>
                          <a:ea typeface="Calibri" pitchFamily="34" charset="-122"/>
                          <a:cs typeface="Calibri" pitchFamily="34" charset="-120"/>
                        </a:rPr>
                        <a:t>Broken</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2"/>
                  </a:ext>
                </a:extLst>
              </a:tr>
              <a:tr h="621792">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AES-128</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Grover's algorithm halves the key strength</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FBBF24"/>
                          </a:solidFill>
                          <a:latin typeface="Calibri" pitchFamily="34" charset="0"/>
                          <a:ea typeface="Calibri" pitchFamily="34" charset="-122"/>
                          <a:cs typeface="Calibri" pitchFamily="34" charset="-120"/>
                        </a:rPr>
                        <a:t>Use AES-256</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3"/>
                  </a:ext>
                </a:extLst>
              </a:tr>
              <a:tr h="621792">
                <a:tc>
                  <a:txBody>
                    <a:bodyPr/>
                    <a:lstStyle/>
                    <a:p>
                      <a:pPr marL="0" indent="0">
                        <a:buNone/>
                      </a:pPr>
                      <a:r>
                        <a:rPr lang="en-US" sz="1300" b="1" dirty="0">
                          <a:solidFill>
                            <a:srgbClr val="22D3EE"/>
                          </a:solidFill>
                          <a:latin typeface="Consolas" pitchFamily="34" charset="0"/>
                          <a:ea typeface="Consolas" pitchFamily="34" charset="-122"/>
                          <a:cs typeface="Consolas" pitchFamily="34" charset="-120"/>
                        </a:rPr>
                        <a:t>SHA-256</a:t>
                      </a:r>
                      <a:endParaRPr lang="en-US" sz="1300" dirty="0">
                        <a:latin typeface="Consolas" charset="0"/>
                        <a:ea typeface="Consolas" charset="0"/>
                        <a:cs typeface="Consolas"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a:solidFill>
                            <a:srgbClr val="F1F5F9"/>
                          </a:solidFill>
                          <a:latin typeface="Calibri" pitchFamily="34" charset="0"/>
                          <a:ea typeface="Calibri" pitchFamily="34" charset="-122"/>
                          <a:cs typeface="Calibri" pitchFamily="34" charset="-120"/>
                        </a:rPr>
                        <a:t>Grover helps very little</a:t>
                      </a:r>
                      <a:endParaRPr lang="en-US" sz="130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tc>
                  <a:txBody>
                    <a:bodyPr/>
                    <a:lstStyle/>
                    <a:p>
                      <a:pPr marL="0" indent="0">
                        <a:buNone/>
                      </a:pPr>
                      <a:r>
                        <a:rPr lang="en-US" sz="1300" b="1" dirty="0">
                          <a:solidFill>
                            <a:srgbClr val="4ADE80"/>
                          </a:solidFill>
                          <a:latin typeface="Calibri" pitchFamily="34" charset="0"/>
                          <a:ea typeface="Calibri" pitchFamily="34" charset="-122"/>
                          <a:cs typeface="Calibri" pitchFamily="34" charset="-120"/>
                        </a:rPr>
                        <a:t>Still fine</a:t>
                      </a:r>
                      <a:endParaRPr lang="en-US" sz="1300" dirty="0">
                        <a:latin typeface="Calibri" charset="0"/>
                        <a:ea typeface="Calibri" charset="0"/>
                        <a:cs typeface="Calibri" charset="0"/>
                      </a:endParaRPr>
                    </a:p>
                  </a:txBody>
                  <a:tcPr marL="109728" marR="109728" marT="0" marB="0" anchor="ctr">
                    <a:lnL w="9525" cap="flat" cmpd="sng" algn="ctr">
                      <a:solidFill>
                        <a:srgbClr val="2A3E68"/>
                      </a:solidFill>
                      <a:prstDash val="solid"/>
                      <a:round/>
                      <a:headEnd type="none" w="med" len="med"/>
                      <a:tailEnd type="none" w="med" len="med"/>
                    </a:lnL>
                    <a:lnR w="9525" cap="flat" cmpd="sng" algn="ctr">
                      <a:solidFill>
                        <a:srgbClr val="2A3E68"/>
                      </a:solidFill>
                      <a:prstDash val="solid"/>
                      <a:round/>
                      <a:headEnd type="none" w="med" len="med"/>
                      <a:tailEnd type="none" w="med" len="med"/>
                    </a:lnR>
                    <a:lnT w="9525" cap="flat" cmpd="sng" algn="ctr">
                      <a:solidFill>
                        <a:srgbClr val="2A3E68"/>
                      </a:solidFill>
                      <a:prstDash val="solid"/>
                      <a:round/>
                      <a:headEnd type="none" w="med" len="med"/>
                      <a:tailEnd type="none" w="med" len="med"/>
                    </a:lnT>
                    <a:lnB w="9525" cap="flat" cmpd="sng" algn="ctr">
                      <a:solidFill>
                        <a:srgbClr val="2A3E68"/>
                      </a:solidFill>
                      <a:prstDash val="solid"/>
                      <a:round/>
                      <a:headEnd type="none" w="med" len="med"/>
                      <a:tailEnd type="none" w="med" len="med"/>
                    </a:lnB>
                    <a:solidFill>
                      <a:srgbClr val="111A2F"/>
                    </a:solidFill>
                  </a:tcPr>
                </a:tc>
                <a:extLst>
                  <a:ext uri="{0D108BD9-81ED-4DB2-BD59-A6C34878D82A}">
                    <a16:rowId xmlns:a16="http://schemas.microsoft.com/office/drawing/2014/main" val="10004"/>
                  </a:ext>
                </a:extLst>
              </a:tr>
            </a:tbl>
          </a:graphicData>
        </a:graphic>
      </p:graphicFrame>
      <p:sp>
        <p:nvSpPr>
          <p:cNvPr id="10" name="Shape 6"/>
          <p:cNvSpPr/>
          <p:nvPr/>
        </p:nvSpPr>
        <p:spPr>
          <a:xfrm>
            <a:off x="548640" y="5577840"/>
            <a:ext cx="6583680" cy="548640"/>
          </a:xfrm>
          <a:prstGeom prst="roundRect">
            <a:avLst>
              <a:gd name="adj" fmla="val 13333"/>
            </a:avLst>
          </a:prstGeom>
          <a:solidFill>
            <a:srgbClr val="172544"/>
          </a:solidFill>
          <a:ln w="12700">
            <a:solidFill>
              <a:srgbClr val="2A3E68"/>
            </a:solidFill>
            <a:prstDash val="solid"/>
          </a:ln>
        </p:spPr>
      </p:sp>
      <p:sp>
        <p:nvSpPr>
          <p:cNvPr id="11" name="Text 7"/>
          <p:cNvSpPr/>
          <p:nvPr/>
        </p:nvSpPr>
        <p:spPr>
          <a:xfrm>
            <a:off x="777240" y="5577840"/>
            <a:ext cx="6217920" cy="548640"/>
          </a:xfrm>
          <a:prstGeom prst="rect">
            <a:avLst/>
          </a:prstGeom>
          <a:noFill/>
          <a:ln/>
        </p:spPr>
        <p:txBody>
          <a:bodyPr wrap="square" lIns="0" tIns="0" rIns="0" bIns="0" rtlCol="0" anchor="ctr"/>
          <a:lstStyle/>
          <a:p>
            <a:pPr marL="0" indent="0">
              <a:buNone/>
            </a:pPr>
            <a:r>
              <a:rPr lang="en-US" sz="1300">
                <a:solidFill>
                  <a:srgbClr val="F1F5F9"/>
                </a:solidFill>
                <a:latin typeface="Calibri" pitchFamily="34" charset="0"/>
                <a:ea typeface="Calibri" pitchFamily="34" charset="-122"/>
                <a:cs typeface="Calibri" pitchFamily="34" charset="-120"/>
              </a:rPr>
              <a:t>Browsers already combine today's </a:t>
            </a:r>
            <a:r>
              <a:rPr lang="en-US" sz="1300" dirty="0">
                <a:solidFill>
                  <a:srgbClr val="F1F5F9"/>
                </a:solidFill>
                <a:latin typeface="Calibri" pitchFamily="34" charset="0"/>
                <a:ea typeface="Calibri" pitchFamily="34" charset="-122"/>
                <a:cs typeface="Calibri" pitchFamily="34" charset="-120"/>
              </a:rPr>
              <a:t>key exchange </a:t>
            </a:r>
            <a:r>
              <a:rPr lang="en-US" sz="1300">
                <a:solidFill>
                  <a:srgbClr val="F1F5F9"/>
                </a:solidFill>
                <a:latin typeface="Calibri" pitchFamily="34" charset="0"/>
                <a:ea typeface="Calibri" pitchFamily="34" charset="-122"/>
                <a:cs typeface="Calibri" pitchFamily="34" charset="-120"/>
              </a:rPr>
              <a:t>(X25519) with ML-KEM for protection now</a:t>
            </a:r>
            <a:r>
              <a:rPr lang="en-US" sz="1300" dirty="0">
                <a:solidFill>
                  <a:srgbClr val="F1F5F9"/>
                </a:solidFill>
                <a:latin typeface="Calibri" pitchFamily="34" charset="0"/>
                <a:ea typeface="Calibri" pitchFamily="34" charset="-122"/>
                <a:cs typeface="Calibri" pitchFamily="34" charset="-120"/>
              </a:rPr>
              <a:t>.</a:t>
            </a:r>
            <a:endParaRPr lang="en-US" sz="1300" dirty="0"/>
          </a:p>
        </p:txBody>
      </p:sp>
      <p:sp>
        <p:nvSpPr>
          <p:cNvPr id="12" name="Shape 8"/>
          <p:cNvSpPr/>
          <p:nvPr/>
        </p:nvSpPr>
        <p:spPr>
          <a:xfrm>
            <a:off x="7360920" y="2377440"/>
            <a:ext cx="4279392" cy="3749040"/>
          </a:xfrm>
          <a:prstGeom prst="roundRect">
            <a:avLst>
              <a:gd name="adj" fmla="val 1951"/>
            </a:avLst>
          </a:prstGeom>
          <a:solidFill>
            <a:srgbClr val="111A2F"/>
          </a:solidFill>
          <a:ln w="12700">
            <a:solidFill>
              <a:srgbClr val="2A3E68"/>
            </a:solidFill>
            <a:prstDash val="solid"/>
          </a:ln>
        </p:spPr>
      </p:sp>
      <p:sp>
        <p:nvSpPr>
          <p:cNvPr id="13" name="Text 9"/>
          <p:cNvSpPr/>
          <p:nvPr/>
        </p:nvSpPr>
        <p:spPr>
          <a:xfrm>
            <a:off x="7589520" y="2487168"/>
            <a:ext cx="3840480" cy="274320"/>
          </a:xfrm>
          <a:prstGeom prst="rect">
            <a:avLst/>
          </a:prstGeom>
          <a:noFill/>
          <a:ln/>
        </p:spPr>
        <p:txBody>
          <a:bodyPr wrap="square" lIns="0" tIns="0" rIns="0" bIns="0" rtlCol="0" anchor="t"/>
          <a:lstStyle/>
          <a:p>
            <a:pPr marL="0" indent="0">
              <a:buNone/>
            </a:pPr>
            <a:r>
              <a:rPr lang="en-US" sz="1400" b="1" dirty="0">
                <a:solidFill>
                  <a:srgbClr val="22D3EE"/>
                </a:solidFill>
                <a:latin typeface="Consolas" pitchFamily="34" charset="0"/>
                <a:ea typeface="Consolas" pitchFamily="34" charset="-122"/>
                <a:cs typeface="Consolas" pitchFamily="34" charset="-120"/>
              </a:rPr>
              <a:t>NIST standards</a:t>
            </a:r>
            <a:endParaRPr lang="en-US" sz="1400" dirty="0"/>
          </a:p>
        </p:txBody>
      </p:sp>
      <p:sp>
        <p:nvSpPr>
          <p:cNvPr id="14" name="Text 10"/>
          <p:cNvSpPr/>
          <p:nvPr/>
        </p:nvSpPr>
        <p:spPr>
          <a:xfrm>
            <a:off x="7589520" y="2880360"/>
            <a:ext cx="3840480" cy="256032"/>
          </a:xfrm>
          <a:prstGeom prst="rect">
            <a:avLst/>
          </a:prstGeom>
          <a:noFill/>
          <a:ln/>
        </p:spPr>
        <p:txBody>
          <a:bodyPr wrap="square" lIns="0" tIns="0" rIns="0" bIns="0" rtlCol="0" anchor="t"/>
          <a:lstStyle/>
          <a:p>
            <a:pPr marL="0" indent="0">
              <a:buNone/>
            </a:pPr>
            <a:r>
              <a:rPr lang="en-US" sz="1300" b="1" dirty="0">
                <a:solidFill>
                  <a:srgbClr val="4ADE80"/>
                </a:solidFill>
                <a:latin typeface="Consolas" pitchFamily="34" charset="0"/>
                <a:ea typeface="Consolas" pitchFamily="34" charset="-122"/>
                <a:cs typeface="Consolas" pitchFamily="34" charset="-120"/>
              </a:rPr>
              <a:t>ML-KEM (FIPS 203)</a:t>
            </a:r>
            <a:endParaRPr lang="en-US" sz="1300" dirty="0"/>
          </a:p>
        </p:txBody>
      </p:sp>
      <p:sp>
        <p:nvSpPr>
          <p:cNvPr id="15" name="Text 11"/>
          <p:cNvSpPr/>
          <p:nvPr/>
        </p:nvSpPr>
        <p:spPr>
          <a:xfrm>
            <a:off x="7589520" y="3154680"/>
            <a:ext cx="3840480" cy="457200"/>
          </a:xfrm>
          <a:prstGeom prst="rect">
            <a:avLst/>
          </a:prstGeom>
          <a:noFill/>
          <a:ln/>
        </p:spPr>
        <p:txBody>
          <a:bodyPr wrap="square" lIns="0" tIns="0" rIns="0" bIns="0" rtlCol="0" anchor="t"/>
          <a:lstStyle/>
          <a:p>
            <a:pPr marL="0" indent="0">
              <a:buNone/>
            </a:pPr>
            <a:r>
              <a:rPr lang="en-US" sz="1300" dirty="0">
                <a:solidFill>
                  <a:srgbClr val="F1F5F9"/>
                </a:solidFill>
                <a:latin typeface="Calibri" pitchFamily="34" charset="0"/>
                <a:ea typeface="Calibri" pitchFamily="34" charset="-122"/>
                <a:cs typeface="Calibri" pitchFamily="34" charset="-120"/>
              </a:rPr>
              <a:t>Key exchange, from CRYSTALS-Kyber</a:t>
            </a:r>
            <a:endParaRPr lang="en-US" sz="1300" dirty="0"/>
          </a:p>
        </p:txBody>
      </p:sp>
      <p:sp>
        <p:nvSpPr>
          <p:cNvPr id="16" name="Text 12"/>
          <p:cNvSpPr/>
          <p:nvPr/>
        </p:nvSpPr>
        <p:spPr>
          <a:xfrm>
            <a:off x="7589520" y="3685032"/>
            <a:ext cx="3840480" cy="256032"/>
          </a:xfrm>
          <a:prstGeom prst="rect">
            <a:avLst/>
          </a:prstGeom>
          <a:noFill/>
          <a:ln/>
        </p:spPr>
        <p:txBody>
          <a:bodyPr wrap="square" lIns="0" tIns="0" rIns="0" bIns="0" rtlCol="0" anchor="t"/>
          <a:lstStyle/>
          <a:p>
            <a:pPr marL="0" indent="0">
              <a:buNone/>
            </a:pPr>
            <a:r>
              <a:rPr lang="en-US" sz="1300" b="1" dirty="0">
                <a:solidFill>
                  <a:srgbClr val="4ADE80"/>
                </a:solidFill>
                <a:latin typeface="Consolas" pitchFamily="34" charset="0"/>
                <a:ea typeface="Consolas" pitchFamily="34" charset="-122"/>
                <a:cs typeface="Consolas" pitchFamily="34" charset="-120"/>
              </a:rPr>
              <a:t>ML-DSA (FIPS 204)</a:t>
            </a:r>
            <a:endParaRPr lang="en-US" sz="1300" dirty="0"/>
          </a:p>
        </p:txBody>
      </p:sp>
      <p:sp>
        <p:nvSpPr>
          <p:cNvPr id="17" name="Text 13"/>
          <p:cNvSpPr/>
          <p:nvPr/>
        </p:nvSpPr>
        <p:spPr>
          <a:xfrm>
            <a:off x="7589520" y="3959352"/>
            <a:ext cx="3840480" cy="45720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Digital signatures</a:t>
            </a:r>
            <a:r>
              <a:rPr lang="en-US" sz="1300" dirty="0">
                <a:solidFill>
                  <a:srgbClr val="F1F5F9"/>
                </a:solidFill>
                <a:latin typeface="Calibri" pitchFamily="34" charset="0"/>
                <a:ea typeface="Calibri" pitchFamily="34" charset="-122"/>
                <a:cs typeface="Calibri" pitchFamily="34" charset="-120"/>
              </a:rPr>
              <a:t>, from CRYSTALS-Dilithium</a:t>
            </a:r>
            <a:endParaRPr lang="en-US" sz="1300" dirty="0"/>
          </a:p>
        </p:txBody>
      </p:sp>
      <p:sp>
        <p:nvSpPr>
          <p:cNvPr id="18" name="Text 14"/>
          <p:cNvSpPr/>
          <p:nvPr/>
        </p:nvSpPr>
        <p:spPr>
          <a:xfrm>
            <a:off x="7589520" y="4489704"/>
            <a:ext cx="3840480" cy="256032"/>
          </a:xfrm>
          <a:prstGeom prst="rect">
            <a:avLst/>
          </a:prstGeom>
          <a:noFill/>
          <a:ln/>
        </p:spPr>
        <p:txBody>
          <a:bodyPr wrap="square" lIns="0" tIns="0" rIns="0" bIns="0" rtlCol="0" anchor="t"/>
          <a:lstStyle/>
          <a:p>
            <a:pPr marL="0" indent="0">
              <a:buNone/>
            </a:pPr>
            <a:r>
              <a:rPr lang="en-US" sz="1300" b="1" dirty="0">
                <a:solidFill>
                  <a:srgbClr val="4ADE80"/>
                </a:solidFill>
                <a:latin typeface="Consolas" pitchFamily="34" charset="0"/>
                <a:ea typeface="Consolas" pitchFamily="34" charset="-122"/>
                <a:cs typeface="Consolas" pitchFamily="34" charset="-120"/>
              </a:rPr>
              <a:t>SLH-DSA (FIPS 205)</a:t>
            </a:r>
            <a:endParaRPr lang="en-US" sz="1300" dirty="0"/>
          </a:p>
        </p:txBody>
      </p:sp>
      <p:sp>
        <p:nvSpPr>
          <p:cNvPr id="19" name="Text 15"/>
          <p:cNvSpPr/>
          <p:nvPr/>
        </p:nvSpPr>
        <p:spPr>
          <a:xfrm>
            <a:off x="7589520" y="4764024"/>
            <a:ext cx="3840480" cy="45720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Signatures built only </a:t>
            </a:r>
            <a:r>
              <a:rPr lang="en-US" sz="1300" dirty="0">
                <a:solidFill>
                  <a:srgbClr val="F1F5F9"/>
                </a:solidFill>
                <a:latin typeface="Calibri" pitchFamily="34" charset="0"/>
                <a:ea typeface="Calibri" pitchFamily="34" charset="-122"/>
                <a:cs typeface="Calibri" pitchFamily="34" charset="-120"/>
              </a:rPr>
              <a:t>from </a:t>
            </a:r>
            <a:r>
              <a:rPr lang="en-US" sz="1300">
                <a:solidFill>
                  <a:srgbClr val="F1F5F9"/>
                </a:solidFill>
                <a:latin typeface="Calibri" pitchFamily="34" charset="0"/>
                <a:ea typeface="Calibri" pitchFamily="34" charset="-122"/>
                <a:cs typeface="Calibri" pitchFamily="34" charset="-120"/>
              </a:rPr>
              <a:t>hashes (</a:t>
            </a:r>
            <a:r>
              <a:rPr lang="en-US" sz="1300" dirty="0">
                <a:solidFill>
                  <a:srgbClr val="F1F5F9"/>
                </a:solidFill>
                <a:latin typeface="Calibri" pitchFamily="34" charset="0"/>
                <a:ea typeface="Calibri" pitchFamily="34" charset="-122"/>
                <a:cs typeface="Calibri" pitchFamily="34" charset="-120"/>
              </a:rPr>
              <a:t>SPHINCS</a:t>
            </a:r>
            <a:r>
              <a:rPr lang="en-US" sz="1300">
                <a:solidFill>
                  <a:srgbClr val="F1F5F9"/>
                </a:solidFill>
                <a:latin typeface="Calibri" pitchFamily="34" charset="0"/>
                <a:ea typeface="Calibri" pitchFamily="34" charset="-122"/>
                <a:cs typeface="Calibri" pitchFamily="34" charset="-120"/>
              </a:rPr>
              <a:t>+)</a:t>
            </a:r>
            <a:endParaRPr lang="en-US" sz="1300" dirty="0"/>
          </a:p>
        </p:txBody>
      </p:sp>
      <p:sp>
        <p:nvSpPr>
          <p:cNvPr id="20" name="Text 16"/>
          <p:cNvSpPr/>
          <p:nvPr/>
        </p:nvSpPr>
        <p:spPr>
          <a:xfrm>
            <a:off x="7589520" y="5294376"/>
            <a:ext cx="3840480" cy="256032"/>
          </a:xfrm>
          <a:prstGeom prst="rect">
            <a:avLst/>
          </a:prstGeom>
          <a:noFill/>
          <a:ln/>
        </p:spPr>
        <p:txBody>
          <a:bodyPr wrap="square" lIns="0" tIns="0" rIns="0" bIns="0" rtlCol="0" anchor="t"/>
          <a:lstStyle/>
          <a:p>
            <a:pPr marL="0" indent="0">
              <a:buNone/>
            </a:pPr>
            <a:r>
              <a:rPr lang="en-US" sz="1300" b="1" dirty="0">
                <a:solidFill>
                  <a:srgbClr val="FBBF24"/>
                </a:solidFill>
                <a:latin typeface="Consolas" pitchFamily="34" charset="0"/>
                <a:ea typeface="Consolas" pitchFamily="34" charset="-122"/>
                <a:cs typeface="Consolas" pitchFamily="34" charset="-120"/>
              </a:rPr>
              <a:t>FN-DSA / HQC</a:t>
            </a:r>
            <a:endParaRPr lang="en-US" sz="1300" dirty="0"/>
          </a:p>
        </p:txBody>
      </p:sp>
      <p:sp>
        <p:nvSpPr>
          <p:cNvPr id="21" name="Text 17"/>
          <p:cNvSpPr/>
          <p:nvPr/>
        </p:nvSpPr>
        <p:spPr>
          <a:xfrm>
            <a:off x="7589520" y="5568696"/>
            <a:ext cx="3840480" cy="457200"/>
          </a:xfrm>
          <a:prstGeom prst="rect">
            <a:avLst/>
          </a:prstGeom>
          <a:noFill/>
          <a:ln/>
        </p:spPr>
        <p:txBody>
          <a:bodyPr wrap="square" lIns="0" tIns="0" rIns="0" bIns="0" rtlCol="0" anchor="t"/>
          <a:lstStyle/>
          <a:p>
            <a:pPr marL="0" indent="0">
              <a:buNone/>
            </a:pPr>
            <a:r>
              <a:rPr lang="en-US" sz="1300" dirty="0">
                <a:solidFill>
                  <a:srgbClr val="F1F5F9"/>
                </a:solidFill>
                <a:latin typeface="Calibri" pitchFamily="34" charset="0"/>
                <a:ea typeface="Calibri" pitchFamily="34" charset="-122"/>
                <a:cs typeface="Calibri" pitchFamily="34" charset="-120"/>
              </a:rPr>
              <a:t>Falcon signatures (draft); HQC as </a:t>
            </a:r>
            <a:r>
              <a:rPr lang="en-US" sz="1300">
                <a:solidFill>
                  <a:srgbClr val="F1F5F9"/>
                </a:solidFill>
                <a:latin typeface="Calibri" pitchFamily="34" charset="0"/>
                <a:ea typeface="Calibri" pitchFamily="34" charset="-122"/>
                <a:cs typeface="Calibri" pitchFamily="34" charset="-120"/>
              </a:rPr>
              <a:t>a </a:t>
            </a:r>
            <a:r>
              <a:rPr lang="en-US" sz="1300" dirty="0">
                <a:solidFill>
                  <a:srgbClr val="F1F5F9"/>
                </a:solidFill>
                <a:latin typeface="Calibri" pitchFamily="34" charset="0"/>
                <a:ea typeface="Calibri" pitchFamily="34" charset="-122"/>
                <a:cs typeface="Calibri" pitchFamily="34" charset="-120"/>
              </a:rPr>
              <a:t>backup</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3">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BEYOND 02</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Post-quantum by example</a:t>
            </a:r>
            <a:r>
              <a:rPr lang="en-US" sz="2800" b="1" dirty="0">
                <a:solidFill>
                  <a:srgbClr val="F1F5F9"/>
                </a:solidFill>
                <a:latin typeface="Consolas" pitchFamily="34" charset="0"/>
                <a:ea typeface="Consolas" pitchFamily="34" charset="-122"/>
                <a:cs typeface="Consolas" pitchFamily="34" charset="-120"/>
              </a:rPr>
              <a:t>: lattices and </a:t>
            </a:r>
            <a:r>
              <a:rPr lang="en-US" sz="2800" b="1">
                <a:solidFill>
                  <a:srgbClr val="F1F5F9"/>
                </a:solidFill>
                <a:latin typeface="Consolas" pitchFamily="34" charset="0"/>
                <a:ea typeface="Consolas" pitchFamily="34" charset="-122"/>
                <a:cs typeface="Consolas" pitchFamily="34" charset="-120"/>
              </a:rPr>
              <a:t>noise</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34</a:t>
            </a:r>
            <a:endParaRPr lang="en-US" sz="1000" dirty="0"/>
          </a:p>
        </p:txBody>
      </p:sp>
      <p:sp>
        <p:nvSpPr>
          <p:cNvPr id="6" name="Shape 4"/>
          <p:cNvSpPr/>
          <p:nvPr/>
        </p:nvSpPr>
        <p:spPr>
          <a:xfrm>
            <a:off x="548640" y="1417320"/>
            <a:ext cx="4572000" cy="4709160"/>
          </a:xfrm>
          <a:prstGeom prst="roundRect">
            <a:avLst>
              <a:gd name="adj" fmla="val 1600"/>
            </a:avLst>
          </a:prstGeom>
          <a:solidFill>
            <a:srgbClr val="111A2F"/>
          </a:solidFill>
          <a:ln w="12700">
            <a:solidFill>
              <a:srgbClr val="2A3E68"/>
            </a:solidFill>
            <a:prstDash val="solid"/>
          </a:ln>
        </p:spPr>
        <p:txBody>
          <a:bodyPr/>
          <a:lstStyle/>
          <a:p>
            <a:endParaRPr lang="en-US"/>
          </a:p>
        </p:txBody>
      </p:sp>
      <p:sp>
        <p:nvSpPr>
          <p:cNvPr id="7" name="Text 5"/>
          <p:cNvSpPr/>
          <p:nvPr/>
        </p:nvSpPr>
        <p:spPr>
          <a:xfrm>
            <a:off x="777240" y="1508760"/>
            <a:ext cx="4206240" cy="274320"/>
          </a:xfrm>
          <a:prstGeom prst="rect">
            <a:avLst/>
          </a:prstGeom>
          <a:noFill/>
          <a:ln/>
        </p:spPr>
        <p:txBody>
          <a:bodyPr wrap="square" lIns="0" tIns="0" rIns="0" bIns="0" rtlCol="0" anchor="t"/>
          <a:lstStyle/>
          <a:p>
            <a:pPr marL="0" indent="0">
              <a:buNone/>
            </a:pPr>
            <a:r>
              <a:rPr lang="en-US" sz="1200" b="1" dirty="0">
                <a:solidFill>
                  <a:srgbClr val="22D3EE"/>
                </a:solidFill>
                <a:latin typeface="Consolas" pitchFamily="34" charset="0"/>
                <a:ea typeface="Consolas" pitchFamily="34" charset="-122"/>
                <a:cs typeface="Consolas" pitchFamily="34" charset="-120"/>
              </a:rPr>
              <a:t>A lattice: </a:t>
            </a:r>
            <a:r>
              <a:rPr lang="en-US" sz="1200" b="1">
                <a:solidFill>
                  <a:srgbClr val="22D3EE"/>
                </a:solidFill>
                <a:latin typeface="Consolas" pitchFamily="34" charset="0"/>
                <a:ea typeface="Consolas" pitchFamily="34" charset="-122"/>
                <a:cs typeface="Consolas" pitchFamily="34" charset="-120"/>
              </a:rPr>
              <a:t>a regular grid </a:t>
            </a:r>
            <a:r>
              <a:rPr lang="en-US" sz="1200" b="1" dirty="0">
                <a:solidFill>
                  <a:srgbClr val="22D3EE"/>
                </a:solidFill>
                <a:latin typeface="Consolas" pitchFamily="34" charset="0"/>
                <a:ea typeface="Consolas" pitchFamily="34" charset="-122"/>
                <a:cs typeface="Consolas" pitchFamily="34" charset="-120"/>
              </a:rPr>
              <a:t>of </a:t>
            </a:r>
            <a:r>
              <a:rPr lang="en-US" sz="1200" b="1">
                <a:solidFill>
                  <a:srgbClr val="22D3EE"/>
                </a:solidFill>
                <a:latin typeface="Consolas" pitchFamily="34" charset="0"/>
                <a:ea typeface="Consolas" pitchFamily="34" charset="-122"/>
                <a:cs typeface="Consolas" pitchFamily="34" charset="-120"/>
              </a:rPr>
              <a:t>points</a:t>
            </a:r>
            <a:endParaRPr lang="en-US" sz="1200" dirty="0"/>
          </a:p>
        </p:txBody>
      </p:sp>
      <p:sp>
        <p:nvSpPr>
          <p:cNvPr id="8" name="Shape 6"/>
          <p:cNvSpPr/>
          <p:nvPr/>
        </p:nvSpPr>
        <p:spPr>
          <a:xfrm>
            <a:off x="923544" y="2523744"/>
            <a:ext cx="164592" cy="164592"/>
          </a:xfrm>
          <a:prstGeom prst="ellipse">
            <a:avLst/>
          </a:prstGeom>
          <a:solidFill>
            <a:srgbClr val="9FB0CC"/>
          </a:solidFill>
          <a:ln w="12700">
            <a:solidFill>
              <a:srgbClr val="9FB0CC"/>
            </a:solidFill>
            <a:prstDash val="solid"/>
          </a:ln>
        </p:spPr>
        <p:txBody>
          <a:bodyPr/>
          <a:lstStyle/>
          <a:p>
            <a:endParaRPr lang="en-US"/>
          </a:p>
        </p:txBody>
      </p:sp>
      <p:sp>
        <p:nvSpPr>
          <p:cNvPr id="9" name="Shape 7"/>
          <p:cNvSpPr/>
          <p:nvPr/>
        </p:nvSpPr>
        <p:spPr>
          <a:xfrm>
            <a:off x="1106424" y="3758184"/>
            <a:ext cx="164592" cy="164592"/>
          </a:xfrm>
          <a:prstGeom prst="ellipse">
            <a:avLst/>
          </a:prstGeom>
          <a:solidFill>
            <a:srgbClr val="9FB0CC"/>
          </a:solidFill>
          <a:ln w="12700">
            <a:solidFill>
              <a:srgbClr val="9FB0CC"/>
            </a:solidFill>
            <a:prstDash val="solid"/>
          </a:ln>
        </p:spPr>
        <p:txBody>
          <a:bodyPr/>
          <a:lstStyle/>
          <a:p>
            <a:endParaRPr lang="en-US"/>
          </a:p>
        </p:txBody>
      </p:sp>
      <p:sp>
        <p:nvSpPr>
          <p:cNvPr id="10" name="Shape 8"/>
          <p:cNvSpPr/>
          <p:nvPr/>
        </p:nvSpPr>
        <p:spPr>
          <a:xfrm>
            <a:off x="1426464" y="2980944"/>
            <a:ext cx="164592" cy="164592"/>
          </a:xfrm>
          <a:prstGeom prst="ellipse">
            <a:avLst/>
          </a:prstGeom>
          <a:solidFill>
            <a:srgbClr val="9FB0CC"/>
          </a:solidFill>
          <a:ln w="12700">
            <a:solidFill>
              <a:srgbClr val="9FB0CC"/>
            </a:solidFill>
            <a:prstDash val="solid"/>
          </a:ln>
        </p:spPr>
        <p:txBody>
          <a:bodyPr/>
          <a:lstStyle/>
          <a:p>
            <a:endParaRPr lang="en-US"/>
          </a:p>
        </p:txBody>
      </p:sp>
      <p:sp>
        <p:nvSpPr>
          <p:cNvPr id="11" name="Shape 9"/>
          <p:cNvSpPr/>
          <p:nvPr/>
        </p:nvSpPr>
        <p:spPr>
          <a:xfrm>
            <a:off x="1746504" y="2203704"/>
            <a:ext cx="164592" cy="164592"/>
          </a:xfrm>
          <a:prstGeom prst="ellipse">
            <a:avLst/>
          </a:prstGeom>
          <a:solidFill>
            <a:srgbClr val="9FB0CC"/>
          </a:solidFill>
          <a:ln w="12700">
            <a:solidFill>
              <a:srgbClr val="9FB0CC"/>
            </a:solidFill>
            <a:prstDash val="solid"/>
          </a:ln>
        </p:spPr>
        <p:txBody>
          <a:bodyPr/>
          <a:lstStyle/>
          <a:p>
            <a:endParaRPr lang="en-US"/>
          </a:p>
        </p:txBody>
      </p:sp>
      <p:sp>
        <p:nvSpPr>
          <p:cNvPr id="12" name="Shape 10"/>
          <p:cNvSpPr/>
          <p:nvPr/>
        </p:nvSpPr>
        <p:spPr>
          <a:xfrm>
            <a:off x="1609344" y="4215384"/>
            <a:ext cx="164592" cy="164592"/>
          </a:xfrm>
          <a:prstGeom prst="ellipse">
            <a:avLst/>
          </a:prstGeom>
          <a:solidFill>
            <a:srgbClr val="9FB0CC"/>
          </a:solidFill>
          <a:ln w="12700">
            <a:solidFill>
              <a:srgbClr val="9FB0CC"/>
            </a:solidFill>
            <a:prstDash val="solid"/>
          </a:ln>
        </p:spPr>
        <p:txBody>
          <a:bodyPr/>
          <a:lstStyle/>
          <a:p>
            <a:endParaRPr lang="en-US"/>
          </a:p>
        </p:txBody>
      </p:sp>
      <p:sp>
        <p:nvSpPr>
          <p:cNvPr id="13" name="Shape 11"/>
          <p:cNvSpPr/>
          <p:nvPr/>
        </p:nvSpPr>
        <p:spPr>
          <a:xfrm>
            <a:off x="1929384" y="3438144"/>
            <a:ext cx="164592" cy="164592"/>
          </a:xfrm>
          <a:prstGeom prst="ellipse">
            <a:avLst/>
          </a:prstGeom>
          <a:solidFill>
            <a:srgbClr val="9FB0CC"/>
          </a:solidFill>
          <a:ln w="12700">
            <a:solidFill>
              <a:srgbClr val="9FB0CC"/>
            </a:solidFill>
            <a:prstDash val="solid"/>
          </a:ln>
        </p:spPr>
        <p:txBody>
          <a:bodyPr/>
          <a:lstStyle/>
          <a:p>
            <a:endParaRPr lang="en-US"/>
          </a:p>
        </p:txBody>
      </p:sp>
      <p:sp>
        <p:nvSpPr>
          <p:cNvPr id="14" name="Shape 12"/>
          <p:cNvSpPr/>
          <p:nvPr/>
        </p:nvSpPr>
        <p:spPr>
          <a:xfrm>
            <a:off x="2249424" y="2660904"/>
            <a:ext cx="164592" cy="164592"/>
          </a:xfrm>
          <a:prstGeom prst="ellipse">
            <a:avLst/>
          </a:prstGeom>
          <a:solidFill>
            <a:srgbClr val="9FB0CC"/>
          </a:solidFill>
          <a:ln w="12700">
            <a:solidFill>
              <a:srgbClr val="9FB0CC"/>
            </a:solidFill>
            <a:prstDash val="solid"/>
          </a:ln>
        </p:spPr>
        <p:txBody>
          <a:bodyPr/>
          <a:lstStyle/>
          <a:p>
            <a:endParaRPr lang="en-US"/>
          </a:p>
        </p:txBody>
      </p:sp>
      <p:sp>
        <p:nvSpPr>
          <p:cNvPr id="15" name="Shape 13"/>
          <p:cNvSpPr/>
          <p:nvPr/>
        </p:nvSpPr>
        <p:spPr>
          <a:xfrm>
            <a:off x="2569464" y="1883664"/>
            <a:ext cx="164592" cy="164592"/>
          </a:xfrm>
          <a:prstGeom prst="ellipse">
            <a:avLst/>
          </a:prstGeom>
          <a:solidFill>
            <a:srgbClr val="9FB0CC"/>
          </a:solidFill>
          <a:ln w="12700">
            <a:solidFill>
              <a:srgbClr val="9FB0CC"/>
            </a:solidFill>
            <a:prstDash val="solid"/>
          </a:ln>
        </p:spPr>
        <p:txBody>
          <a:bodyPr/>
          <a:lstStyle/>
          <a:p>
            <a:endParaRPr lang="en-US"/>
          </a:p>
        </p:txBody>
      </p:sp>
      <p:sp>
        <p:nvSpPr>
          <p:cNvPr id="16" name="Shape 14"/>
          <p:cNvSpPr/>
          <p:nvPr/>
        </p:nvSpPr>
        <p:spPr>
          <a:xfrm>
            <a:off x="2432304" y="3895344"/>
            <a:ext cx="164592" cy="164592"/>
          </a:xfrm>
          <a:prstGeom prst="ellipse">
            <a:avLst/>
          </a:prstGeom>
          <a:solidFill>
            <a:srgbClr val="9FB0CC"/>
          </a:solidFill>
          <a:ln w="12700">
            <a:solidFill>
              <a:srgbClr val="9FB0CC"/>
            </a:solidFill>
            <a:prstDash val="solid"/>
          </a:ln>
        </p:spPr>
        <p:txBody>
          <a:bodyPr/>
          <a:lstStyle/>
          <a:p>
            <a:endParaRPr lang="en-US"/>
          </a:p>
        </p:txBody>
      </p:sp>
      <p:sp>
        <p:nvSpPr>
          <p:cNvPr id="17" name="Shape 15"/>
          <p:cNvSpPr/>
          <p:nvPr/>
        </p:nvSpPr>
        <p:spPr>
          <a:xfrm>
            <a:off x="2715768" y="3081528"/>
            <a:ext cx="237744" cy="237744"/>
          </a:xfrm>
          <a:prstGeom prst="ellipse">
            <a:avLst/>
          </a:prstGeom>
          <a:solidFill>
            <a:srgbClr val="FBBF24"/>
          </a:solidFill>
          <a:ln w="12700">
            <a:solidFill>
              <a:srgbClr val="FBBF24"/>
            </a:solidFill>
            <a:prstDash val="solid"/>
          </a:ln>
        </p:spPr>
        <p:txBody>
          <a:bodyPr/>
          <a:lstStyle/>
          <a:p>
            <a:endParaRPr lang="en-US"/>
          </a:p>
        </p:txBody>
      </p:sp>
      <p:sp>
        <p:nvSpPr>
          <p:cNvPr id="18" name="Shape 16"/>
          <p:cNvSpPr/>
          <p:nvPr/>
        </p:nvSpPr>
        <p:spPr>
          <a:xfrm>
            <a:off x="3072384" y="2340864"/>
            <a:ext cx="164592" cy="164592"/>
          </a:xfrm>
          <a:prstGeom prst="ellipse">
            <a:avLst/>
          </a:prstGeom>
          <a:solidFill>
            <a:srgbClr val="9FB0CC"/>
          </a:solidFill>
          <a:ln w="12700">
            <a:solidFill>
              <a:srgbClr val="9FB0CC"/>
            </a:solidFill>
            <a:prstDash val="solid"/>
          </a:ln>
        </p:spPr>
        <p:txBody>
          <a:bodyPr/>
          <a:lstStyle/>
          <a:p>
            <a:endParaRPr lang="en-US"/>
          </a:p>
        </p:txBody>
      </p:sp>
      <p:sp>
        <p:nvSpPr>
          <p:cNvPr id="19" name="Shape 17"/>
          <p:cNvSpPr/>
          <p:nvPr/>
        </p:nvSpPr>
        <p:spPr>
          <a:xfrm>
            <a:off x="2935224" y="4352544"/>
            <a:ext cx="164592" cy="164592"/>
          </a:xfrm>
          <a:prstGeom prst="ellipse">
            <a:avLst/>
          </a:prstGeom>
          <a:solidFill>
            <a:srgbClr val="9FB0CC"/>
          </a:solidFill>
          <a:ln w="12700">
            <a:solidFill>
              <a:srgbClr val="9FB0CC"/>
            </a:solidFill>
            <a:prstDash val="solid"/>
          </a:ln>
        </p:spPr>
        <p:txBody>
          <a:bodyPr/>
          <a:lstStyle/>
          <a:p>
            <a:endParaRPr lang="en-US"/>
          </a:p>
        </p:txBody>
      </p:sp>
      <p:sp>
        <p:nvSpPr>
          <p:cNvPr id="20" name="Shape 18"/>
          <p:cNvSpPr/>
          <p:nvPr/>
        </p:nvSpPr>
        <p:spPr>
          <a:xfrm>
            <a:off x="3255264" y="3575304"/>
            <a:ext cx="164592" cy="164592"/>
          </a:xfrm>
          <a:prstGeom prst="ellipse">
            <a:avLst/>
          </a:prstGeom>
          <a:solidFill>
            <a:srgbClr val="9FB0CC"/>
          </a:solidFill>
          <a:ln w="12700">
            <a:solidFill>
              <a:srgbClr val="9FB0CC"/>
            </a:solidFill>
            <a:prstDash val="solid"/>
          </a:ln>
        </p:spPr>
        <p:txBody>
          <a:bodyPr/>
          <a:lstStyle/>
          <a:p>
            <a:endParaRPr lang="en-US"/>
          </a:p>
        </p:txBody>
      </p:sp>
      <p:sp>
        <p:nvSpPr>
          <p:cNvPr id="21" name="Shape 19"/>
          <p:cNvSpPr/>
          <p:nvPr/>
        </p:nvSpPr>
        <p:spPr>
          <a:xfrm>
            <a:off x="3575304" y="2798064"/>
            <a:ext cx="164592" cy="164592"/>
          </a:xfrm>
          <a:prstGeom prst="ellipse">
            <a:avLst/>
          </a:prstGeom>
          <a:solidFill>
            <a:srgbClr val="9FB0CC"/>
          </a:solidFill>
          <a:ln w="12700">
            <a:solidFill>
              <a:srgbClr val="9FB0CC"/>
            </a:solidFill>
            <a:prstDash val="solid"/>
          </a:ln>
        </p:spPr>
        <p:txBody>
          <a:bodyPr/>
          <a:lstStyle/>
          <a:p>
            <a:endParaRPr lang="en-US"/>
          </a:p>
        </p:txBody>
      </p:sp>
      <p:sp>
        <p:nvSpPr>
          <p:cNvPr id="22" name="Shape 20"/>
          <p:cNvSpPr/>
          <p:nvPr/>
        </p:nvSpPr>
        <p:spPr>
          <a:xfrm>
            <a:off x="3858768" y="1984248"/>
            <a:ext cx="237744" cy="237744"/>
          </a:xfrm>
          <a:prstGeom prst="ellipse">
            <a:avLst/>
          </a:prstGeom>
          <a:solidFill>
            <a:srgbClr val="4ADE80"/>
          </a:solidFill>
          <a:ln w="12700">
            <a:solidFill>
              <a:srgbClr val="4ADE80"/>
            </a:solidFill>
            <a:prstDash val="solid"/>
          </a:ln>
        </p:spPr>
        <p:txBody>
          <a:bodyPr/>
          <a:lstStyle/>
          <a:p>
            <a:endParaRPr lang="en-US"/>
          </a:p>
        </p:txBody>
      </p:sp>
      <p:sp>
        <p:nvSpPr>
          <p:cNvPr id="23" name="Shape 21"/>
          <p:cNvSpPr/>
          <p:nvPr/>
        </p:nvSpPr>
        <p:spPr>
          <a:xfrm>
            <a:off x="3758184" y="4032504"/>
            <a:ext cx="164592" cy="164592"/>
          </a:xfrm>
          <a:prstGeom prst="ellipse">
            <a:avLst/>
          </a:prstGeom>
          <a:solidFill>
            <a:srgbClr val="9FB0CC"/>
          </a:solidFill>
          <a:ln w="12700">
            <a:solidFill>
              <a:srgbClr val="9FB0CC"/>
            </a:solidFill>
            <a:prstDash val="solid"/>
          </a:ln>
        </p:spPr>
        <p:txBody>
          <a:bodyPr/>
          <a:lstStyle/>
          <a:p>
            <a:endParaRPr lang="en-US"/>
          </a:p>
        </p:txBody>
      </p:sp>
      <p:sp>
        <p:nvSpPr>
          <p:cNvPr id="24" name="Shape 22"/>
          <p:cNvSpPr/>
          <p:nvPr/>
        </p:nvSpPr>
        <p:spPr>
          <a:xfrm>
            <a:off x="4078224" y="3255264"/>
            <a:ext cx="164592" cy="164592"/>
          </a:xfrm>
          <a:prstGeom prst="ellipse">
            <a:avLst/>
          </a:prstGeom>
          <a:solidFill>
            <a:srgbClr val="9FB0CC"/>
          </a:solidFill>
          <a:ln w="12700">
            <a:solidFill>
              <a:srgbClr val="9FB0CC"/>
            </a:solidFill>
            <a:prstDash val="solid"/>
          </a:ln>
        </p:spPr>
        <p:txBody>
          <a:bodyPr/>
          <a:lstStyle/>
          <a:p>
            <a:endParaRPr lang="en-US"/>
          </a:p>
        </p:txBody>
      </p:sp>
      <p:sp>
        <p:nvSpPr>
          <p:cNvPr id="25" name="Shape 23"/>
          <p:cNvSpPr/>
          <p:nvPr/>
        </p:nvSpPr>
        <p:spPr>
          <a:xfrm>
            <a:off x="4398264" y="2478024"/>
            <a:ext cx="164592" cy="164592"/>
          </a:xfrm>
          <a:prstGeom prst="ellipse">
            <a:avLst/>
          </a:prstGeom>
          <a:solidFill>
            <a:srgbClr val="9FB0CC"/>
          </a:solidFill>
          <a:ln w="12700">
            <a:solidFill>
              <a:srgbClr val="9FB0CC"/>
            </a:solidFill>
            <a:prstDash val="solid"/>
          </a:ln>
        </p:spPr>
        <p:txBody>
          <a:bodyPr/>
          <a:lstStyle/>
          <a:p>
            <a:endParaRPr lang="en-US"/>
          </a:p>
        </p:txBody>
      </p:sp>
      <p:sp>
        <p:nvSpPr>
          <p:cNvPr id="26" name="Shape 24"/>
          <p:cNvSpPr/>
          <p:nvPr/>
        </p:nvSpPr>
        <p:spPr>
          <a:xfrm>
            <a:off x="4581144" y="3712464"/>
            <a:ext cx="164592" cy="164592"/>
          </a:xfrm>
          <a:prstGeom prst="ellipse">
            <a:avLst/>
          </a:prstGeom>
          <a:solidFill>
            <a:srgbClr val="9FB0CC"/>
          </a:solidFill>
          <a:ln w="12700">
            <a:solidFill>
              <a:srgbClr val="9FB0CC"/>
            </a:solidFill>
            <a:prstDash val="solid"/>
          </a:ln>
        </p:spPr>
        <p:txBody>
          <a:bodyPr/>
          <a:lstStyle/>
          <a:p>
            <a:endParaRPr lang="en-US"/>
          </a:p>
        </p:txBody>
      </p:sp>
      <p:sp>
        <p:nvSpPr>
          <p:cNvPr id="27" name="Shape 25"/>
          <p:cNvSpPr/>
          <p:nvPr/>
        </p:nvSpPr>
        <p:spPr>
          <a:xfrm>
            <a:off x="3977640" y="2103120"/>
            <a:ext cx="228600" cy="182880"/>
          </a:xfrm>
          <a:prstGeom prst="line">
            <a:avLst/>
          </a:prstGeom>
          <a:noFill/>
          <a:ln w="19050">
            <a:solidFill>
              <a:srgbClr val="F87171"/>
            </a:solidFill>
            <a:prstDash val="dash"/>
          </a:ln>
        </p:spPr>
        <p:txBody>
          <a:bodyPr/>
          <a:lstStyle/>
          <a:p>
            <a:endParaRPr lang="en-US"/>
          </a:p>
        </p:txBody>
      </p:sp>
      <p:sp>
        <p:nvSpPr>
          <p:cNvPr id="28" name="Shape 26"/>
          <p:cNvSpPr/>
          <p:nvPr/>
        </p:nvSpPr>
        <p:spPr>
          <a:xfrm>
            <a:off x="4114800" y="2194560"/>
            <a:ext cx="182880" cy="182880"/>
          </a:xfrm>
          <a:prstGeom prst="ellipse">
            <a:avLst/>
          </a:prstGeom>
          <a:solidFill>
            <a:srgbClr val="F87171"/>
          </a:solidFill>
          <a:ln w="12700">
            <a:solidFill>
              <a:srgbClr val="F87171"/>
            </a:solidFill>
            <a:prstDash val="solid"/>
          </a:ln>
        </p:spPr>
        <p:txBody>
          <a:bodyPr/>
          <a:lstStyle/>
          <a:p>
            <a:endParaRPr lang="en-US"/>
          </a:p>
        </p:txBody>
      </p:sp>
      <p:sp>
        <p:nvSpPr>
          <p:cNvPr id="29" name="Text 27"/>
          <p:cNvSpPr/>
          <p:nvPr/>
        </p:nvSpPr>
        <p:spPr>
          <a:xfrm>
            <a:off x="4434840" y="1901952"/>
            <a:ext cx="777240" cy="228600"/>
          </a:xfrm>
          <a:prstGeom prst="rect">
            <a:avLst/>
          </a:prstGeom>
          <a:noFill/>
          <a:ln/>
        </p:spPr>
        <p:txBody>
          <a:bodyPr wrap="square" lIns="0" tIns="0" rIns="0" bIns="0" rtlCol="0" anchor="t"/>
          <a:lstStyle/>
          <a:p>
            <a:pPr marL="0" indent="0">
              <a:buNone/>
            </a:pPr>
            <a:r>
              <a:rPr lang="en-US" sz="1100" b="1" dirty="0">
                <a:solidFill>
                  <a:srgbClr val="F87171"/>
                </a:solidFill>
                <a:latin typeface="Consolas" pitchFamily="34" charset="0"/>
                <a:ea typeface="Consolas" pitchFamily="34" charset="-122"/>
                <a:cs typeface="Consolas" pitchFamily="34" charset="-120"/>
              </a:rPr>
              <a:t>target t</a:t>
            </a:r>
            <a:endParaRPr lang="en-US" sz="1100" dirty="0"/>
          </a:p>
        </p:txBody>
      </p:sp>
      <p:sp>
        <p:nvSpPr>
          <p:cNvPr id="30" name="Text 28"/>
          <p:cNvSpPr/>
          <p:nvPr/>
        </p:nvSpPr>
        <p:spPr>
          <a:xfrm>
            <a:off x="777240" y="4709160"/>
            <a:ext cx="4114800" cy="1097280"/>
          </a:xfrm>
          <a:prstGeom prst="rect">
            <a:avLst/>
          </a:prstGeom>
          <a:noFill/>
          <a:ln/>
        </p:spPr>
        <p:txBody>
          <a:bodyPr wrap="square" lIns="0" tIns="0" rIns="0" bIns="0" rtlCol="0" anchor="t"/>
          <a:lstStyle/>
          <a:p>
            <a:pPr marL="0" indent="0">
              <a:buNone/>
            </a:pPr>
            <a:r>
              <a:rPr lang="en-US" sz="1300">
                <a:solidFill>
                  <a:srgbClr val="F1F5F9"/>
                </a:solidFill>
                <a:latin typeface="Calibri" pitchFamily="34" charset="0"/>
                <a:ea typeface="Calibri" pitchFamily="34" charset="-122"/>
                <a:cs typeface="Calibri" pitchFamily="34" charset="-120"/>
              </a:rPr>
              <a:t>Closest-point puzzle</a:t>
            </a:r>
            <a:r>
              <a:rPr lang="en-US" sz="1300" dirty="0">
                <a:solidFill>
                  <a:srgbClr val="F1F5F9"/>
                </a:solidFill>
                <a:latin typeface="Calibri" pitchFamily="34" charset="0"/>
                <a:ea typeface="Calibri" pitchFamily="34" charset="-122"/>
                <a:cs typeface="Calibri" pitchFamily="34" charset="-120"/>
              </a:rPr>
              <a:t>: find the </a:t>
            </a:r>
            <a:r>
              <a:rPr lang="en-US" sz="1300">
                <a:solidFill>
                  <a:srgbClr val="F1F5F9"/>
                </a:solidFill>
                <a:latin typeface="Calibri" pitchFamily="34" charset="0"/>
                <a:ea typeface="Calibri" pitchFamily="34" charset="-122"/>
                <a:cs typeface="Calibri" pitchFamily="34" charset="-120"/>
              </a:rPr>
              <a:t>grid </a:t>
            </a:r>
            <a:r>
              <a:rPr lang="en-US" sz="1300" dirty="0">
                <a:solidFill>
                  <a:srgbClr val="F1F5F9"/>
                </a:solidFill>
                <a:latin typeface="Calibri" pitchFamily="34" charset="0"/>
                <a:ea typeface="Calibri" pitchFamily="34" charset="-122"/>
                <a:cs typeface="Calibri" pitchFamily="34" charset="-120"/>
              </a:rPr>
              <a:t>point nearest a </a:t>
            </a:r>
            <a:r>
              <a:rPr lang="en-US" sz="1300">
                <a:solidFill>
                  <a:srgbClr val="F1F5F9"/>
                </a:solidFill>
                <a:latin typeface="Calibri" pitchFamily="34" charset="0"/>
                <a:ea typeface="Calibri" pitchFamily="34" charset="-122"/>
                <a:cs typeface="Calibri" pitchFamily="34" charset="-120"/>
              </a:rPr>
              <a:t>fuzzy </a:t>
            </a:r>
            <a:r>
              <a:rPr lang="en-US" sz="1300" dirty="0">
                <a:solidFill>
                  <a:srgbClr val="F1F5F9"/>
                </a:solidFill>
                <a:latin typeface="Calibri" pitchFamily="34" charset="0"/>
                <a:ea typeface="Calibri" pitchFamily="34" charset="-122"/>
                <a:cs typeface="Calibri" pitchFamily="34" charset="-120"/>
              </a:rPr>
              <a:t>target. Easy in 2D,</a:t>
            </a:r>
            <a:r>
              <a:rPr lang="en-US" sz="1300">
                <a:solidFill>
                  <a:srgbClr val="F1F5F9"/>
                </a:solidFill>
                <a:latin typeface="Calibri" pitchFamily="34" charset="0"/>
                <a:ea typeface="Calibri" pitchFamily="34" charset="-122"/>
                <a:cs typeface="Calibri" pitchFamily="34" charset="-120"/>
              </a:rPr>
              <a:t> extremely</a:t>
            </a:r>
            <a:r>
              <a:rPr lang="en-US" sz="1300" dirty="0">
                <a:solidFill>
                  <a:srgbClr val="F1F5F9"/>
                </a:solidFill>
                <a:latin typeface="Calibri" pitchFamily="34" charset="0"/>
                <a:ea typeface="Calibri" pitchFamily="34" charset="-122"/>
                <a:cs typeface="Calibri" pitchFamily="34" charset="-120"/>
              </a:rPr>
              <a:t> hard in hundreds of dimensions.</a:t>
            </a:r>
            <a:endParaRPr lang="en-US" sz="1300" dirty="0"/>
          </a:p>
        </p:txBody>
      </p:sp>
      <p:sp>
        <p:nvSpPr>
          <p:cNvPr id="31" name="Shape 29"/>
          <p:cNvSpPr/>
          <p:nvPr/>
        </p:nvSpPr>
        <p:spPr>
          <a:xfrm>
            <a:off x="5349240" y="1417320"/>
            <a:ext cx="6291072" cy="2971800"/>
          </a:xfrm>
          <a:prstGeom prst="roundRect">
            <a:avLst>
              <a:gd name="adj" fmla="val 2462"/>
            </a:avLst>
          </a:prstGeom>
          <a:solidFill>
            <a:srgbClr val="070B14"/>
          </a:solidFill>
          <a:ln w="12700">
            <a:solidFill>
              <a:srgbClr val="2A3E68"/>
            </a:solidFill>
            <a:prstDash val="solid"/>
          </a:ln>
        </p:spPr>
        <p:txBody>
          <a:bodyPr/>
          <a:lstStyle/>
          <a:p>
            <a:endParaRPr lang="en-US"/>
          </a:p>
        </p:txBody>
      </p:sp>
      <p:sp>
        <p:nvSpPr>
          <p:cNvPr id="32" name="Shape 30"/>
          <p:cNvSpPr/>
          <p:nvPr/>
        </p:nvSpPr>
        <p:spPr>
          <a:xfrm>
            <a:off x="5513832" y="1545336"/>
            <a:ext cx="100584" cy="100584"/>
          </a:xfrm>
          <a:prstGeom prst="ellipse">
            <a:avLst/>
          </a:prstGeom>
          <a:solidFill>
            <a:srgbClr val="F87171"/>
          </a:solidFill>
          <a:ln w="12700">
            <a:solidFill>
              <a:srgbClr val="F87171"/>
            </a:solidFill>
            <a:prstDash val="solid"/>
          </a:ln>
        </p:spPr>
        <p:txBody>
          <a:bodyPr/>
          <a:lstStyle/>
          <a:p>
            <a:endParaRPr lang="en-US"/>
          </a:p>
        </p:txBody>
      </p:sp>
      <p:sp>
        <p:nvSpPr>
          <p:cNvPr id="33" name="Shape 31"/>
          <p:cNvSpPr/>
          <p:nvPr/>
        </p:nvSpPr>
        <p:spPr>
          <a:xfrm>
            <a:off x="5696712" y="1545336"/>
            <a:ext cx="100584" cy="100584"/>
          </a:xfrm>
          <a:prstGeom prst="ellipse">
            <a:avLst/>
          </a:prstGeom>
          <a:solidFill>
            <a:srgbClr val="FBBF24"/>
          </a:solidFill>
          <a:ln w="12700">
            <a:solidFill>
              <a:srgbClr val="FBBF24"/>
            </a:solidFill>
            <a:prstDash val="solid"/>
          </a:ln>
        </p:spPr>
        <p:txBody>
          <a:bodyPr/>
          <a:lstStyle/>
          <a:p>
            <a:endParaRPr lang="en-US"/>
          </a:p>
        </p:txBody>
      </p:sp>
      <p:sp>
        <p:nvSpPr>
          <p:cNvPr id="34" name="Shape 32"/>
          <p:cNvSpPr/>
          <p:nvPr/>
        </p:nvSpPr>
        <p:spPr>
          <a:xfrm>
            <a:off x="5879592" y="1545336"/>
            <a:ext cx="100584" cy="100584"/>
          </a:xfrm>
          <a:prstGeom prst="ellipse">
            <a:avLst/>
          </a:prstGeom>
          <a:solidFill>
            <a:srgbClr val="4ADE80"/>
          </a:solidFill>
          <a:ln w="12700">
            <a:solidFill>
              <a:srgbClr val="4ADE80"/>
            </a:solidFill>
            <a:prstDash val="solid"/>
          </a:ln>
        </p:spPr>
        <p:txBody>
          <a:bodyPr/>
          <a:lstStyle/>
          <a:p>
            <a:endParaRPr lang="en-US"/>
          </a:p>
        </p:txBody>
      </p:sp>
      <p:sp>
        <p:nvSpPr>
          <p:cNvPr id="35" name="Text 33"/>
          <p:cNvSpPr/>
          <p:nvPr/>
        </p:nvSpPr>
        <p:spPr>
          <a:xfrm>
            <a:off x="6126480" y="1490472"/>
            <a:ext cx="5376672" cy="201168"/>
          </a:xfrm>
          <a:prstGeom prst="rect">
            <a:avLst/>
          </a:prstGeom>
          <a:noFill/>
          <a:ln/>
        </p:spPr>
        <p:txBody>
          <a:bodyPr wrap="square" lIns="0" tIns="0" rIns="0" bIns="0" rtlCol="0" anchor="ctr"/>
          <a:lstStyle/>
          <a:p>
            <a:pPr marL="0" indent="0">
              <a:buNone/>
            </a:pPr>
            <a:r>
              <a:rPr lang="en-US" sz="1000" dirty="0">
                <a:solidFill>
                  <a:srgbClr val="9FB0CC"/>
                </a:solidFill>
                <a:latin typeface="Consolas" pitchFamily="34" charset="0"/>
                <a:ea typeface="Consolas" pitchFamily="34" charset="-122"/>
                <a:cs typeface="Consolas" pitchFamily="34" charset="-120"/>
              </a:rPr>
              <a:t>learning with errors</a:t>
            </a:r>
            <a:r>
              <a:rPr lang="en-US" sz="1000">
                <a:solidFill>
                  <a:srgbClr val="9FB0CC"/>
                </a:solidFill>
                <a:latin typeface="Consolas" pitchFamily="34" charset="0"/>
                <a:ea typeface="Consolas" pitchFamily="34" charset="-122"/>
                <a:cs typeface="Consolas" pitchFamily="34" charset="-120"/>
              </a:rPr>
              <a:t>, simplified</a:t>
            </a:r>
            <a:endParaRPr lang="en-US" sz="1000" dirty="0"/>
          </a:p>
        </p:txBody>
      </p:sp>
      <p:sp>
        <p:nvSpPr>
          <p:cNvPr id="36" name="Text 34"/>
          <p:cNvSpPr/>
          <p:nvPr/>
        </p:nvSpPr>
        <p:spPr>
          <a:xfrm>
            <a:off x="5577840" y="1801368"/>
            <a:ext cx="5833872" cy="2468880"/>
          </a:xfrm>
          <a:prstGeom prst="rect">
            <a:avLst/>
          </a:prstGeom>
          <a:noFill/>
          <a:ln/>
        </p:spPr>
        <p:txBody>
          <a:bodyPr wrap="square" lIns="0" tIns="0" rIns="0" bIns="0" rtlCol="0" anchor="t"/>
          <a:lstStyle/>
          <a:p>
            <a:pPr marL="0" indent="0">
              <a:spcAft>
                <a:spcPts val="200"/>
              </a:spcAft>
              <a:buNone/>
            </a:pPr>
            <a:r>
              <a:rPr lang="en-US" sz="1300">
                <a:solidFill>
                  <a:srgbClr val="22D3EE"/>
                </a:solidFill>
                <a:latin typeface="Consolas" pitchFamily="34" charset="0"/>
                <a:ea typeface="Consolas" pitchFamily="34" charset="-122"/>
                <a:cs typeface="Consolas" pitchFamily="34" charset="-120"/>
              </a:rPr>
              <a:t>Without noise (easy to solve):</a:t>
            </a:r>
            <a:endParaRPr lang="en-US" sz="1300" dirty="0"/>
          </a:p>
          <a:p>
            <a:pPr marL="0" indent="0">
              <a:spcAft>
                <a:spcPts val="200"/>
              </a:spcAft>
              <a:buNone/>
            </a:pPr>
            <a:r>
              <a:rPr lang="en-US" sz="1300">
                <a:solidFill>
                  <a:srgbClr val="4ADE80"/>
                </a:solidFill>
                <a:latin typeface="Consolas" pitchFamily="34" charset="0"/>
                <a:ea typeface="Consolas" pitchFamily="34" charset="-122"/>
                <a:cs typeface="Consolas" pitchFamily="34" charset="-120"/>
              </a:rPr>
              <a:t>  3x + 4y = 26</a:t>
            </a:r>
            <a:endParaRPr lang="en-US" sz="1300" dirty="0"/>
          </a:p>
          <a:p>
            <a:pPr marL="0" indent="0">
              <a:spcAft>
                <a:spcPts val="200"/>
              </a:spcAft>
              <a:buNone/>
            </a:pPr>
            <a:r>
              <a:rPr lang="en-US" sz="1300">
                <a:solidFill>
                  <a:srgbClr val="4ADE80"/>
                </a:solidFill>
                <a:latin typeface="Consolas" pitchFamily="34" charset="0"/>
                <a:ea typeface="Consolas" pitchFamily="34" charset="-122"/>
                <a:cs typeface="Consolas" pitchFamily="34" charset="-120"/>
              </a:rPr>
              <a:t>  7x + 1y </a:t>
            </a:r>
            <a:r>
              <a:rPr lang="en-US" sz="1300" dirty="0">
                <a:solidFill>
                  <a:srgbClr val="4ADE80"/>
                </a:solidFill>
                <a:latin typeface="Consolas" pitchFamily="34" charset="0"/>
                <a:ea typeface="Consolas" pitchFamily="34" charset="-122"/>
                <a:cs typeface="Consolas" pitchFamily="34" charset="-120"/>
              </a:rPr>
              <a:t>= </a:t>
            </a:r>
            <a:r>
              <a:rPr lang="en-US" sz="1300">
                <a:solidFill>
                  <a:srgbClr val="4ADE80"/>
                </a:solidFill>
                <a:latin typeface="Consolas" pitchFamily="34" charset="0"/>
                <a:ea typeface="Consolas" pitchFamily="34" charset="-122"/>
                <a:cs typeface="Consolas" pitchFamily="34" charset="-120"/>
              </a:rPr>
              <a:t>19   -&gt;  x </a:t>
            </a:r>
            <a:r>
              <a:rPr lang="en-US" sz="1300" dirty="0">
                <a:solidFill>
                  <a:srgbClr val="4ADE80"/>
                </a:solidFill>
                <a:latin typeface="Consolas" pitchFamily="34" charset="0"/>
                <a:ea typeface="Consolas" pitchFamily="34" charset="-122"/>
                <a:cs typeface="Consolas" pitchFamily="34" charset="-120"/>
              </a:rPr>
              <a:t>= 2, </a:t>
            </a:r>
            <a:r>
              <a:rPr lang="en-US" sz="1300">
                <a:solidFill>
                  <a:srgbClr val="4ADE80"/>
                </a:solidFill>
                <a:latin typeface="Consolas" pitchFamily="34" charset="0"/>
                <a:ea typeface="Consolas" pitchFamily="34" charset="-122"/>
                <a:cs typeface="Consolas" pitchFamily="34" charset="-120"/>
              </a:rPr>
              <a:t>y = </a:t>
            </a:r>
            <a:r>
              <a:rPr lang="en-US" sz="1300" dirty="0">
                <a:solidFill>
                  <a:srgbClr val="4ADE80"/>
                </a:solidFill>
                <a:latin typeface="Consolas" pitchFamily="34" charset="0"/>
                <a:ea typeface="Consolas" pitchFamily="34" charset="-122"/>
                <a:cs typeface="Consolas" pitchFamily="34" charset="-120"/>
              </a:rPr>
              <a:t>5</a:t>
            </a:r>
            <a:endParaRPr lang="en-US" sz="1300" dirty="0"/>
          </a:p>
          <a:p>
            <a:pPr marL="0" indent="0">
              <a:spcAft>
                <a:spcPts val="200"/>
              </a:spcAft>
              <a:buNone/>
            </a:pPr>
            <a:endParaRPr lang="en-US" sz="1300"/>
          </a:p>
          <a:p>
            <a:pPr marL="0" indent="0">
              <a:spcAft>
                <a:spcPts val="200"/>
              </a:spcAft>
              <a:buNone/>
            </a:pPr>
            <a:r>
              <a:rPr lang="en-US" sz="1300">
                <a:solidFill>
                  <a:srgbClr val="22D3EE"/>
                </a:solidFill>
                <a:latin typeface="Consolas" pitchFamily="34" charset="0"/>
                <a:ea typeface="Consolas" pitchFamily="34" charset="-122"/>
                <a:cs typeface="Consolas" pitchFamily="34" charset="-120"/>
              </a:rPr>
              <a:t>With a little noise (hard):</a:t>
            </a:r>
            <a:endParaRPr lang="en-US" sz="1300"/>
          </a:p>
          <a:p>
            <a:pPr marL="0" indent="0">
              <a:spcAft>
                <a:spcPts val="200"/>
              </a:spcAft>
              <a:buNone/>
            </a:pPr>
            <a:r>
              <a:rPr lang="en-US" sz="1300">
                <a:solidFill>
                  <a:srgbClr val="FBBF24"/>
                </a:solidFill>
                <a:latin typeface="Consolas" pitchFamily="34" charset="0"/>
                <a:ea typeface="Consolas" pitchFamily="34" charset="-122"/>
                <a:cs typeface="Consolas" pitchFamily="34" charset="-120"/>
              </a:rPr>
              <a:t>  3x + 4y = 27</a:t>
            </a:r>
            <a:endParaRPr lang="en-US" sz="1300" dirty="0"/>
          </a:p>
          <a:p>
            <a:pPr marL="0" indent="0">
              <a:spcAft>
                <a:spcPts val="200"/>
              </a:spcAft>
              <a:buNone/>
            </a:pPr>
            <a:r>
              <a:rPr lang="en-US" sz="1300">
                <a:solidFill>
                  <a:srgbClr val="FBBF24"/>
                </a:solidFill>
                <a:latin typeface="Consolas" pitchFamily="34" charset="0"/>
                <a:ea typeface="Consolas" pitchFamily="34" charset="-122"/>
                <a:cs typeface="Consolas" pitchFamily="34" charset="-120"/>
              </a:rPr>
              <a:t>  7x + 1y </a:t>
            </a:r>
            <a:r>
              <a:rPr lang="en-US" sz="1300" dirty="0">
                <a:solidFill>
                  <a:srgbClr val="FBBF24"/>
                </a:solidFill>
                <a:latin typeface="Consolas" pitchFamily="34" charset="0"/>
                <a:ea typeface="Consolas" pitchFamily="34" charset="-122"/>
                <a:cs typeface="Consolas" pitchFamily="34" charset="-120"/>
              </a:rPr>
              <a:t>= 18</a:t>
            </a:r>
            <a:r>
              <a:rPr lang="en-US" sz="1300">
                <a:solidFill>
                  <a:srgbClr val="FBBF24"/>
                </a:solidFill>
                <a:latin typeface="Consolas" pitchFamily="34" charset="0"/>
                <a:ea typeface="Consolas" pitchFamily="34" charset="-122"/>
                <a:cs typeface="Consolas" pitchFamily="34" charset="-120"/>
              </a:rPr>
              <a:t>   -&gt;  x, y </a:t>
            </a:r>
            <a:r>
              <a:rPr lang="en-US" sz="1300" dirty="0">
                <a:solidFill>
                  <a:srgbClr val="FBBF24"/>
                </a:solidFill>
                <a:latin typeface="Consolas" pitchFamily="34" charset="0"/>
                <a:ea typeface="Consolas" pitchFamily="34" charset="-122"/>
                <a:cs typeface="Consolas" pitchFamily="34" charset="-120"/>
              </a:rPr>
              <a:t>= </a:t>
            </a:r>
            <a:r>
              <a:rPr lang="en-US" sz="1300">
                <a:solidFill>
                  <a:srgbClr val="FBBF24"/>
                </a:solidFill>
                <a:latin typeface="Consolas" pitchFamily="34" charset="0"/>
                <a:ea typeface="Consolas" pitchFamily="34" charset="-122"/>
                <a:cs typeface="Consolas" pitchFamily="34" charset="-120"/>
              </a:rPr>
              <a:t>?</a:t>
            </a:r>
            <a:endParaRPr lang="en-US" sz="1300" dirty="0"/>
          </a:p>
          <a:p>
            <a:pPr marL="0" indent="0">
              <a:spcAft>
                <a:spcPts val="200"/>
              </a:spcAft>
              <a:buNone/>
            </a:pPr>
            <a:endParaRPr lang="en-US" sz="1300" dirty="0"/>
          </a:p>
          <a:p>
            <a:pPr marL="0" indent="0">
              <a:spcAft>
                <a:spcPts val="200"/>
              </a:spcAft>
              <a:buNone/>
            </a:pPr>
            <a:r>
              <a:rPr lang="en-US" sz="1300">
                <a:solidFill>
                  <a:srgbClr val="9FB0CC"/>
                </a:solidFill>
                <a:latin typeface="Consolas" pitchFamily="34" charset="0"/>
                <a:ea typeface="Consolas" pitchFamily="34" charset="-122"/>
                <a:cs typeface="Consolas" pitchFamily="34" charset="-120"/>
              </a:rPr>
              <a:t>Real schemes use hundreds of such</a:t>
            </a:r>
            <a:endParaRPr lang="en-US" sz="1300"/>
          </a:p>
          <a:p>
            <a:pPr marL="0" indent="0">
              <a:spcAft>
                <a:spcPts val="200"/>
              </a:spcAft>
              <a:buNone/>
            </a:pPr>
            <a:r>
              <a:rPr lang="en-US" sz="1300">
                <a:solidFill>
                  <a:srgbClr val="9FB0CC"/>
                </a:solidFill>
                <a:latin typeface="Consolas" pitchFamily="34" charset="0"/>
                <a:ea typeface="Consolas" pitchFamily="34" charset="-122"/>
                <a:cs typeface="Consolas" pitchFamily="34" charset="-120"/>
              </a:rPr>
              <a:t>noisy equations</a:t>
            </a:r>
            <a:r>
              <a:rPr lang="en-US" sz="1300" dirty="0">
                <a:solidFill>
                  <a:srgbClr val="9FB0CC"/>
                </a:solidFill>
                <a:latin typeface="Consolas" pitchFamily="34" charset="0"/>
                <a:ea typeface="Consolas" pitchFamily="34" charset="-122"/>
                <a:cs typeface="Consolas" pitchFamily="34" charset="-120"/>
              </a:rPr>
              <a:t>.</a:t>
            </a:r>
            <a:r>
              <a:rPr lang="en-US" sz="1300">
                <a:solidFill>
                  <a:srgbClr val="9FB0CC"/>
                </a:solidFill>
                <a:latin typeface="Consolas" pitchFamily="34" charset="0"/>
                <a:ea typeface="Consolas" pitchFamily="34" charset="-122"/>
                <a:cs typeface="Consolas" pitchFamily="34" charset="-120"/>
              </a:rPr>
              <a:t> The secret is x, y</a:t>
            </a:r>
            <a:r>
              <a:rPr lang="en-US" sz="1300" dirty="0">
                <a:solidFill>
                  <a:srgbClr val="9FB0CC"/>
                </a:solidFill>
                <a:latin typeface="Consolas" pitchFamily="34" charset="0"/>
                <a:ea typeface="Consolas" pitchFamily="34" charset="-122"/>
                <a:cs typeface="Consolas" pitchFamily="34" charset="-120"/>
              </a:rPr>
              <a:t>.</a:t>
            </a:r>
            <a:endParaRPr lang="en-US" sz="1300" dirty="0"/>
          </a:p>
        </p:txBody>
      </p:sp>
      <p:sp>
        <p:nvSpPr>
          <p:cNvPr id="37" name="Shape 35"/>
          <p:cNvSpPr/>
          <p:nvPr/>
        </p:nvSpPr>
        <p:spPr>
          <a:xfrm>
            <a:off x="5349240" y="4526280"/>
            <a:ext cx="6291072" cy="1600200"/>
          </a:xfrm>
          <a:prstGeom prst="roundRect">
            <a:avLst>
              <a:gd name="adj" fmla="val 4571"/>
            </a:avLst>
          </a:prstGeom>
          <a:solidFill>
            <a:srgbClr val="111A2F"/>
          </a:solidFill>
          <a:ln w="12700">
            <a:solidFill>
              <a:srgbClr val="2A3E68"/>
            </a:solidFill>
            <a:prstDash val="solid"/>
          </a:ln>
        </p:spPr>
        <p:txBody>
          <a:bodyPr/>
          <a:lstStyle/>
          <a:p>
            <a:endParaRPr lang="en-US"/>
          </a:p>
        </p:txBody>
      </p:sp>
      <p:sp>
        <p:nvSpPr>
          <p:cNvPr id="38" name="Text 36"/>
          <p:cNvSpPr/>
          <p:nvPr/>
        </p:nvSpPr>
        <p:spPr>
          <a:xfrm>
            <a:off x="5577840" y="4663440"/>
            <a:ext cx="5852160" cy="14173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ML-KEM </a:t>
            </a:r>
            <a:r>
              <a:rPr lang="en-US" sz="1300">
                <a:solidFill>
                  <a:srgbClr val="F1F5F9"/>
                </a:solidFill>
                <a:latin typeface="Calibri" pitchFamily="34" charset="0"/>
                <a:ea typeface="Calibri" pitchFamily="34" charset="-122"/>
                <a:cs typeface="Calibri" pitchFamily="34" charset="-120"/>
              </a:rPr>
              <a:t>builds its keys from this noisy-equations puzzle (called LWE: Learning With Errors)</a:t>
            </a:r>
            <a:endParaRPr lang="en-US" sz="1300" dirty="0"/>
          </a:p>
          <a:p>
            <a:pPr marL="177800" indent="-1778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Cost: public </a:t>
            </a:r>
            <a:r>
              <a:rPr lang="en-US" sz="1300">
                <a:solidFill>
                  <a:srgbClr val="F1F5F9"/>
                </a:solidFill>
                <a:latin typeface="Calibri" pitchFamily="34" charset="0"/>
                <a:ea typeface="Calibri" pitchFamily="34" charset="-122"/>
                <a:cs typeface="Calibri" pitchFamily="34" charset="-120"/>
              </a:rPr>
              <a:t>keys are bigger (</a:t>
            </a:r>
            <a:r>
              <a:rPr lang="en-US" sz="1300" dirty="0">
                <a:solidFill>
                  <a:srgbClr val="F1F5F9"/>
                </a:solidFill>
                <a:latin typeface="Calibri" pitchFamily="34" charset="0"/>
                <a:ea typeface="Calibri" pitchFamily="34" charset="-122"/>
                <a:cs typeface="Calibri" pitchFamily="34" charset="-120"/>
              </a:rPr>
              <a:t>1,184 bytes vs 32 for X25519</a:t>
            </a:r>
            <a:r>
              <a:rPr lang="en-US" sz="1300">
                <a:solidFill>
                  <a:srgbClr val="F1F5F9"/>
                </a:solidFill>
                <a:latin typeface="Calibri" pitchFamily="34" charset="0"/>
                <a:ea typeface="Calibri" pitchFamily="34" charset="-122"/>
                <a:cs typeface="Calibri" pitchFamily="34" charset="-120"/>
              </a:rPr>
              <a:t>), </a:t>
            </a:r>
            <a:r>
              <a:rPr lang="en-US" sz="1300" dirty="0">
                <a:solidFill>
                  <a:srgbClr val="F1F5F9"/>
                </a:solidFill>
                <a:latin typeface="Calibri" pitchFamily="34" charset="0"/>
                <a:ea typeface="Calibri" pitchFamily="34" charset="-122"/>
                <a:cs typeface="Calibri" pitchFamily="34" charset="-120"/>
              </a:rPr>
              <a:t>but </a:t>
            </a:r>
            <a:r>
              <a:rPr lang="en-US" sz="1300">
                <a:solidFill>
                  <a:srgbClr val="F1F5F9"/>
                </a:solidFill>
                <a:latin typeface="Calibri" pitchFamily="34" charset="0"/>
                <a:ea typeface="Calibri" pitchFamily="34" charset="-122"/>
                <a:cs typeface="Calibri" pitchFamily="34" charset="-120"/>
              </a:rPr>
              <a:t>still </a:t>
            </a:r>
            <a:r>
              <a:rPr lang="en-US" sz="1300" dirty="0">
                <a:solidFill>
                  <a:srgbClr val="F1F5F9"/>
                </a:solidFill>
                <a:latin typeface="Calibri" pitchFamily="34" charset="0"/>
                <a:ea typeface="Calibri" pitchFamily="34" charset="-122"/>
                <a:cs typeface="Calibri" pitchFamily="34" charset="-120"/>
              </a:rPr>
              <a:t>fast</a:t>
            </a:r>
            <a:endParaRPr lang="en-US" sz="1300" dirty="0"/>
          </a:p>
          <a:p>
            <a:pPr marL="177800" indent="-177800">
              <a:spcAft>
                <a:spcPts val="600"/>
              </a:spcAft>
              <a:buSzPct val="100000"/>
              <a:buChar char="•"/>
            </a:pPr>
            <a:r>
              <a:rPr lang="en-US" sz="1300">
                <a:solidFill>
                  <a:srgbClr val="F1F5F9"/>
                </a:solidFill>
                <a:latin typeface="Calibri" pitchFamily="34" charset="0"/>
                <a:ea typeface="Calibri" pitchFamily="34" charset="-122"/>
                <a:cs typeface="Calibri" pitchFamily="34" charset="-120"/>
              </a:rPr>
              <a:t>This </a:t>
            </a:r>
            <a:r>
              <a:rPr lang="en-US" sz="1300" dirty="0">
                <a:solidFill>
                  <a:srgbClr val="F1F5F9"/>
                </a:solidFill>
                <a:latin typeface="Calibri" pitchFamily="34" charset="0"/>
                <a:ea typeface="Calibri" pitchFamily="34" charset="-122"/>
                <a:cs typeface="Calibri" pitchFamily="34" charset="-120"/>
              </a:rPr>
              <a:t>math is </a:t>
            </a:r>
            <a:r>
              <a:rPr lang="en-US" sz="1300">
                <a:solidFill>
                  <a:srgbClr val="F1F5F9"/>
                </a:solidFill>
                <a:latin typeface="Calibri" pitchFamily="34" charset="0"/>
                <a:ea typeface="Calibri" pitchFamily="34" charset="-122"/>
                <a:cs typeface="Calibri" pitchFamily="34" charset="-120"/>
              </a:rPr>
              <a:t>newer</a:t>
            </a:r>
            <a:r>
              <a:rPr lang="en-US" sz="1300" dirty="0">
                <a:solidFill>
                  <a:srgbClr val="F1F5F9"/>
                </a:solidFill>
                <a:latin typeface="Calibri" pitchFamily="34" charset="0"/>
                <a:ea typeface="Calibri" pitchFamily="34" charset="-122"/>
                <a:cs typeface="Calibri" pitchFamily="34" charset="-120"/>
              </a:rPr>
              <a:t>: </a:t>
            </a:r>
            <a:r>
              <a:rPr lang="en-US" sz="1300">
                <a:solidFill>
                  <a:srgbClr val="F1F5F9"/>
                </a:solidFill>
                <a:latin typeface="Calibri" pitchFamily="34" charset="0"/>
                <a:ea typeface="Calibri" pitchFamily="34" charset="-122"/>
                <a:cs typeface="Calibri" pitchFamily="34" charset="-120"/>
              </a:rPr>
              <a:t>the </a:t>
            </a:r>
            <a:r>
              <a:rPr lang="en-US" sz="1300" dirty="0">
                <a:solidFill>
                  <a:srgbClr val="F1F5F9"/>
                </a:solidFill>
                <a:latin typeface="Calibri" pitchFamily="34" charset="0"/>
                <a:ea typeface="Calibri" pitchFamily="34" charset="-122"/>
                <a:cs typeface="Calibri" pitchFamily="34" charset="-120"/>
              </a:rPr>
              <a:t>SIKE </a:t>
            </a:r>
            <a:r>
              <a:rPr lang="en-US" sz="1300">
                <a:solidFill>
                  <a:srgbClr val="F1F5F9"/>
                </a:solidFill>
                <a:latin typeface="Calibri" pitchFamily="34" charset="0"/>
                <a:ea typeface="Calibri" pitchFamily="34" charset="-122"/>
                <a:cs typeface="Calibri" pitchFamily="34" charset="-120"/>
              </a:rPr>
              <a:t>scheme </a:t>
            </a:r>
            <a:r>
              <a:rPr lang="en-US" sz="1300" dirty="0">
                <a:solidFill>
                  <a:srgbClr val="F1F5F9"/>
                </a:solidFill>
                <a:latin typeface="Calibri" pitchFamily="34" charset="0"/>
                <a:ea typeface="Calibri" pitchFamily="34" charset="-122"/>
                <a:cs typeface="Calibri" pitchFamily="34" charset="-120"/>
              </a:rPr>
              <a:t>was broken on a laptop in 2022, </a:t>
            </a:r>
            <a:r>
              <a:rPr lang="en-US" sz="1300">
                <a:solidFill>
                  <a:srgbClr val="F1F5F9"/>
                </a:solidFill>
                <a:latin typeface="Calibri" pitchFamily="34" charset="0"/>
                <a:ea typeface="Calibri" pitchFamily="34" charset="-122"/>
                <a:cs typeface="Calibri" pitchFamily="34" charset="-120"/>
              </a:rPr>
              <a:t>so </a:t>
            </a:r>
            <a:r>
              <a:rPr lang="en-US" sz="1300" dirty="0">
                <a:solidFill>
                  <a:srgbClr val="F1F5F9"/>
                </a:solidFill>
                <a:latin typeface="Calibri" pitchFamily="34" charset="0"/>
                <a:ea typeface="Calibri" pitchFamily="34" charset="-122"/>
                <a:cs typeface="Calibri" pitchFamily="34" charset="-120"/>
              </a:rPr>
              <a:t>hybrids</a:t>
            </a:r>
            <a:r>
              <a:rPr lang="en-US" sz="1300">
                <a:solidFill>
                  <a:srgbClr val="F1F5F9"/>
                </a:solidFill>
                <a:latin typeface="Calibri" pitchFamily="34" charset="0"/>
                <a:ea typeface="Calibri" pitchFamily="34" charset="-122"/>
                <a:cs typeface="Calibri" pitchFamily="34" charset="-120"/>
              </a:rPr>
              <a:t> are used</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PUTTING IT TOGETHER</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Putting it together: a secure website</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35</a:t>
            </a:r>
            <a:endParaRPr lang="en-US" sz="1000"/>
          </a:p>
        </p:txBody>
      </p:sp>
      <p:sp>
        <p:nvSpPr>
          <p:cNvPr id="6" name="Rounded Rectangle 5"/>
          <p:cNvSpPr/>
          <p:nvPr/>
        </p:nvSpPr>
        <p:spPr>
          <a:xfrm>
            <a:off x="548640" y="1371600"/>
            <a:ext cx="2377440" cy="731520"/>
          </a:xfrm>
          <a:prstGeom prst="roundRect">
            <a:avLst>
              <a:gd name="adj" fmla="val 10000"/>
            </a:avLst>
          </a:prstGeom>
          <a:solidFill>
            <a:srgbClr val="172544"/>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371600"/>
            <a:ext cx="2286000" cy="731520"/>
          </a:xfrm>
          <a:prstGeom prst="rect">
            <a:avLst/>
          </a:prstGeom>
          <a:noFill/>
        </p:spPr>
        <p:txBody>
          <a:bodyPr wrap="square" lIns="0" tIns="0" rIns="0" bIns="0" anchor="ctr">
            <a:spAutoFit/>
          </a:bodyPr>
          <a:lstStyle/>
          <a:p>
            <a:pPr algn="ctr"/>
            <a:r>
              <a:rPr sz="1400" b="1" i="0">
                <a:solidFill>
                  <a:srgbClr val="22D3EE"/>
                </a:solidFill>
                <a:latin typeface="Consolas"/>
              </a:rPr>
              <a:t>your browser</a:t>
            </a:r>
          </a:p>
        </p:txBody>
      </p:sp>
      <p:sp>
        <p:nvSpPr>
          <p:cNvPr id="8" name="Rounded Rectangle 7"/>
          <p:cNvSpPr/>
          <p:nvPr/>
        </p:nvSpPr>
        <p:spPr>
          <a:xfrm>
            <a:off x="9235440" y="1371600"/>
            <a:ext cx="2377440" cy="731520"/>
          </a:xfrm>
          <a:prstGeom prst="roundRect">
            <a:avLst>
              <a:gd name="adj" fmla="val 10000"/>
            </a:avLst>
          </a:prstGeom>
          <a:solidFill>
            <a:srgbClr val="172544"/>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81160" y="1371600"/>
            <a:ext cx="2286000" cy="731520"/>
          </a:xfrm>
          <a:prstGeom prst="rect">
            <a:avLst/>
          </a:prstGeom>
          <a:noFill/>
        </p:spPr>
        <p:txBody>
          <a:bodyPr wrap="square" lIns="0" tIns="0" rIns="0" bIns="0" anchor="ctr">
            <a:spAutoFit/>
          </a:bodyPr>
          <a:lstStyle/>
          <a:p>
            <a:pPr algn="ctr"/>
            <a:r>
              <a:rPr sz="1400" b="1" i="0">
                <a:solidFill>
                  <a:srgbClr val="22D3EE"/>
                </a:solidFill>
                <a:latin typeface="Consolas"/>
              </a:rPr>
              <a:t>the website</a:t>
            </a:r>
          </a:p>
        </p:txBody>
      </p:sp>
      <p:cxnSp>
        <p:nvCxnSpPr>
          <p:cNvPr id="10" name="Connector 9"/>
          <p:cNvCxnSpPr/>
          <p:nvPr/>
        </p:nvCxnSpPr>
        <p:spPr>
          <a:xfrm>
            <a:off x="3017520" y="1737360"/>
            <a:ext cx="6126480" cy="0"/>
          </a:xfrm>
          <a:prstGeom prst="line">
            <a:avLst/>
          </a:prstGeom>
          <a:ln w="22225">
            <a:solidFill>
              <a:srgbClr val="22D3EE"/>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108960" y="1371600"/>
            <a:ext cx="5943600" cy="274320"/>
          </a:xfrm>
          <a:prstGeom prst="rect">
            <a:avLst/>
          </a:prstGeom>
          <a:noFill/>
        </p:spPr>
        <p:txBody>
          <a:bodyPr wrap="square" lIns="0" tIns="0" rIns="0" bIns="0" anchor="t">
            <a:spAutoFit/>
          </a:bodyPr>
          <a:lstStyle/>
          <a:p>
            <a:pPr algn="ctr"/>
            <a:r>
              <a:rPr sz="1300" b="0" i="0">
                <a:solidFill>
                  <a:srgbClr val="9FB0CC"/>
                </a:solidFill>
                <a:latin typeface="Consolas"/>
              </a:rPr>
              <a:t>https://example.com</a:t>
            </a:r>
          </a:p>
        </p:txBody>
      </p:sp>
      <p:sp>
        <p:nvSpPr>
          <p:cNvPr id="12" name="Rounded Rectangle 11"/>
          <p:cNvSpPr/>
          <p:nvPr/>
        </p:nvSpPr>
        <p:spPr>
          <a:xfrm>
            <a:off x="548640" y="2514600"/>
            <a:ext cx="2103120" cy="310896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31520" y="2697480"/>
            <a:ext cx="1417320" cy="292608"/>
          </a:xfrm>
          <a:prstGeom prst="roundRect">
            <a:avLst>
              <a:gd name="adj" fmla="val 30000"/>
            </a:avLst>
          </a:prstGeom>
          <a:solidFill>
            <a:srgbClr val="172544"/>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697480"/>
            <a:ext cx="1417320" cy="292608"/>
          </a:xfrm>
          <a:prstGeom prst="rect">
            <a:avLst/>
          </a:prstGeom>
          <a:noFill/>
        </p:spPr>
        <p:txBody>
          <a:bodyPr wrap="square" lIns="0" tIns="0" rIns="0" bIns="0" anchor="ctr">
            <a:spAutoFit/>
          </a:bodyPr>
          <a:lstStyle/>
          <a:p>
            <a:pPr algn="ctr"/>
            <a:r>
              <a:rPr sz="1000" b="1" i="0">
                <a:solidFill>
                  <a:srgbClr val="FBBF24"/>
                </a:solidFill>
                <a:latin typeface="Consolas"/>
              </a:rPr>
              <a:t>SIGNATURES</a:t>
            </a:r>
          </a:p>
        </p:txBody>
      </p:sp>
      <p:sp>
        <p:nvSpPr>
          <p:cNvPr id="15" name="TextBox 14"/>
          <p:cNvSpPr txBox="1"/>
          <p:nvPr/>
        </p:nvSpPr>
        <p:spPr>
          <a:xfrm>
            <a:off x="731520" y="3200400"/>
            <a:ext cx="1783080" cy="320040"/>
          </a:xfrm>
          <a:prstGeom prst="rect">
            <a:avLst/>
          </a:prstGeom>
          <a:noFill/>
        </p:spPr>
        <p:txBody>
          <a:bodyPr wrap="square" lIns="0" tIns="0" rIns="0" bIns="0" anchor="t">
            <a:spAutoFit/>
          </a:bodyPr>
          <a:lstStyle/>
          <a:p>
            <a:pPr algn="l"/>
            <a:r>
              <a:rPr sz="1300" b="1" i="0">
                <a:solidFill>
                  <a:srgbClr val="F1F5F9"/>
                </a:solidFill>
                <a:latin typeface="Consolas"/>
              </a:rPr>
              <a:t>1  Prove identity</a:t>
            </a:r>
          </a:p>
        </p:txBody>
      </p:sp>
      <p:sp>
        <p:nvSpPr>
          <p:cNvPr id="16" name="TextBox 15"/>
          <p:cNvSpPr txBox="1"/>
          <p:nvPr/>
        </p:nvSpPr>
        <p:spPr>
          <a:xfrm>
            <a:off x="731520" y="3657600"/>
            <a:ext cx="1783080" cy="1828800"/>
          </a:xfrm>
          <a:prstGeom prst="rect">
            <a:avLst/>
          </a:prstGeom>
          <a:noFill/>
        </p:spPr>
        <p:txBody>
          <a:bodyPr wrap="square" lIns="0" tIns="0" rIns="0" bIns="0" anchor="t">
            <a:spAutoFit/>
          </a:bodyPr>
          <a:lstStyle/>
          <a:p>
            <a:pPr algn="l"/>
            <a:r>
              <a:rPr sz="1400" b="0" i="0">
                <a:solidFill>
                  <a:srgbClr val="F1F5F9"/>
                </a:solidFill>
                <a:latin typeface="Calibri"/>
              </a:rPr>
              <a:t>The server shows a certificate. A trusted authority signed it, so your browser can check it is really the bank.</a:t>
            </a:r>
          </a:p>
        </p:txBody>
      </p:sp>
      <p:sp>
        <p:nvSpPr>
          <p:cNvPr id="17" name="Rounded Rectangle 16"/>
          <p:cNvSpPr/>
          <p:nvPr/>
        </p:nvSpPr>
        <p:spPr>
          <a:xfrm>
            <a:off x="2788920" y="2514600"/>
            <a:ext cx="2103120" cy="310896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971800" y="2697480"/>
            <a:ext cx="1417320" cy="292608"/>
          </a:xfrm>
          <a:prstGeom prst="roundRect">
            <a:avLst>
              <a:gd name="adj" fmla="val 30000"/>
            </a:avLst>
          </a:prstGeom>
          <a:solidFill>
            <a:srgbClr val="172544"/>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71800" y="2697480"/>
            <a:ext cx="1417320" cy="292608"/>
          </a:xfrm>
          <a:prstGeom prst="rect">
            <a:avLst/>
          </a:prstGeom>
          <a:noFill/>
        </p:spPr>
        <p:txBody>
          <a:bodyPr wrap="square" lIns="0" tIns="0" rIns="0" bIns="0" anchor="ctr">
            <a:spAutoFit/>
          </a:bodyPr>
          <a:lstStyle/>
          <a:p>
            <a:pPr algn="ctr"/>
            <a:r>
              <a:rPr sz="1000" b="1" i="0">
                <a:solidFill>
                  <a:srgbClr val="22D3EE"/>
                </a:solidFill>
                <a:latin typeface="Consolas"/>
              </a:rPr>
              <a:t>ASYMMETRIC</a:t>
            </a:r>
          </a:p>
        </p:txBody>
      </p:sp>
      <p:sp>
        <p:nvSpPr>
          <p:cNvPr id="20" name="TextBox 19"/>
          <p:cNvSpPr txBox="1"/>
          <p:nvPr/>
        </p:nvSpPr>
        <p:spPr>
          <a:xfrm>
            <a:off x="2971800" y="3200400"/>
            <a:ext cx="1783080" cy="320040"/>
          </a:xfrm>
          <a:prstGeom prst="rect">
            <a:avLst/>
          </a:prstGeom>
          <a:noFill/>
        </p:spPr>
        <p:txBody>
          <a:bodyPr wrap="square" lIns="0" tIns="0" rIns="0" bIns="0" anchor="t">
            <a:spAutoFit/>
          </a:bodyPr>
          <a:lstStyle/>
          <a:p>
            <a:pPr algn="l"/>
            <a:r>
              <a:rPr sz="1300" b="1" i="0">
                <a:solidFill>
                  <a:srgbClr val="F1F5F9"/>
                </a:solidFill>
                <a:latin typeface="Consolas"/>
              </a:rPr>
              <a:t>2  Agree on a key</a:t>
            </a:r>
          </a:p>
        </p:txBody>
      </p:sp>
      <p:sp>
        <p:nvSpPr>
          <p:cNvPr id="21" name="TextBox 20"/>
          <p:cNvSpPr txBox="1"/>
          <p:nvPr/>
        </p:nvSpPr>
        <p:spPr>
          <a:xfrm>
            <a:off x="2971800" y="3657600"/>
            <a:ext cx="1783080" cy="1828800"/>
          </a:xfrm>
          <a:prstGeom prst="rect">
            <a:avLst/>
          </a:prstGeom>
          <a:noFill/>
        </p:spPr>
        <p:txBody>
          <a:bodyPr wrap="square" lIns="0" tIns="0" rIns="0" bIns="0" anchor="t">
            <a:spAutoFit/>
          </a:bodyPr>
          <a:lstStyle/>
          <a:p>
            <a:pPr algn="l"/>
            <a:r>
              <a:rPr sz="1400" b="0" i="0">
                <a:solidFill>
                  <a:srgbClr val="F1F5F9"/>
                </a:solidFill>
                <a:latin typeface="Calibri"/>
              </a:rPr>
              <a:t>Browser and server run a key exchange (ECDH, plus ML-KEM). An eavesdropper sees it but learns nothing.</a:t>
            </a:r>
          </a:p>
        </p:txBody>
      </p:sp>
      <p:sp>
        <p:nvSpPr>
          <p:cNvPr id="22" name="Rounded Rectangle 21"/>
          <p:cNvSpPr/>
          <p:nvPr/>
        </p:nvSpPr>
        <p:spPr>
          <a:xfrm>
            <a:off x="5029200" y="2514600"/>
            <a:ext cx="2103120" cy="310896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212080" y="2697480"/>
            <a:ext cx="1417320" cy="292608"/>
          </a:xfrm>
          <a:prstGeom prst="roundRect">
            <a:avLst>
              <a:gd name="adj" fmla="val 30000"/>
            </a:avLst>
          </a:prstGeom>
          <a:solidFill>
            <a:srgbClr val="172544"/>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12080" y="2697480"/>
            <a:ext cx="1417320" cy="292608"/>
          </a:xfrm>
          <a:prstGeom prst="rect">
            <a:avLst/>
          </a:prstGeom>
          <a:noFill/>
        </p:spPr>
        <p:txBody>
          <a:bodyPr wrap="square" lIns="0" tIns="0" rIns="0" bIns="0" anchor="ctr">
            <a:spAutoFit/>
          </a:bodyPr>
          <a:lstStyle/>
          <a:p>
            <a:pPr algn="ctr"/>
            <a:r>
              <a:rPr sz="1000" b="1" i="0">
                <a:solidFill>
                  <a:srgbClr val="4ADE80"/>
                </a:solidFill>
                <a:latin typeface="Consolas"/>
              </a:rPr>
              <a:t>SYMMETRIC</a:t>
            </a:r>
          </a:p>
        </p:txBody>
      </p:sp>
      <p:sp>
        <p:nvSpPr>
          <p:cNvPr id="25" name="TextBox 24"/>
          <p:cNvSpPr txBox="1"/>
          <p:nvPr/>
        </p:nvSpPr>
        <p:spPr>
          <a:xfrm>
            <a:off x="5212080" y="3200400"/>
            <a:ext cx="1783080" cy="320040"/>
          </a:xfrm>
          <a:prstGeom prst="rect">
            <a:avLst/>
          </a:prstGeom>
          <a:noFill/>
        </p:spPr>
        <p:txBody>
          <a:bodyPr wrap="square" lIns="0" tIns="0" rIns="0" bIns="0" anchor="t">
            <a:spAutoFit/>
          </a:bodyPr>
          <a:lstStyle/>
          <a:p>
            <a:pPr algn="l"/>
            <a:r>
              <a:rPr sz="1300" b="1" i="0">
                <a:solidFill>
                  <a:srgbClr val="F1F5F9"/>
                </a:solidFill>
                <a:latin typeface="Consolas"/>
              </a:rPr>
              <a:t>3  Encrypt the data</a:t>
            </a:r>
          </a:p>
        </p:txBody>
      </p:sp>
      <p:sp>
        <p:nvSpPr>
          <p:cNvPr id="26" name="TextBox 25"/>
          <p:cNvSpPr txBox="1"/>
          <p:nvPr/>
        </p:nvSpPr>
        <p:spPr>
          <a:xfrm>
            <a:off x="5212080" y="3657600"/>
            <a:ext cx="1783080" cy="1828800"/>
          </a:xfrm>
          <a:prstGeom prst="rect">
            <a:avLst/>
          </a:prstGeom>
          <a:noFill/>
        </p:spPr>
        <p:txBody>
          <a:bodyPr wrap="square" lIns="0" tIns="0" rIns="0" bIns="0" anchor="t">
            <a:spAutoFit/>
          </a:bodyPr>
          <a:lstStyle/>
          <a:p>
            <a:pPr algn="l"/>
            <a:r>
              <a:rPr sz="1400" b="0" i="0">
                <a:solidFill>
                  <a:srgbClr val="F1F5F9"/>
                </a:solidFill>
                <a:latin typeface="Calibri"/>
              </a:rPr>
              <a:t>Everything after that uses a fast shared key, with AES-GCM or ChaCha20.</a:t>
            </a:r>
          </a:p>
        </p:txBody>
      </p:sp>
      <p:sp>
        <p:nvSpPr>
          <p:cNvPr id="27" name="Rounded Rectangle 26"/>
          <p:cNvSpPr/>
          <p:nvPr/>
        </p:nvSpPr>
        <p:spPr>
          <a:xfrm>
            <a:off x="7269480" y="2514600"/>
            <a:ext cx="2103120" cy="310896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452360" y="2697480"/>
            <a:ext cx="1417320" cy="292608"/>
          </a:xfrm>
          <a:prstGeom prst="roundRect">
            <a:avLst>
              <a:gd name="adj" fmla="val 30000"/>
            </a:avLst>
          </a:prstGeom>
          <a:solidFill>
            <a:srgbClr val="172544"/>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52360" y="2697480"/>
            <a:ext cx="1417320" cy="292608"/>
          </a:xfrm>
          <a:prstGeom prst="rect">
            <a:avLst/>
          </a:prstGeom>
          <a:noFill/>
        </p:spPr>
        <p:txBody>
          <a:bodyPr wrap="square" lIns="0" tIns="0" rIns="0" bIns="0" anchor="ctr">
            <a:spAutoFit/>
          </a:bodyPr>
          <a:lstStyle/>
          <a:p>
            <a:pPr algn="ctr"/>
            <a:r>
              <a:rPr sz="1000" b="1" i="0">
                <a:solidFill>
                  <a:srgbClr val="22D3EE"/>
                </a:solidFill>
                <a:latin typeface="Consolas"/>
              </a:rPr>
              <a:t>INTEGRITY</a:t>
            </a:r>
          </a:p>
        </p:txBody>
      </p:sp>
      <p:sp>
        <p:nvSpPr>
          <p:cNvPr id="30" name="TextBox 29"/>
          <p:cNvSpPr txBox="1"/>
          <p:nvPr/>
        </p:nvSpPr>
        <p:spPr>
          <a:xfrm>
            <a:off x="7452360" y="3200400"/>
            <a:ext cx="1783080" cy="320040"/>
          </a:xfrm>
          <a:prstGeom prst="rect">
            <a:avLst/>
          </a:prstGeom>
          <a:noFill/>
        </p:spPr>
        <p:txBody>
          <a:bodyPr wrap="square" lIns="0" tIns="0" rIns="0" bIns="0" anchor="t">
            <a:spAutoFit/>
          </a:bodyPr>
          <a:lstStyle/>
          <a:p>
            <a:pPr algn="l"/>
            <a:r>
              <a:rPr sz="1300" b="1" i="0">
                <a:solidFill>
                  <a:srgbClr val="F1F5F9"/>
                </a:solidFill>
                <a:latin typeface="Consolas"/>
              </a:rPr>
              <a:t>4  Detect changes</a:t>
            </a:r>
          </a:p>
        </p:txBody>
      </p:sp>
      <p:sp>
        <p:nvSpPr>
          <p:cNvPr id="31" name="TextBox 30"/>
          <p:cNvSpPr txBox="1"/>
          <p:nvPr/>
        </p:nvSpPr>
        <p:spPr>
          <a:xfrm>
            <a:off x="7452360" y="3657600"/>
            <a:ext cx="1783080" cy="1828800"/>
          </a:xfrm>
          <a:prstGeom prst="rect">
            <a:avLst/>
          </a:prstGeom>
          <a:noFill/>
        </p:spPr>
        <p:txBody>
          <a:bodyPr wrap="square" lIns="0" tIns="0" rIns="0" bIns="0" anchor="t">
            <a:spAutoFit/>
          </a:bodyPr>
          <a:lstStyle/>
          <a:p>
            <a:pPr algn="l"/>
            <a:r>
              <a:rPr sz="1400" b="0" i="0">
                <a:solidFill>
                  <a:srgbClr val="F1F5F9"/>
                </a:solidFill>
                <a:latin typeface="Calibri"/>
              </a:rPr>
              <a:t>Each message carries a tag. If anyone alters a bit, the tag fails and the data is dropped.</a:t>
            </a:r>
          </a:p>
        </p:txBody>
      </p:sp>
      <p:sp>
        <p:nvSpPr>
          <p:cNvPr id="32" name="Rounded Rectangle 31"/>
          <p:cNvSpPr/>
          <p:nvPr/>
        </p:nvSpPr>
        <p:spPr>
          <a:xfrm>
            <a:off x="9509760" y="2514600"/>
            <a:ext cx="2103120" cy="310896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692640" y="2697480"/>
            <a:ext cx="1417320" cy="292608"/>
          </a:xfrm>
          <a:prstGeom prst="roundRect">
            <a:avLst>
              <a:gd name="adj" fmla="val 30000"/>
            </a:avLst>
          </a:prstGeom>
          <a:solidFill>
            <a:srgbClr val="172544"/>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92640" y="2697480"/>
            <a:ext cx="1417320" cy="292608"/>
          </a:xfrm>
          <a:prstGeom prst="rect">
            <a:avLst/>
          </a:prstGeom>
          <a:noFill/>
        </p:spPr>
        <p:txBody>
          <a:bodyPr wrap="square" lIns="0" tIns="0" rIns="0" bIns="0" anchor="ctr">
            <a:spAutoFit/>
          </a:bodyPr>
          <a:lstStyle/>
          <a:p>
            <a:pPr algn="ctr"/>
            <a:r>
              <a:rPr sz="1000" b="1" i="0">
                <a:solidFill>
                  <a:srgbClr val="FBBF24"/>
                </a:solidFill>
                <a:latin typeface="Consolas"/>
              </a:rPr>
              <a:t>HASHING</a:t>
            </a:r>
          </a:p>
        </p:txBody>
      </p:sp>
      <p:sp>
        <p:nvSpPr>
          <p:cNvPr id="35" name="TextBox 34"/>
          <p:cNvSpPr txBox="1"/>
          <p:nvPr/>
        </p:nvSpPr>
        <p:spPr>
          <a:xfrm>
            <a:off x="9692640" y="3200400"/>
            <a:ext cx="1783080" cy="320040"/>
          </a:xfrm>
          <a:prstGeom prst="rect">
            <a:avLst/>
          </a:prstGeom>
          <a:noFill/>
        </p:spPr>
        <p:txBody>
          <a:bodyPr wrap="square" lIns="0" tIns="0" rIns="0" bIns="0" anchor="t">
            <a:spAutoFit/>
          </a:bodyPr>
          <a:lstStyle/>
          <a:p>
            <a:pPr algn="l"/>
            <a:r>
              <a:rPr sz="1300" b="1" i="0">
                <a:solidFill>
                  <a:srgbClr val="F1F5F9"/>
                </a:solidFill>
                <a:latin typeface="Consolas"/>
              </a:rPr>
              <a:t>5  Log in safely</a:t>
            </a:r>
          </a:p>
        </p:txBody>
      </p:sp>
      <p:sp>
        <p:nvSpPr>
          <p:cNvPr id="36" name="TextBox 35"/>
          <p:cNvSpPr txBox="1"/>
          <p:nvPr/>
        </p:nvSpPr>
        <p:spPr>
          <a:xfrm>
            <a:off x="9692640" y="3657600"/>
            <a:ext cx="1783080" cy="1828800"/>
          </a:xfrm>
          <a:prstGeom prst="rect">
            <a:avLst/>
          </a:prstGeom>
          <a:noFill/>
        </p:spPr>
        <p:txBody>
          <a:bodyPr wrap="square" lIns="0" tIns="0" rIns="0" bIns="0" anchor="t">
            <a:spAutoFit/>
          </a:bodyPr>
          <a:lstStyle/>
          <a:p>
            <a:pPr algn="l"/>
            <a:r>
              <a:rPr sz="1400" b="0" i="0">
                <a:solidFill>
                  <a:srgbClr val="F1F5F9"/>
                </a:solidFill>
                <a:latin typeface="Calibri"/>
              </a:rPr>
              <a:t>The site stores your password as a salted Argon2id hash, so a leak does not reveal it.</a:t>
            </a:r>
          </a:p>
        </p:txBody>
      </p:sp>
      <p:sp>
        <p:nvSpPr>
          <p:cNvPr id="37" name="Rounded Rectangle 36"/>
          <p:cNvSpPr/>
          <p:nvPr/>
        </p:nvSpPr>
        <p:spPr>
          <a:xfrm>
            <a:off x="548640" y="5760720"/>
            <a:ext cx="11064240" cy="457200"/>
          </a:xfrm>
          <a:prstGeom prst="roundRect">
            <a:avLst>
              <a:gd name="adj" fmla="val 100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7240" y="5760720"/>
            <a:ext cx="10607040" cy="457200"/>
          </a:xfrm>
          <a:prstGeom prst="rect">
            <a:avLst/>
          </a:prstGeom>
          <a:noFill/>
        </p:spPr>
        <p:txBody>
          <a:bodyPr wrap="square" lIns="0" tIns="0" rIns="0" bIns="0" anchor="ctr">
            <a:spAutoFit/>
          </a:bodyPr>
          <a:lstStyle/>
          <a:p>
            <a:pPr algn="l"/>
            <a:r>
              <a:rPr sz="1300" b="0" i="0">
                <a:solidFill>
                  <a:srgbClr val="4ADE80"/>
                </a:solidFill>
                <a:latin typeface="Consolas"/>
              </a:rPr>
              <a:t>Every idea from today shows up in a single page load.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4">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dirty="0">
                <a:solidFill>
                  <a:srgbClr val="22D3EE"/>
                </a:solidFill>
                <a:latin typeface="Consolas" pitchFamily="34" charset="0"/>
                <a:ea typeface="Consolas" pitchFamily="34" charset="-122"/>
                <a:cs typeface="Consolas" pitchFamily="34" charset="-120"/>
              </a:rPr>
              <a:t>// WRAP-UP</a:t>
            </a:r>
            <a:endParaRPr lang="en-US" sz="1200" dirty="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dirty="0">
                <a:solidFill>
                  <a:srgbClr val="F1F5F9"/>
                </a:solidFill>
                <a:latin typeface="Consolas" pitchFamily="34" charset="0"/>
                <a:ea typeface="Consolas" pitchFamily="34" charset="-122"/>
                <a:cs typeface="Consolas" pitchFamily="34" charset="-120"/>
              </a:rPr>
              <a:t>Key takeaways</a:t>
            </a:r>
            <a:endParaRPr lang="en-US" sz="2800" dirty="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dirty="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36</a:t>
            </a:r>
            <a:endParaRPr lang="en-US" sz="1000" dirty="0"/>
          </a:p>
        </p:txBody>
      </p:sp>
      <p:sp>
        <p:nvSpPr>
          <p:cNvPr id="6" name="Shape 4"/>
          <p:cNvSpPr/>
          <p:nvPr/>
        </p:nvSpPr>
        <p:spPr>
          <a:xfrm>
            <a:off x="548640" y="1417320"/>
            <a:ext cx="3566160" cy="2286000"/>
          </a:xfrm>
          <a:prstGeom prst="roundRect">
            <a:avLst>
              <a:gd name="adj" fmla="val 3200"/>
            </a:avLst>
          </a:prstGeom>
          <a:solidFill>
            <a:srgbClr val="111A2F"/>
          </a:solidFill>
          <a:ln w="12700">
            <a:solidFill>
              <a:srgbClr val="2A3E68"/>
            </a:solidFill>
            <a:prstDash val="solid"/>
          </a:ln>
        </p:spPr>
      </p:sp>
      <p:pic>
        <p:nvPicPr>
          <p:cNvPr id="7" name="Image 0" descr="/agent/turn1/workspace/output/_anthropic_assets/icon-fingerprint-f1ac6b99.png"/>
          <p:cNvPicPr>
            <a:picLocks noChangeAspect="1"/>
          </p:cNvPicPr>
          <p:nvPr/>
        </p:nvPicPr>
        <p:blipFill>
          <a:blip r:embed="rId3"/>
          <a:stretch>
            <a:fillRect/>
          </a:stretch>
        </p:blipFill>
        <p:spPr>
          <a:xfrm>
            <a:off x="777240" y="1645920"/>
            <a:ext cx="548640" cy="548640"/>
          </a:xfrm>
          <a:prstGeom prst="rect">
            <a:avLst/>
          </a:prstGeom>
        </p:spPr>
      </p:pic>
      <p:sp>
        <p:nvSpPr>
          <p:cNvPr id="8" name="Text 5"/>
          <p:cNvSpPr/>
          <p:nvPr/>
        </p:nvSpPr>
        <p:spPr>
          <a:xfrm>
            <a:off x="777240" y="2331720"/>
            <a:ext cx="3154680" cy="320040"/>
          </a:xfrm>
          <a:prstGeom prst="rect">
            <a:avLst/>
          </a:prstGeom>
          <a:noFill/>
          <a:ln/>
        </p:spPr>
        <p:txBody>
          <a:bodyPr wrap="square" lIns="0" tIns="0" rIns="0" bIns="0" rtlCol="0" anchor="t"/>
          <a:lstStyle/>
          <a:p>
            <a:pPr marL="0" indent="0">
              <a:buNone/>
            </a:pPr>
            <a:r>
              <a:rPr lang="en-US" sz="1500" b="1" dirty="0">
                <a:solidFill>
                  <a:srgbClr val="22D3EE"/>
                </a:solidFill>
                <a:latin typeface="Consolas" pitchFamily="34" charset="0"/>
                <a:ea typeface="Consolas" pitchFamily="34" charset="-122"/>
                <a:cs typeface="Consolas" pitchFamily="34" charset="-120"/>
              </a:rPr>
              <a:t>Hash is not encrypt</a:t>
            </a:r>
            <a:endParaRPr lang="en-US" sz="1500" dirty="0"/>
          </a:p>
        </p:txBody>
      </p:sp>
      <p:sp>
        <p:nvSpPr>
          <p:cNvPr id="9" name="Text 6"/>
          <p:cNvSpPr/>
          <p:nvPr/>
        </p:nvSpPr>
        <p:spPr>
          <a:xfrm>
            <a:off x="777240" y="2697480"/>
            <a:ext cx="3154680" cy="914400"/>
          </a:xfrm>
          <a:prstGeom prst="rect">
            <a:avLst/>
          </a:prstGeom>
          <a:noFill/>
          <a:ln/>
        </p:spPr>
        <p:txBody>
          <a:bodyPr wrap="square" lIns="0" tIns="0" rIns="0" bIns="0" rtlCol="0" anchor="t"/>
          <a:lstStyle/>
          <a:p>
            <a:pPr marL="0" indent="0">
              <a:buNone/>
            </a:pPr>
            <a:r>
              <a:rPr lang="en-US" sz="1400" dirty="0">
                <a:solidFill>
                  <a:srgbClr val="F1F5F9"/>
                </a:solidFill>
                <a:latin typeface="Calibri" pitchFamily="34" charset="0"/>
                <a:ea typeface="Calibri" pitchFamily="34" charset="-122"/>
                <a:cs typeface="Calibri" pitchFamily="34" charset="-120"/>
              </a:rPr>
              <a:t>A hash is a one-way fingerprint. Encryption is reversible with the key.</a:t>
            </a:r>
            <a:endParaRPr lang="en-US" sz="1400" dirty="0"/>
          </a:p>
        </p:txBody>
      </p:sp>
      <p:sp>
        <p:nvSpPr>
          <p:cNvPr id="10" name="Shape 7"/>
          <p:cNvSpPr/>
          <p:nvPr/>
        </p:nvSpPr>
        <p:spPr>
          <a:xfrm>
            <a:off x="4311396" y="1417320"/>
            <a:ext cx="3566160" cy="2286000"/>
          </a:xfrm>
          <a:prstGeom prst="roundRect">
            <a:avLst>
              <a:gd name="adj" fmla="val 3200"/>
            </a:avLst>
          </a:prstGeom>
          <a:solidFill>
            <a:srgbClr val="111A2F"/>
          </a:solidFill>
          <a:ln w="12700">
            <a:solidFill>
              <a:srgbClr val="2A3E68"/>
            </a:solidFill>
            <a:prstDash val="solid"/>
          </a:ln>
        </p:spPr>
      </p:sp>
      <p:pic>
        <p:nvPicPr>
          <p:cNvPr id="11" name="Image 1" descr="/agent/turn1/workspace/output/_anthropic_assets/icon-database-3fd67198.png"/>
          <p:cNvPicPr>
            <a:picLocks noChangeAspect="1"/>
          </p:cNvPicPr>
          <p:nvPr/>
        </p:nvPicPr>
        <p:blipFill>
          <a:blip r:embed="rId4"/>
          <a:stretch>
            <a:fillRect/>
          </a:stretch>
        </p:blipFill>
        <p:spPr>
          <a:xfrm>
            <a:off x="4539996" y="1645920"/>
            <a:ext cx="548640" cy="548640"/>
          </a:xfrm>
          <a:prstGeom prst="rect">
            <a:avLst/>
          </a:prstGeom>
        </p:spPr>
      </p:pic>
      <p:sp>
        <p:nvSpPr>
          <p:cNvPr id="12" name="Text 8"/>
          <p:cNvSpPr/>
          <p:nvPr/>
        </p:nvSpPr>
        <p:spPr>
          <a:xfrm>
            <a:off x="4539996" y="2331720"/>
            <a:ext cx="3154680" cy="320040"/>
          </a:xfrm>
          <a:prstGeom prst="rect">
            <a:avLst/>
          </a:prstGeom>
          <a:noFill/>
          <a:ln/>
        </p:spPr>
        <p:txBody>
          <a:bodyPr wrap="square" lIns="0" tIns="0" rIns="0" bIns="0" rtlCol="0" anchor="t"/>
          <a:lstStyle/>
          <a:p>
            <a:pPr marL="0" indent="0">
              <a:buNone/>
            </a:pPr>
            <a:r>
              <a:rPr lang="en-US" sz="1500" b="1" dirty="0">
                <a:solidFill>
                  <a:srgbClr val="22D3EE"/>
                </a:solidFill>
                <a:latin typeface="Consolas" pitchFamily="34" charset="0"/>
                <a:ea typeface="Consolas" pitchFamily="34" charset="-122"/>
                <a:cs typeface="Consolas" pitchFamily="34" charset="-120"/>
              </a:rPr>
              <a:t>Store passwords properly</a:t>
            </a:r>
            <a:endParaRPr lang="en-US" sz="1500" dirty="0"/>
          </a:p>
        </p:txBody>
      </p:sp>
      <p:sp>
        <p:nvSpPr>
          <p:cNvPr id="13" name="Text 9"/>
          <p:cNvSpPr/>
          <p:nvPr/>
        </p:nvSpPr>
        <p:spPr>
          <a:xfrm>
            <a:off x="4539996" y="2697480"/>
            <a:ext cx="3154680" cy="914400"/>
          </a:xfrm>
          <a:prstGeom prst="rect">
            <a:avLst/>
          </a:prstGeom>
          <a:noFill/>
          <a:ln/>
        </p:spPr>
        <p:txBody>
          <a:bodyPr wrap="square" lIns="0" tIns="0" rIns="0" bIns="0" rtlCol="0" anchor="t"/>
          <a:lstStyle/>
          <a:p>
            <a:pPr marL="0" indent="0">
              <a:buNone/>
            </a:pPr>
            <a:r>
              <a:rPr lang="en-US" sz="1400" dirty="0">
                <a:solidFill>
                  <a:srgbClr val="F1F5F9"/>
                </a:solidFill>
                <a:latin typeface="Calibri" pitchFamily="34" charset="0"/>
                <a:ea typeface="Calibri" pitchFamily="34" charset="-122"/>
                <a:cs typeface="Calibri" pitchFamily="34" charset="-120"/>
              </a:rPr>
              <a:t>Drop MD5 and SHA-1. Use Argon2id or bcrypt with a unique salt, plus a pepper.</a:t>
            </a:r>
            <a:endParaRPr lang="en-US" sz="1400" dirty="0"/>
          </a:p>
        </p:txBody>
      </p:sp>
      <p:sp>
        <p:nvSpPr>
          <p:cNvPr id="14" name="Shape 10"/>
          <p:cNvSpPr/>
          <p:nvPr/>
        </p:nvSpPr>
        <p:spPr>
          <a:xfrm>
            <a:off x="8074152" y="1417320"/>
            <a:ext cx="3566160" cy="2286000"/>
          </a:xfrm>
          <a:prstGeom prst="roundRect">
            <a:avLst>
              <a:gd name="adj" fmla="val 3200"/>
            </a:avLst>
          </a:prstGeom>
          <a:solidFill>
            <a:srgbClr val="111A2F"/>
          </a:solidFill>
          <a:ln w="12700">
            <a:solidFill>
              <a:srgbClr val="2A3E68"/>
            </a:solidFill>
            <a:prstDash val="solid"/>
          </a:ln>
        </p:spPr>
      </p:sp>
      <p:pic>
        <p:nvPicPr>
          <p:cNvPr id="15" name="Image 2" descr="/agent/turn1/workspace/output/_anthropic_assets/icon-lock-closed-b79daa82.png"/>
          <p:cNvPicPr>
            <a:picLocks noChangeAspect="1"/>
          </p:cNvPicPr>
          <p:nvPr/>
        </p:nvPicPr>
        <p:blipFill>
          <a:blip r:embed="rId5"/>
          <a:stretch>
            <a:fillRect/>
          </a:stretch>
        </p:blipFill>
        <p:spPr>
          <a:xfrm>
            <a:off x="8302752" y="1645920"/>
            <a:ext cx="548640" cy="548640"/>
          </a:xfrm>
          <a:prstGeom prst="rect">
            <a:avLst/>
          </a:prstGeom>
        </p:spPr>
      </p:pic>
      <p:sp>
        <p:nvSpPr>
          <p:cNvPr id="16" name="Text 11"/>
          <p:cNvSpPr/>
          <p:nvPr/>
        </p:nvSpPr>
        <p:spPr>
          <a:xfrm>
            <a:off x="8302752" y="2331720"/>
            <a:ext cx="3154680" cy="320040"/>
          </a:xfrm>
          <a:prstGeom prst="rect">
            <a:avLst/>
          </a:prstGeom>
          <a:noFill/>
          <a:ln/>
        </p:spPr>
        <p:txBody>
          <a:bodyPr wrap="square" lIns="0" tIns="0" rIns="0" bIns="0" rtlCol="0" anchor="t"/>
          <a:lstStyle/>
          <a:p>
            <a:pPr marL="0" indent="0">
              <a:buNone/>
            </a:pPr>
            <a:r>
              <a:rPr lang="en-US" sz="1500" b="1" dirty="0">
                <a:solidFill>
                  <a:srgbClr val="22D3EE"/>
                </a:solidFill>
                <a:latin typeface="Consolas" pitchFamily="34" charset="0"/>
                <a:ea typeface="Consolas" pitchFamily="34" charset="-122"/>
                <a:cs typeface="Consolas" pitchFamily="34" charset="-120"/>
              </a:rPr>
              <a:t>Use AES-256-GCM</a:t>
            </a:r>
            <a:endParaRPr lang="en-US" sz="1500" dirty="0"/>
          </a:p>
        </p:txBody>
      </p:sp>
      <p:sp>
        <p:nvSpPr>
          <p:cNvPr id="17" name="Text 12"/>
          <p:cNvSpPr/>
          <p:nvPr/>
        </p:nvSpPr>
        <p:spPr>
          <a:xfrm>
            <a:off x="8302752" y="2697480"/>
            <a:ext cx="3154680" cy="914400"/>
          </a:xfrm>
          <a:prstGeom prst="rect">
            <a:avLst/>
          </a:prstGeom>
          <a:noFill/>
          <a:ln/>
        </p:spPr>
        <p:txBody>
          <a:bodyPr wrap="square" lIns="0" tIns="0" rIns="0" bIns="0" rtlCol="0" anchor="t"/>
          <a:lstStyle/>
          <a:p>
            <a:pPr marL="0" indent="0">
              <a:buNone/>
            </a:pPr>
            <a:r>
              <a:rPr lang="en-US" sz="1400">
                <a:solidFill>
                  <a:srgbClr val="F1F5F9"/>
                </a:solidFill>
                <a:latin typeface="Calibri" pitchFamily="34" charset="0"/>
                <a:ea typeface="Calibri" pitchFamily="34" charset="-122"/>
                <a:cs typeface="Calibri" pitchFamily="34" charset="-120"/>
              </a:rPr>
              <a:t>It detects tampering</a:t>
            </a:r>
            <a:r>
              <a:rPr lang="en-US" sz="1400" dirty="0">
                <a:solidFill>
                  <a:srgbClr val="F1F5F9"/>
                </a:solidFill>
                <a:latin typeface="Calibri" pitchFamily="34" charset="0"/>
                <a:ea typeface="Calibri" pitchFamily="34" charset="-122"/>
                <a:cs typeface="Calibri" pitchFamily="34" charset="-120"/>
              </a:rPr>
              <a:t>. Never</a:t>
            </a:r>
            <a:r>
              <a:rPr lang="en-US" sz="1400">
                <a:solidFill>
                  <a:srgbClr val="F1F5F9"/>
                </a:solidFill>
                <a:latin typeface="Calibri" pitchFamily="34" charset="0"/>
                <a:ea typeface="Calibri" pitchFamily="34" charset="-122"/>
                <a:cs typeface="Calibri" pitchFamily="34" charset="-120"/>
              </a:rPr>
              <a:t> use</a:t>
            </a:r>
            <a:r>
              <a:rPr lang="en-US" sz="1400" dirty="0">
                <a:solidFill>
                  <a:srgbClr val="F1F5F9"/>
                </a:solidFill>
                <a:latin typeface="Calibri" pitchFamily="34" charset="0"/>
                <a:ea typeface="Calibri" pitchFamily="34" charset="-122"/>
                <a:cs typeface="Calibri" pitchFamily="34" charset="-120"/>
              </a:rPr>
              <a:t> ECB, and never reuse a nonce.</a:t>
            </a:r>
            <a:endParaRPr lang="en-US" sz="1400" dirty="0"/>
          </a:p>
        </p:txBody>
      </p:sp>
      <p:sp>
        <p:nvSpPr>
          <p:cNvPr id="18" name="Shape 13"/>
          <p:cNvSpPr/>
          <p:nvPr/>
        </p:nvSpPr>
        <p:spPr>
          <a:xfrm>
            <a:off x="548640" y="3886200"/>
            <a:ext cx="3566160" cy="2286000"/>
          </a:xfrm>
          <a:prstGeom prst="roundRect">
            <a:avLst>
              <a:gd name="adj" fmla="val 3200"/>
            </a:avLst>
          </a:prstGeom>
          <a:solidFill>
            <a:srgbClr val="111A2F"/>
          </a:solidFill>
          <a:ln w="12700">
            <a:solidFill>
              <a:srgbClr val="2A3E68"/>
            </a:solidFill>
            <a:prstDash val="solid"/>
          </a:ln>
        </p:spPr>
      </p:sp>
      <p:pic>
        <p:nvPicPr>
          <p:cNvPr id="19" name="Image 3" descr="/agent/turn1/workspace/output/_anthropic_assets/icon-key-f524c1ae.png"/>
          <p:cNvPicPr>
            <a:picLocks noChangeAspect="1"/>
          </p:cNvPicPr>
          <p:nvPr/>
        </p:nvPicPr>
        <p:blipFill>
          <a:blip r:embed="rId6"/>
          <a:stretch>
            <a:fillRect/>
          </a:stretch>
        </p:blipFill>
        <p:spPr>
          <a:xfrm>
            <a:off x="777240" y="4114800"/>
            <a:ext cx="548640" cy="548640"/>
          </a:xfrm>
          <a:prstGeom prst="rect">
            <a:avLst/>
          </a:prstGeom>
        </p:spPr>
      </p:pic>
      <p:sp>
        <p:nvSpPr>
          <p:cNvPr id="20" name="Text 14"/>
          <p:cNvSpPr/>
          <p:nvPr/>
        </p:nvSpPr>
        <p:spPr>
          <a:xfrm>
            <a:off x="777240" y="4800600"/>
            <a:ext cx="3154680" cy="320040"/>
          </a:xfrm>
          <a:prstGeom prst="rect">
            <a:avLst/>
          </a:prstGeom>
          <a:noFill/>
          <a:ln/>
        </p:spPr>
        <p:txBody>
          <a:bodyPr wrap="square" lIns="0" tIns="0" rIns="0" bIns="0" rtlCol="0" anchor="t"/>
          <a:lstStyle/>
          <a:p>
            <a:pPr marL="0" indent="0">
              <a:buNone/>
            </a:pPr>
            <a:r>
              <a:rPr lang="en-US" sz="1500" b="1" dirty="0">
                <a:solidFill>
                  <a:srgbClr val="22D3EE"/>
                </a:solidFill>
                <a:latin typeface="Consolas" pitchFamily="34" charset="0"/>
                <a:ea typeface="Consolas" pitchFamily="34" charset="-122"/>
                <a:cs typeface="Consolas" pitchFamily="34" charset="-120"/>
              </a:rPr>
              <a:t>Asymmetric for keys</a:t>
            </a:r>
            <a:endParaRPr lang="en-US" sz="1500" dirty="0"/>
          </a:p>
        </p:txBody>
      </p:sp>
      <p:sp>
        <p:nvSpPr>
          <p:cNvPr id="21" name="Text 15"/>
          <p:cNvSpPr/>
          <p:nvPr/>
        </p:nvSpPr>
        <p:spPr>
          <a:xfrm>
            <a:off x="777240" y="5166360"/>
            <a:ext cx="3154680" cy="914400"/>
          </a:xfrm>
          <a:prstGeom prst="rect">
            <a:avLst/>
          </a:prstGeom>
          <a:noFill/>
          <a:ln/>
        </p:spPr>
        <p:txBody>
          <a:bodyPr wrap="square" lIns="0" tIns="0" rIns="0" bIns="0" rtlCol="0" anchor="t"/>
          <a:lstStyle/>
          <a:p>
            <a:pPr marL="0" indent="0">
              <a:buNone/>
            </a:pPr>
            <a:r>
              <a:rPr lang="en-US" sz="1400">
                <a:solidFill>
                  <a:srgbClr val="F1F5F9"/>
                </a:solidFill>
                <a:latin typeface="Calibri" pitchFamily="34" charset="0"/>
                <a:ea typeface="Calibri" pitchFamily="34" charset="-122"/>
                <a:cs typeface="Calibri" pitchFamily="34" charset="-120"/>
              </a:rPr>
              <a:t>Use </a:t>
            </a:r>
            <a:r>
              <a:rPr lang="en-US" sz="1400" dirty="0">
                <a:solidFill>
                  <a:srgbClr val="F1F5F9"/>
                </a:solidFill>
                <a:latin typeface="Calibri" pitchFamily="34" charset="0"/>
                <a:ea typeface="Calibri" pitchFamily="34" charset="-122"/>
                <a:cs typeface="Calibri" pitchFamily="34" charset="-120"/>
              </a:rPr>
              <a:t>RSA </a:t>
            </a:r>
            <a:r>
              <a:rPr lang="en-US" sz="1400">
                <a:solidFill>
                  <a:srgbClr val="F1F5F9"/>
                </a:solidFill>
                <a:latin typeface="Calibri" pitchFamily="34" charset="0"/>
                <a:ea typeface="Calibri" pitchFamily="34" charset="-122"/>
                <a:cs typeface="Calibri" pitchFamily="34" charset="-120"/>
              </a:rPr>
              <a:t>(</a:t>
            </a:r>
            <a:r>
              <a:rPr lang="en-US" sz="1400" dirty="0">
                <a:solidFill>
                  <a:srgbClr val="F1F5F9"/>
                </a:solidFill>
                <a:latin typeface="Calibri" pitchFamily="34" charset="0"/>
                <a:ea typeface="Calibri" pitchFamily="34" charset="-122"/>
                <a:cs typeface="Calibri" pitchFamily="34" charset="-120"/>
              </a:rPr>
              <a:t>2048+ </a:t>
            </a:r>
            <a:r>
              <a:rPr lang="en-US" sz="1400">
                <a:solidFill>
                  <a:srgbClr val="F1F5F9"/>
                </a:solidFill>
                <a:latin typeface="Calibri" pitchFamily="34" charset="0"/>
                <a:ea typeface="Calibri" pitchFamily="34" charset="-122"/>
                <a:cs typeface="Calibri" pitchFamily="34" charset="-120"/>
              </a:rPr>
              <a:t>bits, </a:t>
            </a:r>
            <a:r>
              <a:rPr lang="en-US" sz="1400" dirty="0">
                <a:solidFill>
                  <a:srgbClr val="F1F5F9"/>
                </a:solidFill>
                <a:latin typeface="Calibri" pitchFamily="34" charset="0"/>
                <a:ea typeface="Calibri" pitchFamily="34" charset="-122"/>
                <a:cs typeface="Calibri" pitchFamily="34" charset="-120"/>
              </a:rPr>
              <a:t>with </a:t>
            </a:r>
            <a:r>
              <a:rPr lang="en-US" sz="1400">
                <a:solidFill>
                  <a:srgbClr val="F1F5F9"/>
                </a:solidFill>
                <a:latin typeface="Calibri" pitchFamily="34" charset="0"/>
                <a:ea typeface="Calibri" pitchFamily="34" charset="-122"/>
                <a:cs typeface="Calibri" pitchFamily="34" charset="-120"/>
              </a:rPr>
              <a:t>padding) </a:t>
            </a:r>
            <a:r>
              <a:rPr lang="en-US" sz="1400" dirty="0">
                <a:solidFill>
                  <a:srgbClr val="F1F5F9"/>
                </a:solidFill>
                <a:latin typeface="Calibri" pitchFamily="34" charset="0"/>
                <a:ea typeface="Calibri" pitchFamily="34" charset="-122"/>
                <a:cs typeface="Calibri" pitchFamily="34" charset="-120"/>
              </a:rPr>
              <a:t>or ECC </a:t>
            </a:r>
            <a:r>
              <a:rPr lang="en-US" sz="1400">
                <a:solidFill>
                  <a:srgbClr val="F1F5F9"/>
                </a:solidFill>
                <a:latin typeface="Calibri" pitchFamily="34" charset="0"/>
                <a:ea typeface="Calibri" pitchFamily="34" charset="-122"/>
                <a:cs typeface="Calibri" pitchFamily="34" charset="-120"/>
              </a:rPr>
              <a:t>to share keys </a:t>
            </a:r>
            <a:r>
              <a:rPr lang="en-US" sz="1400" dirty="0">
                <a:solidFill>
                  <a:srgbClr val="F1F5F9"/>
                </a:solidFill>
                <a:latin typeface="Calibri" pitchFamily="34" charset="0"/>
                <a:ea typeface="Calibri" pitchFamily="34" charset="-122"/>
                <a:cs typeface="Calibri" pitchFamily="34" charset="-120"/>
              </a:rPr>
              <a:t>and </a:t>
            </a:r>
            <a:r>
              <a:rPr lang="en-US" sz="1400">
                <a:solidFill>
                  <a:srgbClr val="F1F5F9"/>
                </a:solidFill>
                <a:latin typeface="Calibri" pitchFamily="34" charset="0"/>
                <a:ea typeface="Calibri" pitchFamily="34" charset="-122"/>
                <a:cs typeface="Calibri" pitchFamily="34" charset="-120"/>
              </a:rPr>
              <a:t>sign</a:t>
            </a: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22" name="Shape 16"/>
          <p:cNvSpPr/>
          <p:nvPr/>
        </p:nvSpPr>
        <p:spPr>
          <a:xfrm>
            <a:off x="4311396" y="3886200"/>
            <a:ext cx="3566160" cy="2286000"/>
          </a:xfrm>
          <a:prstGeom prst="roundRect">
            <a:avLst>
              <a:gd name="adj" fmla="val 3200"/>
            </a:avLst>
          </a:prstGeom>
          <a:solidFill>
            <a:srgbClr val="111A2F"/>
          </a:solidFill>
          <a:ln w="12700">
            <a:solidFill>
              <a:srgbClr val="2A3E68"/>
            </a:solidFill>
            <a:prstDash val="solid"/>
          </a:ln>
        </p:spPr>
      </p:sp>
      <p:pic>
        <p:nvPicPr>
          <p:cNvPr id="23" name="Image 4" descr="/agent/turn1/workspace/output/_anthropic_assets/icon-document-25f1ec2c.png"/>
          <p:cNvPicPr>
            <a:picLocks noChangeAspect="1"/>
          </p:cNvPicPr>
          <p:nvPr/>
        </p:nvPicPr>
        <p:blipFill>
          <a:blip r:embed="rId7"/>
          <a:stretch>
            <a:fillRect/>
          </a:stretch>
        </p:blipFill>
        <p:spPr>
          <a:xfrm>
            <a:off x="4539996" y="4114800"/>
            <a:ext cx="548640" cy="548640"/>
          </a:xfrm>
          <a:prstGeom prst="rect">
            <a:avLst/>
          </a:prstGeom>
        </p:spPr>
      </p:pic>
      <p:sp>
        <p:nvSpPr>
          <p:cNvPr id="24" name="Text 17"/>
          <p:cNvSpPr/>
          <p:nvPr/>
        </p:nvSpPr>
        <p:spPr>
          <a:xfrm>
            <a:off x="4539996" y="4800600"/>
            <a:ext cx="3154680" cy="320040"/>
          </a:xfrm>
          <a:prstGeom prst="rect">
            <a:avLst/>
          </a:prstGeom>
          <a:noFill/>
          <a:ln/>
        </p:spPr>
        <p:txBody>
          <a:bodyPr wrap="square" lIns="0" tIns="0" rIns="0" bIns="0" rtlCol="0" anchor="t"/>
          <a:lstStyle/>
          <a:p>
            <a:pPr marL="0" indent="0">
              <a:buNone/>
            </a:pPr>
            <a:r>
              <a:rPr lang="en-US" sz="1500" b="1">
                <a:solidFill>
                  <a:srgbClr val="22D3EE"/>
                </a:solidFill>
                <a:latin typeface="Consolas" pitchFamily="34" charset="0"/>
                <a:ea typeface="Consolas" pitchFamily="34" charset="-122"/>
                <a:cs typeface="Consolas" pitchFamily="34" charset="-120"/>
              </a:rPr>
              <a:t>Built on </a:t>
            </a:r>
            <a:r>
              <a:rPr lang="en-US" sz="1500" b="1" dirty="0">
                <a:solidFill>
                  <a:srgbClr val="22D3EE"/>
                </a:solidFill>
                <a:latin typeface="Consolas" pitchFamily="34" charset="0"/>
                <a:ea typeface="Consolas" pitchFamily="34" charset="-122"/>
                <a:cs typeface="Consolas" pitchFamily="34" charset="-120"/>
              </a:rPr>
              <a:t>hard </a:t>
            </a:r>
            <a:r>
              <a:rPr lang="en-US" sz="1500" b="1">
                <a:solidFill>
                  <a:srgbClr val="22D3EE"/>
                </a:solidFill>
                <a:latin typeface="Consolas" pitchFamily="34" charset="0"/>
                <a:ea typeface="Consolas" pitchFamily="34" charset="-122"/>
                <a:cs typeface="Consolas" pitchFamily="34" charset="-120"/>
              </a:rPr>
              <a:t>puzzles</a:t>
            </a:r>
            <a:endParaRPr lang="en-US" sz="1500" dirty="0"/>
          </a:p>
        </p:txBody>
      </p:sp>
      <p:sp>
        <p:nvSpPr>
          <p:cNvPr id="25" name="Text 18"/>
          <p:cNvSpPr/>
          <p:nvPr/>
        </p:nvSpPr>
        <p:spPr>
          <a:xfrm>
            <a:off x="4539996" y="5166360"/>
            <a:ext cx="3154680" cy="914400"/>
          </a:xfrm>
          <a:prstGeom prst="rect">
            <a:avLst/>
          </a:prstGeom>
          <a:noFill/>
          <a:ln/>
        </p:spPr>
        <p:txBody>
          <a:bodyPr wrap="square" lIns="0" tIns="0" rIns="0" bIns="0" rtlCol="0" anchor="t"/>
          <a:lstStyle/>
          <a:p>
            <a:pPr marL="0" indent="0">
              <a:buNone/>
            </a:pPr>
            <a:r>
              <a:rPr lang="en-US" sz="1400">
                <a:solidFill>
                  <a:srgbClr val="F1F5F9"/>
                </a:solidFill>
                <a:latin typeface="Calibri" pitchFamily="34" charset="0"/>
                <a:ea typeface="Calibri" pitchFamily="34" charset="-122"/>
                <a:cs typeface="Calibri" pitchFamily="34" charset="-120"/>
              </a:rPr>
              <a:t>RSA</a:t>
            </a:r>
            <a:r>
              <a:rPr lang="en-US" sz="1400" dirty="0">
                <a:solidFill>
                  <a:srgbClr val="F1F5F9"/>
                </a:solidFill>
                <a:latin typeface="Calibri" pitchFamily="34" charset="0"/>
                <a:ea typeface="Calibri" pitchFamily="34" charset="-122"/>
                <a:cs typeface="Calibri" pitchFamily="34" charset="-120"/>
              </a:rPr>
              <a:t>, </a:t>
            </a:r>
            <a:r>
              <a:rPr lang="en-US" sz="1400">
                <a:solidFill>
                  <a:srgbClr val="F1F5F9"/>
                </a:solidFill>
                <a:latin typeface="Calibri" pitchFamily="34" charset="0"/>
                <a:ea typeface="Calibri" pitchFamily="34" charset="-122"/>
                <a:cs typeface="Calibri" pitchFamily="34" charset="-120"/>
              </a:rPr>
              <a:t>ECC </a:t>
            </a:r>
            <a:r>
              <a:rPr lang="en-US" sz="1400" dirty="0">
                <a:solidFill>
                  <a:srgbClr val="F1F5F9"/>
                </a:solidFill>
                <a:latin typeface="Calibri" pitchFamily="34" charset="0"/>
                <a:ea typeface="Calibri" pitchFamily="34" charset="-122"/>
                <a:cs typeface="Calibri" pitchFamily="34" charset="-120"/>
              </a:rPr>
              <a:t>and </a:t>
            </a:r>
            <a:r>
              <a:rPr lang="en-US" sz="1400">
                <a:solidFill>
                  <a:srgbClr val="F1F5F9"/>
                </a:solidFill>
                <a:latin typeface="Calibri" pitchFamily="34" charset="0"/>
                <a:ea typeface="Calibri" pitchFamily="34" charset="-122"/>
                <a:cs typeface="Calibri" pitchFamily="34" charset="-120"/>
              </a:rPr>
              <a:t>post-quantum schemes each rest </a:t>
            </a:r>
            <a:r>
              <a:rPr lang="en-US" sz="1400" dirty="0">
                <a:solidFill>
                  <a:srgbClr val="F1F5F9"/>
                </a:solidFill>
                <a:latin typeface="Calibri" pitchFamily="34" charset="0"/>
                <a:ea typeface="Calibri" pitchFamily="34" charset="-122"/>
                <a:cs typeface="Calibri" pitchFamily="34" charset="-120"/>
              </a:rPr>
              <a:t>on</a:t>
            </a:r>
            <a:r>
              <a:rPr lang="en-US" sz="1400">
                <a:solidFill>
                  <a:srgbClr val="F1F5F9"/>
                </a:solidFill>
                <a:latin typeface="Calibri" pitchFamily="34" charset="0"/>
                <a:ea typeface="Calibri" pitchFamily="34" charset="-122"/>
                <a:cs typeface="Calibri" pitchFamily="34" charset="-120"/>
              </a:rPr>
              <a:t> a puzzle that is easy one way and hopeless to reverse</a:t>
            </a: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26" name="Shape 19"/>
          <p:cNvSpPr/>
          <p:nvPr/>
        </p:nvSpPr>
        <p:spPr>
          <a:xfrm>
            <a:off x="8074152" y="3886200"/>
            <a:ext cx="3566160" cy="2286000"/>
          </a:xfrm>
          <a:prstGeom prst="roundRect">
            <a:avLst>
              <a:gd name="adj" fmla="val 3200"/>
            </a:avLst>
          </a:prstGeom>
          <a:solidFill>
            <a:srgbClr val="111A2F"/>
          </a:solidFill>
          <a:ln w="12700">
            <a:solidFill>
              <a:srgbClr val="2A3E68"/>
            </a:solidFill>
            <a:prstDash val="solid"/>
          </a:ln>
        </p:spPr>
      </p:sp>
      <p:pic>
        <p:nvPicPr>
          <p:cNvPr id="27" name="Image 5" descr="/agent/turn1/workspace/output/_anthropic_assets/icon-shield-77768ee8.png"/>
          <p:cNvPicPr>
            <a:picLocks noChangeAspect="1"/>
          </p:cNvPicPr>
          <p:nvPr/>
        </p:nvPicPr>
        <p:blipFill>
          <a:blip r:embed="rId8"/>
          <a:stretch>
            <a:fillRect/>
          </a:stretch>
        </p:blipFill>
        <p:spPr>
          <a:xfrm>
            <a:off x="8302752" y="4114800"/>
            <a:ext cx="548640" cy="548640"/>
          </a:xfrm>
          <a:prstGeom prst="rect">
            <a:avLst/>
          </a:prstGeom>
        </p:spPr>
      </p:pic>
      <p:sp>
        <p:nvSpPr>
          <p:cNvPr id="28" name="Text 20"/>
          <p:cNvSpPr/>
          <p:nvPr/>
        </p:nvSpPr>
        <p:spPr>
          <a:xfrm>
            <a:off x="8302752" y="4800600"/>
            <a:ext cx="3154680" cy="320040"/>
          </a:xfrm>
          <a:prstGeom prst="rect">
            <a:avLst/>
          </a:prstGeom>
          <a:noFill/>
          <a:ln/>
        </p:spPr>
        <p:txBody>
          <a:bodyPr wrap="square" lIns="0" tIns="0" rIns="0" bIns="0" rtlCol="0" anchor="t"/>
          <a:lstStyle/>
          <a:p>
            <a:pPr marL="0" indent="0">
              <a:buNone/>
            </a:pPr>
            <a:r>
              <a:rPr lang="en-US" sz="1500" b="1" dirty="0">
                <a:solidFill>
                  <a:srgbClr val="22D3EE"/>
                </a:solidFill>
                <a:latin typeface="Consolas" pitchFamily="34" charset="0"/>
                <a:ea typeface="Consolas" pitchFamily="34" charset="-122"/>
                <a:cs typeface="Consolas" pitchFamily="34" charset="-120"/>
              </a:rPr>
              <a:t>Plan for quantum</a:t>
            </a:r>
            <a:endParaRPr lang="en-US" sz="1500" dirty="0"/>
          </a:p>
        </p:txBody>
      </p:sp>
      <p:sp>
        <p:nvSpPr>
          <p:cNvPr id="29" name="Text 21"/>
          <p:cNvSpPr/>
          <p:nvPr/>
        </p:nvSpPr>
        <p:spPr>
          <a:xfrm>
            <a:off x="8302752" y="5166360"/>
            <a:ext cx="3154680" cy="914400"/>
          </a:xfrm>
          <a:prstGeom prst="rect">
            <a:avLst/>
          </a:prstGeom>
          <a:noFill/>
          <a:ln/>
        </p:spPr>
        <p:txBody>
          <a:bodyPr wrap="square" lIns="0" tIns="0" rIns="0" bIns="0" rtlCol="0" anchor="t"/>
          <a:lstStyle/>
          <a:p>
            <a:pPr marL="0" indent="0">
              <a:buNone/>
            </a:pPr>
            <a:r>
              <a:rPr lang="en-US" sz="1400">
                <a:solidFill>
                  <a:srgbClr val="F1F5F9"/>
                </a:solidFill>
                <a:latin typeface="Calibri" pitchFamily="34" charset="0"/>
                <a:ea typeface="Calibri" pitchFamily="34" charset="-122"/>
                <a:cs typeface="Calibri" pitchFamily="34" charset="-120"/>
              </a:rPr>
              <a:t>List where you use </a:t>
            </a:r>
            <a:r>
              <a:rPr lang="en-US" sz="1400" dirty="0">
                <a:solidFill>
                  <a:srgbClr val="F1F5F9"/>
                </a:solidFill>
                <a:latin typeface="Calibri" pitchFamily="34" charset="0"/>
                <a:ea typeface="Calibri" pitchFamily="34" charset="-122"/>
                <a:cs typeface="Calibri" pitchFamily="34" charset="-120"/>
              </a:rPr>
              <a:t>crypto, </a:t>
            </a:r>
            <a:r>
              <a:rPr lang="en-US" sz="1400">
                <a:solidFill>
                  <a:srgbClr val="F1F5F9"/>
                </a:solidFill>
                <a:latin typeface="Calibri" pitchFamily="34" charset="0"/>
                <a:ea typeface="Calibri" pitchFamily="34" charset="-122"/>
                <a:cs typeface="Calibri" pitchFamily="34" charset="-120"/>
              </a:rPr>
              <a:t>be ready to swap it</a:t>
            </a:r>
            <a:r>
              <a:rPr lang="en-US" sz="1400" dirty="0">
                <a:solidFill>
                  <a:srgbClr val="F1F5F9"/>
                </a:solidFill>
                <a:latin typeface="Calibri" pitchFamily="34" charset="0"/>
                <a:ea typeface="Calibri" pitchFamily="34" charset="-122"/>
                <a:cs typeface="Calibri" pitchFamily="34" charset="-120"/>
              </a:rPr>
              <a:t>, </a:t>
            </a:r>
            <a:r>
              <a:rPr lang="en-US" sz="1400">
                <a:solidFill>
                  <a:srgbClr val="F1F5F9"/>
                </a:solidFill>
                <a:latin typeface="Calibri" pitchFamily="34" charset="0"/>
                <a:ea typeface="Calibri" pitchFamily="34" charset="-122"/>
                <a:cs typeface="Calibri" pitchFamily="34" charset="-120"/>
              </a:rPr>
              <a:t>try</a:t>
            </a:r>
            <a:r>
              <a:rPr lang="en-US" sz="1400" dirty="0">
                <a:solidFill>
                  <a:srgbClr val="F1F5F9"/>
                </a:solidFill>
                <a:latin typeface="Calibri" pitchFamily="34" charset="0"/>
                <a:ea typeface="Calibri" pitchFamily="34" charset="-122"/>
                <a:cs typeface="Calibri" pitchFamily="34" charset="-120"/>
              </a:rPr>
              <a:t> hybrid ML-KEM, and prefer AES-256.</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A0F1C"/>
        </a:solidFill>
        <a:effectLst/>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marL="0" indent="0">
              <a:buNone/>
            </a:pPr>
            <a:r>
              <a:rPr lang="en-US" sz="1200" kern="0" spc="200">
                <a:solidFill>
                  <a:srgbClr val="22D3EE"/>
                </a:solidFill>
                <a:latin typeface="Consolas" pitchFamily="34" charset="0"/>
                <a:ea typeface="Consolas" pitchFamily="34" charset="-122"/>
                <a:cs typeface="Consolas" pitchFamily="34" charset="-120"/>
              </a:rPr>
              <a:t>// QUESTIONS</a:t>
            </a:r>
            <a:endParaRPr lang="en-US" sz="1200"/>
          </a:p>
        </p:txBody>
      </p:sp>
      <p:sp>
        <p:nvSpPr>
          <p:cNvPr id="3" name="Text 1"/>
          <p:cNvSpPr/>
          <p:nvPr/>
        </p:nvSpPr>
        <p:spPr>
          <a:xfrm>
            <a:off x="548640" y="594360"/>
            <a:ext cx="11064240" cy="594360"/>
          </a:xfrm>
          <a:prstGeom prst="rect">
            <a:avLst/>
          </a:prstGeom>
          <a:noFill/>
          <a:ln/>
        </p:spPr>
        <p:txBody>
          <a:bodyPr wrap="square" lIns="0" tIns="0" rIns="0" bIns="0" rtlCol="0" anchor="t"/>
          <a:lstStyle/>
          <a:p>
            <a:pPr marL="0" indent="0">
              <a:buNone/>
            </a:pPr>
            <a:r>
              <a:rPr lang="en-US" sz="2800" b="1">
                <a:solidFill>
                  <a:srgbClr val="F1F5F9"/>
                </a:solidFill>
                <a:latin typeface="Consolas" pitchFamily="34" charset="0"/>
                <a:ea typeface="Consolas" pitchFamily="34" charset="-122"/>
                <a:cs typeface="Consolas" pitchFamily="34" charset="-120"/>
              </a:rPr>
              <a:t>Questions and discussion</a:t>
            </a:r>
            <a:endParaRPr lang="en-US" sz="2800"/>
          </a:p>
        </p:txBody>
      </p:sp>
      <p:sp>
        <p:nvSpPr>
          <p:cNvPr id="4" name="Text 2"/>
          <p:cNvSpPr/>
          <p:nvPr/>
        </p:nvSpPr>
        <p:spPr>
          <a:xfrm>
            <a:off x="548640" y="6446520"/>
            <a:ext cx="4572000" cy="228600"/>
          </a:xfrm>
          <a:prstGeom prst="rect">
            <a:avLst/>
          </a:prstGeom>
          <a:noFill/>
          <a:ln/>
        </p:spPr>
        <p:txBody>
          <a:bodyPr wrap="square" lIns="0" tIns="0" rIns="0" bIns="0" rtlCol="0" anchor="ctr"/>
          <a:lstStyle/>
          <a:p>
            <a:pPr marL="0" indent="0">
              <a:buNone/>
            </a:pPr>
            <a:r>
              <a:rPr lang="en-US" sz="1000">
                <a:solidFill>
                  <a:srgbClr val="9FB0CC"/>
                </a:solidFill>
                <a:latin typeface="Consolas" pitchFamily="34" charset="0"/>
                <a:ea typeface="Consolas" pitchFamily="34" charset="-122"/>
                <a:cs typeface="Consolas" pitchFamily="34" charset="-120"/>
              </a:rPr>
              <a:t>CRYPTOGRAPHY</a:t>
            </a:r>
            <a:endParaRPr lang="en-US" sz="1000"/>
          </a:p>
        </p:txBody>
      </p:sp>
      <p:sp>
        <p:nvSpPr>
          <p:cNvPr id="5" name="Text 3"/>
          <p:cNvSpPr/>
          <p:nvPr/>
        </p:nvSpPr>
        <p:spPr>
          <a:xfrm>
            <a:off x="10698480" y="6446520"/>
            <a:ext cx="914400" cy="228600"/>
          </a:xfrm>
          <a:prstGeom prst="rect">
            <a:avLst/>
          </a:prstGeom>
          <a:noFill/>
          <a:ln/>
        </p:spPr>
        <p:txBody>
          <a:bodyPr wrap="square" lIns="0" tIns="0" rIns="0" bIns="0" rtlCol="0" anchor="ctr"/>
          <a:lstStyle/>
          <a:p>
            <a:pPr marL="0" indent="0" algn="r">
              <a:buNone/>
            </a:pPr>
            <a:r>
              <a:rPr lang="en-US" sz="1000">
                <a:solidFill>
                  <a:srgbClr val="9FB0CC"/>
                </a:solidFill>
                <a:latin typeface="Consolas" pitchFamily="34" charset="0"/>
                <a:ea typeface="Consolas" pitchFamily="34" charset="-122"/>
                <a:cs typeface="Consolas" pitchFamily="34" charset="-120"/>
              </a:rPr>
              <a:t>37</a:t>
            </a:r>
            <a:endParaRPr lang="en-US" sz="1000"/>
          </a:p>
        </p:txBody>
      </p:sp>
      <p:pic>
        <p:nvPicPr>
          <p:cNvPr id="6" name="Picture 5" descr="icon-chat-help-cc840707.png"/>
          <p:cNvPicPr>
            <a:picLocks noChangeAspect="1"/>
          </p:cNvPicPr>
          <p:nvPr/>
        </p:nvPicPr>
        <p:blipFill>
          <a:blip r:embed="rId3"/>
          <a:stretch>
            <a:fillRect/>
          </a:stretch>
        </p:blipFill>
        <p:spPr>
          <a:xfrm>
            <a:off x="548640" y="1554480"/>
            <a:ext cx="914400" cy="914400"/>
          </a:xfrm>
          <a:prstGeom prst="rect">
            <a:avLst/>
          </a:prstGeom>
        </p:spPr>
      </p:pic>
      <p:sp>
        <p:nvSpPr>
          <p:cNvPr id="7" name="TextBox 6"/>
          <p:cNvSpPr txBox="1"/>
          <p:nvPr/>
        </p:nvSpPr>
        <p:spPr>
          <a:xfrm>
            <a:off x="548640" y="2743200"/>
            <a:ext cx="4937760" cy="822960"/>
          </a:xfrm>
          <a:prstGeom prst="rect">
            <a:avLst/>
          </a:prstGeom>
          <a:noFill/>
        </p:spPr>
        <p:txBody>
          <a:bodyPr wrap="square" lIns="0" tIns="0" rIns="0" bIns="0" anchor="t">
            <a:spAutoFit/>
          </a:bodyPr>
          <a:lstStyle/>
          <a:p>
            <a:pPr algn="l"/>
            <a:r>
              <a:rPr sz="4400" b="1" i="0">
                <a:solidFill>
                  <a:srgbClr val="22D3EE"/>
                </a:solidFill>
                <a:latin typeface="Consolas"/>
              </a:rPr>
              <a:t>Questions?</a:t>
            </a:r>
          </a:p>
        </p:txBody>
      </p:sp>
      <p:sp>
        <p:nvSpPr>
          <p:cNvPr id="8" name="TextBox 7"/>
          <p:cNvSpPr txBox="1"/>
          <p:nvPr/>
        </p:nvSpPr>
        <p:spPr>
          <a:xfrm>
            <a:off x="548640" y="3749039"/>
            <a:ext cx="4572000" cy="1463040"/>
          </a:xfrm>
          <a:prstGeom prst="rect">
            <a:avLst/>
          </a:prstGeom>
          <a:noFill/>
        </p:spPr>
        <p:txBody>
          <a:bodyPr wrap="square" lIns="0" tIns="0" rIns="0" bIns="0" anchor="t">
            <a:spAutoFit/>
          </a:bodyPr>
          <a:lstStyle/>
          <a:p>
            <a:pPr algn="l"/>
            <a:r>
              <a:rPr sz="1800" b="0" i="0">
                <a:solidFill>
                  <a:srgbClr val="9FB0CC"/>
                </a:solidFill>
                <a:latin typeface="Calibri"/>
              </a:rPr>
              <a:t>Anything from today, or anything you were too shy to ask earlier. Ask for a slide to be revisited, or a demo to be run again.</a:t>
            </a:r>
          </a:p>
        </p:txBody>
      </p:sp>
      <p:sp>
        <p:nvSpPr>
          <p:cNvPr id="9" name="TextBox 8"/>
          <p:cNvSpPr txBox="1"/>
          <p:nvPr/>
        </p:nvSpPr>
        <p:spPr>
          <a:xfrm>
            <a:off x="6035040" y="1417320"/>
            <a:ext cx="5486400" cy="274320"/>
          </a:xfrm>
          <a:prstGeom prst="rect">
            <a:avLst/>
          </a:prstGeom>
          <a:noFill/>
        </p:spPr>
        <p:txBody>
          <a:bodyPr wrap="square" lIns="0" tIns="0" rIns="0" bIns="0" anchor="t">
            <a:spAutoFit/>
          </a:bodyPr>
          <a:lstStyle/>
          <a:p>
            <a:pPr algn="l"/>
            <a:r>
              <a:rPr sz="1300" b="1" i="0">
                <a:solidFill>
                  <a:srgbClr val="FBBF24"/>
                </a:solidFill>
                <a:latin typeface="Consolas"/>
              </a:rPr>
              <a:t>KEEP EXPLORING</a:t>
            </a:r>
          </a:p>
        </p:txBody>
      </p:sp>
      <p:sp>
        <p:nvSpPr>
          <p:cNvPr id="10" name="Rounded Rectangle 9"/>
          <p:cNvSpPr/>
          <p:nvPr/>
        </p:nvSpPr>
        <p:spPr>
          <a:xfrm>
            <a:off x="6035040" y="1783080"/>
            <a:ext cx="5577840" cy="9601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con-lightbulb-c1eb7ed5.png"/>
          <p:cNvPicPr>
            <a:picLocks noChangeAspect="1"/>
          </p:cNvPicPr>
          <p:nvPr/>
        </p:nvPicPr>
        <p:blipFill>
          <a:blip r:embed="rId4"/>
          <a:stretch>
            <a:fillRect/>
          </a:stretch>
        </p:blipFill>
        <p:spPr>
          <a:xfrm>
            <a:off x="6263640" y="2011680"/>
            <a:ext cx="502920" cy="502920"/>
          </a:xfrm>
          <a:prstGeom prst="rect">
            <a:avLst/>
          </a:prstGeom>
        </p:spPr>
      </p:pic>
      <p:sp>
        <p:nvSpPr>
          <p:cNvPr id="12" name="TextBox 11"/>
          <p:cNvSpPr txBox="1"/>
          <p:nvPr/>
        </p:nvSpPr>
        <p:spPr>
          <a:xfrm>
            <a:off x="6995160" y="1920240"/>
            <a:ext cx="4480560" cy="274320"/>
          </a:xfrm>
          <a:prstGeom prst="rect">
            <a:avLst/>
          </a:prstGeom>
          <a:noFill/>
        </p:spPr>
        <p:txBody>
          <a:bodyPr wrap="square" lIns="0" tIns="0" rIns="0" bIns="0" anchor="t">
            <a:spAutoFit/>
          </a:bodyPr>
          <a:lstStyle/>
          <a:p>
            <a:pPr algn="l"/>
            <a:r>
              <a:rPr sz="1400" b="1" i="0">
                <a:solidFill>
                  <a:srgbClr val="22D3EE"/>
                </a:solidFill>
                <a:latin typeface="Consolas"/>
              </a:rPr>
              <a:t>CryptoHack</a:t>
            </a:r>
          </a:p>
        </p:txBody>
      </p:sp>
      <p:sp>
        <p:nvSpPr>
          <p:cNvPr id="13" name="TextBox 12"/>
          <p:cNvSpPr txBox="1"/>
          <p:nvPr/>
        </p:nvSpPr>
        <p:spPr>
          <a:xfrm>
            <a:off x="6995160" y="2240280"/>
            <a:ext cx="4480560" cy="457200"/>
          </a:xfrm>
          <a:prstGeom prst="rect">
            <a:avLst/>
          </a:prstGeom>
          <a:noFill/>
        </p:spPr>
        <p:txBody>
          <a:bodyPr wrap="square" lIns="0" tIns="0" rIns="0" bIns="0" anchor="t">
            <a:spAutoFit/>
          </a:bodyPr>
          <a:lstStyle/>
          <a:p>
            <a:pPr algn="l"/>
            <a:r>
              <a:rPr sz="1300" b="0" i="0">
                <a:solidFill>
                  <a:srgbClr val="F1F5F9"/>
                </a:solidFill>
                <a:latin typeface="Calibri"/>
              </a:rPr>
              <a:t>Free, game-style puzzles that teach you to build and break crypto.</a:t>
            </a:r>
          </a:p>
        </p:txBody>
      </p:sp>
      <p:sp>
        <p:nvSpPr>
          <p:cNvPr id="14" name="Rounded Rectangle 13"/>
          <p:cNvSpPr/>
          <p:nvPr/>
        </p:nvSpPr>
        <p:spPr>
          <a:xfrm>
            <a:off x="6035040" y="2880360"/>
            <a:ext cx="5577840" cy="9601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5"/>
          <a:stretch>
            <a:fillRect/>
          </a:stretch>
        </p:blipFill>
        <p:spPr>
          <a:xfrm>
            <a:off x="6263640" y="3108960"/>
            <a:ext cx="502920" cy="502920"/>
          </a:xfrm>
          <a:prstGeom prst="rect">
            <a:avLst/>
          </a:prstGeom>
        </p:spPr>
      </p:pic>
      <p:sp>
        <p:nvSpPr>
          <p:cNvPr id="16" name="TextBox 15"/>
          <p:cNvSpPr txBox="1"/>
          <p:nvPr/>
        </p:nvSpPr>
        <p:spPr>
          <a:xfrm>
            <a:off x="6995160" y="3017520"/>
            <a:ext cx="4480560" cy="274320"/>
          </a:xfrm>
          <a:prstGeom prst="rect">
            <a:avLst/>
          </a:prstGeom>
          <a:noFill/>
        </p:spPr>
        <p:txBody>
          <a:bodyPr wrap="square" lIns="0" tIns="0" rIns="0" bIns="0" anchor="t">
            <a:spAutoFit/>
          </a:bodyPr>
          <a:lstStyle/>
          <a:p>
            <a:pPr algn="l"/>
            <a:r>
              <a:rPr sz="1400" b="1" i="0">
                <a:solidFill>
                  <a:srgbClr val="22D3EE"/>
                </a:solidFill>
                <a:latin typeface="Consolas"/>
              </a:rPr>
              <a:t>Cryptopals</a:t>
            </a:r>
          </a:p>
        </p:txBody>
      </p:sp>
      <p:sp>
        <p:nvSpPr>
          <p:cNvPr id="17" name="TextBox 16"/>
          <p:cNvSpPr txBox="1"/>
          <p:nvPr/>
        </p:nvSpPr>
        <p:spPr>
          <a:xfrm>
            <a:off x="6995160" y="3337560"/>
            <a:ext cx="4480560" cy="457200"/>
          </a:xfrm>
          <a:prstGeom prst="rect">
            <a:avLst/>
          </a:prstGeom>
          <a:noFill/>
        </p:spPr>
        <p:txBody>
          <a:bodyPr wrap="square" lIns="0" tIns="0" rIns="0" bIns="0" anchor="t">
            <a:spAutoFit/>
          </a:bodyPr>
          <a:lstStyle/>
          <a:p>
            <a:pPr algn="l"/>
            <a:r>
              <a:rPr sz="1300" b="0" i="0">
                <a:solidFill>
                  <a:srgbClr val="F1F5F9"/>
                </a:solidFill>
                <a:latin typeface="Calibri"/>
              </a:rPr>
              <a:t>Hands-on coding challenges that go deeper into real attacks.</a:t>
            </a:r>
          </a:p>
        </p:txBody>
      </p:sp>
      <p:sp>
        <p:nvSpPr>
          <p:cNvPr id="18" name="Rounded Rectangle 17"/>
          <p:cNvSpPr/>
          <p:nvPr/>
        </p:nvSpPr>
        <p:spPr>
          <a:xfrm>
            <a:off x="6035040" y="3977639"/>
            <a:ext cx="5577840" cy="9601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con-people-255345ac.png"/>
          <p:cNvPicPr>
            <a:picLocks noChangeAspect="1"/>
          </p:cNvPicPr>
          <p:nvPr/>
        </p:nvPicPr>
        <p:blipFill>
          <a:blip r:embed="rId6"/>
          <a:stretch>
            <a:fillRect/>
          </a:stretch>
        </p:blipFill>
        <p:spPr>
          <a:xfrm>
            <a:off x="6263640" y="4206240"/>
            <a:ext cx="502920" cy="502920"/>
          </a:xfrm>
          <a:prstGeom prst="rect">
            <a:avLst/>
          </a:prstGeom>
        </p:spPr>
      </p:pic>
      <p:sp>
        <p:nvSpPr>
          <p:cNvPr id="20" name="TextBox 19"/>
          <p:cNvSpPr txBox="1"/>
          <p:nvPr/>
        </p:nvSpPr>
        <p:spPr>
          <a:xfrm>
            <a:off x="6995160" y="4114800"/>
            <a:ext cx="4480560" cy="274320"/>
          </a:xfrm>
          <a:prstGeom prst="rect">
            <a:avLst/>
          </a:prstGeom>
          <a:noFill/>
        </p:spPr>
        <p:txBody>
          <a:bodyPr wrap="square" lIns="0" tIns="0" rIns="0" bIns="0" anchor="t">
            <a:spAutoFit/>
          </a:bodyPr>
          <a:lstStyle/>
          <a:p>
            <a:pPr algn="l"/>
            <a:r>
              <a:rPr sz="1400" b="1" i="0">
                <a:solidFill>
                  <a:srgbClr val="22D3EE"/>
                </a:solidFill>
                <a:latin typeface="Consolas"/>
              </a:rPr>
              <a:t>Khan Academy: Cryptography</a:t>
            </a:r>
          </a:p>
        </p:txBody>
      </p:sp>
      <p:sp>
        <p:nvSpPr>
          <p:cNvPr id="21" name="TextBox 20"/>
          <p:cNvSpPr txBox="1"/>
          <p:nvPr/>
        </p:nvSpPr>
        <p:spPr>
          <a:xfrm>
            <a:off x="6995160" y="4434840"/>
            <a:ext cx="4480560" cy="457200"/>
          </a:xfrm>
          <a:prstGeom prst="rect">
            <a:avLst/>
          </a:prstGeom>
          <a:noFill/>
        </p:spPr>
        <p:txBody>
          <a:bodyPr wrap="square" lIns="0" tIns="0" rIns="0" bIns="0" anchor="t">
            <a:spAutoFit/>
          </a:bodyPr>
          <a:lstStyle/>
          <a:p>
            <a:pPr algn="l"/>
            <a:r>
              <a:rPr sz="1300" b="0" i="0">
                <a:solidFill>
                  <a:srgbClr val="F1F5F9"/>
                </a:solidFill>
                <a:latin typeface="Calibri"/>
              </a:rPr>
              <a:t>Gentle video lessons on ciphers and the ideas behind them.</a:t>
            </a:r>
          </a:p>
        </p:txBody>
      </p:sp>
      <p:sp>
        <p:nvSpPr>
          <p:cNvPr id="22" name="Rounded Rectangle 21"/>
          <p:cNvSpPr/>
          <p:nvPr/>
        </p:nvSpPr>
        <p:spPr>
          <a:xfrm>
            <a:off x="6035040" y="5074920"/>
            <a:ext cx="5577840" cy="960120"/>
          </a:xfrm>
          <a:prstGeom prst="roundRect">
            <a:avLst>
              <a:gd name="adj" fmla="val 3200"/>
            </a:avLst>
          </a:prstGeom>
          <a:solidFill>
            <a:srgbClr val="111A2F"/>
          </a:solidFill>
          <a:ln w="12700">
            <a:solidFill>
              <a:srgbClr val="2A3E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con-book-31e2d077.png"/>
          <p:cNvPicPr>
            <a:picLocks noChangeAspect="1"/>
          </p:cNvPicPr>
          <p:nvPr/>
        </p:nvPicPr>
        <p:blipFill>
          <a:blip r:embed="rId7"/>
          <a:stretch>
            <a:fillRect/>
          </a:stretch>
        </p:blipFill>
        <p:spPr>
          <a:xfrm>
            <a:off x="6263640" y="5303520"/>
            <a:ext cx="502920" cy="502920"/>
          </a:xfrm>
          <a:prstGeom prst="rect">
            <a:avLst/>
          </a:prstGeom>
        </p:spPr>
      </p:pic>
      <p:sp>
        <p:nvSpPr>
          <p:cNvPr id="24" name="TextBox 23"/>
          <p:cNvSpPr txBox="1"/>
          <p:nvPr/>
        </p:nvSpPr>
        <p:spPr>
          <a:xfrm>
            <a:off x="6995160" y="5212080"/>
            <a:ext cx="4480560" cy="274320"/>
          </a:xfrm>
          <a:prstGeom prst="rect">
            <a:avLst/>
          </a:prstGeom>
          <a:noFill/>
        </p:spPr>
        <p:txBody>
          <a:bodyPr wrap="square" lIns="0" tIns="0" rIns="0" bIns="0" anchor="t">
            <a:spAutoFit/>
          </a:bodyPr>
          <a:lstStyle/>
          <a:p>
            <a:pPr algn="l"/>
            <a:r>
              <a:rPr sz="1400" b="1" i="0">
                <a:solidFill>
                  <a:srgbClr val="22D3EE"/>
                </a:solidFill>
                <a:latin typeface="Consolas"/>
              </a:rPr>
              <a:t>Serious Cryptography</a:t>
            </a:r>
          </a:p>
        </p:txBody>
      </p:sp>
      <p:sp>
        <p:nvSpPr>
          <p:cNvPr id="25" name="TextBox 24"/>
          <p:cNvSpPr txBox="1"/>
          <p:nvPr/>
        </p:nvSpPr>
        <p:spPr>
          <a:xfrm>
            <a:off x="6995160" y="5532120"/>
            <a:ext cx="4480560" cy="457200"/>
          </a:xfrm>
          <a:prstGeom prst="rect">
            <a:avLst/>
          </a:prstGeom>
          <a:noFill/>
        </p:spPr>
        <p:txBody>
          <a:bodyPr wrap="square" lIns="0" tIns="0" rIns="0" bIns="0" anchor="t">
            <a:spAutoFit/>
          </a:bodyPr>
          <a:lstStyle/>
          <a:p>
            <a:pPr algn="l"/>
            <a:r>
              <a:rPr sz="1300" b="0" i="0">
                <a:solidFill>
                  <a:srgbClr val="F1F5F9"/>
                </a:solidFill>
                <a:latin typeface="Calibri"/>
              </a:rPr>
              <a:t>A book by Jean-Philippe Aumasson on how modern crypto works.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37</Slides>
  <Notes>37</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43</cp:revision>
  <dcterms:created xsi:type="dcterms:W3CDTF">2013-07-15T20:26:40Z</dcterms:created>
  <dcterms:modified xsi:type="dcterms:W3CDTF">2026-10-29T19:07:47Z</dcterms:modified>
</cp:coreProperties>
</file>